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3.xml"/>
</Relationships>
</file>

<file path=ppt/notesSlides/_rels/notesSlide2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4.xml"/>
</Relationships>
</file>

<file path=ppt/notesSlides/_rels/notesSlide2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5.xml"/>
</Relationships>
</file>

<file path=ppt/notesSlides/_rels/notesSlide2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6.xml"/>
</Relationships>
</file>

<file path=ppt/notesSlides/_rels/notesSlide2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7.xml"/>
</Relationships>
</file>

<file path=ppt/notesSlides/_rels/notesSlide2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8.xml"/>
</Relationships>
</file>

<file path=ppt/notesSlides/_rels/notesSlide2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9.xml"/>
</Relationships>
</file>

<file path=ppt/notesSlides/_rels/notesSlide3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0.xml"/>
</Relationships>
</file>

<file path=ppt/notesSlides/_rels/notesSlide3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1.xml"/>
</Relationships>
</file>

<file path=ppt/notesSlides/_rels/notesSlide3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2.xml"/>
</Relationships>
</file>

<file path=ppt/notesSlides/_rels/notesSlide3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3.xml"/>
</Relationships>
</file>

<file path=ppt/notesSlides/_rels/notesSlide3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4.xml"/>
</Relationships>
</file>

<file path=ppt/notesSlides/_rels/notesSlide3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5.xml"/>
</Relationships>
</file>

<file path=ppt/notesSlides/_rels/notesSlide3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6.xml"/>
</Relationships>
</file>

<file path=ppt/notesSlides/_rels/notesSlide3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7.xml"/>
</Relationships>
</file>

<file path=ppt/notesSlides/_rels/notesSlide3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8.xml"/>
</Relationships>
</file>

<file path=ppt/notesSlides/_rels/notesSlide3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9.xml"/>
</Relationships>
</file>

<file path=ppt/notesSlides/_rels/notesSlide4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0.xml"/>
</Relationships>
</file>

<file path=ppt/notesSlides/_rels/notesSlide4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1.xml"/>
</Relationships>
</file>

<file path=ppt/notesSlides/_rels/notesSlide4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2.xml"/>
</Relationships>
</file>

<file path=ppt/notesSlides/_rels/notesSlide4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3.xml"/>
</Relationships>
</file>

<file path=ppt/notesSlides/_rels/notesSlide4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4.xml"/>
</Relationships>
</file>

<file path=ppt/notesSlides/_rels/notesSlide4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5.xml"/>
</Relationships>
</file>

<file path=ppt/notesSlides/_rels/notesSlide4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6.xml"/>
</Relationships>
</file>

<file path=ppt/notesSlides/_rels/notesSlide4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7.xml"/>
</Relationships>
</file>

<file path=ppt/notesSlides/_rels/notesSlide4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8.xml"/>
</Relationships>
</file>

<file path=ppt/notesSlides/_rels/notesSlide4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9.xml"/>
</Relationships>
</file>

<file path=ppt/notesSlides/_rels/notesSlide5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0.xml"/>
</Relationships>
</file>

<file path=ppt/notesSlides/_rels/notesSlide5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1.xml"/>
</Relationships>
</file>

<file path=ppt/notesSlides/_rels/notesSlide5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2.xml"/>
</Relationships>
</file>

<file path=ppt/notesSlides/_rels/notesSlide5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3.xml"/>
</Relationships>
</file>

<file path=ppt/notesSlides/_rels/notesSlide5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4.xml"/>
</Relationships>
</file>

<file path=ppt/notesSlides/_rels/notesSlide5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1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2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3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4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5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6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7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8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9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10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11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12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13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14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15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16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17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18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19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20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21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22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23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24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25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26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27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28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29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30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31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32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33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34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35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36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37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38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39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40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41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42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43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44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45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46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47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48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49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50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51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52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53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54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101｜v10｜第 55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3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4.xml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5.xml"/>
</Relationships>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6.xml"/>
</Relationships>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7.xml"/>
</Relationships>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8.xml"/>
</Relationships>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9.xml"/>
</Relationships>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0.xml"/>
</Relationships>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1.xml"/>
</Relationships>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2.xml"/>
</Relationships>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3.xml"/>
</Relationships>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4.xml"/>
</Relationships>
</file>

<file path=ppt/slides/_rels/slide3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5.xml"/>
</Relationships>
</file>

<file path=ppt/slides/_rels/slide3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6.xml"/>
</Relationships>
</file>

<file path=ppt/slides/_rels/slide3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7.xml"/>
</Relationships>
</file>

<file path=ppt/slides/_rels/slide3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8.xml"/>
</Relationships>
</file>

<file path=ppt/slides/_rels/slide3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9.xml"/>
</Relationships>
</file>

<file path=ppt/slides/_rels/slide4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0.xml"/>
</Relationships>
</file>

<file path=ppt/slides/_rels/slide4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1.xml"/>
</Relationships>
</file>

<file path=ppt/slides/_rels/slide4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2.xml"/>
</Relationships>
</file>

<file path=ppt/slides/_rels/slide4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3.xml"/>
</Relationships>
</file>

<file path=ppt/slides/_rels/slide4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4.xml"/>
</Relationships>
</file>

<file path=ppt/slides/_rels/slide4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5.xml"/>
</Relationships>
</file>

<file path=ppt/slides/_rels/slide4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6.xml"/>
</Relationships>
</file>

<file path=ppt/slides/_rels/slide4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7.xml"/>
</Relationships>
</file>

<file path=ppt/slides/_rels/slide4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8.xml"/>
</Relationships>
</file>

<file path=ppt/slides/_rels/slide4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9.xml"/>
</Relationships>
</file>

<file path=ppt/slides/_rels/slide5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0.xml"/>
</Relationships>
</file>

<file path=ppt/slides/_rels/slide5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1.xml"/>
</Relationships>
</file>

<file path=ppt/slides/_rels/slide5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2.xml"/>
</Relationships>
</file>

<file path=ppt/slides/_rels/slide5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3.xml"/>
</Relationships>
</file>

<file path=ppt/slides/_rels/slide5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4.xml"/>
</Relationships>
</file>

<file path=ppt/slides/_rels/slide5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57836" y="2429637"/>
            <a:ext cx="10676329" cy="2415540"/>
            <a:chOff x="757836" y="2429637"/>
            <a:chExt cx="10676329" cy="2415540"/>
          </a:xfrm>
        </p:grpSpPr>
        <p:sp>
          <p:nvSpPr>
            <p:cNvPr id="3" name="TextBox 3"/>
            <p:cNvSpPr txBox="1"/>
            <p:nvPr/>
          </p:nvSpPr>
          <p:spPr>
            <a:xfrm>
              <a:off x="5455510" y="2429637"/>
              <a:ext cx="1280979" cy="1341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6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00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31907" y="3437382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第零段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7836" y="3967353"/>
              <a:ext cx="10676329" cy="877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2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本課的例子：打造一個配對交友 App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346710" y="299085"/>
            <a:ext cx="7378541" cy="6145435"/>
            <a:chOff x="346710" y="299085"/>
            <a:chExt cx="7378541" cy="614543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681762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要做一個類似 Tinder的配對交友 App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4572000" y="1158145"/>
              <a:ext cx="3048000" cy="4762500"/>
            </a:xfrm>
            <a:prstGeom prst="roundRect">
              <a:avLst>
                <a:gd name="adj" fmla="val 10625"/>
              </a:avLst>
            </a:prstGeom>
            <a:noFill/>
            <a:ln w="19050">
              <a:solidFill>
                <a:srgbClr val="485A70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795962" y="1365314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附近的人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4724400" y="1691545"/>
              <a:ext cx="2743200" cy="3390900"/>
            </a:xfrm>
            <a:prstGeom prst="roundRect">
              <a:avLst>
                <a:gd name="adj" fmla="val 7639"/>
              </a:avLst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562600" y="2477357"/>
              <a:ext cx="1066800" cy="1066800"/>
            </a:xfrm>
            <a:prstGeom prst="roundRect">
              <a:avLst>
                <a:gd name="adj" fmla="val 44643"/>
              </a:avLst>
            </a:prstGeom>
            <a:noFill/>
            <a:ln w="38100">
              <a:solidFill>
                <a:srgbClr val="B6D7F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543550" y="2505932"/>
              <a:ext cx="21062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76900" y="3715607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小米，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76900" y="3982307"/>
              <a:ext cx="2911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26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410200" y="4058507"/>
              <a:ext cx="1571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5D1DF"/>
                  </a:solidFill>
                  <a:latin typeface="Arial"/>
                  <a:ea typeface="Microsoft YaHei"/>
                  <a:cs typeface="Arial"/>
                </a:rPr>
                <a:t>喜歡旅行與咖啡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514975" y="5272945"/>
              <a:ext cx="476250" cy="476250"/>
            </a:xfrm>
            <a:prstGeom prst="roundRect">
              <a:avLst>
                <a:gd name="adj" fmla="val 50000"/>
              </a:avLst>
            </a:prstGeom>
            <a:solidFill>
              <a:srgbClr val="172638"/>
            </a:solidFill>
            <a:ln w="9525">
              <a:solidFill>
                <a:srgbClr val="43566E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484495" y="5318665"/>
              <a:ext cx="26338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D9E6F4"/>
                  </a:solidFill>
                  <a:latin typeface="Arial"/>
                  <a:ea typeface="Microsoft YaHei"/>
                  <a:cs typeface="Arial"/>
                </a:rPr>
                <a:t>×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200775" y="5272945"/>
              <a:ext cx="476250" cy="476250"/>
            </a:xfrm>
            <a:prstGeom prst="roundRect">
              <a:avLst>
                <a:gd name="adj" fmla="val 50000"/>
              </a:avLst>
            </a:prstGeom>
            <a:solidFill>
              <a:srgbClr val="172638"/>
            </a:solidFill>
            <a:ln w="9525">
              <a:solidFill>
                <a:srgbClr val="43566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170295" y="5318665"/>
              <a:ext cx="26338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8298"/>
                  </a:solidFill>
                  <a:latin typeface="Arial"/>
                  <a:ea typeface="Microsoft YaHei"/>
                  <a:cs typeface="Arial"/>
                </a:rPr>
                <a:t>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66749" y="6139720"/>
              <a:ext cx="325850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DCE7F3"/>
                  </a:solidFill>
                  <a:latin typeface="Arial"/>
                  <a:ea typeface="Microsoft YaHei"/>
                  <a:cs typeface="Arial"/>
                </a:rPr>
                <a:t>避免單向喜歡的尷尬與時間浪費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7" name="Group 37"/>
          <p:cNvGrpSpPr/>
          <p:nvPr/>
        </p:nvGrpSpPr>
        <p:grpSpPr>
          <a:xfrm>
            <a:off x="346710" y="299085"/>
            <a:ext cx="11464290" cy="5465350"/>
            <a:chOff x="346710" y="299085"/>
            <a:chExt cx="11464290" cy="5465350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111444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這輪只做三件事： Like／ Pass、雙向喜歡才配對、配對列表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1950" y="1866900"/>
              <a:ext cx="155629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#1 Like／ Pass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2219325"/>
              <a:ext cx="2635853" cy="2564035"/>
            </a:xfrm>
            <a:prstGeom prst="roundRect">
              <a:avLst>
                <a:gd name="adj" fmla="val 4458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271528" y="2529745"/>
              <a:ext cx="85470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A的畫面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336929" y="2853595"/>
              <a:ext cx="723900" cy="723900"/>
            </a:xfrm>
            <a:prstGeom prst="roundRect">
              <a:avLst>
                <a:gd name="adj" fmla="val 50000"/>
              </a:avLst>
            </a:prstGeom>
            <a:solidFill>
              <a:srgbClr val="263D55"/>
            </a:solidFill>
            <a:ln w="28575">
              <a:solidFill>
                <a:srgbClr val="9BBFE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67186" y="2899315"/>
              <a:ext cx="26338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B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06995" y="3720370"/>
              <a:ext cx="138376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DCE7F3"/>
                  </a:solidFill>
                  <a:latin typeface="Arial"/>
                  <a:ea typeface="Microsoft YaHei"/>
                  <a:cs typeface="Arial"/>
                </a:rPr>
                <a:t>看見 B的卡片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01338" y="4044220"/>
              <a:ext cx="860203" cy="457200"/>
            </a:xfrm>
            <a:prstGeom prst="roundRect">
              <a:avLst>
                <a:gd name="adj" fmla="val 12500"/>
              </a:avLst>
            </a:prstGeom>
            <a:solidFill>
              <a:srgbClr val="0E1721"/>
            </a:solidFill>
            <a:ln w="9525">
              <a:solidFill>
                <a:srgbClr val="3C506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96052" y="4158520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C4BF"/>
                  </a:solidFill>
                  <a:latin typeface="Arial"/>
                  <a:ea typeface="Microsoft YaHei"/>
                  <a:cs typeface="Arial"/>
                </a:rPr>
                <a:t>Pass×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718691" y="4044220"/>
              <a:ext cx="877824" cy="457200"/>
            </a:xfrm>
            <a:prstGeom prst="roundRect">
              <a:avLst>
                <a:gd name="adj" fmla="val 12500"/>
              </a:avLst>
            </a:prstGeom>
            <a:solidFill>
              <a:srgbClr val="0E1721"/>
            </a:solidFill>
            <a:ln w="9525">
              <a:solidFill>
                <a:srgbClr val="3C506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851017" y="4158520"/>
              <a:ext cx="6131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9EB0"/>
                  </a:solidFill>
                  <a:latin typeface="Arial"/>
                  <a:ea typeface="Microsoft YaHei"/>
                  <a:cs typeface="Arial"/>
                </a:rPr>
                <a:t>Like♥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112103" y="2219325"/>
              <a:ext cx="2635853" cy="2564035"/>
            </a:xfrm>
            <a:prstGeom prst="roundRect">
              <a:avLst>
                <a:gd name="adj" fmla="val 4458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002631" y="2529745"/>
              <a:ext cx="85470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B的畫面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068032" y="2853595"/>
              <a:ext cx="723900" cy="723900"/>
            </a:xfrm>
            <a:prstGeom prst="roundRect">
              <a:avLst>
                <a:gd name="adj" fmla="val 50000"/>
              </a:avLst>
            </a:prstGeom>
            <a:solidFill>
              <a:srgbClr val="40314F"/>
            </a:solidFill>
            <a:ln w="28575">
              <a:solidFill>
                <a:srgbClr val="C7A8E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298290" y="2899315"/>
              <a:ext cx="26338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38098" y="3720370"/>
              <a:ext cx="138376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DCE7F3"/>
                  </a:solidFill>
                  <a:latin typeface="Arial"/>
                  <a:ea typeface="Microsoft YaHei"/>
                  <a:cs typeface="Arial"/>
                </a:rPr>
                <a:t>看見 A的卡片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532442" y="4044220"/>
              <a:ext cx="860203" cy="457200"/>
            </a:xfrm>
            <a:prstGeom prst="roundRect">
              <a:avLst>
                <a:gd name="adj" fmla="val 12500"/>
              </a:avLst>
            </a:prstGeom>
            <a:solidFill>
              <a:srgbClr val="0E1721"/>
            </a:solidFill>
            <a:ln w="9525">
              <a:solidFill>
                <a:srgbClr val="3C506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627251" y="4158520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C4BF"/>
                  </a:solidFill>
                  <a:latin typeface="Arial"/>
                  <a:ea typeface="Microsoft YaHei"/>
                  <a:cs typeface="Arial"/>
                </a:rPr>
                <a:t>Pass×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449794" y="4044220"/>
              <a:ext cx="877824" cy="457200"/>
            </a:xfrm>
            <a:prstGeom prst="roundRect">
              <a:avLst>
                <a:gd name="adj" fmla="val 12500"/>
              </a:avLst>
            </a:prstGeom>
            <a:solidFill>
              <a:srgbClr val="0E1721"/>
            </a:solidFill>
            <a:ln w="9525">
              <a:solidFill>
                <a:srgbClr val="3C506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582120" y="4158520"/>
              <a:ext cx="6131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9EB0"/>
                  </a:solidFill>
                  <a:latin typeface="Arial"/>
                  <a:ea typeface="Microsoft YaHei"/>
                  <a:cs typeface="Arial"/>
                </a:rPr>
                <a:t>Like♥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00502" y="1866900"/>
              <a:ext cx="190133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#3雙向喜歡才配對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06509" y="1866900"/>
              <a:ext cx="12112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#2配對列表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951494" y="3434620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319552" y="2219325"/>
              <a:ext cx="2534507" cy="2564035"/>
            </a:xfrm>
            <a:prstGeom prst="roundRect">
              <a:avLst>
                <a:gd name="adj" fmla="val 4510"/>
              </a:avLst>
            </a:prstGeom>
            <a:solidFill>
              <a:srgbClr val="14231B"/>
            </a:solidFill>
            <a:ln w="9525">
              <a:solidFill>
                <a:srgbClr val="53775C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356896" y="2578418"/>
              <a:ext cx="459915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50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✦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24966" y="3397472"/>
              <a:ext cx="152358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互相 Like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24966" y="3797522"/>
              <a:ext cx="152358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才 Match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64023" y="4269010"/>
              <a:ext cx="184546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雙方都看到 Match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57501" y="3434620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425559" y="2219325"/>
              <a:ext cx="2385441" cy="2564035"/>
            </a:xfrm>
            <a:prstGeom prst="roundRect">
              <a:avLst>
                <a:gd name="adj" fmla="val 4792"/>
              </a:avLst>
            </a:prstGeom>
            <a:solidFill>
              <a:srgbClr val="142235"/>
            </a:solidFill>
            <a:ln w="9525">
              <a:solidFill>
                <a:srgbClr val="3B5D7B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899618" y="3167920"/>
              <a:ext cx="143732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D7E9FB"/>
                  </a:solidFill>
                  <a:latin typeface="Arial"/>
                  <a:ea typeface="Microsoft YaHei"/>
                  <a:cs typeface="Arial"/>
                </a:rPr>
                <a:t>配對列表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695545" y="3639407"/>
              <a:ext cx="184546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BDCBD9"/>
                  </a:solidFill>
                  <a:latin typeface="Arial"/>
                  <a:ea typeface="Microsoft YaHei"/>
                  <a:cs typeface="Arial"/>
                </a:rPr>
                <a:t>查看已 Match對象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351734" y="5002435"/>
              <a:ext cx="34885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C4BF"/>
                  </a:solidFill>
                  <a:latin typeface="Arial"/>
                  <a:ea typeface="Microsoft YaHei"/>
                  <a:cs typeface="Arial"/>
                </a:rPr>
                <a:t>這輪不做：聊天、推薦、解除配對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004423" y="5459635"/>
              <a:ext cx="618315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後面每一段都用這個例子； #1→ #3雙向喜歡才配對→ #2配對列表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-252451" y="2095024"/>
            <a:ext cx="12696901" cy="3084862"/>
            <a:chOff x="-252451" y="2095024"/>
            <a:chExt cx="12696901" cy="3084862"/>
          </a:xfrm>
        </p:grpSpPr>
        <p:sp>
          <p:nvSpPr>
            <p:cNvPr id="3" name="TextBox 3"/>
            <p:cNvSpPr txBox="1"/>
            <p:nvPr/>
          </p:nvSpPr>
          <p:spPr>
            <a:xfrm>
              <a:off x="5582026" y="2095024"/>
              <a:ext cx="1027948" cy="1341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6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31907" y="3102769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第一段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252451" y="3632740"/>
              <a:ext cx="12696901" cy="877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2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一個產品是怎麼被做出來的：角色、流程、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384929" y="4302062"/>
              <a:ext cx="3422142" cy="877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2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一張全貌圖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51" name="Group 51"/>
          <p:cNvGrpSpPr/>
          <p:nvPr/>
        </p:nvGrpSpPr>
        <p:grpSpPr>
          <a:xfrm>
            <a:off x="346710" y="299085"/>
            <a:ext cx="11473815" cy="5697760"/>
            <a:chOff x="346710" y="299085"/>
            <a:chExt cx="11473815" cy="5697760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530633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做出 Matching需要哪些角色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872520"/>
              <a:ext cx="11430000" cy="571500"/>
            </a:xfrm>
            <a:prstGeom prst="roundRect">
              <a:avLst>
                <a:gd name="adj" fmla="val 20000"/>
              </a:avLst>
            </a:prstGeom>
            <a:solidFill>
              <a:srgbClr val="14231B"/>
            </a:solidFill>
            <a:ln w="9525">
              <a:solidFill>
                <a:srgbClr val="53775C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61975" y="2053495"/>
              <a:ext cx="553578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Epic｜配對交友 App：讓互相喜歡的兩人能確認配對成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1975" y="2320195"/>
              <a:ext cx="268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功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381000" y="2634520"/>
              <a:ext cx="2757488" cy="2571750"/>
            </a:xfrm>
            <a:prstGeom prst="roundRect">
              <a:avLst>
                <a:gd name="adj" fmla="val 4444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2634520"/>
              <a:ext cx="2757488" cy="9525"/>
            </a:xfrm>
            <a:custGeom>
              <a:avLst/>
              <a:gdLst/>
              <a:ahLst/>
              <a:cxnLst/>
              <a:rect l="l" t="t" r="r" b="b"/>
              <a:pathLst>
                <a:path w="2757488" h="9525">
                  <a:moveTo>
                    <a:pt x="0" y="0"/>
                  </a:moveTo>
                  <a:lnTo>
                    <a:pt x="2757488" y="0"/>
                  </a:lnTo>
                </a:path>
              </a:pathLst>
            </a:custGeom>
            <a:noFill/>
            <a:ln w="28575">
              <a:solidFill>
                <a:srgbClr val="83DDA7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138488" y="263452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81000" y="5206270"/>
              <a:ext cx="2757488" cy="9525"/>
            </a:xfrm>
            <a:custGeom>
              <a:avLst/>
              <a:gdLst/>
              <a:ahLst/>
              <a:cxnLst/>
              <a:rect l="l" t="t" r="r" b="b"/>
              <a:pathLst>
                <a:path w="2757488" h="9525">
                  <a:moveTo>
                    <a:pt x="0" y="0"/>
                  </a:moveTo>
                  <a:lnTo>
                    <a:pt x="275748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381000" y="263452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42938" y="3273171"/>
              <a:ext cx="1752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73869A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2460" y="3641312"/>
              <a:ext cx="121577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PM／ PO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6270" y="4052792"/>
              <a:ext cx="245173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D2DCE7"/>
                  </a:solidFill>
                  <a:latin typeface="Arial"/>
                  <a:ea typeface="Microsoft YaHei"/>
                  <a:cs typeface="Arial"/>
                </a:rPr>
                <a:t>決定要做什麼、為什麼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6270" y="4346162"/>
              <a:ext cx="245173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D2DCE7"/>
                  </a:solidFill>
                  <a:latin typeface="Arial"/>
                  <a:ea typeface="Microsoft YaHei"/>
                  <a:cs typeface="Arial"/>
                </a:rPr>
                <a:t>做，以及怎樣算成功。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271838" y="2634520"/>
              <a:ext cx="2757488" cy="2571750"/>
            </a:xfrm>
            <a:prstGeom prst="roundRect">
              <a:avLst>
                <a:gd name="adj" fmla="val 4444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3271838" y="2634520"/>
              <a:ext cx="2757488" cy="9525"/>
            </a:xfrm>
            <a:custGeom>
              <a:avLst/>
              <a:gdLst/>
              <a:ahLst/>
              <a:cxnLst/>
              <a:rect l="l" t="t" r="r" b="b"/>
              <a:pathLst>
                <a:path w="2757488" h="9525">
                  <a:moveTo>
                    <a:pt x="0" y="0"/>
                  </a:moveTo>
                  <a:lnTo>
                    <a:pt x="2757488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6029325" y="263452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3271838" y="5206270"/>
              <a:ext cx="2757488" cy="9525"/>
            </a:xfrm>
            <a:custGeom>
              <a:avLst/>
              <a:gdLst/>
              <a:ahLst/>
              <a:cxnLst/>
              <a:rect l="l" t="t" r="r" b="b"/>
              <a:pathLst>
                <a:path w="2757488" h="9525">
                  <a:moveTo>
                    <a:pt x="0" y="0"/>
                  </a:moveTo>
                  <a:lnTo>
                    <a:pt x="275748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3271838" y="263452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533775" y="3273171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73869A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23298" y="3641312"/>
              <a:ext cx="54294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Dev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27108" y="4052792"/>
              <a:ext cx="245173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D2DCE7"/>
                  </a:solidFill>
                  <a:latin typeface="Arial"/>
                  <a:ea typeface="Microsoft YaHei"/>
                  <a:cs typeface="Arial"/>
                </a:rPr>
                <a:t>把需求做出來，並附上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27108" y="4346162"/>
              <a:ext cx="19697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D2DCE7"/>
                  </a:solidFill>
                  <a:latin typeface="Arial"/>
                  <a:ea typeface="Microsoft YaHei"/>
                  <a:cs typeface="Arial"/>
                </a:rPr>
                <a:t>自己測過的證據。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162675" y="2634520"/>
              <a:ext cx="2757488" cy="2571750"/>
            </a:xfrm>
            <a:prstGeom prst="roundRect">
              <a:avLst>
                <a:gd name="adj" fmla="val 4444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6162675" y="2634520"/>
              <a:ext cx="2757488" cy="9525"/>
            </a:xfrm>
            <a:custGeom>
              <a:avLst/>
              <a:gdLst/>
              <a:ahLst/>
              <a:cxnLst/>
              <a:rect l="l" t="t" r="r" b="b"/>
              <a:pathLst>
                <a:path w="2757488" h="9525">
                  <a:moveTo>
                    <a:pt x="0" y="0"/>
                  </a:moveTo>
                  <a:lnTo>
                    <a:pt x="2757488" y="0"/>
                  </a:lnTo>
                </a:path>
              </a:pathLst>
            </a:custGeom>
            <a:noFill/>
            <a:ln w="28575">
              <a:solidFill>
                <a:srgbClr val="F2CF76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8920162" y="263452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6162675" y="5206270"/>
              <a:ext cx="2757488" cy="9525"/>
            </a:xfrm>
            <a:custGeom>
              <a:avLst/>
              <a:gdLst/>
              <a:ahLst/>
              <a:cxnLst/>
              <a:rect l="l" t="t" r="r" b="b"/>
              <a:pathLst>
                <a:path w="2757488" h="9525">
                  <a:moveTo>
                    <a:pt x="0" y="0"/>
                  </a:moveTo>
                  <a:lnTo>
                    <a:pt x="275748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6162675" y="263452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24612" y="3273171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73869A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14135" y="3641312"/>
              <a:ext cx="135034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Reviewer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17945" y="4052792"/>
              <a:ext cx="245173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D2DCE7"/>
                  </a:solidFill>
                  <a:latin typeface="Arial"/>
                  <a:ea typeface="Microsoft YaHei"/>
                  <a:cs typeface="Arial"/>
                </a:rPr>
                <a:t>檢查改了什麼，有沒有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17945" y="4346162"/>
              <a:ext cx="245173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D2DCE7"/>
                  </a:solidFill>
                  <a:latin typeface="Arial"/>
                  <a:ea typeface="Microsoft YaHei"/>
                  <a:cs typeface="Arial"/>
                </a:rPr>
                <a:t>超出範圍或帶來風險。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053512" y="2634520"/>
              <a:ext cx="2757488" cy="2571750"/>
            </a:xfrm>
            <a:prstGeom prst="roundRect">
              <a:avLst>
                <a:gd name="adj" fmla="val 4444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35" name="Line 35"/>
            <p:cNvSpPr/>
            <p:nvPr/>
          </p:nvSpPr>
          <p:spPr>
            <a:xfrm>
              <a:off x="9053512" y="2634520"/>
              <a:ext cx="2757488" cy="9525"/>
            </a:xfrm>
            <a:custGeom>
              <a:avLst/>
              <a:gdLst/>
              <a:ahLst/>
              <a:cxnLst/>
              <a:rect l="l" t="t" r="r" b="b"/>
              <a:pathLst>
                <a:path w="2757488" h="9525">
                  <a:moveTo>
                    <a:pt x="0" y="0"/>
                  </a:moveTo>
                  <a:lnTo>
                    <a:pt x="2757488" y="0"/>
                  </a:lnTo>
                </a:path>
              </a:pathLst>
            </a:custGeom>
            <a:noFill/>
            <a:ln w="28575">
              <a:solidFill>
                <a:srgbClr val="C4A2FF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11811000" y="263452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9053512" y="5206270"/>
              <a:ext cx="2757488" cy="9525"/>
            </a:xfrm>
            <a:custGeom>
              <a:avLst/>
              <a:gdLst/>
              <a:ahLst/>
              <a:cxnLst/>
              <a:rect l="l" t="t" r="r" b="b"/>
              <a:pathLst>
                <a:path w="2757488" h="9525">
                  <a:moveTo>
                    <a:pt x="0" y="0"/>
                  </a:moveTo>
                  <a:lnTo>
                    <a:pt x="275748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9053512" y="263452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315450" y="3273171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73869A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304972" y="3641312"/>
              <a:ext cx="43827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QA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308782" y="4052792"/>
              <a:ext cx="245173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D2DCE7"/>
                  </a:solidFill>
                  <a:latin typeface="Arial"/>
                  <a:ea typeface="Microsoft YaHei"/>
                  <a:cs typeface="Arial"/>
                </a:rPr>
                <a:t>照事先講好的情境逐條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308782" y="4346162"/>
              <a:ext cx="245173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D2DCE7"/>
                  </a:solidFill>
                  <a:latin typeface="Arial"/>
                  <a:ea typeface="Microsoft YaHei"/>
                  <a:cs typeface="Arial"/>
                </a:rPr>
                <a:t>試，確認真的可以用。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060793" y="5425345"/>
              <a:ext cx="5419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PM／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060793" y="5692045"/>
              <a:ext cx="32289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PO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30057" y="5425345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430107" y="5425345"/>
              <a:ext cx="39957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Dev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981414" y="5425345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81464" y="5425345"/>
              <a:ext cx="99107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Reviewer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415974" y="5425345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16024" y="5425345"/>
              <a:ext cx="32289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QA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136" name="Group 136"/>
          <p:cNvGrpSpPr/>
          <p:nvPr/>
        </p:nvGrpSpPr>
        <p:grpSpPr>
          <a:xfrm>
            <a:off x="346710" y="299085"/>
            <a:ext cx="11251039" cy="6973527"/>
            <a:chOff x="346710" y="299085"/>
            <a:chExt cx="11251039" cy="6973527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545125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一個需求會經過哪些人和關卡</a:t>
              </a:r>
            </a:p>
          </p:txBody>
        </p:sp>
        <p:grpSp>
          <p:nvGrpSpPr>
            <p:cNvPr id="135" name="Group 135"/>
            <p:cNvGrpSpPr/>
            <p:nvPr/>
          </p:nvGrpSpPr>
          <p:grpSpPr>
            <a:xfrm>
              <a:off x="484536" y="1448648"/>
              <a:ext cx="11113213" cy="5823964"/>
              <a:chOff x="484536" y="1448648"/>
              <a:chExt cx="11113213" cy="5823964"/>
            </a:xfrm>
          </p:grpSpPr>
          <p:grpSp>
            <p:nvGrpSpPr>
              <p:cNvPr id="18" name="Group 18"/>
              <p:cNvGrpSpPr/>
              <p:nvPr/>
            </p:nvGrpSpPr>
            <p:grpSpPr>
              <a:xfrm>
                <a:off x="3682431" y="1448648"/>
                <a:ext cx="7086553" cy="493580"/>
                <a:chOff x="3682431" y="1448648"/>
                <a:chExt cx="7086553" cy="493580"/>
              </a:xfrm>
            </p:grpSpPr>
            <p:sp>
              <p:nvSpPr>
                <p:cNvPr id="4" name="TextBox 4"/>
                <p:cNvSpPr txBox="1"/>
                <p:nvPr/>
              </p:nvSpPr>
              <p:spPr>
                <a:xfrm>
                  <a:off x="3682431" y="1448648"/>
                  <a:ext cx="1329896" cy="3137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44" b="1" dirty="0">
                      <a:solidFill>
                        <a:srgbClr val="EAF1F8"/>
                      </a:solidFill>
                      <a:latin typeface="Inter"/>
                      <a:ea typeface="Microsoft JhengHei"/>
                      <a:cs typeface="Inter"/>
                    </a:rPr>
                    <a:t>Refinement</a:t>
                  </a:r>
                </a:p>
              </p:txBody>
            </p:sp>
            <p:sp>
              <p:nvSpPr>
                <p:cNvPr id="5" name="TextBox 5"/>
                <p:cNvSpPr txBox="1"/>
                <p:nvPr/>
              </p:nvSpPr>
              <p:spPr>
                <a:xfrm>
                  <a:off x="5025720" y="1448648"/>
                  <a:ext cx="690481" cy="3137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44" b="1" dirty="0">
                      <a:solidFill>
                        <a:srgbClr val="EAF1F8"/>
                      </a:solidFill>
                      <a:latin typeface="Inter"/>
                      <a:ea typeface="Microsoft JhengHei"/>
                      <a:cs typeface="Inter"/>
                    </a:rPr>
                    <a:t>Ready</a:t>
                  </a:r>
                </a:p>
              </p:txBody>
            </p:sp>
            <p:sp>
              <p:nvSpPr>
                <p:cNvPr id="6" name="TextBox 6"/>
                <p:cNvSpPr txBox="1"/>
                <p:nvPr/>
              </p:nvSpPr>
              <p:spPr>
                <a:xfrm>
                  <a:off x="6179553" y="1448648"/>
                  <a:ext cx="429978" cy="3137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44" b="1" dirty="0">
                      <a:solidFill>
                        <a:srgbClr val="EAF1F8"/>
                      </a:solidFill>
                      <a:latin typeface="Inter"/>
                      <a:ea typeface="Microsoft JhengHei"/>
                      <a:cs typeface="Inter"/>
                    </a:rPr>
                    <a:t>Dev</a:t>
                  </a:r>
                </a:p>
              </p:txBody>
            </p:sp>
            <p:sp>
              <p:nvSpPr>
                <p:cNvPr id="7" name="TextBox 7"/>
                <p:cNvSpPr txBox="1"/>
                <p:nvPr/>
              </p:nvSpPr>
              <p:spPr>
                <a:xfrm>
                  <a:off x="7013678" y="1448648"/>
                  <a:ext cx="808891" cy="3137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44" b="1" dirty="0">
                      <a:solidFill>
                        <a:srgbClr val="EAF1F8"/>
                      </a:solidFill>
                      <a:latin typeface="Inter"/>
                      <a:ea typeface="Microsoft JhengHei"/>
                      <a:cs typeface="Inter"/>
                    </a:rPr>
                    <a:t>Review</a:t>
                  </a:r>
                </a:p>
              </p:txBody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8268160" y="1448648"/>
                  <a:ext cx="347091" cy="3137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44" b="1" dirty="0">
                      <a:solidFill>
                        <a:srgbClr val="EAF1F8"/>
                      </a:solidFill>
                      <a:latin typeface="Inter"/>
                      <a:ea typeface="Microsoft JhengHei"/>
                      <a:cs typeface="Inter"/>
                    </a:rPr>
                    <a:t>QA</a:t>
                  </a:r>
                </a:p>
              </p:txBody>
            </p:sp>
            <p:sp>
              <p:nvSpPr>
                <p:cNvPr id="9" name="TextBox 9"/>
                <p:cNvSpPr txBox="1"/>
                <p:nvPr/>
              </p:nvSpPr>
              <p:spPr>
                <a:xfrm>
                  <a:off x="8853624" y="1448648"/>
                  <a:ext cx="1223327" cy="3137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44" b="1" dirty="0">
                      <a:solidFill>
                        <a:srgbClr val="EAF1F8"/>
                      </a:solidFill>
                      <a:latin typeface="Inter"/>
                      <a:ea typeface="Microsoft JhengHei"/>
                      <a:cs typeface="Inter"/>
                    </a:rPr>
                    <a:t>Goal Check</a:t>
                  </a:r>
                </a:p>
              </p:txBody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10208754" y="1448648"/>
                  <a:ext cx="560230" cy="3137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44" b="1" dirty="0">
                      <a:solidFill>
                        <a:srgbClr val="EAF1F8"/>
                      </a:solidFill>
                      <a:latin typeface="Inter"/>
                      <a:ea typeface="Microsoft JhengHei"/>
                      <a:cs typeface="Inter"/>
                    </a:rPr>
                    <a:t>Done</a:t>
                  </a:r>
                </a:p>
              </p:txBody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4074672" y="1703143"/>
                  <a:ext cx="545413" cy="2390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77" dirty="0">
                      <a:solidFill>
                        <a:srgbClr val="9CABBC"/>
                      </a:solidFill>
                      <a:latin typeface="Inter"/>
                      <a:ea typeface="Microsoft JhengHei"/>
                      <a:cs typeface="Inter"/>
                    </a:rPr>
                    <a:t>釐清中</a:t>
                  </a:r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5098254" y="1703143"/>
                  <a:ext cx="545413" cy="2390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77" dirty="0">
                      <a:solidFill>
                        <a:srgbClr val="9CABBC"/>
                      </a:solidFill>
                      <a:latin typeface="Inter"/>
                      <a:ea typeface="Microsoft JhengHei"/>
                      <a:cs typeface="Inter"/>
                    </a:rPr>
                    <a:t>可開工</a:t>
                  </a:r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6121836" y="1703143"/>
                  <a:ext cx="545413" cy="2390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77" dirty="0">
                      <a:solidFill>
                        <a:srgbClr val="9CABBC"/>
                      </a:solidFill>
                      <a:latin typeface="Inter"/>
                      <a:ea typeface="Microsoft JhengHei"/>
                      <a:cs typeface="Inter"/>
                    </a:rPr>
                    <a:t>開發中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7145417" y="1703143"/>
                  <a:ext cx="545413" cy="2390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77" dirty="0">
                      <a:solidFill>
                        <a:srgbClr val="9CABBC"/>
                      </a:solidFill>
                      <a:latin typeface="Inter"/>
                      <a:ea typeface="Microsoft JhengHei"/>
                      <a:cs typeface="Inter"/>
                    </a:rPr>
                    <a:t>審查中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8168999" y="1703143"/>
                  <a:ext cx="545413" cy="2390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77" dirty="0">
                      <a:solidFill>
                        <a:srgbClr val="9CABBC"/>
                      </a:solidFill>
                      <a:latin typeface="Inter"/>
                      <a:ea typeface="Microsoft JhengHei"/>
                      <a:cs typeface="Inter"/>
                    </a:rPr>
                    <a:t>驗證中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9106659" y="1703143"/>
                  <a:ext cx="717255" cy="2390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77" dirty="0">
                      <a:solidFill>
                        <a:srgbClr val="9CABBC"/>
                      </a:solidFill>
                      <a:latin typeface="Inter"/>
                      <a:ea typeface="Microsoft JhengHei"/>
                      <a:cs typeface="Inter"/>
                    </a:rPr>
                    <a:t>確認目標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10216162" y="1703143"/>
                  <a:ext cx="545413" cy="2390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77" dirty="0">
                      <a:solidFill>
                        <a:srgbClr val="9CABBC"/>
                      </a:solidFill>
                      <a:latin typeface="Inter"/>
                      <a:ea typeface="Microsoft JhengHei"/>
                      <a:cs typeface="Inter"/>
                    </a:rPr>
                    <a:t>已上線</a:t>
                  </a:r>
                </a:p>
              </p:txBody>
            </p:sp>
          </p:grpSp>
          <p:grpSp>
            <p:nvGrpSpPr>
              <p:cNvPr id="99" name="Group 99"/>
              <p:cNvGrpSpPr/>
              <p:nvPr/>
            </p:nvGrpSpPr>
            <p:grpSpPr>
              <a:xfrm>
                <a:off x="484536" y="2110335"/>
                <a:ext cx="11113213" cy="3922491"/>
                <a:chOff x="484536" y="2110335"/>
                <a:chExt cx="11113213" cy="3922491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2300216" y="5257667"/>
                  <a:ext cx="8572496" cy="7097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496" h="709784">
                      <a:moveTo>
                        <a:pt x="1663320" y="0"/>
                      </a:moveTo>
                      <a:lnTo>
                        <a:pt x="119418" y="0"/>
                      </a:lnTo>
                      <a:cubicBezTo>
                        <a:pt x="39806" y="0"/>
                        <a:pt x="0" y="43583"/>
                        <a:pt x="0" y="130750"/>
                      </a:cubicBezTo>
                      <a:lnTo>
                        <a:pt x="0" y="579034"/>
                      </a:lnTo>
                      <a:cubicBezTo>
                        <a:pt x="0" y="666201"/>
                        <a:pt x="39806" y="709784"/>
                        <a:pt x="119418" y="709784"/>
                      </a:cubicBezTo>
                      <a:lnTo>
                        <a:pt x="8453078" y="709784"/>
                      </a:lnTo>
                      <a:cubicBezTo>
                        <a:pt x="8532690" y="709784"/>
                        <a:pt x="8572496" y="666201"/>
                        <a:pt x="8572496" y="579034"/>
                      </a:cubicBezTo>
                      <a:lnTo>
                        <a:pt x="8572496" y="130750"/>
                      </a:lnTo>
                      <a:cubicBezTo>
                        <a:pt x="8572496" y="43583"/>
                        <a:pt x="8532690" y="0"/>
                        <a:pt x="8453078" y="0"/>
                      </a:cubicBezTo>
                      <a:lnTo>
                        <a:pt x="1833917" y="0"/>
                      </a:lnTo>
                    </a:path>
                  </a:pathLst>
                </a:custGeom>
                <a:noFill/>
                <a:ln w="28575" cap="flat">
                  <a:solidFill>
                    <a:srgbClr val="F2CF76"/>
                  </a:solidFill>
                  <a:miter lim="800000"/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1959022" y="2437209"/>
                  <a:ext cx="29854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545" h="9525">
                      <a:moveTo>
                        <a:pt x="0" y="0"/>
                      </a:moveTo>
                      <a:lnTo>
                        <a:pt x="298545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4048834" y="2736066"/>
                  <a:ext cx="9525" cy="28764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876493">
                      <a:moveTo>
                        <a:pt x="0" y="0"/>
                      </a:moveTo>
                      <a:lnTo>
                        <a:pt x="0" y="2876493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4048834" y="3651314"/>
                  <a:ext cx="8529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298" h="9525">
                      <a:moveTo>
                        <a:pt x="0" y="0"/>
                      </a:moveTo>
                      <a:lnTo>
                        <a:pt x="85298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4048834" y="4631936"/>
                  <a:ext cx="8529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298" h="9525">
                      <a:moveTo>
                        <a:pt x="0" y="0"/>
                      </a:moveTo>
                      <a:lnTo>
                        <a:pt x="85298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4048834" y="5612559"/>
                  <a:ext cx="8529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298" h="9525">
                      <a:moveTo>
                        <a:pt x="0" y="0"/>
                      </a:moveTo>
                      <a:lnTo>
                        <a:pt x="85298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4560625" y="3651314"/>
                  <a:ext cx="59708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089" h="9525">
                      <a:moveTo>
                        <a:pt x="0" y="0"/>
                      </a:moveTo>
                      <a:lnTo>
                        <a:pt x="597089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5584207" y="3651314"/>
                  <a:ext cx="59708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089" h="9525">
                      <a:moveTo>
                        <a:pt x="0" y="0"/>
                      </a:moveTo>
                      <a:lnTo>
                        <a:pt x="597089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6607788" y="3651314"/>
                  <a:ext cx="59708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089" h="9525">
                      <a:moveTo>
                        <a:pt x="0" y="0"/>
                      </a:moveTo>
                      <a:lnTo>
                        <a:pt x="597089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7631370" y="3651314"/>
                  <a:ext cx="59708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089" h="9525">
                      <a:moveTo>
                        <a:pt x="0" y="0"/>
                      </a:moveTo>
                      <a:lnTo>
                        <a:pt x="597089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8654952" y="3651314"/>
                  <a:ext cx="59708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089" h="9525">
                      <a:moveTo>
                        <a:pt x="0" y="0"/>
                      </a:moveTo>
                      <a:lnTo>
                        <a:pt x="597089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9678533" y="3651314"/>
                  <a:ext cx="59708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089" h="9525">
                      <a:moveTo>
                        <a:pt x="0" y="0"/>
                      </a:moveTo>
                      <a:lnTo>
                        <a:pt x="597089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4560625" y="4631936"/>
                  <a:ext cx="59708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089" h="9525">
                      <a:moveTo>
                        <a:pt x="0" y="0"/>
                      </a:moveTo>
                      <a:lnTo>
                        <a:pt x="597089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5584207" y="4631936"/>
                  <a:ext cx="59708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089" h="9525">
                      <a:moveTo>
                        <a:pt x="0" y="0"/>
                      </a:moveTo>
                      <a:lnTo>
                        <a:pt x="597089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6607788" y="4631936"/>
                  <a:ext cx="59708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089" h="9525">
                      <a:moveTo>
                        <a:pt x="0" y="0"/>
                      </a:moveTo>
                      <a:lnTo>
                        <a:pt x="597089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7631370" y="4631936"/>
                  <a:ext cx="59708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089" h="9525">
                      <a:moveTo>
                        <a:pt x="0" y="0"/>
                      </a:moveTo>
                      <a:lnTo>
                        <a:pt x="597089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8654952" y="4631936"/>
                  <a:ext cx="59708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089" h="9525">
                      <a:moveTo>
                        <a:pt x="0" y="0"/>
                      </a:moveTo>
                      <a:lnTo>
                        <a:pt x="597089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9678533" y="4631936"/>
                  <a:ext cx="59708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089" h="9525">
                      <a:moveTo>
                        <a:pt x="0" y="0"/>
                      </a:moveTo>
                      <a:lnTo>
                        <a:pt x="597089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4560625" y="5612559"/>
                  <a:ext cx="59708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089" h="9525">
                      <a:moveTo>
                        <a:pt x="0" y="0"/>
                      </a:moveTo>
                      <a:lnTo>
                        <a:pt x="597089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5584207" y="5612559"/>
                  <a:ext cx="59708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089" h="9525">
                      <a:moveTo>
                        <a:pt x="0" y="0"/>
                      </a:moveTo>
                      <a:lnTo>
                        <a:pt x="597089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6607788" y="5612559"/>
                  <a:ext cx="59708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089" h="9525">
                      <a:moveTo>
                        <a:pt x="0" y="0"/>
                      </a:moveTo>
                      <a:lnTo>
                        <a:pt x="597089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7631370" y="5612559"/>
                  <a:ext cx="59708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089" h="9525">
                      <a:moveTo>
                        <a:pt x="0" y="0"/>
                      </a:moveTo>
                      <a:lnTo>
                        <a:pt x="597089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8654952" y="5612559"/>
                  <a:ext cx="59708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089" h="9525">
                      <a:moveTo>
                        <a:pt x="0" y="0"/>
                      </a:moveTo>
                      <a:lnTo>
                        <a:pt x="597089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9678533" y="5612559"/>
                  <a:ext cx="59708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089" h="9525">
                      <a:moveTo>
                        <a:pt x="0" y="0"/>
                      </a:moveTo>
                      <a:lnTo>
                        <a:pt x="597089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43" name="Rectangle 43"/>
                <p:cNvSpPr/>
                <p:nvPr/>
              </p:nvSpPr>
              <p:spPr>
                <a:xfrm>
                  <a:off x="594246" y="2203728"/>
                  <a:ext cx="1364776" cy="466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4776" h="466963">
                      <a:moveTo>
                        <a:pt x="102358" y="0"/>
                      </a:moveTo>
                      <a:lnTo>
                        <a:pt x="1262418" y="0"/>
                      </a:lnTo>
                      <a:cubicBezTo>
                        <a:pt x="1318949" y="0"/>
                        <a:pt x="1364776" y="50176"/>
                        <a:pt x="1364776" y="112071"/>
                      </a:cubicBezTo>
                      <a:lnTo>
                        <a:pt x="1364776" y="354892"/>
                      </a:lnTo>
                      <a:cubicBezTo>
                        <a:pt x="1364776" y="416787"/>
                        <a:pt x="1318949" y="466963"/>
                        <a:pt x="1262418" y="466963"/>
                      </a:cubicBezTo>
                      <a:lnTo>
                        <a:pt x="102358" y="466963"/>
                      </a:lnTo>
                      <a:cubicBezTo>
                        <a:pt x="45827" y="466963"/>
                        <a:pt x="0" y="416787"/>
                        <a:pt x="0" y="354892"/>
                      </a:cubicBezTo>
                      <a:lnTo>
                        <a:pt x="0" y="112071"/>
                      </a:lnTo>
                      <a:cubicBezTo>
                        <a:pt x="0" y="50176"/>
                        <a:pt x="45827" y="0"/>
                        <a:pt x="102358" y="0"/>
                      </a:cubicBezTo>
                      <a:close/>
                    </a:path>
                  </a:pathLst>
                </a:custGeom>
                <a:solidFill>
                  <a:srgbClr val="142235"/>
                </a:solidFill>
                <a:ln w="19050" cap="flat">
                  <a:solidFill>
                    <a:srgbClr val="4C7198"/>
                  </a:solidFill>
                  <a:miter lim="800000"/>
                </a:ln>
              </p:spPr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484536" y="2326539"/>
                  <a:ext cx="1584196" cy="3137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44" dirty="0">
                      <a:solidFill>
                        <a:srgbClr val="F3F6FA"/>
                      </a:solidFill>
                      <a:latin typeface="Inter"/>
                      <a:ea typeface="Microsoft JhengHei"/>
                      <a:cs typeface="Inter"/>
                    </a:rPr>
                    <a:t>Brainstorming</a:t>
                  </a:r>
                </a:p>
              </p:txBody>
            </p:sp>
            <p:sp>
              <p:nvSpPr>
                <p:cNvPr id="45" name="Rectangle 45"/>
                <p:cNvSpPr/>
                <p:nvPr/>
              </p:nvSpPr>
              <p:spPr>
                <a:xfrm>
                  <a:off x="2257566" y="2110335"/>
                  <a:ext cx="9340183" cy="653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0183" h="653748">
                      <a:moveTo>
                        <a:pt x="119418" y="0"/>
                      </a:moveTo>
                      <a:lnTo>
                        <a:pt x="9220765" y="0"/>
                      </a:lnTo>
                      <a:cubicBezTo>
                        <a:pt x="9286718" y="0"/>
                        <a:pt x="9340183" y="58539"/>
                        <a:pt x="9340183" y="130750"/>
                      </a:cubicBezTo>
                      <a:lnTo>
                        <a:pt x="9340183" y="522998"/>
                      </a:lnTo>
                      <a:cubicBezTo>
                        <a:pt x="9340183" y="595209"/>
                        <a:pt x="9286718" y="653748"/>
                        <a:pt x="9220765" y="653748"/>
                      </a:cubicBezTo>
                      <a:lnTo>
                        <a:pt x="119418" y="653748"/>
                      </a:lnTo>
                      <a:cubicBezTo>
                        <a:pt x="53465" y="653748"/>
                        <a:pt x="0" y="595209"/>
                        <a:pt x="0" y="522998"/>
                      </a:cubicBezTo>
                      <a:lnTo>
                        <a:pt x="0" y="130750"/>
                      </a:lnTo>
                      <a:cubicBezTo>
                        <a:pt x="0" y="58539"/>
                        <a:pt x="53465" y="0"/>
                        <a:pt x="119418" y="0"/>
                      </a:cubicBezTo>
                      <a:close/>
                    </a:path>
                  </a:pathLst>
                </a:custGeom>
                <a:solidFill>
                  <a:srgbClr val="14231B"/>
                </a:solidFill>
                <a:ln w="23812" cap="flat">
                  <a:solidFill>
                    <a:srgbClr val="6EA87D"/>
                  </a:solidFill>
                  <a:miter lim="800000"/>
                </a:ln>
              </p:spPr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5074554" y="2294786"/>
                  <a:ext cx="3697677" cy="3735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38" b="1" dirty="0">
                      <a:solidFill>
                        <a:srgbClr val="F3F6FA"/>
                      </a:solidFill>
                      <a:latin typeface="Inter"/>
                      <a:ea typeface="Microsoft JhengHei"/>
                      <a:cs typeface="Inter"/>
                    </a:rPr>
                    <a:t>Goal：互相喜歡才算配對成功</a:t>
                  </a:r>
                </a:p>
              </p:txBody>
            </p:sp>
            <p:sp>
              <p:nvSpPr>
                <p:cNvPr id="47" name="Freeform 47"/>
                <p:cNvSpPr/>
                <p:nvPr/>
              </p:nvSpPr>
              <p:spPr>
                <a:xfrm>
                  <a:off x="9618824" y="3819420"/>
                  <a:ext cx="1680380" cy="252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0380" h="252160">
                      <a:moveTo>
                        <a:pt x="0" y="0"/>
                      </a:moveTo>
                      <a:lnTo>
                        <a:pt x="0" y="252160"/>
                      </a:lnTo>
                      <a:lnTo>
                        <a:pt x="1680380" y="252160"/>
                      </a:lnTo>
                    </a:path>
                  </a:pathLst>
                </a:custGeom>
                <a:noFill/>
                <a:ln w="33338" cap="flat">
                  <a:solidFill>
                    <a:srgbClr val="F2CF76"/>
                  </a:solidFill>
                  <a:prstDash val="sysDash"/>
                  <a:miter lim="800000"/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9618824" y="4800043"/>
                  <a:ext cx="1680380" cy="252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0380" h="252160">
                      <a:moveTo>
                        <a:pt x="0" y="0"/>
                      </a:moveTo>
                      <a:lnTo>
                        <a:pt x="0" y="252160"/>
                      </a:lnTo>
                      <a:lnTo>
                        <a:pt x="1680380" y="252160"/>
                      </a:lnTo>
                    </a:path>
                  </a:pathLst>
                </a:custGeom>
                <a:noFill/>
                <a:ln w="33338" cap="flat">
                  <a:solidFill>
                    <a:srgbClr val="F2CF76"/>
                  </a:solidFill>
                  <a:prstDash val="sysDash"/>
                  <a:miter lim="800000"/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9618824" y="5780665"/>
                  <a:ext cx="1680380" cy="252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0380" h="252160">
                      <a:moveTo>
                        <a:pt x="0" y="0"/>
                      </a:moveTo>
                      <a:lnTo>
                        <a:pt x="0" y="252160"/>
                      </a:lnTo>
                      <a:lnTo>
                        <a:pt x="1680380" y="252160"/>
                      </a:lnTo>
                    </a:path>
                  </a:pathLst>
                </a:custGeom>
                <a:noFill/>
                <a:ln w="33338" cap="flat">
                  <a:solidFill>
                    <a:srgbClr val="F2CF76"/>
                  </a:solidFill>
                  <a:prstDash val="sysDash"/>
                  <a:miter lim="800000"/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11299204" y="2764084"/>
                  <a:ext cx="9525" cy="3268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268742">
                      <a:moveTo>
                        <a:pt x="0" y="3268742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3338" cap="flat">
                  <a:solidFill>
                    <a:srgbClr val="F2CF76"/>
                  </a:solidFill>
                  <a:prstDash val="sysDash"/>
                  <a:miter lim="800000"/>
                </a:ln>
              </p:spPr>
            </p:sp>
            <p:grpSp>
              <p:nvGrpSpPr>
                <p:cNvPr id="66" name="Group 66"/>
                <p:cNvGrpSpPr/>
                <p:nvPr/>
              </p:nvGrpSpPr>
              <p:grpSpPr>
                <a:xfrm>
                  <a:off x="2387604" y="3417832"/>
                  <a:ext cx="8314511" cy="466963"/>
                  <a:chOff x="2387604" y="3417832"/>
                  <a:chExt cx="8314511" cy="466963"/>
                </a:xfrm>
              </p:grpSpPr>
              <p:sp>
                <p:nvSpPr>
                  <p:cNvPr id="51" name="TextBox 51"/>
                  <p:cNvSpPr txBox="1"/>
                  <p:nvPr/>
                </p:nvSpPr>
                <p:spPr>
                  <a:xfrm>
                    <a:off x="2387604" y="3540643"/>
                    <a:ext cx="1531193" cy="3137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544" b="1" dirty="0">
                        <a:solidFill>
                          <a:srgbClr val="DCE7F3"/>
                        </a:solidFill>
                        <a:latin typeface="Inter"/>
                        <a:ea typeface="Microsoft JhengHei"/>
                        <a:cs typeface="Inter"/>
                      </a:rPr>
                      <a:t>#1 Like／Pass</a:t>
                    </a:r>
                  </a:p>
                </p:txBody>
              </p:sp>
              <p:sp>
                <p:nvSpPr>
                  <p:cNvPr id="52" name="Ellipse 52"/>
                  <p:cNvSpPr/>
                  <p:nvPr/>
                </p:nvSpPr>
                <p:spPr>
                  <a:xfrm>
                    <a:off x="4134133" y="3417832"/>
                    <a:ext cx="426492" cy="466963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53" name="Ellipse 53"/>
                  <p:cNvSpPr/>
                  <p:nvPr/>
                </p:nvSpPr>
                <p:spPr>
                  <a:xfrm>
                    <a:off x="5157714" y="3417832"/>
                    <a:ext cx="426492" cy="466963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54" name="Ellipse 54"/>
                  <p:cNvSpPr/>
                  <p:nvPr/>
                </p:nvSpPr>
                <p:spPr>
                  <a:xfrm>
                    <a:off x="6181296" y="3417832"/>
                    <a:ext cx="426492" cy="466963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55" name="Ellipse 55"/>
                  <p:cNvSpPr/>
                  <p:nvPr/>
                </p:nvSpPr>
                <p:spPr>
                  <a:xfrm>
                    <a:off x="7204878" y="3417832"/>
                    <a:ext cx="426492" cy="466963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56" name="Ellipse 56"/>
                  <p:cNvSpPr/>
                  <p:nvPr/>
                </p:nvSpPr>
                <p:spPr>
                  <a:xfrm>
                    <a:off x="8228459" y="3417832"/>
                    <a:ext cx="426492" cy="466963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57" name="Ellipse 57"/>
                  <p:cNvSpPr/>
                  <p:nvPr/>
                </p:nvSpPr>
                <p:spPr>
                  <a:xfrm>
                    <a:off x="9252041" y="3417832"/>
                    <a:ext cx="426492" cy="466963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58" name="Ellipse 58"/>
                  <p:cNvSpPr/>
                  <p:nvPr/>
                </p:nvSpPr>
                <p:spPr>
                  <a:xfrm>
                    <a:off x="10275623" y="3417832"/>
                    <a:ext cx="426492" cy="466963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59" name="TextBox 59"/>
                  <p:cNvSpPr txBox="1"/>
                  <p:nvPr/>
                </p:nvSpPr>
                <p:spPr>
                  <a:xfrm>
                    <a:off x="4231911" y="3540643"/>
                    <a:ext cx="230937" cy="3137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544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#1</a:t>
                    </a:r>
                  </a:p>
                </p:txBody>
              </p:sp>
              <p:sp>
                <p:nvSpPr>
                  <p:cNvPr id="60" name="TextBox 60"/>
                  <p:cNvSpPr txBox="1"/>
                  <p:nvPr/>
                </p:nvSpPr>
                <p:spPr>
                  <a:xfrm>
                    <a:off x="5255492" y="3540643"/>
                    <a:ext cx="230937" cy="3137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544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#1</a:t>
                    </a:r>
                  </a:p>
                </p:txBody>
              </p:sp>
              <p:sp>
                <p:nvSpPr>
                  <p:cNvPr id="61" name="TextBox 61"/>
                  <p:cNvSpPr txBox="1"/>
                  <p:nvPr/>
                </p:nvSpPr>
                <p:spPr>
                  <a:xfrm>
                    <a:off x="6279074" y="3540643"/>
                    <a:ext cx="230937" cy="3137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544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#1</a:t>
                    </a:r>
                  </a:p>
                </p:txBody>
              </p:sp>
              <p:sp>
                <p:nvSpPr>
                  <p:cNvPr id="62" name="TextBox 62"/>
                  <p:cNvSpPr txBox="1"/>
                  <p:nvPr/>
                </p:nvSpPr>
                <p:spPr>
                  <a:xfrm>
                    <a:off x="7302656" y="3540643"/>
                    <a:ext cx="230937" cy="3137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544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#1</a:t>
                    </a:r>
                  </a:p>
                </p:txBody>
              </p:sp>
              <p:sp>
                <p:nvSpPr>
                  <p:cNvPr id="63" name="TextBox 63"/>
                  <p:cNvSpPr txBox="1"/>
                  <p:nvPr/>
                </p:nvSpPr>
                <p:spPr>
                  <a:xfrm>
                    <a:off x="8326237" y="3540643"/>
                    <a:ext cx="230937" cy="3137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544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#1</a:t>
                    </a:r>
                  </a:p>
                </p:txBody>
              </p:sp>
              <p:sp>
                <p:nvSpPr>
                  <p:cNvPr id="64" name="TextBox 64"/>
                  <p:cNvSpPr txBox="1"/>
                  <p:nvPr/>
                </p:nvSpPr>
                <p:spPr>
                  <a:xfrm>
                    <a:off x="9349819" y="3540643"/>
                    <a:ext cx="230937" cy="3137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544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#1</a:t>
                    </a:r>
                  </a:p>
                </p:txBody>
              </p:sp>
              <p:sp>
                <p:nvSpPr>
                  <p:cNvPr id="65" name="TextBox 65"/>
                  <p:cNvSpPr txBox="1"/>
                  <p:nvPr/>
                </p:nvSpPr>
                <p:spPr>
                  <a:xfrm>
                    <a:off x="10373400" y="3540643"/>
                    <a:ext cx="230937" cy="3137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544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#1</a:t>
                    </a:r>
                  </a:p>
                </p:txBody>
              </p:sp>
            </p:grpSp>
            <p:grpSp>
              <p:nvGrpSpPr>
                <p:cNvPr id="82" name="Group 82"/>
                <p:cNvGrpSpPr/>
                <p:nvPr/>
              </p:nvGrpSpPr>
              <p:grpSpPr>
                <a:xfrm>
                  <a:off x="2494173" y="4398454"/>
                  <a:ext cx="8207942" cy="466963"/>
                  <a:chOff x="2494173" y="4398454"/>
                  <a:chExt cx="8207942" cy="466963"/>
                </a:xfrm>
              </p:grpSpPr>
              <p:sp>
                <p:nvSpPr>
                  <p:cNvPr id="67" name="TextBox 67"/>
                  <p:cNvSpPr txBox="1"/>
                  <p:nvPr/>
                </p:nvSpPr>
                <p:spPr>
                  <a:xfrm>
                    <a:off x="2494173" y="4521266"/>
                    <a:ext cx="1318055" cy="3137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544" b="1" dirty="0">
                        <a:solidFill>
                          <a:srgbClr val="DCE7F3"/>
                        </a:solidFill>
                        <a:latin typeface="Inter"/>
                        <a:ea typeface="Microsoft JhengHei"/>
                        <a:cs typeface="Inter"/>
                      </a:rPr>
                      <a:t>#2 配對列表</a:t>
                    </a:r>
                  </a:p>
                </p:txBody>
              </p:sp>
              <p:sp>
                <p:nvSpPr>
                  <p:cNvPr id="68" name="Ellipse 68"/>
                  <p:cNvSpPr/>
                  <p:nvPr/>
                </p:nvSpPr>
                <p:spPr>
                  <a:xfrm>
                    <a:off x="4134133" y="4398454"/>
                    <a:ext cx="426492" cy="466963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69" name="Ellipse 69"/>
                  <p:cNvSpPr/>
                  <p:nvPr/>
                </p:nvSpPr>
                <p:spPr>
                  <a:xfrm>
                    <a:off x="5157714" y="4398454"/>
                    <a:ext cx="426492" cy="466963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70" name="Ellipse 70"/>
                  <p:cNvSpPr/>
                  <p:nvPr/>
                </p:nvSpPr>
                <p:spPr>
                  <a:xfrm>
                    <a:off x="6181296" y="4398454"/>
                    <a:ext cx="426492" cy="466963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71" name="Ellipse 71"/>
                  <p:cNvSpPr/>
                  <p:nvPr/>
                </p:nvSpPr>
                <p:spPr>
                  <a:xfrm>
                    <a:off x="7204878" y="4398454"/>
                    <a:ext cx="426492" cy="466963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72" name="Ellipse 72"/>
                  <p:cNvSpPr/>
                  <p:nvPr/>
                </p:nvSpPr>
                <p:spPr>
                  <a:xfrm>
                    <a:off x="8228459" y="4398454"/>
                    <a:ext cx="426492" cy="466963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73" name="Ellipse 73"/>
                  <p:cNvSpPr/>
                  <p:nvPr/>
                </p:nvSpPr>
                <p:spPr>
                  <a:xfrm>
                    <a:off x="9252041" y="4398454"/>
                    <a:ext cx="426492" cy="466963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74" name="Ellipse 74"/>
                  <p:cNvSpPr/>
                  <p:nvPr/>
                </p:nvSpPr>
                <p:spPr>
                  <a:xfrm>
                    <a:off x="10275623" y="4398454"/>
                    <a:ext cx="426492" cy="466963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75" name="TextBox 75"/>
                  <p:cNvSpPr txBox="1"/>
                  <p:nvPr/>
                </p:nvSpPr>
                <p:spPr>
                  <a:xfrm>
                    <a:off x="4203718" y="4521266"/>
                    <a:ext cx="287322" cy="3137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544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#2</a:t>
                    </a:r>
                  </a:p>
                </p:txBody>
              </p:sp>
              <p:sp>
                <p:nvSpPr>
                  <p:cNvPr id="76" name="TextBox 76"/>
                  <p:cNvSpPr txBox="1"/>
                  <p:nvPr/>
                </p:nvSpPr>
                <p:spPr>
                  <a:xfrm>
                    <a:off x="5227299" y="4521266"/>
                    <a:ext cx="287322" cy="3137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544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#2</a:t>
                    </a:r>
                  </a:p>
                </p:txBody>
              </p:sp>
              <p:sp>
                <p:nvSpPr>
                  <p:cNvPr id="77" name="TextBox 77"/>
                  <p:cNvSpPr txBox="1"/>
                  <p:nvPr/>
                </p:nvSpPr>
                <p:spPr>
                  <a:xfrm>
                    <a:off x="6250881" y="4521266"/>
                    <a:ext cx="287322" cy="3137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544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#2</a:t>
                    </a:r>
                  </a:p>
                </p:txBody>
              </p:sp>
              <p:sp>
                <p:nvSpPr>
                  <p:cNvPr id="78" name="TextBox 78"/>
                  <p:cNvSpPr txBox="1"/>
                  <p:nvPr/>
                </p:nvSpPr>
                <p:spPr>
                  <a:xfrm>
                    <a:off x="7274463" y="4521266"/>
                    <a:ext cx="287322" cy="3137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544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#2</a:t>
                    </a:r>
                  </a:p>
                </p:txBody>
              </p:sp>
              <p:sp>
                <p:nvSpPr>
                  <p:cNvPr id="79" name="TextBox 79"/>
                  <p:cNvSpPr txBox="1"/>
                  <p:nvPr/>
                </p:nvSpPr>
                <p:spPr>
                  <a:xfrm>
                    <a:off x="8298044" y="4521266"/>
                    <a:ext cx="287322" cy="3137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544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#2</a:t>
                    </a:r>
                  </a:p>
                </p:txBody>
              </p:sp>
              <p:sp>
                <p:nvSpPr>
                  <p:cNvPr id="80" name="TextBox 80"/>
                  <p:cNvSpPr txBox="1"/>
                  <p:nvPr/>
                </p:nvSpPr>
                <p:spPr>
                  <a:xfrm>
                    <a:off x="9321626" y="4521266"/>
                    <a:ext cx="287322" cy="3137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544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#2</a:t>
                    </a:r>
                  </a:p>
                </p:txBody>
              </p:sp>
              <p:sp>
                <p:nvSpPr>
                  <p:cNvPr id="81" name="TextBox 81"/>
                  <p:cNvSpPr txBox="1"/>
                  <p:nvPr/>
                </p:nvSpPr>
                <p:spPr>
                  <a:xfrm>
                    <a:off x="10345208" y="4521266"/>
                    <a:ext cx="287322" cy="3137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544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#2</a:t>
                    </a:r>
                  </a:p>
                </p:txBody>
              </p:sp>
            </p:grpSp>
            <p:grpSp>
              <p:nvGrpSpPr>
                <p:cNvPr id="98" name="Group 98"/>
                <p:cNvGrpSpPr/>
                <p:nvPr/>
              </p:nvGrpSpPr>
              <p:grpSpPr>
                <a:xfrm>
                  <a:off x="2138942" y="5379077"/>
                  <a:ext cx="8563173" cy="466963"/>
                  <a:chOff x="2138942" y="5379077"/>
                  <a:chExt cx="8563173" cy="466963"/>
                </a:xfrm>
              </p:grpSpPr>
              <p:sp>
                <p:nvSpPr>
                  <p:cNvPr id="83" name="TextBox 83"/>
                  <p:cNvSpPr txBox="1"/>
                  <p:nvPr/>
                </p:nvSpPr>
                <p:spPr>
                  <a:xfrm>
                    <a:off x="2138942" y="5501888"/>
                    <a:ext cx="2028516" cy="3137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544" b="1" dirty="0">
                        <a:solidFill>
                          <a:srgbClr val="DCE7F3"/>
                        </a:solidFill>
                        <a:latin typeface="Inter"/>
                        <a:ea typeface="Microsoft JhengHei"/>
                        <a:cs typeface="Inter"/>
                      </a:rPr>
                      <a:t>#3 雙向喜歡才配對</a:t>
                    </a:r>
                  </a:p>
                </p:txBody>
              </p:sp>
              <p:sp>
                <p:nvSpPr>
                  <p:cNvPr id="84" name="Ellipse 84"/>
                  <p:cNvSpPr/>
                  <p:nvPr/>
                </p:nvSpPr>
                <p:spPr>
                  <a:xfrm>
                    <a:off x="4134133" y="5379077"/>
                    <a:ext cx="426492" cy="466963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85" name="Ellipse 85"/>
                  <p:cNvSpPr/>
                  <p:nvPr/>
                </p:nvSpPr>
                <p:spPr>
                  <a:xfrm>
                    <a:off x="5157714" y="5379077"/>
                    <a:ext cx="426492" cy="466963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86" name="Ellipse 86"/>
                  <p:cNvSpPr/>
                  <p:nvPr/>
                </p:nvSpPr>
                <p:spPr>
                  <a:xfrm>
                    <a:off x="6181296" y="5379077"/>
                    <a:ext cx="426492" cy="466963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87" name="Ellipse 87"/>
                  <p:cNvSpPr/>
                  <p:nvPr/>
                </p:nvSpPr>
                <p:spPr>
                  <a:xfrm>
                    <a:off x="7204878" y="5379077"/>
                    <a:ext cx="426492" cy="466963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88" name="Ellipse 88"/>
                  <p:cNvSpPr/>
                  <p:nvPr/>
                </p:nvSpPr>
                <p:spPr>
                  <a:xfrm>
                    <a:off x="8228459" y="5379077"/>
                    <a:ext cx="426492" cy="466963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89" name="Ellipse 89"/>
                  <p:cNvSpPr/>
                  <p:nvPr/>
                </p:nvSpPr>
                <p:spPr>
                  <a:xfrm>
                    <a:off x="9252041" y="5379077"/>
                    <a:ext cx="426492" cy="466963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90" name="Ellipse 90"/>
                  <p:cNvSpPr/>
                  <p:nvPr/>
                </p:nvSpPr>
                <p:spPr>
                  <a:xfrm>
                    <a:off x="10275623" y="5379077"/>
                    <a:ext cx="426492" cy="466963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91" name="TextBox 91"/>
                  <p:cNvSpPr txBox="1"/>
                  <p:nvPr/>
                </p:nvSpPr>
                <p:spPr>
                  <a:xfrm>
                    <a:off x="4203718" y="5501888"/>
                    <a:ext cx="287322" cy="3137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544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#3</a:t>
                    </a:r>
                  </a:p>
                </p:txBody>
              </p:sp>
              <p:sp>
                <p:nvSpPr>
                  <p:cNvPr id="92" name="TextBox 92"/>
                  <p:cNvSpPr txBox="1"/>
                  <p:nvPr/>
                </p:nvSpPr>
                <p:spPr>
                  <a:xfrm>
                    <a:off x="5227299" y="5501888"/>
                    <a:ext cx="287322" cy="3137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544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#3</a:t>
                    </a:r>
                  </a:p>
                </p:txBody>
              </p:sp>
              <p:sp>
                <p:nvSpPr>
                  <p:cNvPr id="93" name="TextBox 93"/>
                  <p:cNvSpPr txBox="1"/>
                  <p:nvPr/>
                </p:nvSpPr>
                <p:spPr>
                  <a:xfrm>
                    <a:off x="6250881" y="5501888"/>
                    <a:ext cx="287322" cy="3137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544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#3</a:t>
                    </a:r>
                  </a:p>
                </p:txBody>
              </p:sp>
              <p:sp>
                <p:nvSpPr>
                  <p:cNvPr id="94" name="TextBox 94"/>
                  <p:cNvSpPr txBox="1"/>
                  <p:nvPr/>
                </p:nvSpPr>
                <p:spPr>
                  <a:xfrm>
                    <a:off x="7274463" y="5501888"/>
                    <a:ext cx="287322" cy="3137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544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#3</a:t>
                    </a:r>
                  </a:p>
                </p:txBody>
              </p:sp>
              <p:sp>
                <p:nvSpPr>
                  <p:cNvPr id="95" name="TextBox 95"/>
                  <p:cNvSpPr txBox="1"/>
                  <p:nvPr/>
                </p:nvSpPr>
                <p:spPr>
                  <a:xfrm>
                    <a:off x="8298044" y="5501888"/>
                    <a:ext cx="287322" cy="3137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544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#3</a:t>
                    </a:r>
                  </a:p>
                </p:txBody>
              </p:sp>
              <p:sp>
                <p:nvSpPr>
                  <p:cNvPr id="96" name="TextBox 96"/>
                  <p:cNvSpPr txBox="1"/>
                  <p:nvPr/>
                </p:nvSpPr>
                <p:spPr>
                  <a:xfrm>
                    <a:off x="9321626" y="5501888"/>
                    <a:ext cx="287322" cy="3137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544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#3</a:t>
                    </a:r>
                  </a:p>
                </p:txBody>
              </p:sp>
              <p:sp>
                <p:nvSpPr>
                  <p:cNvPr id="97" name="TextBox 97"/>
                  <p:cNvSpPr txBox="1"/>
                  <p:nvPr/>
                </p:nvSpPr>
                <p:spPr>
                  <a:xfrm>
                    <a:off x="10345208" y="5501888"/>
                    <a:ext cx="287322" cy="3137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544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#3</a:t>
                    </a:r>
                  </a:p>
                </p:txBody>
              </p:sp>
            </p:grpSp>
          </p:grpSp>
          <p:grpSp>
            <p:nvGrpSpPr>
              <p:cNvPr id="106" name="Group 106"/>
              <p:cNvGrpSpPr/>
              <p:nvPr/>
            </p:nvGrpSpPr>
            <p:grpSpPr>
              <a:xfrm>
                <a:off x="4347379" y="3055002"/>
                <a:ext cx="5117908" cy="4217610"/>
                <a:chOff x="4347379" y="3055002"/>
                <a:chExt cx="5117908" cy="4217610"/>
              </a:xfrm>
            </p:grpSpPr>
            <p:sp>
              <p:nvSpPr>
                <p:cNvPr id="100" name="Freeform 100"/>
                <p:cNvSpPr/>
                <p:nvPr/>
              </p:nvSpPr>
              <p:spPr>
                <a:xfrm>
                  <a:off x="7418124" y="5846040"/>
                  <a:ext cx="1023582" cy="364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3582" h="364231">
                      <a:moveTo>
                        <a:pt x="0" y="0"/>
                      </a:moveTo>
                      <a:lnTo>
                        <a:pt x="0" y="364231"/>
                      </a:lnTo>
                      <a:moveTo>
                        <a:pt x="1023582" y="0"/>
                      </a:moveTo>
                      <a:lnTo>
                        <a:pt x="1023582" y="364231"/>
                      </a:lnTo>
                    </a:path>
                  </a:pathLst>
                </a:custGeom>
                <a:noFill/>
                <a:ln w="38100" cap="flat">
                  <a:solidFill>
                    <a:srgbClr val="FF9289"/>
                  </a:solidFill>
                  <a:miter lim="800000"/>
                </a:ln>
              </p:spPr>
            </p:sp>
            <p:sp>
              <p:nvSpPr>
                <p:cNvPr id="101" name="Freeform 101"/>
                <p:cNvSpPr/>
                <p:nvPr/>
              </p:nvSpPr>
              <p:spPr>
                <a:xfrm>
                  <a:off x="6394542" y="5846040"/>
                  <a:ext cx="2047163" cy="364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7163" h="364231">
                      <a:moveTo>
                        <a:pt x="2047163" y="364231"/>
                      </a:moveTo>
                      <a:lnTo>
                        <a:pt x="51179" y="364231"/>
                      </a:lnTo>
                      <a:cubicBezTo>
                        <a:pt x="17060" y="364231"/>
                        <a:pt x="0" y="345553"/>
                        <a:pt x="0" y="308196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38100" cap="flat">
                  <a:solidFill>
                    <a:srgbClr val="FF9289"/>
                  </a:solidFill>
                  <a:miter lim="800000"/>
                </a:ln>
              </p:spPr>
            </p:sp>
            <p:sp>
              <p:nvSpPr>
                <p:cNvPr id="102" name="TextBox 102"/>
                <p:cNvSpPr txBox="1"/>
                <p:nvPr/>
              </p:nvSpPr>
              <p:spPr>
                <a:xfrm>
                  <a:off x="6238092" y="6314404"/>
                  <a:ext cx="2360064" cy="3137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44" b="1" dirty="0">
                      <a:solidFill>
                        <a:srgbClr val="FFB1AA"/>
                      </a:solidFill>
                      <a:latin typeface="Inter"/>
                      <a:ea typeface="Microsoft JhengHei"/>
                      <a:cs typeface="Inter"/>
                    </a:rPr>
                    <a:t>Review／QA 退回 Dev</a:t>
                  </a:r>
                </a:p>
              </p:txBody>
            </p:sp>
            <p:sp>
              <p:nvSpPr>
                <p:cNvPr id="103" name="Freeform 103"/>
                <p:cNvSpPr/>
                <p:nvPr/>
              </p:nvSpPr>
              <p:spPr>
                <a:xfrm>
                  <a:off x="4347379" y="5846040"/>
                  <a:ext cx="5117908" cy="999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7908" h="999301">
                      <a:moveTo>
                        <a:pt x="5117908" y="0"/>
                      </a:moveTo>
                      <a:lnTo>
                        <a:pt x="5117908" y="943266"/>
                      </a:lnTo>
                      <a:cubicBezTo>
                        <a:pt x="5117908" y="980623"/>
                        <a:pt x="5100849" y="999301"/>
                        <a:pt x="5066729" y="999301"/>
                      </a:cubicBezTo>
                      <a:lnTo>
                        <a:pt x="51179" y="999301"/>
                      </a:lnTo>
                      <a:cubicBezTo>
                        <a:pt x="17060" y="999301"/>
                        <a:pt x="0" y="980623"/>
                        <a:pt x="0" y="943266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38100" cap="flat">
                  <a:solidFill>
                    <a:srgbClr val="FF9289"/>
                  </a:solidFill>
                  <a:miter lim="800000"/>
                </a:ln>
              </p:spPr>
            </p:sp>
            <p:sp>
              <p:nvSpPr>
                <p:cNvPr id="104" name="TextBox 104"/>
                <p:cNvSpPr txBox="1"/>
                <p:nvPr/>
              </p:nvSpPr>
              <p:spPr>
                <a:xfrm>
                  <a:off x="5341468" y="6958813"/>
                  <a:ext cx="3129730" cy="3137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44" b="1" dirty="0">
                      <a:solidFill>
                        <a:srgbClr val="FFB1AA"/>
                      </a:solidFill>
                      <a:latin typeface="Inter"/>
                      <a:ea typeface="Microsoft JhengHei"/>
                      <a:cs typeface="Inter"/>
                    </a:rPr>
                    <a:t>Goal Check 退回 Refinement</a:t>
                  </a:r>
                </a:p>
              </p:txBody>
            </p:sp>
            <p:sp>
              <p:nvSpPr>
                <p:cNvPr id="105" name="TextBox 105"/>
                <p:cNvSpPr txBox="1"/>
                <p:nvPr/>
              </p:nvSpPr>
              <p:spPr>
                <a:xfrm>
                  <a:off x="5205296" y="3055002"/>
                  <a:ext cx="3402074" cy="3137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44" b="1" dirty="0">
                      <a:solidFill>
                        <a:srgbClr val="F2CF76"/>
                      </a:solidFill>
                      <a:latin typeface="Inter"/>
                      <a:ea typeface="Microsoft JhengHei"/>
                      <a:cs typeface="Inter"/>
                    </a:rPr>
                    <a:t>三張票回查 Goal（re-anchor）</a:t>
                  </a:r>
                </a:p>
              </p:txBody>
            </p:sp>
          </p:grpSp>
          <p:sp>
            <p:nvSpPr>
              <p:cNvPr id="107" name="Freeform 107"/>
              <p:cNvSpPr/>
              <p:nvPr/>
            </p:nvSpPr>
            <p:spPr>
              <a:xfrm>
                <a:off x="2214354" y="2407184"/>
                <a:ext cx="43212" cy="60051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60051">
                    <a:moveTo>
                      <a:pt x="0" y="60051"/>
                    </a:moveTo>
                    <a:lnTo>
                      <a:pt x="43212" y="30025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08" name="Freeform 108"/>
              <p:cNvSpPr/>
              <p:nvPr/>
            </p:nvSpPr>
            <p:spPr>
              <a:xfrm>
                <a:off x="4090921" y="3621288"/>
                <a:ext cx="43212" cy="60051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60051">
                    <a:moveTo>
                      <a:pt x="0" y="60051"/>
                    </a:moveTo>
                    <a:lnTo>
                      <a:pt x="43212" y="30025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09" name="Freeform 109"/>
              <p:cNvSpPr/>
              <p:nvPr/>
            </p:nvSpPr>
            <p:spPr>
              <a:xfrm>
                <a:off x="4090921" y="4601911"/>
                <a:ext cx="43212" cy="60051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60051">
                    <a:moveTo>
                      <a:pt x="0" y="60051"/>
                    </a:moveTo>
                    <a:lnTo>
                      <a:pt x="43212" y="30025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10" name="Freeform 110"/>
              <p:cNvSpPr/>
              <p:nvPr/>
            </p:nvSpPr>
            <p:spPr>
              <a:xfrm>
                <a:off x="4090921" y="5582533"/>
                <a:ext cx="43212" cy="60051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60051">
                    <a:moveTo>
                      <a:pt x="0" y="60051"/>
                    </a:moveTo>
                    <a:lnTo>
                      <a:pt x="43212" y="30025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11" name="Freeform 111"/>
              <p:cNvSpPr/>
              <p:nvPr/>
            </p:nvSpPr>
            <p:spPr>
              <a:xfrm>
                <a:off x="5114502" y="3621288"/>
                <a:ext cx="43212" cy="60051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60051">
                    <a:moveTo>
                      <a:pt x="0" y="60051"/>
                    </a:moveTo>
                    <a:lnTo>
                      <a:pt x="43212" y="30025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12" name="Freeform 112"/>
              <p:cNvSpPr/>
              <p:nvPr/>
            </p:nvSpPr>
            <p:spPr>
              <a:xfrm>
                <a:off x="6138084" y="3621288"/>
                <a:ext cx="43212" cy="60051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60051">
                    <a:moveTo>
                      <a:pt x="0" y="60051"/>
                    </a:moveTo>
                    <a:lnTo>
                      <a:pt x="43212" y="30025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13" name="Freeform 113"/>
              <p:cNvSpPr/>
              <p:nvPr/>
            </p:nvSpPr>
            <p:spPr>
              <a:xfrm>
                <a:off x="7161666" y="3621288"/>
                <a:ext cx="43212" cy="60051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60051">
                    <a:moveTo>
                      <a:pt x="0" y="60051"/>
                    </a:moveTo>
                    <a:lnTo>
                      <a:pt x="43212" y="30025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14" name="Freeform 114"/>
              <p:cNvSpPr/>
              <p:nvPr/>
            </p:nvSpPr>
            <p:spPr>
              <a:xfrm>
                <a:off x="8185247" y="3621288"/>
                <a:ext cx="43212" cy="60051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60051">
                    <a:moveTo>
                      <a:pt x="0" y="60051"/>
                    </a:moveTo>
                    <a:lnTo>
                      <a:pt x="43212" y="30025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15" name="Freeform 115"/>
              <p:cNvSpPr/>
              <p:nvPr/>
            </p:nvSpPr>
            <p:spPr>
              <a:xfrm>
                <a:off x="9208829" y="3621288"/>
                <a:ext cx="43212" cy="60051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60051">
                    <a:moveTo>
                      <a:pt x="0" y="60051"/>
                    </a:moveTo>
                    <a:lnTo>
                      <a:pt x="43212" y="30025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16" name="Freeform 116"/>
              <p:cNvSpPr/>
              <p:nvPr/>
            </p:nvSpPr>
            <p:spPr>
              <a:xfrm>
                <a:off x="10232411" y="3621288"/>
                <a:ext cx="43212" cy="60051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60051">
                    <a:moveTo>
                      <a:pt x="0" y="60051"/>
                    </a:moveTo>
                    <a:lnTo>
                      <a:pt x="43212" y="30025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17" name="Freeform 117"/>
              <p:cNvSpPr/>
              <p:nvPr/>
            </p:nvSpPr>
            <p:spPr>
              <a:xfrm>
                <a:off x="5114502" y="4601911"/>
                <a:ext cx="43212" cy="60051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60051">
                    <a:moveTo>
                      <a:pt x="0" y="60051"/>
                    </a:moveTo>
                    <a:lnTo>
                      <a:pt x="43212" y="30025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18" name="Freeform 118"/>
              <p:cNvSpPr/>
              <p:nvPr/>
            </p:nvSpPr>
            <p:spPr>
              <a:xfrm>
                <a:off x="6138084" y="4601911"/>
                <a:ext cx="43212" cy="60051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60051">
                    <a:moveTo>
                      <a:pt x="0" y="60051"/>
                    </a:moveTo>
                    <a:lnTo>
                      <a:pt x="43212" y="30025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19" name="Freeform 119"/>
              <p:cNvSpPr/>
              <p:nvPr/>
            </p:nvSpPr>
            <p:spPr>
              <a:xfrm>
                <a:off x="7161666" y="4601911"/>
                <a:ext cx="43212" cy="60051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60051">
                    <a:moveTo>
                      <a:pt x="0" y="60051"/>
                    </a:moveTo>
                    <a:lnTo>
                      <a:pt x="43212" y="30025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20" name="Freeform 120"/>
              <p:cNvSpPr/>
              <p:nvPr/>
            </p:nvSpPr>
            <p:spPr>
              <a:xfrm>
                <a:off x="8185247" y="4601911"/>
                <a:ext cx="43212" cy="60051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60051">
                    <a:moveTo>
                      <a:pt x="0" y="60051"/>
                    </a:moveTo>
                    <a:lnTo>
                      <a:pt x="43212" y="30025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21" name="Freeform 121"/>
              <p:cNvSpPr/>
              <p:nvPr/>
            </p:nvSpPr>
            <p:spPr>
              <a:xfrm>
                <a:off x="9208829" y="4601911"/>
                <a:ext cx="43212" cy="60051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60051">
                    <a:moveTo>
                      <a:pt x="0" y="60051"/>
                    </a:moveTo>
                    <a:lnTo>
                      <a:pt x="43212" y="30025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22" name="Freeform 122"/>
              <p:cNvSpPr/>
              <p:nvPr/>
            </p:nvSpPr>
            <p:spPr>
              <a:xfrm>
                <a:off x="10232411" y="4601911"/>
                <a:ext cx="43212" cy="60051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60051">
                    <a:moveTo>
                      <a:pt x="0" y="60051"/>
                    </a:moveTo>
                    <a:lnTo>
                      <a:pt x="43212" y="30025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23" name="Freeform 123"/>
              <p:cNvSpPr/>
              <p:nvPr/>
            </p:nvSpPr>
            <p:spPr>
              <a:xfrm>
                <a:off x="5114502" y="5582533"/>
                <a:ext cx="43212" cy="60051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60051">
                    <a:moveTo>
                      <a:pt x="0" y="60051"/>
                    </a:moveTo>
                    <a:lnTo>
                      <a:pt x="43212" y="30025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24" name="Freeform 124"/>
              <p:cNvSpPr/>
              <p:nvPr/>
            </p:nvSpPr>
            <p:spPr>
              <a:xfrm>
                <a:off x="6138084" y="5582533"/>
                <a:ext cx="43212" cy="60051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60051">
                    <a:moveTo>
                      <a:pt x="0" y="60051"/>
                    </a:moveTo>
                    <a:lnTo>
                      <a:pt x="43212" y="30025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25" name="Freeform 125"/>
              <p:cNvSpPr/>
              <p:nvPr/>
            </p:nvSpPr>
            <p:spPr>
              <a:xfrm>
                <a:off x="7161666" y="5582533"/>
                <a:ext cx="43212" cy="60051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60051">
                    <a:moveTo>
                      <a:pt x="0" y="60051"/>
                    </a:moveTo>
                    <a:lnTo>
                      <a:pt x="43212" y="30025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26" name="Freeform 126"/>
              <p:cNvSpPr/>
              <p:nvPr/>
            </p:nvSpPr>
            <p:spPr>
              <a:xfrm>
                <a:off x="8185247" y="5582533"/>
                <a:ext cx="43212" cy="60051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60051">
                    <a:moveTo>
                      <a:pt x="0" y="60051"/>
                    </a:moveTo>
                    <a:lnTo>
                      <a:pt x="43212" y="30025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27" name="Freeform 127"/>
              <p:cNvSpPr/>
              <p:nvPr/>
            </p:nvSpPr>
            <p:spPr>
              <a:xfrm>
                <a:off x="9208829" y="5582533"/>
                <a:ext cx="43212" cy="60051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60051">
                    <a:moveTo>
                      <a:pt x="0" y="60051"/>
                    </a:moveTo>
                    <a:lnTo>
                      <a:pt x="43212" y="30025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28" name="Freeform 128"/>
              <p:cNvSpPr/>
              <p:nvPr/>
            </p:nvSpPr>
            <p:spPr>
              <a:xfrm>
                <a:off x="10232411" y="5582533"/>
                <a:ext cx="43212" cy="60051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60051">
                    <a:moveTo>
                      <a:pt x="0" y="60051"/>
                    </a:moveTo>
                    <a:lnTo>
                      <a:pt x="43212" y="30025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29" name="Freeform 129"/>
              <p:cNvSpPr/>
              <p:nvPr/>
            </p:nvSpPr>
            <p:spPr>
              <a:xfrm>
                <a:off x="11255992" y="4041555"/>
                <a:ext cx="43212" cy="60051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60051">
                    <a:moveTo>
                      <a:pt x="0" y="60051"/>
                    </a:moveTo>
                    <a:lnTo>
                      <a:pt x="43212" y="30025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F2CF76"/>
                </a:solidFill>
              </a:ln>
            </p:spPr>
          </p:sp>
          <p:sp>
            <p:nvSpPr>
              <p:cNvPr id="130" name="Freeform 130"/>
              <p:cNvSpPr/>
              <p:nvPr/>
            </p:nvSpPr>
            <p:spPr>
              <a:xfrm>
                <a:off x="11255992" y="5022178"/>
                <a:ext cx="43212" cy="60051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60051">
                    <a:moveTo>
                      <a:pt x="0" y="60051"/>
                    </a:moveTo>
                    <a:lnTo>
                      <a:pt x="43212" y="30025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F2CF76"/>
                </a:solidFill>
              </a:ln>
            </p:spPr>
          </p:sp>
          <p:sp>
            <p:nvSpPr>
              <p:cNvPr id="131" name="Freeform 131"/>
              <p:cNvSpPr/>
              <p:nvPr/>
            </p:nvSpPr>
            <p:spPr>
              <a:xfrm>
                <a:off x="11255992" y="6002800"/>
                <a:ext cx="43212" cy="60051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60051">
                    <a:moveTo>
                      <a:pt x="0" y="60051"/>
                    </a:moveTo>
                    <a:lnTo>
                      <a:pt x="43212" y="30025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F2CF76"/>
                </a:solidFill>
              </a:ln>
            </p:spPr>
          </p:sp>
          <p:sp>
            <p:nvSpPr>
              <p:cNvPr id="132" name="Freeform 132"/>
              <p:cNvSpPr/>
              <p:nvPr/>
            </p:nvSpPr>
            <p:spPr>
              <a:xfrm>
                <a:off x="11271781" y="2764084"/>
                <a:ext cx="54846" cy="47312"/>
              </a:xfrm>
              <a:custGeom>
                <a:avLst/>
                <a:gdLst/>
                <a:ahLst/>
                <a:cxnLst/>
                <a:rect l="l" t="t" r="r" b="b"/>
                <a:pathLst>
                  <a:path w="54846" h="47312">
                    <a:moveTo>
                      <a:pt x="54846" y="47312"/>
                    </a:moveTo>
                    <a:lnTo>
                      <a:pt x="27423" y="0"/>
                    </a:lnTo>
                    <a:lnTo>
                      <a:pt x="0" y="47312"/>
                    </a:lnTo>
                  </a:path>
                </a:pathLst>
              </a:custGeom>
              <a:noFill/>
              <a:ln w="19050" cap="rnd">
                <a:solidFill>
                  <a:srgbClr val="F2CF76"/>
                </a:solidFill>
              </a:ln>
            </p:spPr>
          </p:sp>
          <p:sp>
            <p:nvSpPr>
              <p:cNvPr id="133" name="Freeform 133"/>
              <p:cNvSpPr/>
              <p:nvPr/>
            </p:nvSpPr>
            <p:spPr>
              <a:xfrm>
                <a:off x="6367119" y="5846040"/>
                <a:ext cx="54846" cy="47312"/>
              </a:xfrm>
              <a:custGeom>
                <a:avLst/>
                <a:gdLst/>
                <a:ahLst/>
                <a:cxnLst/>
                <a:rect l="l" t="t" r="r" b="b"/>
                <a:pathLst>
                  <a:path w="54846" h="47312">
                    <a:moveTo>
                      <a:pt x="54846" y="47312"/>
                    </a:moveTo>
                    <a:lnTo>
                      <a:pt x="27423" y="0"/>
                    </a:lnTo>
                    <a:lnTo>
                      <a:pt x="0" y="47312"/>
                    </a:lnTo>
                  </a:path>
                </a:pathLst>
              </a:custGeom>
              <a:noFill/>
              <a:ln w="19050" cap="rnd">
                <a:solidFill>
                  <a:srgbClr val="FF9289"/>
                </a:solidFill>
              </a:ln>
            </p:spPr>
          </p:sp>
          <p:sp>
            <p:nvSpPr>
              <p:cNvPr id="134" name="Freeform 134"/>
              <p:cNvSpPr/>
              <p:nvPr/>
            </p:nvSpPr>
            <p:spPr>
              <a:xfrm>
                <a:off x="4319956" y="5846040"/>
                <a:ext cx="54846" cy="47312"/>
              </a:xfrm>
              <a:custGeom>
                <a:avLst/>
                <a:gdLst/>
                <a:ahLst/>
                <a:cxnLst/>
                <a:rect l="l" t="t" r="r" b="b"/>
                <a:pathLst>
                  <a:path w="54846" h="47312">
                    <a:moveTo>
                      <a:pt x="54846" y="47312"/>
                    </a:moveTo>
                    <a:lnTo>
                      <a:pt x="27423" y="0"/>
                    </a:lnTo>
                    <a:lnTo>
                      <a:pt x="0" y="47312"/>
                    </a:lnTo>
                  </a:path>
                </a:pathLst>
              </a:custGeom>
              <a:noFill/>
              <a:ln w="19050" cap="rnd">
                <a:solidFill>
                  <a:srgbClr val="FF9289"/>
                </a:solidFill>
              </a:ln>
            </p:spPr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10032" y="2429637"/>
            <a:ext cx="11371936" cy="2415540"/>
            <a:chOff x="410032" y="2429637"/>
            <a:chExt cx="11371936" cy="2415540"/>
          </a:xfrm>
        </p:grpSpPr>
        <p:sp>
          <p:nvSpPr>
            <p:cNvPr id="3" name="TextBox 3"/>
            <p:cNvSpPr txBox="1"/>
            <p:nvPr/>
          </p:nvSpPr>
          <p:spPr>
            <a:xfrm>
              <a:off x="5455510" y="2429637"/>
              <a:ext cx="1280979" cy="1341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6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31907" y="3437382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第二段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10032" y="3967353"/>
              <a:ext cx="11371936" cy="877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2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版本控制：存檔點、分支、送審、合併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346710" y="299085"/>
            <a:ext cx="11464290" cy="4897660"/>
            <a:chOff x="346710" y="299085"/>
            <a:chExt cx="11464290" cy="4897660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244937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Git與 GitHub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2339245"/>
              <a:ext cx="5353050" cy="2857500"/>
            </a:xfrm>
            <a:prstGeom prst="roundRect">
              <a:avLst>
                <a:gd name="adj" fmla="val 5333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2851356" y="2815590"/>
              <a:ext cx="412337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◷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823434" y="3576542"/>
              <a:ext cx="46818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Git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600325" y="3994690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版本紀錄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2638425" y="4337590"/>
              <a:ext cx="838200" cy="457200"/>
            </a:xfrm>
            <a:prstGeom prst="roundRect">
              <a:avLst>
                <a:gd name="adj" fmla="val 18750"/>
              </a:avLst>
            </a:prstGeom>
            <a:solidFill>
              <a:srgbClr val="1B2B3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693432" y="4461415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存檔點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61936" y="3663220"/>
              <a:ext cx="268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＋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457950" y="2339245"/>
              <a:ext cx="5353050" cy="2857500"/>
            </a:xfrm>
            <a:prstGeom prst="roundRect">
              <a:avLst>
                <a:gd name="adj" fmla="val 5333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928211" y="2815590"/>
              <a:ext cx="412337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▤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53583" y="3576542"/>
              <a:ext cx="96159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GitHub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39125" y="3994690"/>
              <a:ext cx="17907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共享與審查的平台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143875" y="4337590"/>
              <a:ext cx="1981200" cy="457200"/>
            </a:xfrm>
            <a:prstGeom prst="roundRect">
              <a:avLst>
                <a:gd name="adj" fmla="val 18750"/>
              </a:avLst>
            </a:prstGeom>
            <a:solidFill>
              <a:srgbClr val="1B2B3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80296" y="4461415"/>
              <a:ext cx="21083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共享資料夾＋審查室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346710" y="299085"/>
            <a:ext cx="11464290" cy="5468207"/>
            <a:chOff x="346710" y="299085"/>
            <a:chExt cx="11464290" cy="5468207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880507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Issue：大需求是 parent，子工作是 sub-issue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768697"/>
              <a:ext cx="11430000" cy="3998595"/>
            </a:xfrm>
            <a:prstGeom prst="roundRect">
              <a:avLst>
                <a:gd name="adj" fmla="val 3335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390525" y="1778222"/>
              <a:ext cx="11410950" cy="400050"/>
            </a:xfrm>
            <a:prstGeom prst="rect">
              <a:avLst/>
            </a:prstGeom>
            <a:solidFill>
              <a:srgbClr val="0F1720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90525" y="2178272"/>
              <a:ext cx="11410950" cy="9525"/>
            </a:xfrm>
            <a:custGeom>
              <a:avLst/>
              <a:gdLst/>
              <a:ahLst/>
              <a:cxnLst/>
              <a:rect l="l" t="t" r="r" b="b"/>
              <a:pathLst>
                <a:path w="11410950" h="9525">
                  <a:moveTo>
                    <a:pt x="0" y="0"/>
                  </a:moveTo>
                  <a:lnTo>
                    <a:pt x="1141095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7688" y="1894904"/>
              <a:ext cx="11705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GitHub· Issues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15612" y="1894904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大需求與子工作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90575" y="2349722"/>
              <a:ext cx="10610850" cy="1236345"/>
            </a:xfrm>
            <a:prstGeom prst="roundRect">
              <a:avLst>
                <a:gd name="adj" fmla="val 6934"/>
              </a:avLst>
            </a:prstGeom>
            <a:solidFill>
              <a:srgbClr val="14231B"/>
            </a:solidFill>
            <a:ln w="9525">
              <a:solidFill>
                <a:srgbClr val="53775C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33450" y="2521172"/>
              <a:ext cx="7610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Parent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3450" y="2787872"/>
              <a:ext cx="58578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issue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27735" y="2844070"/>
              <a:ext cx="303990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互相喜歡才算配對成功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3450" y="3204972"/>
              <a:ext cx="64131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Parent issue記錄大需求； sub-issue拆成能分別處理的子工作。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90575" y="3709797"/>
              <a:ext cx="10610850" cy="1857375"/>
            </a:xfrm>
            <a:prstGeom prst="roundRect">
              <a:avLst>
                <a:gd name="adj" fmla="val 4615"/>
              </a:avLst>
            </a:prstGeom>
            <a:solidFill>
              <a:srgbClr val="0E1721"/>
            </a:solidFill>
            <a:ln w="9525">
              <a:solidFill>
                <a:srgbClr val="2B3A4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95350" y="3862197"/>
              <a:ext cx="124575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Sub-issues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14400" y="4176522"/>
              <a:ext cx="10363200" cy="3905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914400" y="4176522"/>
              <a:ext cx="10363200" cy="9525"/>
            </a:xfrm>
            <a:custGeom>
              <a:avLst/>
              <a:gdLst/>
              <a:ahLst/>
              <a:cxnLst/>
              <a:rect l="l" t="t" r="r" b="b"/>
              <a:pathLst>
                <a:path w="10363200" h="9525">
                  <a:moveTo>
                    <a:pt x="0" y="0"/>
                  </a:moveTo>
                  <a:lnTo>
                    <a:pt x="103632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81075" y="4271772"/>
              <a:ext cx="2243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43050" y="4271772"/>
              <a:ext cx="12917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Like／ Pass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14400" y="4614672"/>
              <a:ext cx="10363200" cy="3905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Line 21"/>
            <p:cNvSpPr/>
            <p:nvPr/>
          </p:nvSpPr>
          <p:spPr>
            <a:xfrm>
              <a:off x="914400" y="4614672"/>
              <a:ext cx="10363200" cy="9525"/>
            </a:xfrm>
            <a:custGeom>
              <a:avLst/>
              <a:gdLst/>
              <a:ahLst/>
              <a:cxnLst/>
              <a:rect l="l" t="t" r="r" b="b"/>
              <a:pathLst>
                <a:path w="10363200" h="9525">
                  <a:moveTo>
                    <a:pt x="0" y="0"/>
                  </a:moveTo>
                  <a:lnTo>
                    <a:pt x="103632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81075" y="4709922"/>
              <a:ext cx="2790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43050" y="4709922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配對列表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14400" y="5052822"/>
              <a:ext cx="10363200" cy="390525"/>
            </a:xfrm>
            <a:prstGeom prst="roundRect">
              <a:avLst>
                <a:gd name="adj" fmla="val 14634"/>
              </a:avLst>
            </a:prstGeom>
            <a:solidFill>
              <a:srgbClr val="17283B"/>
            </a:solidFill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914400" y="5052822"/>
              <a:ext cx="10363200" cy="9525"/>
            </a:xfrm>
            <a:custGeom>
              <a:avLst/>
              <a:gdLst/>
              <a:ahLst/>
              <a:cxnLst/>
              <a:rect l="l" t="t" r="r" b="b"/>
              <a:pathLst>
                <a:path w="10363200" h="9525">
                  <a:moveTo>
                    <a:pt x="0" y="0"/>
                  </a:moveTo>
                  <a:lnTo>
                    <a:pt x="103632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81075" y="5148072"/>
              <a:ext cx="2790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43050" y="5148072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10825" y="5148072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本課範例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346710" y="299085"/>
            <a:ext cx="10549890" cy="5566791"/>
            <a:chOff x="346710" y="299085"/>
            <a:chExt cx="10549890" cy="5566791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315326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Feature branch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1950" y="878110"/>
              <a:ext cx="680751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main是整合大家修改的主分支； commit是記錄某一版修改的存檔點。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1180148" y="2984564"/>
              <a:ext cx="9716452" cy="2881312"/>
              <a:chOff x="1180148" y="2984564"/>
              <a:chExt cx="9716452" cy="2881312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1180148" y="2984564"/>
                <a:ext cx="636389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dirty="0">
                    <a:solidFill>
                      <a:srgbClr val="83BCFF"/>
                    </a:solidFill>
                    <a:latin typeface="Inter"/>
                    <a:ea typeface="Microsoft JhengHei"/>
                    <a:cs typeface="Inter"/>
                  </a:rPr>
                  <a:t>main</a:t>
                </a:r>
              </a:p>
            </p:txBody>
          </p:sp>
          <p:sp>
            <p:nvSpPr>
              <p:cNvPr id="6" name="Freeform 6"/>
              <p:cNvSpPr/>
              <p:nvPr/>
            </p:nvSpPr>
            <p:spPr>
              <a:xfrm>
                <a:off x="2209800" y="3579876"/>
                <a:ext cx="8686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86800" h="9525">
                    <a:moveTo>
                      <a:pt x="0" y="0"/>
                    </a:moveTo>
                    <a:lnTo>
                      <a:pt x="8686800" y="0"/>
                    </a:lnTo>
                  </a:path>
                </a:pathLst>
              </a:custGeom>
              <a:noFill/>
              <a:ln w="85725" cap="rnd">
                <a:solidFill>
                  <a:srgbClr val="49627E"/>
                </a:solidFill>
                <a:round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4838700" y="3579876"/>
                <a:ext cx="5086350" cy="1488281"/>
              </a:xfrm>
              <a:custGeom>
                <a:avLst/>
                <a:gdLst/>
                <a:ahLst/>
                <a:cxnLst/>
                <a:rect l="l" t="t" r="r" b="b"/>
                <a:pathLst>
                  <a:path w="5086350" h="1488281">
                    <a:moveTo>
                      <a:pt x="0" y="0"/>
                    </a:moveTo>
                    <a:lnTo>
                      <a:pt x="0" y="1488281"/>
                    </a:lnTo>
                    <a:lnTo>
                      <a:pt x="5086350" y="1488281"/>
                    </a:lnTo>
                  </a:path>
                </a:pathLst>
              </a:custGeom>
              <a:noFill/>
              <a:ln w="85725" cap="rnd">
                <a:solidFill>
                  <a:srgbClr val="8465A8"/>
                </a:solidFill>
                <a:round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2426970" y="3448907"/>
                <a:ext cx="251460" cy="261938"/>
              </a:xfrm>
              <a:prstGeom prst="ellipse">
                <a:avLst/>
              </a:prstGeom>
              <a:solidFill>
                <a:srgbClr val="83BCFF"/>
              </a:solidFill>
              <a:ln w="57150" cap="flat">
                <a:solidFill>
                  <a:srgbClr val="0B1119"/>
                </a:solidFill>
                <a:miter lim="800000"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4701540" y="3437001"/>
                <a:ext cx="274320" cy="285750"/>
              </a:xfrm>
              <a:prstGeom prst="ellipse">
                <a:avLst/>
              </a:prstGeom>
              <a:solidFill>
                <a:srgbClr val="C8A2FF"/>
              </a:solidFill>
              <a:ln w="57150" cap="flat">
                <a:solidFill>
                  <a:srgbClr val="0B1119"/>
                </a:solidFill>
                <a:miter lim="800000"/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7399020" y="3448907"/>
                <a:ext cx="251460" cy="261938"/>
              </a:xfrm>
              <a:prstGeom prst="ellipse">
                <a:avLst/>
              </a:prstGeom>
              <a:solidFill>
                <a:srgbClr val="83BCFF"/>
              </a:solidFill>
              <a:ln w="57150" cap="flat">
                <a:solidFill>
                  <a:srgbClr val="0B1119"/>
                </a:solidFill>
                <a:miter lim="800000"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10142220" y="3448907"/>
                <a:ext cx="251460" cy="261938"/>
              </a:xfrm>
              <a:prstGeom prst="ellipse">
                <a:avLst/>
              </a:prstGeom>
              <a:solidFill>
                <a:srgbClr val="83BCFF"/>
              </a:solidFill>
              <a:ln w="57150" cap="flat">
                <a:solidFill>
                  <a:srgbClr val="0B1119"/>
                </a:solidFill>
                <a:miter lim="800000"/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6770370" y="4937188"/>
                <a:ext cx="251460" cy="261938"/>
              </a:xfrm>
              <a:prstGeom prst="ellipse">
                <a:avLst/>
              </a:prstGeom>
              <a:solidFill>
                <a:srgbClr val="C8A2FF"/>
              </a:solidFill>
              <a:ln w="57150" cap="flat">
                <a:solidFill>
                  <a:srgbClr val="0B1119"/>
                </a:solidFill>
                <a:miter lim="800000"/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9227820" y="4937188"/>
                <a:ext cx="251460" cy="261938"/>
              </a:xfrm>
              <a:prstGeom prst="ellipse">
                <a:avLst/>
              </a:prstGeom>
              <a:solidFill>
                <a:srgbClr val="C8A2FF"/>
              </a:solidFill>
              <a:ln w="57150" cap="flat">
                <a:solidFill>
                  <a:srgbClr val="0B1119"/>
                </a:solidFill>
                <a:miter lim="800000"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5194995" y="5484876"/>
                <a:ext cx="3402211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75" dirty="0">
                    <a:solidFill>
                      <a:srgbClr val="C8A2FF"/>
                    </a:solidFill>
                    <a:latin typeface="Inter"/>
                    <a:ea typeface="Microsoft JhengHei"/>
                    <a:cs typeface="Inter"/>
                  </a:rPr>
                  <a:t>feature/3-mutual-match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728788" y="4091845"/>
                <a:ext cx="3641824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AAB7C6"/>
                    </a:solidFill>
                    <a:latin typeface="Inter"/>
                    <a:ea typeface="Microsoft JhengHei"/>
                    <a:cs typeface="Inter"/>
                  </a:rPr>
                  <a:t>從 main 的 commit</a:t>
                </a:r>
                <a:r>
                  <a:rPr lang="zh-CN" sz="1500" b="1" dirty="0">
                    <a:solidFill>
                      <a:srgbClr val="AAB7C6"/>
                    </a:solidFill>
                    <a:latin typeface="Inter"/>
                    <a:ea typeface="Microsoft JhengHei"/>
                    <a:cs typeface="Inter"/>
                  </a:rPr>
                  <a:t>分出一份</a:t>
                </a: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16" name="Group 16"/>
          <p:cNvGrpSpPr/>
          <p:nvPr/>
        </p:nvGrpSpPr>
        <p:grpSpPr>
          <a:xfrm>
            <a:off x="346710" y="299085"/>
            <a:ext cx="11464290" cy="4549997"/>
            <a:chOff x="346710" y="299085"/>
            <a:chExt cx="11464290" cy="4549997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605162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Commit：替修改留下一個存檔點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879532" y="2715482"/>
              <a:ext cx="52827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8B0F2"/>
                  </a:solidFill>
                  <a:latin typeface="Arial"/>
                  <a:ea typeface="Microsoft YaHei"/>
                  <a:cs typeface="Arial"/>
                </a:rPr>
                <a:t>feature/3-mutual-match·按「存一版」留下節點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1143000" y="3067907"/>
              <a:ext cx="9906000" cy="76200"/>
            </a:xfrm>
            <a:prstGeom prst="roundRect">
              <a:avLst>
                <a:gd name="adj" fmla="val 50000"/>
              </a:avLst>
            </a:prstGeom>
            <a:solidFill>
              <a:srgbClr val="4A6077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1143000" y="2972657"/>
              <a:ext cx="266700" cy="266700"/>
            </a:xfrm>
            <a:prstGeom prst="roundRect">
              <a:avLst>
                <a:gd name="adj" fmla="val 50000"/>
              </a:avLst>
            </a:prstGeom>
            <a:solidFill>
              <a:srgbClr val="83BCFF"/>
            </a:solidFill>
            <a:ln w="47625">
              <a:solidFill>
                <a:srgbClr val="0B1119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962650" y="2972657"/>
              <a:ext cx="266700" cy="266700"/>
            </a:xfrm>
            <a:prstGeom prst="roundRect">
              <a:avLst>
                <a:gd name="adj" fmla="val 50000"/>
              </a:avLst>
            </a:prstGeom>
            <a:solidFill>
              <a:srgbClr val="83BCFF"/>
            </a:solidFill>
            <a:ln w="47625">
              <a:solidFill>
                <a:srgbClr val="0B1119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0782300" y="2972657"/>
              <a:ext cx="266700" cy="266700"/>
            </a:xfrm>
            <a:prstGeom prst="roundRect">
              <a:avLst>
                <a:gd name="adj" fmla="val 50000"/>
              </a:avLst>
            </a:prstGeom>
            <a:solidFill>
              <a:srgbClr val="83BCFF"/>
            </a:solidFill>
            <a:ln w="47625">
              <a:solidFill>
                <a:srgbClr val="0B1119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9150" y="3506057"/>
              <a:ext cx="476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3DFED"/>
                  </a:solidFill>
                  <a:latin typeface="Arial"/>
                  <a:ea typeface="Microsoft YaHei"/>
                  <a:cs typeface="Arial"/>
                </a:rPr>
                <a:t>版本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9150" y="3772757"/>
              <a:ext cx="10382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3DFED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778532" y="3506057"/>
              <a:ext cx="66246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3DFED"/>
                  </a:solidFill>
                  <a:latin typeface="Arial"/>
                  <a:ea typeface="Microsoft YaHei"/>
                  <a:cs typeface="Arial"/>
                </a:rPr>
                <a:t>版本 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775918" y="3506057"/>
              <a:ext cx="66246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3DFED"/>
                  </a:solidFill>
                  <a:latin typeface="Arial"/>
                  <a:ea typeface="Microsoft YaHei"/>
                  <a:cs typeface="Arial"/>
                </a:rPr>
                <a:t>版本 3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81000" y="4277582"/>
              <a:ext cx="11430000" cy="571500"/>
            </a:xfrm>
            <a:prstGeom prst="roundRect">
              <a:avLst>
                <a:gd name="adj" fmla="val 16667"/>
              </a:avLst>
            </a:prstGeom>
            <a:solidFill>
              <a:srgbClr val="251719"/>
            </a:solidFill>
            <a:ln w="9525">
              <a:solidFill>
                <a:srgbClr val="8A586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114800" y="4458557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9289"/>
                  </a:solidFill>
                  <a:latin typeface="Arial"/>
                  <a:ea typeface="Microsoft YaHei"/>
                  <a:cs typeface="Arial"/>
                </a:rPr>
                <a:t>未存的修改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81600" y="4458557"/>
              <a:ext cx="33242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4BCC0"/>
                  </a:solidFill>
                  <a:latin typeface="Arial"/>
                  <a:ea typeface="Microsoft YaHei"/>
                  <a:cs typeface="Arial"/>
                </a:rPr>
                <a:t>不會自動存，也看不到、回不去。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346710" y="299085"/>
            <a:ext cx="11520155" cy="4672870"/>
            <a:chOff x="346710" y="299085"/>
            <a:chExt cx="11520155" cy="4672870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249078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Pull Request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2564035"/>
              <a:ext cx="11430000" cy="2407920"/>
            </a:xfrm>
            <a:prstGeom prst="roundRect">
              <a:avLst>
                <a:gd name="adj" fmla="val 5538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390525" y="2573560"/>
              <a:ext cx="11410950" cy="400050"/>
            </a:xfrm>
            <a:prstGeom prst="rect">
              <a:avLst/>
            </a:prstGeom>
            <a:solidFill>
              <a:srgbClr val="0F1720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90525" y="2973610"/>
              <a:ext cx="11410950" cy="9525"/>
            </a:xfrm>
            <a:custGeom>
              <a:avLst/>
              <a:gdLst/>
              <a:ahLst/>
              <a:cxnLst/>
              <a:rect l="l" t="t" r="r" b="b"/>
              <a:pathLst>
                <a:path w="11410950" h="9525">
                  <a:moveTo>
                    <a:pt x="0" y="0"/>
                  </a:moveTo>
                  <a:lnTo>
                    <a:pt x="1141095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7688" y="2690241"/>
              <a:ext cx="5297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GitHub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507409" y="2690241"/>
              <a:ext cx="13594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Pull requests / 3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75310" y="3182207"/>
              <a:ext cx="295019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 Open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81025" y="3628834"/>
              <a:ext cx="337899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feature/3-mutual-match→ main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0075" y="4000310"/>
              <a:ext cx="3600450" cy="771525"/>
            </a:xfrm>
            <a:prstGeom prst="roundRect">
              <a:avLst>
                <a:gd name="adj" fmla="val 9877"/>
              </a:avLst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04850" y="4114610"/>
              <a:ext cx="78569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5CFDB"/>
                  </a:solidFill>
                  <a:latin typeface="Arial"/>
                  <a:ea typeface="Microsoft YaHei"/>
                  <a:cs typeface="Arial"/>
                </a:rPr>
                <a:t>Review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4850" y="4447984"/>
              <a:ext cx="1133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差異與範圍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295775" y="4000310"/>
              <a:ext cx="3600450" cy="771525"/>
            </a:xfrm>
            <a:prstGeom prst="roundRect">
              <a:avLst>
                <a:gd name="adj" fmla="val 9877"/>
              </a:avLst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400550" y="4114610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5CFDB"/>
                  </a:solidFill>
                  <a:latin typeface="Arial"/>
                  <a:ea typeface="Microsoft YaHei"/>
                  <a:cs typeface="Arial"/>
                </a:rPr>
                <a:t>Discussion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00550" y="4447984"/>
              <a:ext cx="1133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問題與回覆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991475" y="4000310"/>
              <a:ext cx="3600450" cy="771525"/>
            </a:xfrm>
            <a:prstGeom prst="roundRect">
              <a:avLst>
                <a:gd name="adj" fmla="val 9877"/>
              </a:avLst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96250" y="4114610"/>
              <a:ext cx="99271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5CFDB"/>
                  </a:solidFill>
                  <a:latin typeface="Arial"/>
                  <a:ea typeface="Microsoft YaHei"/>
                  <a:cs typeface="Arial"/>
                </a:rPr>
                <a:t>Evidence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96250" y="4447984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測試結果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346710" y="299085"/>
            <a:ext cx="10927720" cy="5907310"/>
            <a:chOff x="346710" y="299085"/>
            <a:chExt cx="10927720" cy="5907310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129003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Merge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1180148" y="2527364"/>
              <a:ext cx="10094282" cy="2881312"/>
              <a:chOff x="1180148" y="2527364"/>
              <a:chExt cx="10094282" cy="2881312"/>
            </a:xfrm>
          </p:grpSpPr>
          <p:sp>
            <p:nvSpPr>
              <p:cNvPr id="4" name="TextBox 4"/>
              <p:cNvSpPr txBox="1"/>
              <p:nvPr/>
            </p:nvSpPr>
            <p:spPr>
              <a:xfrm>
                <a:off x="1180148" y="2527364"/>
                <a:ext cx="636389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dirty="0">
                    <a:solidFill>
                      <a:srgbClr val="83BCFF"/>
                    </a:solidFill>
                    <a:latin typeface="Inter"/>
                    <a:ea typeface="Microsoft JhengHei"/>
                    <a:cs typeface="Inter"/>
                  </a:rPr>
                  <a:t>main</a:t>
                </a:r>
              </a:p>
            </p:txBody>
          </p:sp>
          <p:sp>
            <p:nvSpPr>
              <p:cNvPr id="5" name="Freeform 5"/>
              <p:cNvSpPr/>
              <p:nvPr/>
            </p:nvSpPr>
            <p:spPr>
              <a:xfrm>
                <a:off x="2209800" y="3122676"/>
                <a:ext cx="8686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86800" h="9525">
                    <a:moveTo>
                      <a:pt x="0" y="0"/>
                    </a:moveTo>
                    <a:lnTo>
                      <a:pt x="8686800" y="0"/>
                    </a:lnTo>
                  </a:path>
                </a:pathLst>
              </a:custGeom>
              <a:noFill/>
              <a:ln w="85725" cap="rnd">
                <a:solidFill>
                  <a:srgbClr val="49627E"/>
                </a:solidFill>
                <a:round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4552950" y="3122676"/>
                <a:ext cx="4857750" cy="1488281"/>
              </a:xfrm>
              <a:custGeom>
                <a:avLst/>
                <a:gdLst/>
                <a:ahLst/>
                <a:cxnLst/>
                <a:rect l="l" t="t" r="r" b="b"/>
                <a:pathLst>
                  <a:path w="4857750" h="1488281">
                    <a:moveTo>
                      <a:pt x="0" y="0"/>
                    </a:moveTo>
                    <a:lnTo>
                      <a:pt x="0" y="1488281"/>
                    </a:lnTo>
                    <a:lnTo>
                      <a:pt x="3257550" y="1488281"/>
                    </a:lnTo>
                    <a:cubicBezTo>
                      <a:pt x="4229100" y="1488281"/>
                      <a:pt x="4857750" y="892969"/>
                      <a:pt x="4857750" y="0"/>
                    </a:cubicBezTo>
                  </a:path>
                </a:pathLst>
              </a:custGeom>
              <a:noFill/>
              <a:ln w="85725" cap="rnd">
                <a:solidFill>
                  <a:srgbClr val="8465A8"/>
                </a:solidFill>
                <a:round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2426970" y="2991707"/>
                <a:ext cx="251460" cy="261938"/>
              </a:xfrm>
              <a:prstGeom prst="ellipse">
                <a:avLst/>
              </a:prstGeom>
              <a:solidFill>
                <a:srgbClr val="83BCFF"/>
              </a:solidFill>
              <a:ln w="57150" cap="flat">
                <a:solidFill>
                  <a:srgbClr val="0B1119"/>
                </a:solidFill>
                <a:miter lim="800000"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4415790" y="2979801"/>
                <a:ext cx="274320" cy="285750"/>
              </a:xfrm>
              <a:prstGeom prst="ellipse">
                <a:avLst/>
              </a:prstGeom>
              <a:solidFill>
                <a:srgbClr val="C8A2FF"/>
              </a:solidFill>
              <a:ln w="57150" cap="flat">
                <a:solidFill>
                  <a:srgbClr val="0B1119"/>
                </a:solidFill>
                <a:miter lim="800000"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6656070" y="2991707"/>
                <a:ext cx="251460" cy="261938"/>
              </a:xfrm>
              <a:prstGeom prst="ellipse">
                <a:avLst/>
              </a:prstGeom>
              <a:solidFill>
                <a:srgbClr val="83BCFF"/>
              </a:solidFill>
              <a:ln w="57150" cap="flat">
                <a:solidFill>
                  <a:srgbClr val="0B1119"/>
                </a:solidFill>
                <a:miter lim="800000"/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9262110" y="2967895"/>
                <a:ext cx="297180" cy="309562"/>
              </a:xfrm>
              <a:prstGeom prst="ellipse">
                <a:avLst/>
              </a:prstGeom>
              <a:solidFill>
                <a:srgbClr val="83DDA7"/>
              </a:solidFill>
              <a:ln w="57150" cap="flat">
                <a:solidFill>
                  <a:srgbClr val="0B1119"/>
                </a:solidFill>
                <a:miter lim="800000"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10542270" y="2991707"/>
                <a:ext cx="251460" cy="261938"/>
              </a:xfrm>
              <a:prstGeom prst="ellipse">
                <a:avLst/>
              </a:prstGeom>
              <a:solidFill>
                <a:srgbClr val="83BCFF"/>
              </a:solidFill>
              <a:ln w="57150" cap="flat">
                <a:solidFill>
                  <a:srgbClr val="0B1119"/>
                </a:solidFill>
                <a:miter lim="800000"/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5970270" y="4479988"/>
                <a:ext cx="251460" cy="261938"/>
              </a:xfrm>
              <a:prstGeom prst="ellipse">
                <a:avLst/>
              </a:prstGeom>
              <a:solidFill>
                <a:srgbClr val="C8A2FF"/>
              </a:solidFill>
              <a:ln w="57150" cap="flat">
                <a:solidFill>
                  <a:srgbClr val="0B1119"/>
                </a:solidFill>
                <a:miter lim="800000"/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7684770" y="4479988"/>
                <a:ext cx="251460" cy="261938"/>
              </a:xfrm>
              <a:prstGeom prst="ellipse">
                <a:avLst/>
              </a:prstGeom>
              <a:solidFill>
                <a:srgbClr val="C8A2FF"/>
              </a:solidFill>
              <a:ln w="57150" cap="flat">
                <a:solidFill>
                  <a:srgbClr val="0B1119"/>
                </a:solidFill>
                <a:miter lim="800000"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4394895" y="5027676"/>
                <a:ext cx="3402211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75" dirty="0">
                    <a:solidFill>
                      <a:srgbClr val="C8A2FF"/>
                    </a:solidFill>
                    <a:latin typeface="Inter"/>
                    <a:ea typeface="Microsoft JhengHei"/>
                    <a:cs typeface="Inter"/>
                  </a:rPr>
                  <a:t>feature/3-mutual-match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947270" y="3634645"/>
                <a:ext cx="132716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75" b="1" dirty="0">
                    <a:solidFill>
                      <a:srgbClr val="83DDA7"/>
                    </a:solidFill>
                    <a:latin typeface="Inter"/>
                    <a:ea typeface="Microsoft JhengHei"/>
                    <a:cs typeface="Inter"/>
                  </a:rPr>
                  <a:t>合回 main</a:t>
                </a:r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3932777" y="5901595"/>
              <a:ext cx="494538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Merge：把審過的分支合回 main；舊版仍可回復。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-252451" y="2429637"/>
            <a:ext cx="12696901" cy="2415540"/>
            <a:chOff x="-252451" y="2429637"/>
            <a:chExt cx="12696901" cy="2415540"/>
          </a:xfrm>
        </p:grpSpPr>
        <p:sp>
          <p:nvSpPr>
            <p:cNvPr id="3" name="TextBox 3"/>
            <p:cNvSpPr txBox="1"/>
            <p:nvPr/>
          </p:nvSpPr>
          <p:spPr>
            <a:xfrm>
              <a:off x="5455510" y="2429637"/>
              <a:ext cx="1280979" cy="1341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6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31907" y="3437382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第三段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252451" y="3967353"/>
              <a:ext cx="12696901" cy="877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2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從一個想法到上線：需求如何變成票與關卡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346710" y="299085"/>
            <a:ext cx="11464290" cy="5459635"/>
            <a:chOff x="346710" y="299085"/>
            <a:chExt cx="11464290" cy="545963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632076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Brainstorming：從問題形成 Goal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777270"/>
              <a:ext cx="11430000" cy="3333750"/>
            </a:xfrm>
            <a:prstGeom prst="roundRect">
              <a:avLst>
                <a:gd name="adj" fmla="val 3429"/>
              </a:avLst>
            </a:prstGeom>
            <a:solidFill>
              <a:srgbClr val="101820"/>
            </a:solidFill>
            <a:ln w="9525">
              <a:solidFill>
                <a:srgbClr val="65748A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607886" y="1968532"/>
              <a:ext cx="5404104" cy="1427226"/>
            </a:xfrm>
            <a:prstGeom prst="rect">
              <a:avLst/>
            </a:prstGeom>
            <a:solidFill>
              <a:srgbClr val="F5D780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17435" y="2225707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2A1E"/>
                  </a:solidFill>
                  <a:latin typeface="Arial"/>
                  <a:ea typeface="Microsoft YaHei"/>
                  <a:cs typeface="Arial"/>
                </a:rPr>
                <a:t>為誰？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29628" y="2701100"/>
              <a:ext cx="28860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F2A1E"/>
                  </a:solidFill>
                  <a:latin typeface="Arial"/>
                  <a:ea typeface="Microsoft YaHei"/>
                  <a:cs typeface="Arial"/>
                </a:rPr>
                <a:t>想找到互相喜歡對象的使用者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180011" y="1968532"/>
              <a:ext cx="5404104" cy="1427226"/>
            </a:xfrm>
            <a:prstGeom prst="rect">
              <a:avLst/>
            </a:prstGeom>
            <a:solidFill>
              <a:srgbClr val="B6DDC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389561" y="2225707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2A1E"/>
                  </a:solidFill>
                  <a:latin typeface="Arial"/>
                  <a:ea typeface="Microsoft YaHei"/>
                  <a:cs typeface="Arial"/>
                </a:rPr>
                <a:t>問題？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95942" y="2701100"/>
              <a:ext cx="20097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F2A1E"/>
                  </a:solidFill>
                  <a:latin typeface="Arial"/>
                  <a:ea typeface="Microsoft YaHei"/>
                  <a:cs typeface="Arial"/>
                </a:rPr>
                <a:t>單向喜歡不能算配對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7886" y="3492532"/>
              <a:ext cx="5404104" cy="1427226"/>
            </a:xfrm>
            <a:prstGeom prst="rect">
              <a:avLst/>
            </a:prstGeom>
            <a:solidFill>
              <a:srgbClr val="CBB9F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17435" y="3749707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2A1E"/>
                  </a:solidFill>
                  <a:latin typeface="Arial"/>
                  <a:ea typeface="Microsoft YaHei"/>
                  <a:cs typeface="Arial"/>
                </a:rPr>
                <a:t>方案？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9628" y="4225100"/>
              <a:ext cx="190023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F2A1E"/>
                  </a:solidFill>
                  <a:latin typeface="Arial"/>
                  <a:ea typeface="Microsoft YaHei"/>
                  <a:cs typeface="Arial"/>
                </a:rPr>
                <a:t>雙方 Like才 Match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180011" y="3492532"/>
              <a:ext cx="5404104" cy="1427226"/>
            </a:xfrm>
            <a:prstGeom prst="rect">
              <a:avLst/>
            </a:prstGeom>
            <a:solidFill>
              <a:srgbClr val="B6DDC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89561" y="3749707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2A1E"/>
                  </a:solidFill>
                  <a:latin typeface="Arial"/>
                  <a:ea typeface="Microsoft YaHei"/>
                  <a:cs typeface="Arial"/>
                </a:rPr>
                <a:t>這輪先不選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95942" y="4225100"/>
              <a:ext cx="1133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F2A1E"/>
                  </a:solidFill>
                  <a:latin typeface="Arial"/>
                  <a:ea typeface="Microsoft YaHei"/>
                  <a:cs typeface="Arial"/>
                </a:rPr>
                <a:t>聊天、推薦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51313" y="5425345"/>
              <a:ext cx="243697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形成 parent Goal / Epic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873686" y="5520595"/>
              <a:ext cx="323850" cy="19050"/>
            </a:xfrm>
            <a:prstGeom prst="rect">
              <a:avLst/>
            </a:prstGeom>
            <a:solidFill>
              <a:srgbClr val="83DDA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311836" y="5301520"/>
              <a:ext cx="2209800" cy="457200"/>
            </a:xfrm>
            <a:prstGeom prst="roundRect">
              <a:avLst>
                <a:gd name="adj" fmla="val 18750"/>
              </a:avLst>
            </a:prstGeom>
            <a:solidFill>
              <a:srgbClr val="15241B"/>
            </a:solidFill>
            <a:ln w="9525">
              <a:solidFill>
                <a:srgbClr val="53775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35662" y="5415820"/>
              <a:ext cx="233838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互相喜歡才算配對成功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8" name="Group 28"/>
          <p:cNvGrpSpPr/>
          <p:nvPr/>
        </p:nvGrpSpPr>
        <p:grpSpPr>
          <a:xfrm>
            <a:off x="346710" y="299085"/>
            <a:ext cx="11473815" cy="5072824"/>
            <a:chOff x="346710" y="299085"/>
            <a:chExt cx="11473815" cy="5072824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389855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一個好的 Goal長怎樣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2173510"/>
              <a:ext cx="11430000" cy="3188970"/>
            </a:xfrm>
            <a:prstGeom prst="roundRect">
              <a:avLst>
                <a:gd name="adj" fmla="val 4182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217351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1811000" y="2173510"/>
              <a:ext cx="9525" cy="3188875"/>
            </a:xfrm>
            <a:custGeom>
              <a:avLst/>
              <a:gdLst/>
              <a:ahLst/>
              <a:cxnLst/>
              <a:rect l="l" t="t" r="r" b="b"/>
              <a:pathLst>
                <a:path w="9525" h="3188875">
                  <a:moveTo>
                    <a:pt x="0" y="0"/>
                  </a:moveTo>
                  <a:lnTo>
                    <a:pt x="0" y="3188875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81000" y="5362384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2173510"/>
              <a:ext cx="9525" cy="3188875"/>
            </a:xfrm>
            <a:custGeom>
              <a:avLst/>
              <a:gdLst/>
              <a:ahLst/>
              <a:cxnLst/>
              <a:rect l="l" t="t" r="r" b="b"/>
              <a:pathLst>
                <a:path w="9525" h="3188875">
                  <a:moveTo>
                    <a:pt x="0" y="0"/>
                  </a:moveTo>
                  <a:lnTo>
                    <a:pt x="0" y="3188875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14362" y="2366391"/>
              <a:ext cx="21764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GOAL / EPIC ISSUE· PARENT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951530" y="2366391"/>
              <a:ext cx="17365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不是 workflow state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3885" y="2658332"/>
              <a:ext cx="453509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讓互相喜歡的兩人能確認配對成功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8650" y="3028760"/>
              <a:ext cx="5434012" cy="990600"/>
            </a:xfrm>
            <a:prstGeom prst="roundRect">
              <a:avLst>
                <a:gd name="adj" fmla="val 8654"/>
              </a:avLst>
            </a:prstGeom>
            <a:solidFill>
              <a:srgbClr val="0F1720"/>
            </a:solidFill>
            <a:ln w="9525">
              <a:solidFill>
                <a:srgbClr val="2B3A4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33425" y="3133534"/>
              <a:ext cx="21083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成功訊號（上線後）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3425" y="3438334"/>
              <a:ext cx="57669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上線兩週，出現 10對互相喜歡的配對（教學範例，門檻依現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33425" y="3705034"/>
              <a:ext cx="1133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況設定）。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129338" y="3028760"/>
              <a:ext cx="5434012" cy="990600"/>
            </a:xfrm>
            <a:prstGeom prst="roundRect">
              <a:avLst>
                <a:gd name="adj" fmla="val 8654"/>
              </a:avLst>
            </a:prstGeom>
            <a:solidFill>
              <a:srgbClr val="0F1720"/>
            </a:solidFill>
            <a:ln w="9525">
              <a:solidFill>
                <a:srgbClr val="2B3A4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34112" y="3133534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護欄訊號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34112" y="3438334"/>
              <a:ext cx="351043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錯誤配對率＝ 0（核對錯配紀錄）。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28650" y="4086034"/>
              <a:ext cx="5434012" cy="723900"/>
            </a:xfrm>
            <a:prstGeom prst="roundRect">
              <a:avLst>
                <a:gd name="adj" fmla="val 11842"/>
              </a:avLst>
            </a:prstGeom>
            <a:solidFill>
              <a:srgbClr val="0F1720"/>
            </a:solidFill>
            <a:ln w="9525">
              <a:solidFill>
                <a:srgbClr val="2B3A4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33425" y="419081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這輪不做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3425" y="4495610"/>
              <a:ext cx="24479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聊天、推薦、解除配對。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129338" y="4086034"/>
              <a:ext cx="5434012" cy="723900"/>
            </a:xfrm>
            <a:prstGeom prst="roundRect">
              <a:avLst>
                <a:gd name="adj" fmla="val 11842"/>
              </a:avLst>
            </a:prstGeom>
            <a:solidFill>
              <a:srgbClr val="0F1720"/>
            </a:solidFill>
            <a:ln w="9525">
              <a:solidFill>
                <a:srgbClr val="2B3A4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34112" y="4190810"/>
              <a:ext cx="147578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好 Goal的條件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34112" y="4495610"/>
              <a:ext cx="28860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結果導向／可驗證／範圍清楚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28650" y="4886134"/>
              <a:ext cx="10934700" cy="333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628650" y="4886134"/>
              <a:ext cx="10934700" cy="9525"/>
            </a:xfrm>
            <a:custGeom>
              <a:avLst/>
              <a:gdLst/>
              <a:ahLst/>
              <a:cxnLst/>
              <a:rect l="l" t="t" r="r" b="b"/>
              <a:pathLst>
                <a:path w="10934700" h="9525">
                  <a:moveTo>
                    <a:pt x="0" y="0"/>
                  </a:moveTo>
                  <a:lnTo>
                    <a:pt x="109347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9600" y="4971860"/>
              <a:ext cx="38171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C0B9"/>
                  </a:solidFill>
                  <a:latin typeface="Arial"/>
                  <a:ea typeface="Microsoft YaHei"/>
                  <a:cs typeface="Arial"/>
                </a:rPr>
                <a:t>壞 Goal：做完喜歡、配對、聊天功能。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8" name="Group 28"/>
          <p:cNvGrpSpPr/>
          <p:nvPr/>
        </p:nvGrpSpPr>
        <p:grpSpPr>
          <a:xfrm>
            <a:off x="346710" y="299085"/>
            <a:ext cx="11464289" cy="5245322"/>
            <a:chOff x="346710" y="299085"/>
            <a:chExt cx="11464289" cy="5245322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948825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Goal拆成三張實作子票： #3雙向喜歡才配對先於 #2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4381500" y="2058257"/>
              <a:ext cx="3429000" cy="819150"/>
            </a:xfrm>
            <a:prstGeom prst="roundRect">
              <a:avLst>
                <a:gd name="adj" fmla="val 13953"/>
              </a:avLst>
            </a:prstGeom>
            <a:solidFill>
              <a:srgbClr val="14231B"/>
            </a:solidFill>
            <a:ln w="9525">
              <a:solidFill>
                <a:srgbClr val="53775C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261038" y="2232088"/>
              <a:ext cx="16798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Goal（parent issue）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648200" y="2486882"/>
              <a:ext cx="34885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讓互相喜歡的兩人能確認配對成功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381000" y="3525107"/>
              <a:ext cx="3670268" cy="952500"/>
            </a:xfrm>
            <a:prstGeom prst="roundRect">
              <a:avLst>
                <a:gd name="adj" fmla="val 12000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118170" y="3756088"/>
              <a:ext cx="168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#1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95640" y="4029932"/>
              <a:ext cx="71668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Like／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95640" y="4296632"/>
              <a:ext cx="5441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Pass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260818" y="3525107"/>
              <a:ext cx="3670268" cy="952500"/>
            </a:xfrm>
            <a:prstGeom prst="roundRect">
              <a:avLst>
                <a:gd name="adj" fmla="val 12000"/>
              </a:avLst>
            </a:prstGeom>
            <a:solidFill>
              <a:srgbClr val="172B40"/>
            </a:solidFill>
            <a:ln w="9525">
              <a:solidFill>
                <a:srgbClr val="6285A7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876610" y="3756088"/>
              <a:ext cx="21316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IMPLEMENTATION SUB-ISSUE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64086" y="4029932"/>
              <a:ext cx="190133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#3雙向喜歡才配對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140636" y="3525107"/>
              <a:ext cx="3670363" cy="952500"/>
            </a:xfrm>
            <a:prstGeom prst="roundRect">
              <a:avLst>
                <a:gd name="adj" fmla="val 12000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864376" y="3756088"/>
              <a:ext cx="209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#2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575768" y="4029932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配對列表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86932" y="4744307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資料流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620357" y="4630007"/>
              <a:ext cx="1499902" cy="438150"/>
            </a:xfrm>
            <a:prstGeom prst="roundRect">
              <a:avLst>
                <a:gd name="adj" fmla="val 15217"/>
              </a:avLst>
            </a:prstGeom>
            <a:solidFill>
              <a:srgbClr val="111C28"/>
            </a:solidFill>
            <a:ln w="9525">
              <a:solidFill>
                <a:srgbClr val="4C6179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902202" y="4734782"/>
              <a:ext cx="93630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C8D4E1"/>
                  </a:solidFill>
                  <a:latin typeface="Arial"/>
                  <a:ea typeface="Microsoft YaHei"/>
                  <a:cs typeface="Arial"/>
                </a:rPr>
                <a:t>#1 Like／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10323" y="5001482"/>
              <a:ext cx="52006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C8D4E1"/>
                  </a:solidFill>
                  <a:latin typeface="Arial"/>
                  <a:ea typeface="Microsoft YaHei"/>
                  <a:cs typeface="Arial"/>
                </a:rPr>
                <a:t>Pass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44084" y="4744307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596509" y="4630007"/>
              <a:ext cx="1892332" cy="438150"/>
            </a:xfrm>
            <a:prstGeom prst="roundRect">
              <a:avLst>
                <a:gd name="adj" fmla="val 15217"/>
              </a:avLst>
            </a:prstGeom>
            <a:solidFill>
              <a:srgbClr val="111C28"/>
            </a:solidFill>
            <a:ln w="9525">
              <a:solidFill>
                <a:srgbClr val="83BCF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636419" y="4734782"/>
              <a:ext cx="181260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#3雙向喜歡才配對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12666" y="4744307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965091" y="4630007"/>
              <a:ext cx="1320832" cy="438150"/>
            </a:xfrm>
            <a:prstGeom prst="roundRect">
              <a:avLst>
                <a:gd name="adj" fmla="val 15217"/>
              </a:avLst>
            </a:prstGeom>
            <a:solidFill>
              <a:srgbClr val="111C28"/>
            </a:solidFill>
            <a:ln w="9525">
              <a:solidFill>
                <a:srgbClr val="4C6179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047863" y="4734782"/>
              <a:ext cx="11553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C8D4E1"/>
                  </a:solidFill>
                  <a:latin typeface="Arial"/>
                  <a:ea typeface="Microsoft YaHei"/>
                  <a:cs typeface="Arial"/>
                </a:rPr>
                <a:t>#2配對列表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49935" y="5239607"/>
              <a:ext cx="789193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DCE5EF"/>
                  </a:solidFill>
                  <a:latin typeface="Arial"/>
                  <a:ea typeface="Microsoft YaHei"/>
                  <a:cs typeface="Arial"/>
                </a:rPr>
                <a:t>為什麼 #3雙向喜歡才配對排在 #2前： #3建立 Match， #2才能列出已配對對象。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41" name="Group 41"/>
          <p:cNvGrpSpPr/>
          <p:nvPr/>
        </p:nvGrpSpPr>
        <p:grpSpPr>
          <a:xfrm>
            <a:off x="346710" y="299085"/>
            <a:ext cx="11569065" cy="5683472"/>
            <a:chOff x="346710" y="299085"/>
            <a:chExt cx="11569065" cy="5683472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296694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一張好票長怎樣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620107"/>
              <a:ext cx="8401050" cy="3838575"/>
            </a:xfrm>
            <a:prstGeom prst="roundRect">
              <a:avLst>
                <a:gd name="adj" fmla="val 2978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390525" y="1629632"/>
              <a:ext cx="8382000" cy="523875"/>
            </a:xfrm>
            <a:prstGeom prst="rect">
              <a:avLst/>
            </a:prstGeom>
            <a:solidFill>
              <a:srgbClr val="17283A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90525" y="2153507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2925" y="1782032"/>
              <a:ext cx="266042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好票｜ #3雙向喜歡才配對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81627" y="1808226"/>
              <a:ext cx="8394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SUB-ISSUE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220182"/>
              <a:ext cx="8058150" cy="4476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552450" y="2667857"/>
              <a:ext cx="8058150" cy="9525"/>
            </a:xfrm>
            <a:custGeom>
              <a:avLst/>
              <a:gdLst/>
              <a:ahLst/>
              <a:cxnLst/>
              <a:rect l="l" t="t" r="r" b="b"/>
              <a:pathLst>
                <a:path w="8058150" h="9525">
                  <a:moveTo>
                    <a:pt x="0" y="0"/>
                  </a:moveTo>
                  <a:lnTo>
                    <a:pt x="8058150" y="0"/>
                  </a:lnTo>
                </a:path>
              </a:pathLst>
            </a:custGeom>
            <a:noFill/>
            <a:ln w="9525">
              <a:solidFill>
                <a:srgbClr val="29394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33400" y="2334482"/>
              <a:ext cx="55566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BE6F1"/>
                  </a:solidFill>
                  <a:latin typeface="Arial"/>
                  <a:ea typeface="Microsoft YaHei"/>
                  <a:cs typeface="Arial"/>
                </a:rPr>
                <a:t>Title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86050" y="2334482"/>
              <a:ext cx="233838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8C6D5"/>
                  </a:solidFill>
                  <a:latin typeface="Arial"/>
                  <a:ea typeface="Microsoft YaHei"/>
                  <a:cs typeface="Arial"/>
                </a:rPr>
                <a:t>互相 Like後建立 Match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52450" y="2667857"/>
              <a:ext cx="8058150" cy="4476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552450" y="3115532"/>
              <a:ext cx="8058150" cy="9525"/>
            </a:xfrm>
            <a:custGeom>
              <a:avLst/>
              <a:gdLst/>
              <a:ahLst/>
              <a:cxnLst/>
              <a:rect l="l" t="t" r="r" b="b"/>
              <a:pathLst>
                <a:path w="8058150" h="9525">
                  <a:moveTo>
                    <a:pt x="0" y="0"/>
                  </a:moveTo>
                  <a:lnTo>
                    <a:pt x="8058150" y="0"/>
                  </a:lnTo>
                </a:path>
              </a:pathLst>
            </a:custGeom>
            <a:noFill/>
            <a:ln w="9525">
              <a:solidFill>
                <a:srgbClr val="29394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33400" y="2782157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BE6F1"/>
                  </a:solidFill>
                  <a:latin typeface="Arial"/>
                  <a:ea typeface="Microsoft YaHei"/>
                  <a:cs typeface="Arial"/>
                </a:rPr>
                <a:t>Context／ Why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686050" y="2782157"/>
              <a:ext cx="480298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8C6D5"/>
                  </a:solidFill>
                  <a:latin typeface="Arial"/>
                  <a:ea typeface="Microsoft YaHei"/>
                  <a:cs typeface="Arial"/>
                </a:rPr>
                <a:t>單向 Like不算配對；雙方都 Like才建立 Match。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52450" y="3115532"/>
              <a:ext cx="8058150" cy="4476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552450" y="3563207"/>
              <a:ext cx="8058150" cy="9525"/>
            </a:xfrm>
            <a:custGeom>
              <a:avLst/>
              <a:gdLst/>
              <a:ahLst/>
              <a:cxnLst/>
              <a:rect l="l" t="t" r="r" b="b"/>
              <a:pathLst>
                <a:path w="8058150" h="9525">
                  <a:moveTo>
                    <a:pt x="0" y="0"/>
                  </a:moveTo>
                  <a:lnTo>
                    <a:pt x="8058150" y="0"/>
                  </a:lnTo>
                </a:path>
              </a:pathLst>
            </a:custGeom>
            <a:noFill/>
            <a:ln w="9525">
              <a:solidFill>
                <a:srgbClr val="29394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33400" y="3229832"/>
              <a:ext cx="132626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BE6F1"/>
                  </a:solidFill>
                  <a:latin typeface="Arial"/>
                  <a:ea typeface="Microsoft YaHei"/>
                  <a:cs typeface="Arial"/>
                </a:rPr>
                <a:t>Goal linkage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86050" y="3229832"/>
              <a:ext cx="42005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8C6D5"/>
                  </a:solidFill>
                  <a:latin typeface="Arial"/>
                  <a:ea typeface="Microsoft YaHei"/>
                  <a:cs typeface="Arial"/>
                </a:rPr>
                <a:t>支援「讓互相喜歡的兩人能確認配對成功」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52450" y="3563207"/>
              <a:ext cx="8058150" cy="4476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552450" y="4010882"/>
              <a:ext cx="8058150" cy="9525"/>
            </a:xfrm>
            <a:custGeom>
              <a:avLst/>
              <a:gdLst/>
              <a:ahLst/>
              <a:cxnLst/>
              <a:rect l="l" t="t" r="r" b="b"/>
              <a:pathLst>
                <a:path w="8058150" h="9525">
                  <a:moveTo>
                    <a:pt x="0" y="0"/>
                  </a:moveTo>
                  <a:lnTo>
                    <a:pt x="8058150" y="0"/>
                  </a:lnTo>
                </a:path>
              </a:pathLst>
            </a:custGeom>
            <a:noFill/>
            <a:ln w="9525">
              <a:solidFill>
                <a:srgbClr val="29394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33400" y="3677507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BE6F1"/>
                  </a:solidFill>
                  <a:latin typeface="Arial"/>
                  <a:ea typeface="Microsoft YaHei"/>
                  <a:cs typeface="Arial"/>
                </a:rPr>
                <a:t>Scope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86050" y="3677507"/>
              <a:ext cx="29408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8C6D5"/>
                  </a:solidFill>
                  <a:latin typeface="Arial"/>
                  <a:ea typeface="Microsoft YaHei"/>
                  <a:cs typeface="Arial"/>
                </a:rPr>
                <a:t>建立雙方共用的 Match結果。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52450" y="4010882"/>
              <a:ext cx="8058150" cy="4476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552450" y="4458557"/>
              <a:ext cx="8058150" cy="9525"/>
            </a:xfrm>
            <a:custGeom>
              <a:avLst/>
              <a:gdLst/>
              <a:ahLst/>
              <a:cxnLst/>
              <a:rect l="l" t="t" r="r" b="b"/>
              <a:pathLst>
                <a:path w="8058150" h="9525">
                  <a:moveTo>
                    <a:pt x="0" y="0"/>
                  </a:moveTo>
                  <a:lnTo>
                    <a:pt x="8058150" y="0"/>
                  </a:lnTo>
                </a:path>
              </a:pathLst>
            </a:custGeom>
            <a:noFill/>
            <a:ln w="9525">
              <a:solidFill>
                <a:srgbClr val="29394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33400" y="4125182"/>
              <a:ext cx="2911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BE6F1"/>
                  </a:solidFill>
                  <a:latin typeface="Arial"/>
                  <a:ea typeface="Microsoft YaHei"/>
                  <a:cs typeface="Arial"/>
                </a:rPr>
                <a:t>AC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686050" y="4125182"/>
              <a:ext cx="6632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8C6D5"/>
                  </a:solidFill>
                  <a:latin typeface="Arial"/>
                  <a:ea typeface="Microsoft YaHei"/>
                  <a:cs typeface="Arial"/>
                </a:rPr>
                <a:t>A喜歡 B：不配對； B也喜歡 A：成功配對；重複喜歡：不重複配對。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52450" y="4458557"/>
              <a:ext cx="8058150" cy="4476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552450" y="4906232"/>
              <a:ext cx="8058150" cy="9525"/>
            </a:xfrm>
            <a:custGeom>
              <a:avLst/>
              <a:gdLst/>
              <a:ahLst/>
              <a:cxnLst/>
              <a:rect l="l" t="t" r="r" b="b"/>
              <a:pathLst>
                <a:path w="8058150" h="9525">
                  <a:moveTo>
                    <a:pt x="0" y="0"/>
                  </a:moveTo>
                  <a:lnTo>
                    <a:pt x="8058150" y="0"/>
                  </a:lnTo>
                </a:path>
              </a:pathLst>
            </a:custGeom>
            <a:noFill/>
            <a:ln w="9525">
              <a:solidFill>
                <a:srgbClr val="29394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33400" y="4572857"/>
              <a:ext cx="148728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BE6F1"/>
                  </a:solidFill>
                  <a:latin typeface="Arial"/>
                  <a:ea typeface="Microsoft YaHei"/>
                  <a:cs typeface="Arial"/>
                </a:rPr>
                <a:t>Out of Scope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86050" y="4572857"/>
              <a:ext cx="24479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8C6D5"/>
                  </a:solidFill>
                  <a:latin typeface="Arial"/>
                  <a:ea typeface="Microsoft YaHei"/>
                  <a:cs typeface="Arial"/>
                </a:rPr>
                <a:t>聊天、推薦、解除配對。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33400" y="5020532"/>
              <a:ext cx="20163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BE6F1"/>
                  </a:solidFill>
                  <a:latin typeface="Arial"/>
                  <a:ea typeface="Microsoft YaHei"/>
                  <a:cs typeface="Arial"/>
                </a:rPr>
                <a:t>Required Evidence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686050" y="5020532"/>
              <a:ext cx="600789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8C6D5"/>
                  </a:solidFill>
                  <a:latin typeface="Arial"/>
                  <a:ea typeface="Microsoft YaHei"/>
                  <a:cs typeface="Arial"/>
                </a:rPr>
                <a:t>三種情境的測試結果；確認雙方看到 Match，且只建立一次。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010650" y="1620107"/>
              <a:ext cx="2800350" cy="3838575"/>
            </a:xfrm>
            <a:prstGeom prst="roundRect">
              <a:avLst>
                <a:gd name="adj" fmla="val 4082"/>
              </a:avLst>
            </a:prstGeom>
            <a:solidFill>
              <a:srgbClr val="21181D"/>
            </a:solidFill>
            <a:ln w="9525">
              <a:solidFill>
                <a:srgbClr val="71454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253538" y="2889313"/>
              <a:ext cx="3571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9289"/>
                  </a:solidFill>
                  <a:latin typeface="Arial"/>
                  <a:ea typeface="Microsoft YaHei"/>
                  <a:cs typeface="Arial"/>
                </a:rPr>
                <a:t>壞票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248775" y="3267932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E3E0"/>
                  </a:solidFill>
                  <a:latin typeface="Arial"/>
                  <a:ea typeface="Microsoft YaHei"/>
                  <a:cs typeface="Arial"/>
                </a:rPr>
                <a:t>做配對功能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48775" y="3706082"/>
              <a:ext cx="2667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8B2B6"/>
                  </a:solidFill>
                  <a:latin typeface="Arial"/>
                  <a:ea typeface="Microsoft YaHei"/>
                  <a:cs typeface="Arial"/>
                </a:rPr>
                <a:t>沒有脈絡、範圍或可核對的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248775" y="3972782"/>
              <a:ext cx="476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8B2B6"/>
                  </a:solidFill>
                  <a:latin typeface="Arial"/>
                  <a:ea typeface="Microsoft YaHei"/>
                  <a:cs typeface="Arial"/>
                </a:rPr>
                <a:t>結果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61950" y="5677757"/>
              <a:ext cx="618315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5D2DF"/>
                  </a:solidFill>
                  <a:latin typeface="Arial"/>
                  <a:ea typeface="Microsoft YaHei"/>
                  <a:cs typeface="Arial"/>
                </a:rPr>
                <a:t>AC說明這張票要怎樣才算做對； DoD是所有票共用的完工標準。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41" name="Group 41"/>
          <p:cNvGrpSpPr/>
          <p:nvPr/>
        </p:nvGrpSpPr>
        <p:grpSpPr>
          <a:xfrm>
            <a:off x="346710" y="299085"/>
            <a:ext cx="12424505" cy="5750147"/>
            <a:chOff x="346710" y="299085"/>
            <a:chExt cx="12424505" cy="5750147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882577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看板先登場： Goal是泳道，三張子票在 Backlog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820132"/>
              <a:ext cx="11430000" cy="438150"/>
            </a:xfrm>
            <a:prstGeom prst="roundRect">
              <a:avLst>
                <a:gd name="adj" fmla="val 17391"/>
              </a:avLst>
            </a:prstGeom>
            <a:solidFill>
              <a:srgbClr val="15251B"/>
            </a:solidFill>
            <a:ln w="9525">
              <a:solidFill>
                <a:srgbClr val="52705B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485775" y="1934432"/>
              <a:ext cx="373006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CF5E3"/>
                  </a:solidFill>
                  <a:latin typeface="Arial"/>
                  <a:ea typeface="Microsoft YaHei"/>
                  <a:cs typeface="Arial"/>
                </a:rPr>
                <a:t>Goal / Epic｜互相喜歡才算配對成功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398984" y="1960626"/>
              <a:ext cx="25999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B7C9BD"/>
                  </a:solidFill>
                  <a:latin typeface="Arial"/>
                  <a:ea typeface="Microsoft YaHei"/>
                  <a:cs typeface="Arial"/>
                </a:rPr>
                <a:t>Parent issue·泳道標題，不佔欄位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381000" y="2324957"/>
              <a:ext cx="1575625" cy="3048000"/>
            </a:xfrm>
            <a:prstGeom prst="roundRect">
              <a:avLst>
                <a:gd name="adj" fmla="val 4836"/>
              </a:avLst>
            </a:prstGeom>
            <a:solidFill>
              <a:srgbClr val="142235"/>
            </a:solidFill>
            <a:ln w="9525">
              <a:solidFill>
                <a:srgbClr val="83BCFF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466725" y="2410682"/>
              <a:ext cx="1404175" cy="5143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466725" y="2925032"/>
              <a:ext cx="1404175" cy="9525"/>
            </a:xfrm>
            <a:custGeom>
              <a:avLst/>
              <a:gdLst/>
              <a:ahLst/>
              <a:cxnLst/>
              <a:rect l="l" t="t" r="r" b="b"/>
              <a:pathLst>
                <a:path w="1404175" h="9525">
                  <a:moveTo>
                    <a:pt x="0" y="0"/>
                  </a:moveTo>
                  <a:lnTo>
                    <a:pt x="1404175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35711" y="2439257"/>
              <a:ext cx="86620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Backlog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66725" y="3001232"/>
              <a:ext cx="1404175" cy="666750"/>
            </a:xfrm>
            <a:prstGeom prst="roundRect">
              <a:avLst>
                <a:gd name="adj" fmla="val 10000"/>
              </a:avLst>
            </a:prstGeom>
            <a:solidFill>
              <a:srgbClr val="1B2A3C"/>
            </a:solidFill>
            <a:ln w="9525">
              <a:solidFill>
                <a:srgbClr val="43546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466725" y="3734657"/>
              <a:ext cx="1404175" cy="419100"/>
            </a:xfrm>
            <a:prstGeom prst="roundRect">
              <a:avLst>
                <a:gd name="adj" fmla="val 15909"/>
              </a:avLst>
            </a:prstGeom>
            <a:solidFill>
              <a:srgbClr val="1B2A3C"/>
            </a:solidFill>
            <a:ln w="9525">
              <a:solidFill>
                <a:srgbClr val="43546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66725" y="4220432"/>
              <a:ext cx="1404175" cy="666750"/>
            </a:xfrm>
            <a:prstGeom prst="roundRect">
              <a:avLst>
                <a:gd name="adj" fmla="val 10000"/>
              </a:avLst>
            </a:prstGeom>
            <a:solidFill>
              <a:srgbClr val="1B3550"/>
            </a:solidFill>
            <a:ln w="9525">
              <a:solidFill>
                <a:srgbClr val="83BCFF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023300" y="2324957"/>
              <a:ext cx="1575625" cy="3048000"/>
            </a:xfrm>
            <a:prstGeom prst="roundRect">
              <a:avLst>
                <a:gd name="adj" fmla="val 4836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2109026" y="2410682"/>
              <a:ext cx="1404175" cy="5143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2109026" y="2925032"/>
              <a:ext cx="1404175" cy="9525"/>
            </a:xfrm>
            <a:custGeom>
              <a:avLst/>
              <a:gdLst/>
              <a:ahLst/>
              <a:cxnLst/>
              <a:rect l="l" t="t" r="r" b="b"/>
              <a:pathLst>
                <a:path w="1404175" h="9525">
                  <a:moveTo>
                    <a:pt x="0" y="0"/>
                  </a:moveTo>
                  <a:lnTo>
                    <a:pt x="1404175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475774" y="2439257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Ready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665601" y="2324957"/>
              <a:ext cx="1575816" cy="3048000"/>
            </a:xfrm>
            <a:prstGeom prst="roundRect">
              <a:avLst>
                <a:gd name="adj" fmla="val 4836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751326" y="2410682"/>
              <a:ext cx="1404366" cy="5143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3751326" y="2925032"/>
              <a:ext cx="1404366" cy="9525"/>
            </a:xfrm>
            <a:custGeom>
              <a:avLst/>
              <a:gdLst/>
              <a:ahLst/>
              <a:cxnLst/>
              <a:rect l="l" t="t" r="r" b="b"/>
              <a:pathLst>
                <a:path w="1404366" h="9525">
                  <a:moveTo>
                    <a:pt x="0" y="0"/>
                  </a:moveTo>
                  <a:lnTo>
                    <a:pt x="1404366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244685" y="2439257"/>
              <a:ext cx="4176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Dev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08092" y="2324957"/>
              <a:ext cx="1575625" cy="3048000"/>
            </a:xfrm>
            <a:prstGeom prst="roundRect">
              <a:avLst>
                <a:gd name="adj" fmla="val 4836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93817" y="2410682"/>
              <a:ext cx="1404175" cy="5143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5393817" y="2925032"/>
              <a:ext cx="1404176" cy="9525"/>
            </a:xfrm>
            <a:custGeom>
              <a:avLst/>
              <a:gdLst/>
              <a:ahLst/>
              <a:cxnLst/>
              <a:rect l="l" t="t" r="r" b="b"/>
              <a:pathLst>
                <a:path w="1404176" h="9525">
                  <a:moveTo>
                    <a:pt x="0" y="0"/>
                  </a:moveTo>
                  <a:lnTo>
                    <a:pt x="1404176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703058" y="2439257"/>
              <a:ext cx="78569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Review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950392" y="2324957"/>
              <a:ext cx="1575816" cy="3048000"/>
            </a:xfrm>
            <a:prstGeom prst="roundRect">
              <a:avLst>
                <a:gd name="adj" fmla="val 4836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7036118" y="2410682"/>
              <a:ext cx="1404366" cy="5143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7036118" y="2925032"/>
              <a:ext cx="1404366" cy="9525"/>
            </a:xfrm>
            <a:custGeom>
              <a:avLst/>
              <a:gdLst/>
              <a:ahLst/>
              <a:cxnLst/>
              <a:rect l="l" t="t" r="r" b="b"/>
              <a:pathLst>
                <a:path w="1404366" h="9525">
                  <a:moveTo>
                    <a:pt x="0" y="0"/>
                  </a:moveTo>
                  <a:lnTo>
                    <a:pt x="1404366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69732" y="2439257"/>
              <a:ext cx="33713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QA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592884" y="2324957"/>
              <a:ext cx="1575625" cy="3048000"/>
            </a:xfrm>
            <a:prstGeom prst="roundRect">
              <a:avLst>
                <a:gd name="adj" fmla="val 4836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8678608" y="2410682"/>
              <a:ext cx="1404175" cy="5143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8678608" y="2925032"/>
              <a:ext cx="1404175" cy="9525"/>
            </a:xfrm>
            <a:custGeom>
              <a:avLst/>
              <a:gdLst/>
              <a:ahLst/>
              <a:cxnLst/>
              <a:rect l="l" t="t" r="r" b="b"/>
              <a:pathLst>
                <a:path w="1404175" h="9525">
                  <a:moveTo>
                    <a:pt x="0" y="0"/>
                  </a:moveTo>
                  <a:lnTo>
                    <a:pt x="1404175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568047" y="2439257"/>
              <a:ext cx="162529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Product Check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0235184" y="2324957"/>
              <a:ext cx="1575816" cy="3048000"/>
            </a:xfrm>
            <a:prstGeom prst="roundRect">
              <a:avLst>
                <a:gd name="adj" fmla="val 4836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0320909" y="2410682"/>
              <a:ext cx="1404366" cy="5143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10320909" y="2925032"/>
              <a:ext cx="1404366" cy="9525"/>
            </a:xfrm>
            <a:custGeom>
              <a:avLst/>
              <a:gdLst/>
              <a:ahLst/>
              <a:cxnLst/>
              <a:rect l="l" t="t" r="r" b="b"/>
              <a:pathLst>
                <a:path w="1404366" h="9525">
                  <a:moveTo>
                    <a:pt x="0" y="0"/>
                  </a:moveTo>
                  <a:lnTo>
                    <a:pt x="1404366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751010" y="2439257"/>
              <a:ext cx="5441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Done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61950" y="5477732"/>
              <a:ext cx="25109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WIP= 1：同時只推進一張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61950" y="5744432"/>
              <a:ext cx="268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55953" y="5477732"/>
              <a:ext cx="781526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先做 #3：它是核心配對規則； #1／ #2是較簡單 UI， #3可用測試資料獨立驗證。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96" name="Group 96"/>
          <p:cNvGrpSpPr/>
          <p:nvPr/>
        </p:nvGrpSpPr>
        <p:grpSpPr>
          <a:xfrm>
            <a:off x="346710" y="299085"/>
            <a:ext cx="11700439" cy="6808375"/>
            <a:chOff x="346710" y="299085"/>
            <a:chExt cx="11700439" cy="680837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567898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Ticket Refinement / Backlog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792385"/>
              <a:ext cx="11430000" cy="381000"/>
            </a:xfrm>
            <a:prstGeom prst="roundRect">
              <a:avLst>
                <a:gd name="adj" fmla="val 20000"/>
              </a:avLst>
            </a:prstGeom>
            <a:solidFill>
              <a:srgbClr val="15251B"/>
            </a:solidFill>
            <a:ln w="9525">
              <a:solidFill>
                <a:srgbClr val="52705B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466725" y="878110"/>
              <a:ext cx="373006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CF5E3"/>
                  </a:solidFill>
                  <a:latin typeface="Arial"/>
                  <a:ea typeface="Microsoft YaHei"/>
                  <a:cs typeface="Arial"/>
                </a:rPr>
                <a:t>Goal / Epic｜互相喜歡才算配對成功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40410" y="904304"/>
              <a:ext cx="17784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B7C9BD"/>
                  </a:solidFill>
                  <a:latin typeface="Arial"/>
                  <a:ea typeface="Microsoft YaHei"/>
                  <a:cs typeface="Arial"/>
                </a:rPr>
                <a:t>parent issue·泳道標題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381000" y="1221010"/>
              <a:ext cx="1592008" cy="2057400"/>
            </a:xfrm>
            <a:prstGeom prst="roundRect">
              <a:avLst>
                <a:gd name="adj" fmla="val 4188"/>
              </a:avLst>
            </a:prstGeom>
            <a:solidFill>
              <a:srgbClr val="142235"/>
            </a:solidFill>
            <a:ln w="9525">
              <a:solidFill>
                <a:srgbClr val="638AB3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438150" y="127816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438150" y="1602010"/>
              <a:ext cx="1477708" cy="9525"/>
            </a:xfrm>
            <a:custGeom>
              <a:avLst/>
              <a:gdLst/>
              <a:ahLst/>
              <a:cxnLst/>
              <a:rect l="l" t="t" r="r" b="b"/>
              <a:pathLst>
                <a:path w="1477708" h="9525">
                  <a:moveTo>
                    <a:pt x="0" y="0"/>
                  </a:moveTo>
                  <a:lnTo>
                    <a:pt x="1477708" y="0"/>
                  </a:lnTo>
                </a:path>
              </a:pathLst>
            </a:custGeom>
            <a:noFill/>
            <a:ln w="9525">
              <a:solidFill>
                <a:srgbClr val="83BCF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3902" y="1325785"/>
              <a:ext cx="86620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Backlog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38150" y="1640110"/>
              <a:ext cx="1477708" cy="495300"/>
            </a:xfrm>
            <a:prstGeom prst="roundRect">
              <a:avLst>
                <a:gd name="adj" fmla="val 11538"/>
              </a:avLst>
            </a:prstGeom>
            <a:solidFill>
              <a:srgbClr val="192638"/>
            </a:solidFill>
            <a:ln w="9525">
              <a:solidFill>
                <a:srgbClr val="3B4E6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71488" y="1709166"/>
              <a:ext cx="168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3986" y="1709166"/>
              <a:ext cx="9688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Like／ Pass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1488" y="1909191"/>
              <a:ext cx="13019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等待 Refinement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38150" y="2173510"/>
              <a:ext cx="1477708" cy="495300"/>
            </a:xfrm>
            <a:prstGeom prst="roundRect">
              <a:avLst>
                <a:gd name="adj" fmla="val 11538"/>
              </a:avLst>
            </a:prstGeom>
            <a:solidFill>
              <a:srgbClr val="192638"/>
            </a:solidFill>
            <a:ln w="9525">
              <a:solidFill>
                <a:srgbClr val="3B4E6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71488" y="2242566"/>
              <a:ext cx="209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81038" y="224256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配對列表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1488" y="2442591"/>
              <a:ext cx="13019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等待 Refinement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38150" y="2706910"/>
              <a:ext cx="1477708" cy="514350"/>
            </a:xfrm>
            <a:prstGeom prst="roundRect">
              <a:avLst>
                <a:gd name="adj" fmla="val 11111"/>
              </a:avLst>
            </a:prstGeom>
            <a:solidFill>
              <a:srgbClr val="1B3550"/>
            </a:solidFill>
            <a:ln w="19050">
              <a:solidFill>
                <a:srgbClr val="83BCF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81012" y="2785491"/>
              <a:ext cx="209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0562" y="2785491"/>
              <a:ext cx="12362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81012" y="2985516"/>
              <a:ext cx="9240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Refinement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020633" y="1221010"/>
              <a:ext cx="1592008" cy="2057400"/>
            </a:xfrm>
            <a:prstGeom prst="roundRect">
              <a:avLst>
                <a:gd name="adj" fmla="val 4188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077783" y="127816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2077783" y="1602010"/>
              <a:ext cx="1477708" cy="9525"/>
            </a:xfrm>
            <a:custGeom>
              <a:avLst/>
              <a:gdLst/>
              <a:ahLst/>
              <a:cxnLst/>
              <a:rect l="l" t="t" r="r" b="b"/>
              <a:pathLst>
                <a:path w="1477708" h="9525">
                  <a:moveTo>
                    <a:pt x="0" y="0"/>
                  </a:moveTo>
                  <a:lnTo>
                    <a:pt x="147770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481298" y="1325785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Ready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660267" y="1221010"/>
              <a:ext cx="1592008" cy="2057400"/>
            </a:xfrm>
            <a:prstGeom prst="roundRect">
              <a:avLst>
                <a:gd name="adj" fmla="val 4188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717417" y="127816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3717417" y="1602010"/>
              <a:ext cx="1477708" cy="9525"/>
            </a:xfrm>
            <a:custGeom>
              <a:avLst/>
              <a:gdLst/>
              <a:ahLst/>
              <a:cxnLst/>
              <a:rect l="l" t="t" r="r" b="b"/>
              <a:pathLst>
                <a:path w="1477708" h="9525">
                  <a:moveTo>
                    <a:pt x="0" y="0"/>
                  </a:moveTo>
                  <a:lnTo>
                    <a:pt x="147770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247448" y="1325785"/>
              <a:ext cx="4176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Dev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299900" y="1221010"/>
              <a:ext cx="1592008" cy="2057400"/>
            </a:xfrm>
            <a:prstGeom prst="roundRect">
              <a:avLst>
                <a:gd name="adj" fmla="val 4188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57050" y="127816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5357050" y="1602010"/>
              <a:ext cx="1477708" cy="9525"/>
            </a:xfrm>
            <a:custGeom>
              <a:avLst/>
              <a:gdLst/>
              <a:ahLst/>
              <a:cxnLst/>
              <a:rect l="l" t="t" r="r" b="b"/>
              <a:pathLst>
                <a:path w="1477708" h="9525">
                  <a:moveTo>
                    <a:pt x="0" y="0"/>
                  </a:moveTo>
                  <a:lnTo>
                    <a:pt x="147770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703058" y="1325785"/>
              <a:ext cx="78569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Review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939534" y="1221010"/>
              <a:ext cx="1592008" cy="2057400"/>
            </a:xfrm>
            <a:prstGeom prst="roundRect">
              <a:avLst>
                <a:gd name="adj" fmla="val 4188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996684" y="127816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6996684" y="1602010"/>
              <a:ext cx="1477709" cy="9525"/>
            </a:xfrm>
            <a:custGeom>
              <a:avLst/>
              <a:gdLst/>
              <a:ahLst/>
              <a:cxnLst/>
              <a:rect l="l" t="t" r="r" b="b"/>
              <a:pathLst>
                <a:path w="1477709" h="9525">
                  <a:moveTo>
                    <a:pt x="0" y="0"/>
                  </a:moveTo>
                  <a:lnTo>
                    <a:pt x="1477709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66970" y="1325785"/>
              <a:ext cx="33713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QA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579168" y="1221010"/>
              <a:ext cx="1592008" cy="2057400"/>
            </a:xfrm>
            <a:prstGeom prst="roundRect">
              <a:avLst>
                <a:gd name="adj" fmla="val 4188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636318" y="127816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1" name="Line 41"/>
            <p:cNvSpPr/>
            <p:nvPr/>
          </p:nvSpPr>
          <p:spPr>
            <a:xfrm>
              <a:off x="8636318" y="1602010"/>
              <a:ext cx="1477708" cy="9525"/>
            </a:xfrm>
            <a:custGeom>
              <a:avLst/>
              <a:gdLst/>
              <a:ahLst/>
              <a:cxnLst/>
              <a:rect l="l" t="t" r="r" b="b"/>
              <a:pathLst>
                <a:path w="1477708" h="9525">
                  <a:moveTo>
                    <a:pt x="0" y="0"/>
                  </a:moveTo>
                  <a:lnTo>
                    <a:pt x="147770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562523" y="1325785"/>
              <a:ext cx="162529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Product Check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0218801" y="1221010"/>
              <a:ext cx="1592008" cy="2057400"/>
            </a:xfrm>
            <a:prstGeom prst="roundRect">
              <a:avLst>
                <a:gd name="adj" fmla="val 4188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275951" y="127816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5" name="Line 45"/>
            <p:cNvSpPr/>
            <p:nvPr/>
          </p:nvSpPr>
          <p:spPr>
            <a:xfrm>
              <a:off x="10275951" y="1602010"/>
              <a:ext cx="1477709" cy="9525"/>
            </a:xfrm>
            <a:custGeom>
              <a:avLst/>
              <a:gdLst/>
              <a:ahLst/>
              <a:cxnLst/>
              <a:rect l="l" t="t" r="r" b="b"/>
              <a:pathLst>
                <a:path w="1477709" h="9525">
                  <a:moveTo>
                    <a:pt x="0" y="0"/>
                  </a:moveTo>
                  <a:lnTo>
                    <a:pt x="1477709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742724" y="1325785"/>
              <a:ext cx="5441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Done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66712" y="3347466"/>
              <a:ext cx="3994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WIP=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66712" y="3547491"/>
              <a:ext cx="80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151430" y="3347466"/>
              <a:ext cx="2895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#3在 Backlog； #1、 #2在 Backlog等待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381000" y="3640360"/>
              <a:ext cx="11430000" cy="3019425"/>
            </a:xfrm>
            <a:prstGeom prst="roundRect">
              <a:avLst>
                <a:gd name="adj" fmla="val 4416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390525" y="3649885"/>
              <a:ext cx="11410950" cy="485775"/>
            </a:xfrm>
            <a:prstGeom prst="rect">
              <a:avLst/>
            </a:prstGeom>
            <a:solidFill>
              <a:srgbClr val="172536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14350" y="3787997"/>
              <a:ext cx="13744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SUB-ISSUE #3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173319" y="3787997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0781538" y="3745135"/>
              <a:ext cx="877062" cy="295275"/>
            </a:xfrm>
            <a:prstGeom prst="roundRect">
              <a:avLst>
                <a:gd name="adj" fmla="val 50000"/>
              </a:avLst>
            </a:prstGeom>
            <a:solidFill>
              <a:srgbClr val="26384D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852976" y="3814191"/>
              <a:ext cx="6940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BACKLOG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390525" y="4135660"/>
              <a:ext cx="2852738" cy="9906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7" name="Line 57"/>
            <p:cNvSpPr/>
            <p:nvPr/>
          </p:nvSpPr>
          <p:spPr>
            <a:xfrm>
              <a:off x="390525" y="4135660"/>
              <a:ext cx="2852738" cy="9525"/>
            </a:xfrm>
            <a:custGeom>
              <a:avLst/>
              <a:gdLst/>
              <a:ahLst/>
              <a:cxnLst/>
              <a:rect l="l" t="t" r="r" b="b"/>
              <a:pathLst>
                <a:path w="2852738" h="9525">
                  <a:moveTo>
                    <a:pt x="0" y="0"/>
                  </a:moveTo>
                  <a:lnTo>
                    <a:pt x="285273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3243262" y="4135660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0"/>
                  </a:moveTo>
                  <a:lnTo>
                    <a:pt x="0" y="99060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90538" y="4290441"/>
              <a:ext cx="4167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Title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85775" y="4545235"/>
              <a:ext cx="1571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雙向喜歡才配對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3243262" y="4135660"/>
              <a:ext cx="2852738" cy="9906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2" name="Line 62"/>
            <p:cNvSpPr/>
            <p:nvPr/>
          </p:nvSpPr>
          <p:spPr>
            <a:xfrm>
              <a:off x="3243262" y="4135660"/>
              <a:ext cx="2852738" cy="9525"/>
            </a:xfrm>
            <a:custGeom>
              <a:avLst/>
              <a:gdLst/>
              <a:ahLst/>
              <a:cxnLst/>
              <a:rect l="l" t="t" r="r" b="b"/>
              <a:pathLst>
                <a:path w="2852738" h="9525">
                  <a:moveTo>
                    <a:pt x="0" y="0"/>
                  </a:moveTo>
                  <a:lnTo>
                    <a:pt x="285273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6096000" y="4135660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0"/>
                  </a:moveTo>
                  <a:lnTo>
                    <a:pt x="0" y="99060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343275" y="4290441"/>
              <a:ext cx="12103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Context / Why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338512" y="4545235"/>
              <a:ext cx="2228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單向喜歡不能算配對。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096000" y="4135660"/>
              <a:ext cx="2852738" cy="9906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7" name="Line 67"/>
            <p:cNvSpPr/>
            <p:nvPr/>
          </p:nvSpPr>
          <p:spPr>
            <a:xfrm>
              <a:off x="6096000" y="4135660"/>
              <a:ext cx="2852738" cy="9525"/>
            </a:xfrm>
            <a:custGeom>
              <a:avLst/>
              <a:gdLst/>
              <a:ahLst/>
              <a:cxnLst/>
              <a:rect l="l" t="t" r="r" b="b"/>
              <a:pathLst>
                <a:path w="2852738" h="9525">
                  <a:moveTo>
                    <a:pt x="0" y="0"/>
                  </a:moveTo>
                  <a:lnTo>
                    <a:pt x="285273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68" name="Line 68"/>
            <p:cNvSpPr/>
            <p:nvPr/>
          </p:nvSpPr>
          <p:spPr>
            <a:xfrm>
              <a:off x="8948738" y="4135660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0"/>
                  </a:moveTo>
                  <a:lnTo>
                    <a:pt x="0" y="99060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196012" y="4290441"/>
              <a:ext cx="3649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Goal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196012" y="4490466"/>
              <a:ext cx="6065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linkage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191250" y="4545235"/>
              <a:ext cx="28860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支援「互相喜歡才算配對成功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191250" y="4811935"/>
              <a:ext cx="476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」。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8948738" y="4135660"/>
              <a:ext cx="2852738" cy="9906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4" name="Line 74"/>
            <p:cNvSpPr/>
            <p:nvPr/>
          </p:nvSpPr>
          <p:spPr>
            <a:xfrm>
              <a:off x="8948738" y="4135660"/>
              <a:ext cx="2852738" cy="9525"/>
            </a:xfrm>
            <a:custGeom>
              <a:avLst/>
              <a:gdLst/>
              <a:ahLst/>
              <a:cxnLst/>
              <a:rect l="l" t="t" r="r" b="b"/>
              <a:pathLst>
                <a:path w="2852738" h="9525">
                  <a:moveTo>
                    <a:pt x="0" y="0"/>
                  </a:moveTo>
                  <a:lnTo>
                    <a:pt x="285273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048750" y="4290441"/>
              <a:ext cx="5030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Scope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043988" y="4545235"/>
              <a:ext cx="2667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判斷雙向喜歡並建立配對。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390525" y="5126260"/>
              <a:ext cx="5705475" cy="15240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8" name="Line 78"/>
            <p:cNvSpPr/>
            <p:nvPr/>
          </p:nvSpPr>
          <p:spPr>
            <a:xfrm>
              <a:off x="390525" y="5126260"/>
              <a:ext cx="5705475" cy="9525"/>
            </a:xfrm>
            <a:custGeom>
              <a:avLst/>
              <a:gdLst/>
              <a:ahLst/>
              <a:cxnLst/>
              <a:rect l="l" t="t" r="r" b="b"/>
              <a:pathLst>
                <a:path w="5705475" h="9525">
                  <a:moveTo>
                    <a:pt x="0" y="0"/>
                  </a:moveTo>
                  <a:lnTo>
                    <a:pt x="5705475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9" name="Line 79"/>
            <p:cNvSpPr/>
            <p:nvPr/>
          </p:nvSpPr>
          <p:spPr>
            <a:xfrm>
              <a:off x="6096000" y="5126260"/>
              <a:ext cx="9525" cy="1524000"/>
            </a:xfrm>
            <a:custGeom>
              <a:avLst/>
              <a:gdLst/>
              <a:ahLst/>
              <a:cxnLst/>
              <a:rect l="l" t="t" r="r" b="b"/>
              <a:pathLst>
                <a:path w="9525"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490538" y="5281041"/>
              <a:ext cx="22368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Acceptance Criteria（AC）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485775" y="5535835"/>
              <a:ext cx="6073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AC寫出每種情境應有的結果， QA可逐條核對：單向喜歡｜ A喜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485775" y="5802535"/>
              <a:ext cx="577786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歡 B→不配對雙向喜歡｜ B也喜歡 A→成功配對重複喜歡→不重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485775" y="6069235"/>
              <a:ext cx="6953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複配對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6096000" y="5126260"/>
              <a:ext cx="2852738" cy="15240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85" name="Line 85"/>
            <p:cNvSpPr/>
            <p:nvPr/>
          </p:nvSpPr>
          <p:spPr>
            <a:xfrm>
              <a:off x="6096000" y="5126260"/>
              <a:ext cx="2852738" cy="9525"/>
            </a:xfrm>
            <a:custGeom>
              <a:avLst/>
              <a:gdLst/>
              <a:ahLst/>
              <a:cxnLst/>
              <a:rect l="l" t="t" r="r" b="b"/>
              <a:pathLst>
                <a:path w="2852738" h="9525">
                  <a:moveTo>
                    <a:pt x="0" y="0"/>
                  </a:moveTo>
                  <a:lnTo>
                    <a:pt x="285273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86" name="Line 86"/>
            <p:cNvSpPr/>
            <p:nvPr/>
          </p:nvSpPr>
          <p:spPr>
            <a:xfrm>
              <a:off x="8948738" y="5126260"/>
              <a:ext cx="9525" cy="1524000"/>
            </a:xfrm>
            <a:custGeom>
              <a:avLst/>
              <a:gdLst/>
              <a:ahLst/>
              <a:cxnLst/>
              <a:rect l="l" t="t" r="r" b="b"/>
              <a:pathLst>
                <a:path w="9525"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196012" y="5281041"/>
              <a:ext cx="11154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Out of Scope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191250" y="5535835"/>
              <a:ext cx="24479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聊天、推薦、解除配對。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8948738" y="5126260"/>
              <a:ext cx="2852738" cy="15240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0" name="Line 90"/>
            <p:cNvSpPr/>
            <p:nvPr/>
          </p:nvSpPr>
          <p:spPr>
            <a:xfrm>
              <a:off x="8948738" y="5126260"/>
              <a:ext cx="2852738" cy="9525"/>
            </a:xfrm>
            <a:custGeom>
              <a:avLst/>
              <a:gdLst/>
              <a:ahLst/>
              <a:cxnLst/>
              <a:rect l="l" t="t" r="r" b="b"/>
              <a:pathLst>
                <a:path w="2852738" h="9525">
                  <a:moveTo>
                    <a:pt x="0" y="0"/>
                  </a:moveTo>
                  <a:lnTo>
                    <a:pt x="285273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9048750" y="5281041"/>
              <a:ext cx="7445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Required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048750" y="5481066"/>
              <a:ext cx="7445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Evidence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043988" y="5535835"/>
              <a:ext cx="28860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單向喜歡、雙向喜歡、重複喜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9043988" y="5802535"/>
              <a:ext cx="1571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歡的測試結果。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569482" y="6802660"/>
              <a:ext cx="90530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AC說明功能怎樣才算做對； DoD是所有票共用的完工標準； Out-of-scope是這次不做的事。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75" name="Group 75"/>
          <p:cNvGrpSpPr/>
          <p:nvPr/>
        </p:nvGrpSpPr>
        <p:grpSpPr>
          <a:xfrm>
            <a:off x="346710" y="299085"/>
            <a:ext cx="11572137" cy="6008275"/>
            <a:chOff x="346710" y="299085"/>
            <a:chExt cx="11572137" cy="600827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120722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Ready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1950" y="820960"/>
              <a:ext cx="280994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Ticket是否寫得足以開始？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1192435"/>
              <a:ext cx="11430000" cy="381000"/>
            </a:xfrm>
            <a:prstGeom prst="roundRect">
              <a:avLst>
                <a:gd name="adj" fmla="val 20000"/>
              </a:avLst>
            </a:prstGeom>
            <a:solidFill>
              <a:srgbClr val="15251B"/>
            </a:solidFill>
            <a:ln w="9525">
              <a:solidFill>
                <a:srgbClr val="52705B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466725" y="1278160"/>
              <a:ext cx="373006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CF5E3"/>
                  </a:solidFill>
                  <a:latin typeface="Arial"/>
                  <a:ea typeface="Microsoft YaHei"/>
                  <a:cs typeface="Arial"/>
                </a:rPr>
                <a:t>Goal / Epic｜互相喜歡才算配對成功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40410" y="1304354"/>
              <a:ext cx="17784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B7C9BD"/>
                  </a:solidFill>
                  <a:latin typeface="Arial"/>
                  <a:ea typeface="Microsoft YaHei"/>
                  <a:cs typeface="Arial"/>
                </a:rPr>
                <a:t>parent issue·泳道標題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381000" y="162106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438150" y="167821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438150" y="2002060"/>
              <a:ext cx="1477708" cy="9525"/>
            </a:xfrm>
            <a:custGeom>
              <a:avLst/>
              <a:gdLst/>
              <a:ahLst/>
              <a:cxnLst/>
              <a:rect l="l" t="t" r="r" b="b"/>
              <a:pathLst>
                <a:path w="1477708" h="9525">
                  <a:moveTo>
                    <a:pt x="0" y="0"/>
                  </a:moveTo>
                  <a:lnTo>
                    <a:pt x="147770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3902" y="1725835"/>
              <a:ext cx="86620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Backlog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38150" y="2040160"/>
              <a:ext cx="1477708" cy="495300"/>
            </a:xfrm>
            <a:prstGeom prst="roundRect">
              <a:avLst>
                <a:gd name="adj" fmla="val 11538"/>
              </a:avLst>
            </a:prstGeom>
            <a:solidFill>
              <a:srgbClr val="192638"/>
            </a:solidFill>
            <a:ln w="9525">
              <a:solidFill>
                <a:srgbClr val="3B4E6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71488" y="2109216"/>
              <a:ext cx="168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3986" y="2109216"/>
              <a:ext cx="9688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Like／ Pass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1488" y="2309241"/>
              <a:ext cx="13019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等待 Refinement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38150" y="2573560"/>
              <a:ext cx="1477708" cy="495300"/>
            </a:xfrm>
            <a:prstGeom prst="roundRect">
              <a:avLst>
                <a:gd name="adj" fmla="val 11538"/>
              </a:avLst>
            </a:prstGeom>
            <a:solidFill>
              <a:srgbClr val="192638"/>
            </a:solidFill>
            <a:ln w="9525">
              <a:solidFill>
                <a:srgbClr val="3B4E6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71488" y="2642616"/>
              <a:ext cx="209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1038" y="264261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配對列表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1488" y="2842641"/>
              <a:ext cx="13019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等待 Refinement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020633" y="162106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42235"/>
            </a:solidFill>
            <a:ln w="9525">
              <a:solidFill>
                <a:srgbClr val="638AB3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077783" y="167821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2077783" y="2002060"/>
              <a:ext cx="1477708" cy="9525"/>
            </a:xfrm>
            <a:custGeom>
              <a:avLst/>
              <a:gdLst/>
              <a:ahLst/>
              <a:cxnLst/>
              <a:rect l="l" t="t" r="r" b="b"/>
              <a:pathLst>
                <a:path w="1477708" h="9525">
                  <a:moveTo>
                    <a:pt x="0" y="0"/>
                  </a:moveTo>
                  <a:lnTo>
                    <a:pt x="1477708" y="0"/>
                  </a:lnTo>
                </a:path>
              </a:pathLst>
            </a:custGeom>
            <a:noFill/>
            <a:ln w="9525">
              <a:solidFill>
                <a:srgbClr val="83BCF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481298" y="1725835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Ready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077783" y="2040160"/>
              <a:ext cx="1477708" cy="514350"/>
            </a:xfrm>
            <a:prstGeom prst="roundRect">
              <a:avLst>
                <a:gd name="adj" fmla="val 11111"/>
              </a:avLst>
            </a:prstGeom>
            <a:solidFill>
              <a:srgbClr val="1B3550"/>
            </a:solidFill>
            <a:ln w="19050">
              <a:solidFill>
                <a:srgbClr val="83BCFF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120646" y="2118741"/>
              <a:ext cx="209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330196" y="2118741"/>
              <a:ext cx="12362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20646" y="231876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準備開工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660267" y="162106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3717417" y="167821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3717417" y="2002060"/>
              <a:ext cx="1477708" cy="9525"/>
            </a:xfrm>
            <a:custGeom>
              <a:avLst/>
              <a:gdLst/>
              <a:ahLst/>
              <a:cxnLst/>
              <a:rect l="l" t="t" r="r" b="b"/>
              <a:pathLst>
                <a:path w="1477708" h="9525">
                  <a:moveTo>
                    <a:pt x="0" y="0"/>
                  </a:moveTo>
                  <a:lnTo>
                    <a:pt x="147770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247448" y="1725835"/>
              <a:ext cx="4176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Dev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299900" y="162106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57050" y="167821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4" name="Line 34"/>
            <p:cNvSpPr/>
            <p:nvPr/>
          </p:nvSpPr>
          <p:spPr>
            <a:xfrm>
              <a:off x="5357050" y="2002060"/>
              <a:ext cx="1477708" cy="9525"/>
            </a:xfrm>
            <a:custGeom>
              <a:avLst/>
              <a:gdLst/>
              <a:ahLst/>
              <a:cxnLst/>
              <a:rect l="l" t="t" r="r" b="b"/>
              <a:pathLst>
                <a:path w="1477708" h="9525">
                  <a:moveTo>
                    <a:pt x="0" y="0"/>
                  </a:moveTo>
                  <a:lnTo>
                    <a:pt x="147770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703058" y="1725835"/>
              <a:ext cx="78569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Review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939534" y="162106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996684" y="167821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8" name="Line 38"/>
            <p:cNvSpPr/>
            <p:nvPr/>
          </p:nvSpPr>
          <p:spPr>
            <a:xfrm>
              <a:off x="6996684" y="2002060"/>
              <a:ext cx="1477709" cy="9525"/>
            </a:xfrm>
            <a:custGeom>
              <a:avLst/>
              <a:gdLst/>
              <a:ahLst/>
              <a:cxnLst/>
              <a:rect l="l" t="t" r="r" b="b"/>
              <a:pathLst>
                <a:path w="1477709" h="9525">
                  <a:moveTo>
                    <a:pt x="0" y="0"/>
                  </a:moveTo>
                  <a:lnTo>
                    <a:pt x="1477709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566970" y="1725835"/>
              <a:ext cx="33713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QA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579168" y="162106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636318" y="167821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Line 42"/>
            <p:cNvSpPr/>
            <p:nvPr/>
          </p:nvSpPr>
          <p:spPr>
            <a:xfrm>
              <a:off x="8636318" y="2002060"/>
              <a:ext cx="1477708" cy="9525"/>
            </a:xfrm>
            <a:custGeom>
              <a:avLst/>
              <a:gdLst/>
              <a:ahLst/>
              <a:cxnLst/>
              <a:rect l="l" t="t" r="r" b="b"/>
              <a:pathLst>
                <a:path w="1477708" h="9525">
                  <a:moveTo>
                    <a:pt x="0" y="0"/>
                  </a:moveTo>
                  <a:lnTo>
                    <a:pt x="147770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562523" y="1725835"/>
              <a:ext cx="162529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Product Check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0218801" y="162106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275951" y="167821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Line 46"/>
            <p:cNvSpPr/>
            <p:nvPr/>
          </p:nvSpPr>
          <p:spPr>
            <a:xfrm>
              <a:off x="10275951" y="2002060"/>
              <a:ext cx="1477709" cy="9525"/>
            </a:xfrm>
            <a:custGeom>
              <a:avLst/>
              <a:gdLst/>
              <a:ahLst/>
              <a:cxnLst/>
              <a:rect l="l" t="t" r="r" b="b"/>
              <a:pathLst>
                <a:path w="1477709" h="9525">
                  <a:moveTo>
                    <a:pt x="0" y="0"/>
                  </a:moveTo>
                  <a:lnTo>
                    <a:pt x="1477709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742724" y="1725835"/>
              <a:ext cx="5441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Done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66712" y="3195066"/>
              <a:ext cx="3994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WIP=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66712" y="3395091"/>
              <a:ext cx="80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149012" y="3195066"/>
              <a:ext cx="7515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先推進 #3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880723" y="3516535"/>
              <a:ext cx="443055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#1、 #2完成相同 Refinement後移入 Ready。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81000" y="3868960"/>
              <a:ext cx="11430000" cy="2438400"/>
            </a:xfrm>
            <a:prstGeom prst="roundRect">
              <a:avLst>
                <a:gd name="adj" fmla="val 5469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00075" y="4088035"/>
              <a:ext cx="10991850" cy="4381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4" name="Line 54"/>
            <p:cNvSpPr/>
            <p:nvPr/>
          </p:nvSpPr>
          <p:spPr>
            <a:xfrm>
              <a:off x="600075" y="4526185"/>
              <a:ext cx="10991850" cy="9525"/>
            </a:xfrm>
            <a:custGeom>
              <a:avLst/>
              <a:gdLst/>
              <a:ahLst/>
              <a:cxnLst/>
              <a:rect l="l" t="t" r="r" b="b"/>
              <a:pathLst>
                <a:path w="10991850" h="9525">
                  <a:moveTo>
                    <a:pt x="0" y="0"/>
                  </a:moveTo>
                  <a:lnTo>
                    <a:pt x="1099185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81025" y="4130897"/>
              <a:ext cx="13744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SUB-ISSUE #3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031397" y="4130897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0996898" y="4088035"/>
              <a:ext cx="595027" cy="295275"/>
            </a:xfrm>
            <a:prstGeom prst="roundRect">
              <a:avLst>
                <a:gd name="adj" fmla="val 50000"/>
              </a:avLst>
            </a:prstGeom>
            <a:solidFill>
              <a:srgbClr val="1A3A5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1068336" y="4157091"/>
              <a:ext cx="4804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Ready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90575" y="4773835"/>
              <a:ext cx="2053495" cy="1257300"/>
            </a:xfrm>
            <a:prstGeom prst="roundRect">
              <a:avLst>
                <a:gd name="adj" fmla="val 6818"/>
              </a:avLst>
            </a:prstGeom>
            <a:solidFill>
              <a:srgbClr val="101922"/>
            </a:solidFill>
            <a:ln w="9525">
              <a:solidFill>
                <a:srgbClr val="2B3A4C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57250" y="4888135"/>
              <a:ext cx="19440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✓ PM／ PO與 Dev都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57250" y="5154835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認定清楚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2929795" y="4773835"/>
              <a:ext cx="2053495" cy="1257300"/>
            </a:xfrm>
            <a:prstGeom prst="roundRect">
              <a:avLst>
                <a:gd name="adj" fmla="val 6818"/>
              </a:avLst>
            </a:prstGeom>
            <a:solidFill>
              <a:srgbClr val="101922"/>
            </a:solidFill>
            <a:ln w="9525">
              <a:solidFill>
                <a:srgbClr val="2B3A4C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2996470" y="4888135"/>
              <a:ext cx="214122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✓ Why、 Goal linkage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2996470" y="5154835"/>
              <a:ext cx="21083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、 Scope、 AC完整且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996470" y="5421535"/>
              <a:ext cx="476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可驗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069110" y="4773835"/>
              <a:ext cx="2053685" cy="1257300"/>
            </a:xfrm>
            <a:prstGeom prst="roundRect">
              <a:avLst>
                <a:gd name="adj" fmla="val 6818"/>
              </a:avLst>
            </a:prstGeom>
            <a:solidFill>
              <a:srgbClr val="101922"/>
            </a:solidFill>
            <a:ln w="9525">
              <a:solidFill>
                <a:srgbClr val="2B3A4C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135785" y="4888135"/>
              <a:ext cx="20426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✓ Out of Scope明確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7208520" y="4773835"/>
              <a:ext cx="2053495" cy="1257300"/>
            </a:xfrm>
            <a:prstGeom prst="roundRect">
              <a:avLst>
                <a:gd name="adj" fmla="val 6818"/>
              </a:avLst>
            </a:prstGeom>
            <a:solidFill>
              <a:srgbClr val="101922"/>
            </a:solidFill>
            <a:ln w="9525">
              <a:solidFill>
                <a:srgbClr val="2B3A4C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275195" y="4888135"/>
              <a:ext cx="213026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✓依賴無阻擋（用測試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275195" y="5154835"/>
              <a:ext cx="1889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資料）； Required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275195" y="5421535"/>
              <a:ext cx="16044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Evidence已確認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9347740" y="4773835"/>
              <a:ext cx="2053685" cy="1257300"/>
            </a:xfrm>
            <a:prstGeom prst="roundRect">
              <a:avLst>
                <a:gd name="adj" fmla="val 6818"/>
              </a:avLst>
            </a:prstGeom>
            <a:solidFill>
              <a:srgbClr val="101922"/>
            </a:solidFill>
            <a:ln w="9525">
              <a:solidFill>
                <a:srgbClr val="2B3A4C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414415" y="4888135"/>
              <a:ext cx="213026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✓範圍夠小，可作為一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414415" y="5154835"/>
              <a:ext cx="99107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張 ticket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72" name="Group 72"/>
          <p:cNvGrpSpPr/>
          <p:nvPr/>
        </p:nvGrpSpPr>
        <p:grpSpPr>
          <a:xfrm>
            <a:off x="346710" y="299085"/>
            <a:ext cx="12000381" cy="6311170"/>
            <a:chOff x="346710" y="299085"/>
            <a:chExt cx="12000381" cy="6311170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201462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Developer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1950" y="820960"/>
              <a:ext cx="702659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Developer＝第 2段的 branch＋ commit：在分支實作，逐版留下修改。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1192435"/>
              <a:ext cx="11430000" cy="381000"/>
            </a:xfrm>
            <a:prstGeom prst="roundRect">
              <a:avLst>
                <a:gd name="adj" fmla="val 20000"/>
              </a:avLst>
            </a:prstGeom>
            <a:solidFill>
              <a:srgbClr val="15251B"/>
            </a:solidFill>
            <a:ln w="9525">
              <a:solidFill>
                <a:srgbClr val="52705B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466725" y="1278160"/>
              <a:ext cx="373006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CF5E3"/>
                  </a:solidFill>
                  <a:latin typeface="Arial"/>
                  <a:ea typeface="Microsoft YaHei"/>
                  <a:cs typeface="Arial"/>
                </a:rPr>
                <a:t>Goal / Epic｜互相喜歡才算配對成功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40410" y="1304354"/>
              <a:ext cx="17784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B7C9BD"/>
                  </a:solidFill>
                  <a:latin typeface="Arial"/>
                  <a:ea typeface="Microsoft YaHei"/>
                  <a:cs typeface="Arial"/>
                </a:rPr>
                <a:t>parent issue·泳道標題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381000" y="162106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438150" y="167821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438150" y="2002060"/>
              <a:ext cx="1477708" cy="9525"/>
            </a:xfrm>
            <a:custGeom>
              <a:avLst/>
              <a:gdLst/>
              <a:ahLst/>
              <a:cxnLst/>
              <a:rect l="l" t="t" r="r" b="b"/>
              <a:pathLst>
                <a:path w="1477708" h="9525">
                  <a:moveTo>
                    <a:pt x="0" y="0"/>
                  </a:moveTo>
                  <a:lnTo>
                    <a:pt x="147770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3902" y="1725835"/>
              <a:ext cx="86620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Backlog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020633" y="162106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077783" y="167821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2077783" y="2002060"/>
              <a:ext cx="1477708" cy="9525"/>
            </a:xfrm>
            <a:custGeom>
              <a:avLst/>
              <a:gdLst/>
              <a:ahLst/>
              <a:cxnLst/>
              <a:rect l="l" t="t" r="r" b="b"/>
              <a:pathLst>
                <a:path w="1477708" h="9525">
                  <a:moveTo>
                    <a:pt x="0" y="0"/>
                  </a:moveTo>
                  <a:lnTo>
                    <a:pt x="147770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481298" y="1725835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Ready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077783" y="2040160"/>
              <a:ext cx="1477708" cy="495300"/>
            </a:xfrm>
            <a:prstGeom prst="roundRect">
              <a:avLst>
                <a:gd name="adj" fmla="val 11538"/>
              </a:avLst>
            </a:prstGeom>
            <a:solidFill>
              <a:srgbClr val="192638"/>
            </a:solidFill>
            <a:ln w="9525">
              <a:solidFill>
                <a:srgbClr val="3B4E6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111121" y="2109216"/>
              <a:ext cx="168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93620" y="2109216"/>
              <a:ext cx="9688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Like／ Pass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11121" y="2309241"/>
              <a:ext cx="10390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Ready｜等 #3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077783" y="2573560"/>
              <a:ext cx="1477708" cy="495300"/>
            </a:xfrm>
            <a:prstGeom prst="roundRect">
              <a:avLst>
                <a:gd name="adj" fmla="val 11538"/>
              </a:avLst>
            </a:prstGeom>
            <a:solidFill>
              <a:srgbClr val="192638"/>
            </a:solidFill>
            <a:ln w="9525">
              <a:solidFill>
                <a:srgbClr val="3B4E6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111121" y="2642616"/>
              <a:ext cx="209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20671" y="264261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配對列表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11121" y="2842641"/>
              <a:ext cx="10390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Ready｜等 #3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660267" y="162106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42235"/>
            </a:solidFill>
            <a:ln w="9525">
              <a:solidFill>
                <a:srgbClr val="638AB3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717417" y="167821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3717417" y="2002060"/>
              <a:ext cx="1477708" cy="9525"/>
            </a:xfrm>
            <a:custGeom>
              <a:avLst/>
              <a:gdLst/>
              <a:ahLst/>
              <a:cxnLst/>
              <a:rect l="l" t="t" r="r" b="b"/>
              <a:pathLst>
                <a:path w="1477708" h="9525">
                  <a:moveTo>
                    <a:pt x="0" y="0"/>
                  </a:moveTo>
                  <a:lnTo>
                    <a:pt x="1477708" y="0"/>
                  </a:lnTo>
                </a:path>
              </a:pathLst>
            </a:custGeom>
            <a:noFill/>
            <a:ln w="9525">
              <a:solidFill>
                <a:srgbClr val="83BCF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247448" y="1725835"/>
              <a:ext cx="4176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Dev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717417" y="2040160"/>
              <a:ext cx="1477708" cy="514350"/>
            </a:xfrm>
            <a:prstGeom prst="roundRect">
              <a:avLst>
                <a:gd name="adj" fmla="val 11111"/>
              </a:avLst>
            </a:prstGeom>
            <a:solidFill>
              <a:srgbClr val="1B3550"/>
            </a:solidFill>
            <a:ln w="19050">
              <a:solidFill>
                <a:srgbClr val="83BCFF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760279" y="2118741"/>
              <a:ext cx="209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969829" y="2118741"/>
              <a:ext cx="12362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60279" y="2318766"/>
              <a:ext cx="5214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進行中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299900" y="162106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57050" y="167821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4" name="Line 34"/>
            <p:cNvSpPr/>
            <p:nvPr/>
          </p:nvSpPr>
          <p:spPr>
            <a:xfrm>
              <a:off x="5357050" y="2002060"/>
              <a:ext cx="1477708" cy="9525"/>
            </a:xfrm>
            <a:custGeom>
              <a:avLst/>
              <a:gdLst/>
              <a:ahLst/>
              <a:cxnLst/>
              <a:rect l="l" t="t" r="r" b="b"/>
              <a:pathLst>
                <a:path w="1477708" h="9525">
                  <a:moveTo>
                    <a:pt x="0" y="0"/>
                  </a:moveTo>
                  <a:lnTo>
                    <a:pt x="147770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703058" y="1725835"/>
              <a:ext cx="78569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Review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939534" y="162106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996684" y="167821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8" name="Line 38"/>
            <p:cNvSpPr/>
            <p:nvPr/>
          </p:nvSpPr>
          <p:spPr>
            <a:xfrm>
              <a:off x="6996684" y="2002060"/>
              <a:ext cx="1477709" cy="9525"/>
            </a:xfrm>
            <a:custGeom>
              <a:avLst/>
              <a:gdLst/>
              <a:ahLst/>
              <a:cxnLst/>
              <a:rect l="l" t="t" r="r" b="b"/>
              <a:pathLst>
                <a:path w="1477709" h="9525">
                  <a:moveTo>
                    <a:pt x="0" y="0"/>
                  </a:moveTo>
                  <a:lnTo>
                    <a:pt x="1477709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566970" y="1725835"/>
              <a:ext cx="33713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QA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579168" y="162106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636318" y="167821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Line 42"/>
            <p:cNvSpPr/>
            <p:nvPr/>
          </p:nvSpPr>
          <p:spPr>
            <a:xfrm>
              <a:off x="8636318" y="2002060"/>
              <a:ext cx="1477708" cy="9525"/>
            </a:xfrm>
            <a:custGeom>
              <a:avLst/>
              <a:gdLst/>
              <a:ahLst/>
              <a:cxnLst/>
              <a:rect l="l" t="t" r="r" b="b"/>
              <a:pathLst>
                <a:path w="1477708" h="9525">
                  <a:moveTo>
                    <a:pt x="0" y="0"/>
                  </a:moveTo>
                  <a:lnTo>
                    <a:pt x="147770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562523" y="1725835"/>
              <a:ext cx="162529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Product Check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0218801" y="162106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275951" y="167821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Line 46"/>
            <p:cNvSpPr/>
            <p:nvPr/>
          </p:nvSpPr>
          <p:spPr>
            <a:xfrm>
              <a:off x="10275951" y="2002060"/>
              <a:ext cx="1477709" cy="9525"/>
            </a:xfrm>
            <a:custGeom>
              <a:avLst/>
              <a:gdLst/>
              <a:ahLst/>
              <a:cxnLst/>
              <a:rect l="l" t="t" r="r" b="b"/>
              <a:pathLst>
                <a:path w="1477709" h="9525">
                  <a:moveTo>
                    <a:pt x="0" y="0"/>
                  </a:moveTo>
                  <a:lnTo>
                    <a:pt x="1477709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742724" y="1725835"/>
              <a:ext cx="5441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Done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66712" y="3195066"/>
              <a:ext cx="3994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WIP=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66712" y="3395091"/>
              <a:ext cx="80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79697" y="3195066"/>
              <a:ext cx="48673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#1、 #2已完成相同 Refinement，在 Ready等待；目前只推進 #3。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381000" y="3487960"/>
              <a:ext cx="11430000" cy="3122295"/>
            </a:xfrm>
            <a:prstGeom prst="roundRect">
              <a:avLst>
                <a:gd name="adj" fmla="val 4271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390525" y="3668935"/>
              <a:ext cx="11410950" cy="400050"/>
            </a:xfrm>
            <a:prstGeom prst="rect">
              <a:avLst/>
            </a:prstGeom>
            <a:solidFill>
              <a:srgbClr val="0F1720"/>
            </a:solidFill>
            <a:ln>
              <a:noFill/>
            </a:ln>
          </p:spPr>
        </p:sp>
        <p:sp>
          <p:nvSpPr>
            <p:cNvPr id="53" name="Line 53"/>
            <p:cNvSpPr/>
            <p:nvPr/>
          </p:nvSpPr>
          <p:spPr>
            <a:xfrm>
              <a:off x="390525" y="4068985"/>
              <a:ext cx="11410950" cy="9525"/>
            </a:xfrm>
            <a:custGeom>
              <a:avLst/>
              <a:gdLst/>
              <a:ahLst/>
              <a:cxnLst/>
              <a:rect l="l" t="t" r="r" b="b"/>
              <a:pathLst>
                <a:path w="11410950" h="9525">
                  <a:moveTo>
                    <a:pt x="0" y="0"/>
                  </a:moveTo>
                  <a:lnTo>
                    <a:pt x="1141095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47688" y="3785616"/>
              <a:ext cx="172092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GitHub· Pull requests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059096" y="3785616"/>
              <a:ext cx="6693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Issue #3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75310" y="4277582"/>
              <a:ext cx="336884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 Open PR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00075" y="4695634"/>
              <a:ext cx="10991850" cy="1085850"/>
            </a:xfrm>
            <a:prstGeom prst="roundRect">
              <a:avLst>
                <a:gd name="adj" fmla="val 8772"/>
              </a:avLst>
            </a:prstGeom>
            <a:solidFill>
              <a:srgbClr val="0E1721"/>
            </a:solidFill>
            <a:ln w="9525">
              <a:solidFill>
                <a:srgbClr val="2B3A4C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23900" y="5009960"/>
              <a:ext cx="2343150" cy="457200"/>
            </a:xfrm>
            <a:prstGeom prst="roundRect">
              <a:avLst>
                <a:gd name="adj" fmla="val 16667"/>
              </a:avLst>
            </a:prstGeom>
            <a:solidFill>
              <a:srgbClr val="172638"/>
            </a:solidFill>
            <a:ln w="9525">
              <a:solidFill>
                <a:srgbClr val="3A5069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208246" y="5124260"/>
              <a:ext cx="13744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Ready ticket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213342" y="5133784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3524250" y="4876610"/>
              <a:ext cx="2343150" cy="723900"/>
            </a:xfrm>
            <a:prstGeom prst="roundRect">
              <a:avLst>
                <a:gd name="adj" fmla="val 10526"/>
              </a:avLst>
            </a:prstGeom>
            <a:solidFill>
              <a:srgbClr val="172638"/>
            </a:solidFill>
            <a:ln w="9525">
              <a:solidFill>
                <a:srgbClr val="3A5069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315301" y="4990910"/>
              <a:ext cx="7610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branch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334941" y="5257610"/>
              <a:ext cx="272176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feature/3-mutual-match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013692" y="5133784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324600" y="5009960"/>
              <a:ext cx="2343150" cy="457200"/>
            </a:xfrm>
            <a:prstGeom prst="roundRect">
              <a:avLst>
                <a:gd name="adj" fmla="val 16667"/>
              </a:avLst>
            </a:prstGeom>
            <a:solidFill>
              <a:srgbClr val="172638"/>
            </a:solidFill>
            <a:ln w="9525">
              <a:solidFill>
                <a:srgbClr val="3A5069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099221" y="5124260"/>
              <a:ext cx="7939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commit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814042" y="5133784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124950" y="5009960"/>
              <a:ext cx="2343150" cy="457200"/>
            </a:xfrm>
            <a:prstGeom prst="roundRect">
              <a:avLst>
                <a:gd name="adj" fmla="val 16667"/>
              </a:avLst>
            </a:prstGeom>
            <a:solidFill>
              <a:srgbClr val="172638"/>
            </a:solidFill>
            <a:ln w="9525">
              <a:solidFill>
                <a:srgbClr val="3A5069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0156984" y="5124260"/>
              <a:ext cx="2790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PR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81025" y="5924360"/>
              <a:ext cx="437578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只實作 #3範圍， PR附變更說明與自我檢查。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2412921" y="6191060"/>
              <a:ext cx="73661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branch是隔離修改的副本； commit是存下的一版； PR是送交審查的改動。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74" name="Group 74"/>
          <p:cNvGrpSpPr/>
          <p:nvPr/>
        </p:nvGrpSpPr>
        <p:grpSpPr>
          <a:xfrm>
            <a:off x="346710" y="299085"/>
            <a:ext cx="11843004" cy="6113050"/>
            <a:chOff x="346710" y="299085"/>
            <a:chExt cx="11843004" cy="6113050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199392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PR Review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1950" y="820960"/>
              <a:ext cx="697182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PR Review＝審查第 2段的 Pull Request：檢查改動，必要時退回修正。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1192435"/>
              <a:ext cx="11430000" cy="381000"/>
            </a:xfrm>
            <a:prstGeom prst="roundRect">
              <a:avLst>
                <a:gd name="adj" fmla="val 20000"/>
              </a:avLst>
            </a:prstGeom>
            <a:solidFill>
              <a:srgbClr val="15251B"/>
            </a:solidFill>
            <a:ln w="9525">
              <a:solidFill>
                <a:srgbClr val="52705B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466725" y="1278160"/>
              <a:ext cx="373006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CF5E3"/>
                  </a:solidFill>
                  <a:latin typeface="Arial"/>
                  <a:ea typeface="Microsoft YaHei"/>
                  <a:cs typeface="Arial"/>
                </a:rPr>
                <a:t>Goal / Epic｜互相喜歡才算配對成功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40410" y="1304354"/>
              <a:ext cx="17784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B7C9BD"/>
                  </a:solidFill>
                  <a:latin typeface="Arial"/>
                  <a:ea typeface="Microsoft YaHei"/>
                  <a:cs typeface="Arial"/>
                </a:rPr>
                <a:t>parent issue·泳道標題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381000" y="162106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438150" y="167821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438150" y="2002060"/>
              <a:ext cx="1477708" cy="9525"/>
            </a:xfrm>
            <a:custGeom>
              <a:avLst/>
              <a:gdLst/>
              <a:ahLst/>
              <a:cxnLst/>
              <a:rect l="l" t="t" r="r" b="b"/>
              <a:pathLst>
                <a:path w="1477708" h="9525">
                  <a:moveTo>
                    <a:pt x="0" y="0"/>
                  </a:moveTo>
                  <a:lnTo>
                    <a:pt x="147770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3902" y="1725835"/>
              <a:ext cx="86620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Backlog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020633" y="162106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077783" y="167821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2077783" y="2002060"/>
              <a:ext cx="1477708" cy="9525"/>
            </a:xfrm>
            <a:custGeom>
              <a:avLst/>
              <a:gdLst/>
              <a:ahLst/>
              <a:cxnLst/>
              <a:rect l="l" t="t" r="r" b="b"/>
              <a:pathLst>
                <a:path w="1477708" h="9525">
                  <a:moveTo>
                    <a:pt x="0" y="0"/>
                  </a:moveTo>
                  <a:lnTo>
                    <a:pt x="147770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481298" y="1725835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Ready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077783" y="2040160"/>
              <a:ext cx="1477708" cy="495300"/>
            </a:xfrm>
            <a:prstGeom prst="roundRect">
              <a:avLst>
                <a:gd name="adj" fmla="val 11538"/>
              </a:avLst>
            </a:prstGeom>
            <a:solidFill>
              <a:srgbClr val="192638"/>
            </a:solidFill>
            <a:ln w="9525">
              <a:solidFill>
                <a:srgbClr val="3B4E6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111121" y="2109216"/>
              <a:ext cx="168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93620" y="2109216"/>
              <a:ext cx="9688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Like／ Pass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11121" y="2309241"/>
              <a:ext cx="10390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Ready｜等 #3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077783" y="2573560"/>
              <a:ext cx="1477708" cy="495300"/>
            </a:xfrm>
            <a:prstGeom prst="roundRect">
              <a:avLst>
                <a:gd name="adj" fmla="val 11538"/>
              </a:avLst>
            </a:prstGeom>
            <a:solidFill>
              <a:srgbClr val="192638"/>
            </a:solidFill>
            <a:ln w="9525">
              <a:solidFill>
                <a:srgbClr val="3B4E6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111121" y="2642616"/>
              <a:ext cx="209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20671" y="264261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配對列表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11121" y="2842641"/>
              <a:ext cx="10390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Ready｜等 #3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660267" y="162106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717417" y="167821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3717417" y="2002060"/>
              <a:ext cx="1477708" cy="9525"/>
            </a:xfrm>
            <a:custGeom>
              <a:avLst/>
              <a:gdLst/>
              <a:ahLst/>
              <a:cxnLst/>
              <a:rect l="l" t="t" r="r" b="b"/>
              <a:pathLst>
                <a:path w="1477708" h="9525">
                  <a:moveTo>
                    <a:pt x="0" y="0"/>
                  </a:moveTo>
                  <a:lnTo>
                    <a:pt x="147770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247448" y="1725835"/>
              <a:ext cx="4176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Dev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299900" y="162106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42235"/>
            </a:solidFill>
            <a:ln w="9525">
              <a:solidFill>
                <a:srgbClr val="638AB3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57050" y="167821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5357050" y="2002060"/>
              <a:ext cx="1477708" cy="9525"/>
            </a:xfrm>
            <a:custGeom>
              <a:avLst/>
              <a:gdLst/>
              <a:ahLst/>
              <a:cxnLst/>
              <a:rect l="l" t="t" r="r" b="b"/>
              <a:pathLst>
                <a:path w="1477708" h="9525">
                  <a:moveTo>
                    <a:pt x="0" y="0"/>
                  </a:moveTo>
                  <a:lnTo>
                    <a:pt x="1477708" y="0"/>
                  </a:lnTo>
                </a:path>
              </a:pathLst>
            </a:custGeom>
            <a:noFill/>
            <a:ln w="9525">
              <a:solidFill>
                <a:srgbClr val="83BCFF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703058" y="1725835"/>
              <a:ext cx="78569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Review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57050" y="2040160"/>
              <a:ext cx="1477708" cy="514350"/>
            </a:xfrm>
            <a:prstGeom prst="roundRect">
              <a:avLst>
                <a:gd name="adj" fmla="val 11111"/>
              </a:avLst>
            </a:prstGeom>
            <a:solidFill>
              <a:srgbClr val="1B3550"/>
            </a:solidFill>
            <a:ln w="19050">
              <a:solidFill>
                <a:srgbClr val="83BCF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399913" y="2118741"/>
              <a:ext cx="209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609463" y="2118741"/>
              <a:ext cx="12362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99913" y="2318766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目前位置：重新送審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939534" y="162106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996684" y="167821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8" name="Line 38"/>
            <p:cNvSpPr/>
            <p:nvPr/>
          </p:nvSpPr>
          <p:spPr>
            <a:xfrm>
              <a:off x="6996684" y="2002060"/>
              <a:ext cx="1477709" cy="9525"/>
            </a:xfrm>
            <a:custGeom>
              <a:avLst/>
              <a:gdLst/>
              <a:ahLst/>
              <a:cxnLst/>
              <a:rect l="l" t="t" r="r" b="b"/>
              <a:pathLst>
                <a:path w="1477709" h="9525">
                  <a:moveTo>
                    <a:pt x="0" y="0"/>
                  </a:moveTo>
                  <a:lnTo>
                    <a:pt x="1477709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566970" y="1725835"/>
              <a:ext cx="33713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QA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579168" y="162106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636318" y="167821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Line 42"/>
            <p:cNvSpPr/>
            <p:nvPr/>
          </p:nvSpPr>
          <p:spPr>
            <a:xfrm>
              <a:off x="8636318" y="2002060"/>
              <a:ext cx="1477708" cy="9525"/>
            </a:xfrm>
            <a:custGeom>
              <a:avLst/>
              <a:gdLst/>
              <a:ahLst/>
              <a:cxnLst/>
              <a:rect l="l" t="t" r="r" b="b"/>
              <a:pathLst>
                <a:path w="1477708" h="9525">
                  <a:moveTo>
                    <a:pt x="0" y="0"/>
                  </a:moveTo>
                  <a:lnTo>
                    <a:pt x="147770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562523" y="1725835"/>
              <a:ext cx="162529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Product Check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0218801" y="162106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275951" y="167821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Line 46"/>
            <p:cNvSpPr/>
            <p:nvPr/>
          </p:nvSpPr>
          <p:spPr>
            <a:xfrm>
              <a:off x="10275951" y="2002060"/>
              <a:ext cx="1477709" cy="9525"/>
            </a:xfrm>
            <a:custGeom>
              <a:avLst/>
              <a:gdLst/>
              <a:ahLst/>
              <a:cxnLst/>
              <a:rect l="l" t="t" r="r" b="b"/>
              <a:pathLst>
                <a:path w="1477709" h="9525">
                  <a:moveTo>
                    <a:pt x="0" y="0"/>
                  </a:moveTo>
                  <a:lnTo>
                    <a:pt x="1477709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742724" y="1725835"/>
              <a:ext cx="5441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Done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381000" y="3173635"/>
              <a:ext cx="11430000" cy="314325"/>
            </a:xfrm>
            <a:prstGeom prst="roundRect">
              <a:avLst>
                <a:gd name="adj" fmla="val 21212"/>
              </a:avLst>
            </a:prstGeom>
            <a:solidFill>
              <a:srgbClr val="25191D"/>
            </a:solidFill>
            <a:ln w="9525">
              <a:solidFill>
                <a:srgbClr val="67444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71488" y="3252216"/>
              <a:ext cx="45552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Request changes： Review退回 Developer；修正後重新送審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66712" y="3557016"/>
              <a:ext cx="3994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WIP=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66712" y="3757041"/>
              <a:ext cx="80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842153" y="3557016"/>
              <a:ext cx="33475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#3在 Review；修正後重新送審； #1、 #2等待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381000" y="3849910"/>
              <a:ext cx="11430000" cy="2562225"/>
            </a:xfrm>
            <a:prstGeom prst="roundRect">
              <a:avLst>
                <a:gd name="adj" fmla="val 5204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390525" y="3859435"/>
              <a:ext cx="11410950" cy="400050"/>
            </a:xfrm>
            <a:prstGeom prst="rect">
              <a:avLst/>
            </a:prstGeom>
            <a:solidFill>
              <a:srgbClr val="0F1720"/>
            </a:solidFill>
            <a:ln>
              <a:noFill/>
            </a:ln>
          </p:spPr>
        </p:sp>
        <p:sp>
          <p:nvSpPr>
            <p:cNvPr id="55" name="Line 55"/>
            <p:cNvSpPr/>
            <p:nvPr/>
          </p:nvSpPr>
          <p:spPr>
            <a:xfrm>
              <a:off x="390525" y="4259485"/>
              <a:ext cx="11410950" cy="9525"/>
            </a:xfrm>
            <a:custGeom>
              <a:avLst/>
              <a:gdLst/>
              <a:ahLst/>
              <a:cxnLst/>
              <a:rect l="l" t="t" r="r" b="b"/>
              <a:pathLst>
                <a:path w="11410950" h="9525">
                  <a:moveTo>
                    <a:pt x="0" y="0"/>
                  </a:moveTo>
                  <a:lnTo>
                    <a:pt x="1141095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47688" y="3976116"/>
              <a:ext cx="18605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GitHub· Pull Request #3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674382" y="3976116"/>
              <a:ext cx="11540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Review thread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00075" y="4259485"/>
              <a:ext cx="10991850" cy="4762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9" name="Line 59"/>
            <p:cNvSpPr/>
            <p:nvPr/>
          </p:nvSpPr>
          <p:spPr>
            <a:xfrm>
              <a:off x="600075" y="4735735"/>
              <a:ext cx="10991850" cy="9525"/>
            </a:xfrm>
            <a:custGeom>
              <a:avLst/>
              <a:gdLst/>
              <a:ahLst/>
              <a:cxnLst/>
              <a:rect l="l" t="t" r="r" b="b"/>
              <a:pathLst>
                <a:path w="10991850" h="9525">
                  <a:moveTo>
                    <a:pt x="0" y="0"/>
                  </a:moveTo>
                  <a:lnTo>
                    <a:pt x="1099185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95325" y="4388072"/>
              <a:ext cx="231538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Reviewer·第一次審查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10131647" y="4345210"/>
              <a:ext cx="1345978" cy="295275"/>
            </a:xfrm>
            <a:prstGeom prst="roundRect">
              <a:avLst>
                <a:gd name="adj" fmla="val 50000"/>
              </a:avLst>
            </a:prstGeom>
            <a:solidFill>
              <a:srgbClr val="472A2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203085" y="4414266"/>
              <a:ext cx="6611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9289"/>
                  </a:solidFill>
                  <a:latin typeface="Arial"/>
                  <a:ea typeface="Microsoft YaHei"/>
                  <a:cs typeface="Arial"/>
                </a:rPr>
                <a:t>Request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203085" y="4614291"/>
              <a:ext cx="6611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9289"/>
                  </a:solidFill>
                  <a:latin typeface="Arial"/>
                  <a:ea typeface="Microsoft YaHei"/>
                  <a:cs typeface="Arial"/>
                </a:rPr>
                <a:t>changes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14375" y="4850035"/>
              <a:ext cx="361950" cy="361950"/>
            </a:xfrm>
            <a:prstGeom prst="roundRect">
              <a:avLst>
                <a:gd name="adj" fmla="val 50000"/>
              </a:avLst>
            </a:prstGeom>
            <a:solidFill>
              <a:srgbClr val="51416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95325" y="4878610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R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219200" y="4878610"/>
              <a:ext cx="29737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3DCE7"/>
                  </a:solidFill>
                  <a:latin typeface="Arial"/>
                  <a:ea typeface="Microsoft YaHei"/>
                  <a:cs typeface="Arial"/>
                </a:rPr>
                <a:t>多做了聊天室，超出 #3範圍。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219200" y="5202460"/>
              <a:ext cx="325850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9289"/>
                  </a:solidFill>
                  <a:latin typeface="Arial"/>
                  <a:ea typeface="Microsoft YaHei"/>
                  <a:cs typeface="Arial"/>
                </a:rPr>
                <a:t>請移除聊天室；退回 Developer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219200" y="5469160"/>
              <a:ext cx="268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9289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714375" y="5554885"/>
              <a:ext cx="10763250" cy="457200"/>
            </a:xfrm>
            <a:prstGeom prst="roundRect">
              <a:avLst>
                <a:gd name="adj" fmla="val 16667"/>
              </a:avLst>
            </a:prstGeom>
            <a:solidFill>
              <a:srgbClr val="14231B"/>
            </a:solidFill>
            <a:ln w="9525">
              <a:solidFill>
                <a:srgbClr val="42694D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19150" y="5678710"/>
              <a:ext cx="28203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Developer修正：移除聊天室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895975" y="5773960"/>
              <a:ext cx="400050" cy="19050"/>
            </a:xfrm>
            <a:prstGeom prst="rect">
              <a:avLst/>
            </a:prstGeom>
            <a:solidFill>
              <a:srgbClr val="83BCF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362700" y="5678710"/>
              <a:ext cx="297096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重新送審· Review pass→ QA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81025" y="6040660"/>
              <a:ext cx="62160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檢查 code、 architecture、 regression、 maintainability。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116" name="Group 116"/>
          <p:cNvGrpSpPr/>
          <p:nvPr/>
        </p:nvGrpSpPr>
        <p:grpSpPr>
          <a:xfrm>
            <a:off x="346710" y="299085"/>
            <a:ext cx="11659005" cy="6494050"/>
            <a:chOff x="346710" y="299085"/>
            <a:chExt cx="11659005" cy="6494050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350521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QA / Verification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1950" y="820960"/>
              <a:ext cx="676644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CI是每個 PR都會自動執行的檢查； QA依 AC驗證實際行為與邊界。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1192435"/>
              <a:ext cx="11430000" cy="381000"/>
            </a:xfrm>
            <a:prstGeom prst="roundRect">
              <a:avLst>
                <a:gd name="adj" fmla="val 20000"/>
              </a:avLst>
            </a:prstGeom>
            <a:solidFill>
              <a:srgbClr val="15251B"/>
            </a:solidFill>
            <a:ln w="9525">
              <a:solidFill>
                <a:srgbClr val="52705B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466725" y="1278160"/>
              <a:ext cx="373006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CF5E3"/>
                  </a:solidFill>
                  <a:latin typeface="Arial"/>
                  <a:ea typeface="Microsoft YaHei"/>
                  <a:cs typeface="Arial"/>
                </a:rPr>
                <a:t>Goal / Epic｜互相喜歡才算配對成功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40410" y="1304354"/>
              <a:ext cx="17784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B7C9BD"/>
                  </a:solidFill>
                  <a:latin typeface="Arial"/>
                  <a:ea typeface="Microsoft YaHei"/>
                  <a:cs typeface="Arial"/>
                </a:rPr>
                <a:t>parent issue·泳道標題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381000" y="162106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438150" y="167821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438150" y="2002060"/>
              <a:ext cx="1477708" cy="9525"/>
            </a:xfrm>
            <a:custGeom>
              <a:avLst/>
              <a:gdLst/>
              <a:ahLst/>
              <a:cxnLst/>
              <a:rect l="l" t="t" r="r" b="b"/>
              <a:pathLst>
                <a:path w="1477708" h="9525">
                  <a:moveTo>
                    <a:pt x="0" y="0"/>
                  </a:moveTo>
                  <a:lnTo>
                    <a:pt x="147770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3902" y="1725835"/>
              <a:ext cx="86620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Backlog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020633" y="162106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077783" y="167821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2077783" y="2002060"/>
              <a:ext cx="1477708" cy="9525"/>
            </a:xfrm>
            <a:custGeom>
              <a:avLst/>
              <a:gdLst/>
              <a:ahLst/>
              <a:cxnLst/>
              <a:rect l="l" t="t" r="r" b="b"/>
              <a:pathLst>
                <a:path w="1477708" h="9525">
                  <a:moveTo>
                    <a:pt x="0" y="0"/>
                  </a:moveTo>
                  <a:lnTo>
                    <a:pt x="147770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481298" y="1725835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Ready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077783" y="2040160"/>
              <a:ext cx="1477708" cy="495300"/>
            </a:xfrm>
            <a:prstGeom prst="roundRect">
              <a:avLst>
                <a:gd name="adj" fmla="val 11538"/>
              </a:avLst>
            </a:prstGeom>
            <a:solidFill>
              <a:srgbClr val="192638"/>
            </a:solidFill>
            <a:ln w="9525">
              <a:solidFill>
                <a:srgbClr val="3B4E6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111121" y="2109216"/>
              <a:ext cx="168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93620" y="2109216"/>
              <a:ext cx="9688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Like／ Pass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11121" y="2309241"/>
              <a:ext cx="10390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Ready｜等 #3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077783" y="2573560"/>
              <a:ext cx="1477708" cy="495300"/>
            </a:xfrm>
            <a:prstGeom prst="roundRect">
              <a:avLst>
                <a:gd name="adj" fmla="val 11538"/>
              </a:avLst>
            </a:prstGeom>
            <a:solidFill>
              <a:srgbClr val="192638"/>
            </a:solidFill>
            <a:ln w="9525">
              <a:solidFill>
                <a:srgbClr val="3B4E6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111121" y="2642616"/>
              <a:ext cx="209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20671" y="264261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配對列表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11121" y="2842641"/>
              <a:ext cx="10390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Ready｜等 #3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660267" y="162106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717417" y="167821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3717417" y="2002060"/>
              <a:ext cx="1477708" cy="9525"/>
            </a:xfrm>
            <a:custGeom>
              <a:avLst/>
              <a:gdLst/>
              <a:ahLst/>
              <a:cxnLst/>
              <a:rect l="l" t="t" r="r" b="b"/>
              <a:pathLst>
                <a:path w="1477708" h="9525">
                  <a:moveTo>
                    <a:pt x="0" y="0"/>
                  </a:moveTo>
                  <a:lnTo>
                    <a:pt x="147770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247448" y="1725835"/>
              <a:ext cx="4176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Dev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299900" y="162106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57050" y="167821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5357050" y="2002060"/>
              <a:ext cx="1477708" cy="9525"/>
            </a:xfrm>
            <a:custGeom>
              <a:avLst/>
              <a:gdLst/>
              <a:ahLst/>
              <a:cxnLst/>
              <a:rect l="l" t="t" r="r" b="b"/>
              <a:pathLst>
                <a:path w="1477708" h="9525">
                  <a:moveTo>
                    <a:pt x="0" y="0"/>
                  </a:moveTo>
                  <a:lnTo>
                    <a:pt x="147770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703058" y="1725835"/>
              <a:ext cx="78569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Review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939534" y="162106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42235"/>
            </a:solidFill>
            <a:ln w="9525">
              <a:solidFill>
                <a:srgbClr val="638AB3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996684" y="167821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4" name="Line 34"/>
            <p:cNvSpPr/>
            <p:nvPr/>
          </p:nvSpPr>
          <p:spPr>
            <a:xfrm>
              <a:off x="6996684" y="2002060"/>
              <a:ext cx="1477709" cy="9525"/>
            </a:xfrm>
            <a:custGeom>
              <a:avLst/>
              <a:gdLst/>
              <a:ahLst/>
              <a:cxnLst/>
              <a:rect l="l" t="t" r="r" b="b"/>
              <a:pathLst>
                <a:path w="1477709" h="9525">
                  <a:moveTo>
                    <a:pt x="0" y="0"/>
                  </a:moveTo>
                  <a:lnTo>
                    <a:pt x="1477709" y="0"/>
                  </a:lnTo>
                </a:path>
              </a:pathLst>
            </a:custGeom>
            <a:noFill/>
            <a:ln w="9525">
              <a:solidFill>
                <a:srgbClr val="83BCF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566970" y="1725835"/>
              <a:ext cx="33713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QA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996684" y="2040160"/>
              <a:ext cx="1477708" cy="714375"/>
            </a:xfrm>
            <a:prstGeom prst="roundRect">
              <a:avLst>
                <a:gd name="adj" fmla="val 8000"/>
              </a:avLst>
            </a:prstGeom>
            <a:solidFill>
              <a:srgbClr val="1B3550"/>
            </a:solidFill>
            <a:ln w="19050">
              <a:solidFill>
                <a:srgbClr val="83BCF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39546" y="2118741"/>
              <a:ext cx="209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49096" y="2118741"/>
              <a:ext cx="12362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39546" y="2318766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目前位置：重測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39546" y="2518791"/>
              <a:ext cx="3900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PASS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579168" y="162106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636318" y="167821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3" name="Line 43"/>
            <p:cNvSpPr/>
            <p:nvPr/>
          </p:nvSpPr>
          <p:spPr>
            <a:xfrm>
              <a:off x="8636318" y="2002060"/>
              <a:ext cx="1477708" cy="9525"/>
            </a:xfrm>
            <a:custGeom>
              <a:avLst/>
              <a:gdLst/>
              <a:ahLst/>
              <a:cxnLst/>
              <a:rect l="l" t="t" r="r" b="b"/>
              <a:pathLst>
                <a:path w="1477708" h="9525">
                  <a:moveTo>
                    <a:pt x="0" y="0"/>
                  </a:moveTo>
                  <a:lnTo>
                    <a:pt x="147770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562523" y="1725835"/>
              <a:ext cx="162529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Product Check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0218801" y="162106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10275951" y="167821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7" name="Line 47"/>
            <p:cNvSpPr/>
            <p:nvPr/>
          </p:nvSpPr>
          <p:spPr>
            <a:xfrm>
              <a:off x="10275951" y="2002060"/>
              <a:ext cx="1477709" cy="9525"/>
            </a:xfrm>
            <a:custGeom>
              <a:avLst/>
              <a:gdLst/>
              <a:ahLst/>
              <a:cxnLst/>
              <a:rect l="l" t="t" r="r" b="b"/>
              <a:pathLst>
                <a:path w="1477709" h="9525">
                  <a:moveTo>
                    <a:pt x="0" y="0"/>
                  </a:moveTo>
                  <a:lnTo>
                    <a:pt x="1477709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742724" y="1725835"/>
              <a:ext cx="5441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Done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81000" y="3173635"/>
              <a:ext cx="11430000" cy="314325"/>
            </a:xfrm>
            <a:prstGeom prst="roundRect">
              <a:avLst>
                <a:gd name="adj" fmla="val 21212"/>
              </a:avLst>
            </a:prstGeom>
            <a:solidFill>
              <a:srgbClr val="25191D"/>
            </a:solidFill>
            <a:ln w="9525">
              <a:solidFill>
                <a:srgbClr val="67444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485775" y="3230785"/>
              <a:ext cx="3398615" cy="200025"/>
            </a:xfrm>
            <a:prstGeom prst="roundRect">
              <a:avLst>
                <a:gd name="adj" fmla="val 33333"/>
              </a:avLst>
            </a:prstGeom>
            <a:solidFill>
              <a:srgbClr val="25191D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71488" y="3252216"/>
              <a:ext cx="354472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D0CB"/>
                  </a:solidFill>
                  <a:latin typeface="Arial"/>
                  <a:ea typeface="Microsoft YaHei"/>
                  <a:cs typeface="Arial"/>
                </a:rPr>
                <a:t>單向喜歡初測： FAIL→ Dev修正→ QA重測： PASS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66712" y="3557016"/>
              <a:ext cx="3994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WIP=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66712" y="3757041"/>
              <a:ext cx="80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964388" y="3557016"/>
              <a:ext cx="204132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#3目前在 QA； #1、 #2等待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81000" y="3849910"/>
              <a:ext cx="11430000" cy="2152650"/>
            </a:xfrm>
            <a:prstGeom prst="roundRect">
              <a:avLst>
                <a:gd name="adj" fmla="val 4425"/>
              </a:avLst>
            </a:prstGeom>
            <a:solidFill>
              <a:srgbClr val="101821"/>
            </a:solidFill>
            <a:ln w="9525">
              <a:solidFill>
                <a:srgbClr val="2B3A4C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390525" y="3859435"/>
              <a:ext cx="1483328" cy="466725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57" name="Line 57"/>
            <p:cNvSpPr/>
            <p:nvPr/>
          </p:nvSpPr>
          <p:spPr>
            <a:xfrm>
              <a:off x="1873853" y="3859435"/>
              <a:ext cx="9525" cy="466725"/>
            </a:xfrm>
            <a:custGeom>
              <a:avLst/>
              <a:gdLst/>
              <a:ahLst/>
              <a:cxnLst/>
              <a:rect l="l" t="t" r="r" b="b"/>
              <a:pathLst>
                <a:path w="9525" h="466725">
                  <a:moveTo>
                    <a:pt x="0" y="0"/>
                  </a:moveTo>
                  <a:lnTo>
                    <a:pt x="0" y="466725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390525" y="4326160"/>
              <a:ext cx="1483328" cy="9525"/>
            </a:xfrm>
            <a:custGeom>
              <a:avLst/>
              <a:gdLst/>
              <a:ahLst/>
              <a:cxnLst/>
              <a:rect l="l" t="t" r="r" b="b"/>
              <a:pathLst>
                <a:path w="1483328" h="9525">
                  <a:moveTo>
                    <a:pt x="0" y="0"/>
                  </a:moveTo>
                  <a:lnTo>
                    <a:pt x="148332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85775" y="398326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BEAFF"/>
                  </a:solidFill>
                  <a:latin typeface="Arial"/>
                  <a:ea typeface="Microsoft YaHei"/>
                  <a:cs typeface="Arial"/>
                </a:rPr>
                <a:t>驗收情境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873853" y="3859435"/>
              <a:ext cx="4107942" cy="466725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61" name="Line 61"/>
            <p:cNvSpPr/>
            <p:nvPr/>
          </p:nvSpPr>
          <p:spPr>
            <a:xfrm>
              <a:off x="5981890" y="3859435"/>
              <a:ext cx="9525" cy="466725"/>
            </a:xfrm>
            <a:custGeom>
              <a:avLst/>
              <a:gdLst/>
              <a:ahLst/>
              <a:cxnLst/>
              <a:rect l="l" t="t" r="r" b="b"/>
              <a:pathLst>
                <a:path w="9525" h="466725">
                  <a:moveTo>
                    <a:pt x="0" y="0"/>
                  </a:moveTo>
                  <a:lnTo>
                    <a:pt x="0" y="466725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1873853" y="4326160"/>
              <a:ext cx="4108037" cy="9525"/>
            </a:xfrm>
            <a:custGeom>
              <a:avLst/>
              <a:gdLst/>
              <a:ahLst/>
              <a:cxnLst/>
              <a:rect l="l" t="t" r="r" b="b"/>
              <a:pathLst>
                <a:path w="4108037" h="9525">
                  <a:moveTo>
                    <a:pt x="0" y="0"/>
                  </a:moveTo>
                  <a:lnTo>
                    <a:pt x="4108037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969103" y="398326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BEAFF"/>
                  </a:solidFill>
                  <a:latin typeface="Arial"/>
                  <a:ea typeface="Microsoft YaHei"/>
                  <a:cs typeface="Arial"/>
                </a:rPr>
                <a:t>預期行為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981890" y="3859435"/>
              <a:ext cx="4108132" cy="466725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65" name="Line 65"/>
            <p:cNvSpPr/>
            <p:nvPr/>
          </p:nvSpPr>
          <p:spPr>
            <a:xfrm>
              <a:off x="10089928" y="3859435"/>
              <a:ext cx="9525" cy="466725"/>
            </a:xfrm>
            <a:custGeom>
              <a:avLst/>
              <a:gdLst/>
              <a:ahLst/>
              <a:cxnLst/>
              <a:rect l="l" t="t" r="r" b="b"/>
              <a:pathLst>
                <a:path w="9525" h="466725">
                  <a:moveTo>
                    <a:pt x="0" y="0"/>
                  </a:moveTo>
                  <a:lnTo>
                    <a:pt x="0" y="466725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66" name="Line 66"/>
            <p:cNvSpPr/>
            <p:nvPr/>
          </p:nvSpPr>
          <p:spPr>
            <a:xfrm>
              <a:off x="5981890" y="4326160"/>
              <a:ext cx="4108037" cy="9525"/>
            </a:xfrm>
            <a:custGeom>
              <a:avLst/>
              <a:gdLst/>
              <a:ahLst/>
              <a:cxnLst/>
              <a:rect l="l" t="t" r="r" b="b"/>
              <a:pathLst>
                <a:path w="4108037" h="9525">
                  <a:moveTo>
                    <a:pt x="0" y="0"/>
                  </a:moveTo>
                  <a:lnTo>
                    <a:pt x="4108037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077140" y="3983260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BEAFF"/>
                  </a:solidFill>
                  <a:latin typeface="Arial"/>
                  <a:ea typeface="Microsoft YaHei"/>
                  <a:cs typeface="Arial"/>
                </a:rPr>
                <a:t>證據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10089928" y="3859435"/>
              <a:ext cx="1711547" cy="466725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69" name="Line 69"/>
            <p:cNvSpPr/>
            <p:nvPr/>
          </p:nvSpPr>
          <p:spPr>
            <a:xfrm>
              <a:off x="10089928" y="4326160"/>
              <a:ext cx="1711547" cy="9525"/>
            </a:xfrm>
            <a:custGeom>
              <a:avLst/>
              <a:gdLst/>
              <a:ahLst/>
              <a:cxnLst/>
              <a:rect l="l" t="t" r="r" b="b"/>
              <a:pathLst>
                <a:path w="1711547" h="9525">
                  <a:moveTo>
                    <a:pt x="0" y="0"/>
                  </a:moveTo>
                  <a:lnTo>
                    <a:pt x="1711547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185178" y="3983260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BEAFF"/>
                  </a:solidFill>
                  <a:latin typeface="Arial"/>
                  <a:ea typeface="Microsoft YaHei"/>
                  <a:cs typeface="Arial"/>
                </a:rPr>
                <a:t>狀態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390525" y="4326160"/>
              <a:ext cx="1483328" cy="733425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72" name="Line 72"/>
            <p:cNvSpPr/>
            <p:nvPr/>
          </p:nvSpPr>
          <p:spPr>
            <a:xfrm>
              <a:off x="1873853" y="4326160"/>
              <a:ext cx="9525" cy="733425"/>
            </a:xfrm>
            <a:custGeom>
              <a:avLst/>
              <a:gdLst/>
              <a:ahLst/>
              <a:cxnLst/>
              <a:rect l="l" t="t" r="r" b="b"/>
              <a:pathLst>
                <a:path w="9525" h="733425">
                  <a:moveTo>
                    <a:pt x="0" y="0"/>
                  </a:moveTo>
                  <a:lnTo>
                    <a:pt x="0" y="733425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3" name="Line 73"/>
            <p:cNvSpPr/>
            <p:nvPr/>
          </p:nvSpPr>
          <p:spPr>
            <a:xfrm>
              <a:off x="390525" y="5059585"/>
              <a:ext cx="1483328" cy="9525"/>
            </a:xfrm>
            <a:custGeom>
              <a:avLst/>
              <a:gdLst/>
              <a:ahLst/>
              <a:cxnLst/>
              <a:rect l="l" t="t" r="r" b="b"/>
              <a:pathLst>
                <a:path w="1483328" h="9525">
                  <a:moveTo>
                    <a:pt x="0" y="0"/>
                  </a:moveTo>
                  <a:lnTo>
                    <a:pt x="148332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485775" y="444998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BEAFF"/>
                  </a:solidFill>
                  <a:latin typeface="Arial"/>
                  <a:ea typeface="Microsoft YaHei"/>
                  <a:cs typeface="Arial"/>
                </a:rPr>
                <a:t>單向喜歡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1873853" y="4326160"/>
              <a:ext cx="4107942" cy="7334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6" name="Line 76"/>
            <p:cNvSpPr/>
            <p:nvPr/>
          </p:nvSpPr>
          <p:spPr>
            <a:xfrm>
              <a:off x="5981890" y="4326160"/>
              <a:ext cx="9525" cy="733425"/>
            </a:xfrm>
            <a:custGeom>
              <a:avLst/>
              <a:gdLst/>
              <a:ahLst/>
              <a:cxnLst/>
              <a:rect l="l" t="t" r="r" b="b"/>
              <a:pathLst>
                <a:path w="9525" h="733425">
                  <a:moveTo>
                    <a:pt x="0" y="0"/>
                  </a:moveTo>
                  <a:lnTo>
                    <a:pt x="0" y="733425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7" name="Line 77"/>
            <p:cNvSpPr/>
            <p:nvPr/>
          </p:nvSpPr>
          <p:spPr>
            <a:xfrm>
              <a:off x="1873853" y="5059585"/>
              <a:ext cx="4108037" cy="9525"/>
            </a:xfrm>
            <a:custGeom>
              <a:avLst/>
              <a:gdLst/>
              <a:ahLst/>
              <a:cxnLst/>
              <a:rect l="l" t="t" r="r" b="b"/>
              <a:pathLst>
                <a:path w="4108037" h="9525">
                  <a:moveTo>
                    <a:pt x="0" y="0"/>
                  </a:moveTo>
                  <a:lnTo>
                    <a:pt x="4108037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969103" y="4449985"/>
              <a:ext cx="280939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A喜歡 B， B未喜歡 A→不配對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5981890" y="4326160"/>
              <a:ext cx="4108132" cy="7334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80" name="Line 80"/>
            <p:cNvSpPr/>
            <p:nvPr/>
          </p:nvSpPr>
          <p:spPr>
            <a:xfrm>
              <a:off x="10089928" y="4326160"/>
              <a:ext cx="9525" cy="733425"/>
            </a:xfrm>
            <a:custGeom>
              <a:avLst/>
              <a:gdLst/>
              <a:ahLst/>
              <a:cxnLst/>
              <a:rect l="l" t="t" r="r" b="b"/>
              <a:pathLst>
                <a:path w="9525" h="733425">
                  <a:moveTo>
                    <a:pt x="0" y="0"/>
                  </a:moveTo>
                  <a:lnTo>
                    <a:pt x="0" y="733425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81" name="Line 81"/>
            <p:cNvSpPr/>
            <p:nvPr/>
          </p:nvSpPr>
          <p:spPr>
            <a:xfrm>
              <a:off x="5981890" y="5059585"/>
              <a:ext cx="4108037" cy="9525"/>
            </a:xfrm>
            <a:custGeom>
              <a:avLst/>
              <a:gdLst/>
              <a:ahLst/>
              <a:cxnLst/>
              <a:rect l="l" t="t" r="r" b="b"/>
              <a:pathLst>
                <a:path w="4108037" h="9525">
                  <a:moveTo>
                    <a:pt x="0" y="0"/>
                  </a:moveTo>
                  <a:lnTo>
                    <a:pt x="4108037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077140" y="4449985"/>
              <a:ext cx="403621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初測：顯示 Match；修正後重測：未顯示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077140" y="4716685"/>
              <a:ext cx="68437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Match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10089928" y="4326160"/>
              <a:ext cx="1711547" cy="7334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85" name="Line 85"/>
            <p:cNvSpPr/>
            <p:nvPr/>
          </p:nvSpPr>
          <p:spPr>
            <a:xfrm>
              <a:off x="10089928" y="5059585"/>
              <a:ext cx="1711547" cy="9525"/>
            </a:xfrm>
            <a:custGeom>
              <a:avLst/>
              <a:gdLst/>
              <a:ahLst/>
              <a:cxnLst/>
              <a:rect l="l" t="t" r="r" b="b"/>
              <a:pathLst>
                <a:path w="1711547" h="9525">
                  <a:moveTo>
                    <a:pt x="0" y="0"/>
                  </a:moveTo>
                  <a:lnTo>
                    <a:pt x="1711547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0185178" y="4449985"/>
              <a:ext cx="140731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初測 FAIL重測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185178" y="4716685"/>
              <a:ext cx="52006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PASS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390525" y="5059585"/>
              <a:ext cx="1483328" cy="466725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89" name="Line 89"/>
            <p:cNvSpPr/>
            <p:nvPr/>
          </p:nvSpPr>
          <p:spPr>
            <a:xfrm>
              <a:off x="1873853" y="5059585"/>
              <a:ext cx="9525" cy="466725"/>
            </a:xfrm>
            <a:custGeom>
              <a:avLst/>
              <a:gdLst/>
              <a:ahLst/>
              <a:cxnLst/>
              <a:rect l="l" t="t" r="r" b="b"/>
              <a:pathLst>
                <a:path w="9525" h="466725">
                  <a:moveTo>
                    <a:pt x="0" y="0"/>
                  </a:moveTo>
                  <a:lnTo>
                    <a:pt x="0" y="466725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90" name="Line 90"/>
            <p:cNvSpPr/>
            <p:nvPr/>
          </p:nvSpPr>
          <p:spPr>
            <a:xfrm>
              <a:off x="390525" y="5526310"/>
              <a:ext cx="1483328" cy="9525"/>
            </a:xfrm>
            <a:custGeom>
              <a:avLst/>
              <a:gdLst/>
              <a:ahLst/>
              <a:cxnLst/>
              <a:rect l="l" t="t" r="r" b="b"/>
              <a:pathLst>
                <a:path w="1483328" h="9525">
                  <a:moveTo>
                    <a:pt x="0" y="0"/>
                  </a:moveTo>
                  <a:lnTo>
                    <a:pt x="148332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485775" y="518341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BEAFF"/>
                  </a:solidFill>
                  <a:latin typeface="Arial"/>
                  <a:ea typeface="Microsoft YaHei"/>
                  <a:cs typeface="Arial"/>
                </a:rPr>
                <a:t>雙向喜歡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1873853" y="5059585"/>
              <a:ext cx="4107942" cy="4667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3" name="Line 93"/>
            <p:cNvSpPr/>
            <p:nvPr/>
          </p:nvSpPr>
          <p:spPr>
            <a:xfrm>
              <a:off x="5981890" y="5059585"/>
              <a:ext cx="9525" cy="466725"/>
            </a:xfrm>
            <a:custGeom>
              <a:avLst/>
              <a:gdLst/>
              <a:ahLst/>
              <a:cxnLst/>
              <a:rect l="l" t="t" r="r" b="b"/>
              <a:pathLst>
                <a:path w="9525" h="466725">
                  <a:moveTo>
                    <a:pt x="0" y="0"/>
                  </a:moveTo>
                  <a:lnTo>
                    <a:pt x="0" y="466725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94" name="Line 94"/>
            <p:cNvSpPr/>
            <p:nvPr/>
          </p:nvSpPr>
          <p:spPr>
            <a:xfrm>
              <a:off x="1873853" y="5526310"/>
              <a:ext cx="4108037" cy="9525"/>
            </a:xfrm>
            <a:custGeom>
              <a:avLst/>
              <a:gdLst/>
              <a:ahLst/>
              <a:cxnLst/>
              <a:rect l="l" t="t" r="r" b="b"/>
              <a:pathLst>
                <a:path w="4108037" h="9525">
                  <a:moveTo>
                    <a:pt x="0" y="0"/>
                  </a:moveTo>
                  <a:lnTo>
                    <a:pt x="4108037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969103" y="5183410"/>
              <a:ext cx="19988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B也喜歡 A→成功配對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5981890" y="5059585"/>
              <a:ext cx="4108132" cy="4667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7" name="Line 97"/>
            <p:cNvSpPr/>
            <p:nvPr/>
          </p:nvSpPr>
          <p:spPr>
            <a:xfrm>
              <a:off x="10089928" y="5059585"/>
              <a:ext cx="9525" cy="466725"/>
            </a:xfrm>
            <a:custGeom>
              <a:avLst/>
              <a:gdLst/>
              <a:ahLst/>
              <a:cxnLst/>
              <a:rect l="l" t="t" r="r" b="b"/>
              <a:pathLst>
                <a:path w="9525" h="466725">
                  <a:moveTo>
                    <a:pt x="0" y="0"/>
                  </a:moveTo>
                  <a:lnTo>
                    <a:pt x="0" y="466725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98" name="Line 98"/>
            <p:cNvSpPr/>
            <p:nvPr/>
          </p:nvSpPr>
          <p:spPr>
            <a:xfrm>
              <a:off x="5981890" y="5526310"/>
              <a:ext cx="4108037" cy="9525"/>
            </a:xfrm>
            <a:custGeom>
              <a:avLst/>
              <a:gdLst/>
              <a:ahLst/>
              <a:cxnLst/>
              <a:rect l="l" t="t" r="r" b="b"/>
              <a:pathLst>
                <a:path w="4108037" h="9525">
                  <a:moveTo>
                    <a:pt x="0" y="0"/>
                  </a:moveTo>
                  <a:lnTo>
                    <a:pt x="4108037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6077140" y="5183410"/>
              <a:ext cx="162639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雙方顯示 Match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10089928" y="5059585"/>
              <a:ext cx="1711547" cy="4667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1" name="Line 101"/>
            <p:cNvSpPr/>
            <p:nvPr/>
          </p:nvSpPr>
          <p:spPr>
            <a:xfrm>
              <a:off x="10089928" y="5526310"/>
              <a:ext cx="1711547" cy="9525"/>
            </a:xfrm>
            <a:custGeom>
              <a:avLst/>
              <a:gdLst/>
              <a:ahLst/>
              <a:cxnLst/>
              <a:rect l="l" t="t" r="r" b="b"/>
              <a:pathLst>
                <a:path w="1711547" h="9525">
                  <a:moveTo>
                    <a:pt x="0" y="0"/>
                  </a:moveTo>
                  <a:lnTo>
                    <a:pt x="1711547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10185178" y="5183410"/>
              <a:ext cx="52006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PASS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390525" y="5526310"/>
              <a:ext cx="1483328" cy="466725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104" name="Line 104"/>
            <p:cNvSpPr/>
            <p:nvPr/>
          </p:nvSpPr>
          <p:spPr>
            <a:xfrm>
              <a:off x="1873853" y="5526310"/>
              <a:ext cx="9525" cy="466725"/>
            </a:xfrm>
            <a:custGeom>
              <a:avLst/>
              <a:gdLst/>
              <a:ahLst/>
              <a:cxnLst/>
              <a:rect l="l" t="t" r="r" b="b"/>
              <a:pathLst>
                <a:path w="9525" h="466725">
                  <a:moveTo>
                    <a:pt x="0" y="0"/>
                  </a:moveTo>
                  <a:lnTo>
                    <a:pt x="0" y="466725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05" name="Line 105"/>
            <p:cNvSpPr/>
            <p:nvPr/>
          </p:nvSpPr>
          <p:spPr>
            <a:xfrm>
              <a:off x="390525" y="5993035"/>
              <a:ext cx="1483328" cy="9525"/>
            </a:xfrm>
            <a:custGeom>
              <a:avLst/>
              <a:gdLst/>
              <a:ahLst/>
              <a:cxnLst/>
              <a:rect l="l" t="t" r="r" b="b"/>
              <a:pathLst>
                <a:path w="1483328" h="9525">
                  <a:moveTo>
                    <a:pt x="0" y="0"/>
                  </a:moveTo>
                  <a:lnTo>
                    <a:pt x="148332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485775" y="565013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BEAFF"/>
                  </a:solidFill>
                  <a:latin typeface="Arial"/>
                  <a:ea typeface="Microsoft YaHei"/>
                  <a:cs typeface="Arial"/>
                </a:rPr>
                <a:t>重複喜歡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1873853" y="5526310"/>
              <a:ext cx="4107942" cy="4667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8" name="Line 108"/>
            <p:cNvSpPr/>
            <p:nvPr/>
          </p:nvSpPr>
          <p:spPr>
            <a:xfrm>
              <a:off x="5981890" y="5526310"/>
              <a:ext cx="9525" cy="466725"/>
            </a:xfrm>
            <a:custGeom>
              <a:avLst/>
              <a:gdLst/>
              <a:ahLst/>
              <a:cxnLst/>
              <a:rect l="l" t="t" r="r" b="b"/>
              <a:pathLst>
                <a:path w="9525" h="466725">
                  <a:moveTo>
                    <a:pt x="0" y="0"/>
                  </a:moveTo>
                  <a:lnTo>
                    <a:pt x="0" y="466725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1969103" y="5650135"/>
              <a:ext cx="213026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重複喜歡→不重複配對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5981890" y="5526310"/>
              <a:ext cx="4108132" cy="4667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11" name="Line 111"/>
            <p:cNvSpPr/>
            <p:nvPr/>
          </p:nvSpPr>
          <p:spPr>
            <a:xfrm>
              <a:off x="10089928" y="5526310"/>
              <a:ext cx="9525" cy="466725"/>
            </a:xfrm>
            <a:custGeom>
              <a:avLst/>
              <a:gdLst/>
              <a:ahLst/>
              <a:cxnLst/>
              <a:rect l="l" t="t" r="r" b="b"/>
              <a:pathLst>
                <a:path w="9525" h="466725">
                  <a:moveTo>
                    <a:pt x="0" y="0"/>
                  </a:moveTo>
                  <a:lnTo>
                    <a:pt x="0" y="466725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6077140" y="5650135"/>
              <a:ext cx="1352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只有一筆配對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0185178" y="5650135"/>
              <a:ext cx="52006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PASS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361950" y="6126385"/>
              <a:ext cx="81329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三種情境以測試資料驗證 #3； #1、 #2尚未完成，使用者還不能在產品中真實配對。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8757761" y="6488335"/>
              <a:ext cx="30722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狀態： PASS／ FAIL／ NOT RUN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74" name="Group 74"/>
          <p:cNvGrpSpPr/>
          <p:nvPr/>
        </p:nvGrpSpPr>
        <p:grpSpPr>
          <a:xfrm>
            <a:off x="346710" y="299085"/>
            <a:ext cx="12296846" cy="6008275"/>
            <a:chOff x="346710" y="299085"/>
            <a:chExt cx="12296846" cy="600827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420909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Product / Goal Check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1950" y="820960"/>
              <a:ext cx="377606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上線前判斷：這張票會推進 Goal嗎？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1192435"/>
              <a:ext cx="11430000" cy="381000"/>
            </a:xfrm>
            <a:prstGeom prst="roundRect">
              <a:avLst>
                <a:gd name="adj" fmla="val 20000"/>
              </a:avLst>
            </a:prstGeom>
            <a:solidFill>
              <a:srgbClr val="15251B"/>
            </a:solidFill>
            <a:ln w="9525">
              <a:solidFill>
                <a:srgbClr val="52705B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466725" y="1278160"/>
              <a:ext cx="373006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CF5E3"/>
                  </a:solidFill>
                  <a:latin typeface="Arial"/>
                  <a:ea typeface="Microsoft YaHei"/>
                  <a:cs typeface="Arial"/>
                </a:rPr>
                <a:t>Goal / Epic｜互相喜歡才算配對成功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40410" y="1304354"/>
              <a:ext cx="17784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B7C9BD"/>
                  </a:solidFill>
                  <a:latin typeface="Arial"/>
                  <a:ea typeface="Microsoft YaHei"/>
                  <a:cs typeface="Arial"/>
                </a:rPr>
                <a:t>parent issue·泳道標題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381000" y="162106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438150" y="167821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438150" y="2002060"/>
              <a:ext cx="1477708" cy="9525"/>
            </a:xfrm>
            <a:custGeom>
              <a:avLst/>
              <a:gdLst/>
              <a:ahLst/>
              <a:cxnLst/>
              <a:rect l="l" t="t" r="r" b="b"/>
              <a:pathLst>
                <a:path w="1477708" h="9525">
                  <a:moveTo>
                    <a:pt x="0" y="0"/>
                  </a:moveTo>
                  <a:lnTo>
                    <a:pt x="147770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3902" y="1725835"/>
              <a:ext cx="86620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Backlog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020633" y="162106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077783" y="167821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2077783" y="2002060"/>
              <a:ext cx="1477708" cy="9525"/>
            </a:xfrm>
            <a:custGeom>
              <a:avLst/>
              <a:gdLst/>
              <a:ahLst/>
              <a:cxnLst/>
              <a:rect l="l" t="t" r="r" b="b"/>
              <a:pathLst>
                <a:path w="1477708" h="9525">
                  <a:moveTo>
                    <a:pt x="0" y="0"/>
                  </a:moveTo>
                  <a:lnTo>
                    <a:pt x="147770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481298" y="1725835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Ready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077783" y="2040160"/>
              <a:ext cx="1477708" cy="495300"/>
            </a:xfrm>
            <a:prstGeom prst="roundRect">
              <a:avLst>
                <a:gd name="adj" fmla="val 11538"/>
              </a:avLst>
            </a:prstGeom>
            <a:solidFill>
              <a:srgbClr val="192638"/>
            </a:solidFill>
            <a:ln w="9525">
              <a:solidFill>
                <a:srgbClr val="3B4E6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111121" y="2109216"/>
              <a:ext cx="168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93620" y="2109216"/>
              <a:ext cx="9688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Like／ Pass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11121" y="2309241"/>
              <a:ext cx="10390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Ready｜等 #3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077783" y="2573560"/>
              <a:ext cx="1477708" cy="495300"/>
            </a:xfrm>
            <a:prstGeom prst="roundRect">
              <a:avLst>
                <a:gd name="adj" fmla="val 11538"/>
              </a:avLst>
            </a:prstGeom>
            <a:solidFill>
              <a:srgbClr val="192638"/>
            </a:solidFill>
            <a:ln w="9525">
              <a:solidFill>
                <a:srgbClr val="3B4E6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111121" y="2642616"/>
              <a:ext cx="209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20671" y="264261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配對列表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11121" y="2842641"/>
              <a:ext cx="10390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Ready｜等 #3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660267" y="162106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717417" y="167821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3717417" y="2002060"/>
              <a:ext cx="1477708" cy="9525"/>
            </a:xfrm>
            <a:custGeom>
              <a:avLst/>
              <a:gdLst/>
              <a:ahLst/>
              <a:cxnLst/>
              <a:rect l="l" t="t" r="r" b="b"/>
              <a:pathLst>
                <a:path w="1477708" h="9525">
                  <a:moveTo>
                    <a:pt x="0" y="0"/>
                  </a:moveTo>
                  <a:lnTo>
                    <a:pt x="147770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247448" y="1725835"/>
              <a:ext cx="4176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Dev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299900" y="162106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57050" y="167821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5357050" y="2002060"/>
              <a:ext cx="1477708" cy="9525"/>
            </a:xfrm>
            <a:custGeom>
              <a:avLst/>
              <a:gdLst/>
              <a:ahLst/>
              <a:cxnLst/>
              <a:rect l="l" t="t" r="r" b="b"/>
              <a:pathLst>
                <a:path w="1477708" h="9525">
                  <a:moveTo>
                    <a:pt x="0" y="0"/>
                  </a:moveTo>
                  <a:lnTo>
                    <a:pt x="147770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703058" y="1725835"/>
              <a:ext cx="78569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Review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939534" y="162106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996684" y="167821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4" name="Line 34"/>
            <p:cNvSpPr/>
            <p:nvPr/>
          </p:nvSpPr>
          <p:spPr>
            <a:xfrm>
              <a:off x="6996684" y="2002060"/>
              <a:ext cx="1477709" cy="9525"/>
            </a:xfrm>
            <a:custGeom>
              <a:avLst/>
              <a:gdLst/>
              <a:ahLst/>
              <a:cxnLst/>
              <a:rect l="l" t="t" r="r" b="b"/>
              <a:pathLst>
                <a:path w="1477709" h="9525">
                  <a:moveTo>
                    <a:pt x="0" y="0"/>
                  </a:moveTo>
                  <a:lnTo>
                    <a:pt x="1477709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566970" y="1725835"/>
              <a:ext cx="33713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QA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579168" y="162106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42235"/>
            </a:solidFill>
            <a:ln w="9525">
              <a:solidFill>
                <a:srgbClr val="638AB3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636318" y="167821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8" name="Line 38"/>
            <p:cNvSpPr/>
            <p:nvPr/>
          </p:nvSpPr>
          <p:spPr>
            <a:xfrm>
              <a:off x="8636318" y="2002060"/>
              <a:ext cx="1477708" cy="9525"/>
            </a:xfrm>
            <a:custGeom>
              <a:avLst/>
              <a:gdLst/>
              <a:ahLst/>
              <a:cxnLst/>
              <a:rect l="l" t="t" r="r" b="b"/>
              <a:pathLst>
                <a:path w="1477708" h="9525">
                  <a:moveTo>
                    <a:pt x="0" y="0"/>
                  </a:moveTo>
                  <a:lnTo>
                    <a:pt x="1477708" y="0"/>
                  </a:lnTo>
                </a:path>
              </a:pathLst>
            </a:custGeom>
            <a:noFill/>
            <a:ln w="9525">
              <a:solidFill>
                <a:srgbClr val="83BCF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562523" y="1725835"/>
              <a:ext cx="162529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Product Check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636318" y="2040160"/>
              <a:ext cx="1477708" cy="514350"/>
            </a:xfrm>
            <a:prstGeom prst="roundRect">
              <a:avLst>
                <a:gd name="adj" fmla="val 11111"/>
              </a:avLst>
            </a:prstGeom>
            <a:solidFill>
              <a:srgbClr val="1B3550"/>
            </a:solidFill>
            <a:ln w="19050">
              <a:solidFill>
                <a:srgbClr val="83BCFF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679180" y="2118741"/>
              <a:ext cx="209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888730" y="2118741"/>
              <a:ext cx="12362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679180" y="2318766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目前位置：檢查中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0218801" y="162106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275951" y="167821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Line 46"/>
            <p:cNvSpPr/>
            <p:nvPr/>
          </p:nvSpPr>
          <p:spPr>
            <a:xfrm>
              <a:off x="10275951" y="2002060"/>
              <a:ext cx="1477709" cy="9525"/>
            </a:xfrm>
            <a:custGeom>
              <a:avLst/>
              <a:gdLst/>
              <a:ahLst/>
              <a:cxnLst/>
              <a:rect l="l" t="t" r="r" b="b"/>
              <a:pathLst>
                <a:path w="1477709" h="9525">
                  <a:moveTo>
                    <a:pt x="0" y="0"/>
                  </a:moveTo>
                  <a:lnTo>
                    <a:pt x="1477709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742724" y="1725835"/>
              <a:ext cx="5441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Done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381000" y="3173635"/>
              <a:ext cx="11430000" cy="314325"/>
            </a:xfrm>
            <a:prstGeom prst="roundRect">
              <a:avLst>
                <a:gd name="adj" fmla="val 21212"/>
              </a:avLst>
            </a:prstGeom>
            <a:solidFill>
              <a:srgbClr val="25191D"/>
            </a:solidFill>
            <a:ln w="9525">
              <a:solidFill>
                <a:srgbClr val="67444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71488" y="3252216"/>
              <a:ext cx="53028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goal / problem issue： Product Check退回 Ticket Refinement / Goal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66712" y="3557016"/>
              <a:ext cx="3994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WIP=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66712" y="3757041"/>
              <a:ext cx="80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12420" y="3557016"/>
              <a:ext cx="623113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#3目前在 Product Check； goal／ problem issue可退回 Refinement； #1、 #2等待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381000" y="3849910"/>
              <a:ext cx="5657850" cy="1885950"/>
            </a:xfrm>
            <a:prstGeom prst="roundRect">
              <a:avLst>
                <a:gd name="adj" fmla="val 5556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71525" y="4021360"/>
              <a:ext cx="228361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這在解 Goal的問題嗎？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71525" y="4364260"/>
              <a:ext cx="24479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做完會推進成功訊號嗎？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71525" y="4707160"/>
              <a:ext cx="2228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現在仍是最高優先嗎？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33400" y="5059585"/>
              <a:ext cx="36955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PO／ PM確認三題都「是」後接受。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33400" y="5326285"/>
              <a:ext cx="449627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接受後→ merge回 main→上線檢查→關閉子票。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153150" y="3849910"/>
              <a:ext cx="5657850" cy="1885950"/>
            </a:xfrm>
            <a:prstGeom prst="roundRect">
              <a:avLst>
                <a:gd name="adj" fmla="val 5556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324600" y="3992785"/>
              <a:ext cx="5314950" cy="704850"/>
            </a:xfrm>
            <a:prstGeom prst="rect">
              <a:avLst/>
            </a:prstGeom>
            <a:solidFill>
              <a:srgbClr val="211D14"/>
            </a:solidFill>
            <a:ln>
              <a:noFill/>
            </a:ln>
          </p:spPr>
        </p:sp>
        <p:sp>
          <p:nvSpPr>
            <p:cNvPr id="61" name="Line 61"/>
            <p:cNvSpPr/>
            <p:nvPr/>
          </p:nvSpPr>
          <p:spPr>
            <a:xfrm>
              <a:off x="6324600" y="3992785"/>
              <a:ext cx="9525" cy="704850"/>
            </a:xfrm>
            <a:custGeom>
              <a:avLst/>
              <a:gdLst/>
              <a:ahLst/>
              <a:cxnLst/>
              <a:rect l="l" t="t" r="r" b="b"/>
              <a:pathLst>
                <a:path w="9525" h="704850">
                  <a:moveTo>
                    <a:pt x="0" y="0"/>
                  </a:moveTo>
                  <a:lnTo>
                    <a:pt x="0" y="704850"/>
                  </a:lnTo>
                </a:path>
              </a:pathLst>
            </a:custGeom>
            <a:noFill/>
            <a:ln w="28575">
              <a:solidFill>
                <a:srgbClr val="F2CF76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419850" y="4107085"/>
              <a:ext cx="582168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E5A6"/>
                  </a:solidFill>
                  <a:latin typeface="Arial"/>
                  <a:ea typeface="Microsoft YaHei"/>
                  <a:cs typeface="Arial"/>
                </a:rPr>
                <a:t>若發現：「功能完全符合 AC，但這根本不是我們現在需要的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19850" y="4373785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E5A6"/>
                  </a:solidFill>
                  <a:latin typeface="Arial"/>
                  <a:ea typeface="Microsoft YaHei"/>
                  <a:cs typeface="Arial"/>
                </a:rPr>
                <a:t>東西。」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324600" y="4773835"/>
              <a:ext cx="5314950" cy="371475"/>
            </a:xfrm>
            <a:prstGeom prst="roundRect">
              <a:avLst>
                <a:gd name="adj" fmla="val 20513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415088" y="4880991"/>
              <a:ext cx="16962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implementation issue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8839200" y="4950047"/>
              <a:ext cx="285750" cy="19050"/>
            </a:xfrm>
            <a:prstGeom prst="rect">
              <a:avLst/>
            </a:prstGeom>
            <a:solidFill>
              <a:srgbClr val="83BCF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709636" y="4880991"/>
              <a:ext cx="8394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Developer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324600" y="5221510"/>
              <a:ext cx="5314950" cy="371475"/>
            </a:xfrm>
            <a:prstGeom prst="roundRect">
              <a:avLst>
                <a:gd name="adj" fmla="val 20513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415088" y="5328666"/>
              <a:ext cx="16223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goal / problem issue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8839200" y="5397722"/>
              <a:ext cx="285750" cy="19050"/>
            </a:xfrm>
            <a:prstGeom prst="rect">
              <a:avLst/>
            </a:prstGeom>
            <a:solidFill>
              <a:srgbClr val="83BCFF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467481" y="5328666"/>
              <a:ext cx="20815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Ticket Refinement / Goal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381000" y="5850160"/>
              <a:ext cx="11430000" cy="457200"/>
            </a:xfrm>
            <a:prstGeom prst="roundRect">
              <a:avLst>
                <a:gd name="adj" fmla="val 16667"/>
              </a:avLst>
            </a:prstGeom>
            <a:solidFill>
              <a:srgbClr val="142119"/>
            </a:solidFill>
            <a:ln w="9525">
              <a:solidFill>
                <a:srgbClr val="49614D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476250" y="5964460"/>
              <a:ext cx="106632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8D9CC"/>
                  </a:solidFill>
                  <a:latin typeface="Arial"/>
                  <a:ea typeface="Microsoft YaHei"/>
                  <a:cs typeface="Arial"/>
                </a:rPr>
                <a:t>上線前只判斷這張票是否推進 Goal； Goal是否達成，要看上線後訊號：兩週 10對互相喜歡，錯誤配對率＝ 0。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66" name="Group 66"/>
          <p:cNvGrpSpPr/>
          <p:nvPr/>
        </p:nvGrpSpPr>
        <p:grpSpPr>
          <a:xfrm>
            <a:off x="346710" y="299085"/>
            <a:ext cx="12229147" cy="5789200"/>
            <a:chOff x="346710" y="299085"/>
            <a:chExt cx="12229147" cy="5789200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97949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Done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1950" y="820960"/>
              <a:ext cx="72128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Done接回第 2段的 Merge：通過關卡後合回 main，上線檢查後關閉子票。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61950" y="1221010"/>
              <a:ext cx="41096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Ticket #3完成了；整個 Goal還沒達成。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381000" y="1592485"/>
              <a:ext cx="11430000" cy="381000"/>
            </a:xfrm>
            <a:prstGeom prst="roundRect">
              <a:avLst>
                <a:gd name="adj" fmla="val 20000"/>
              </a:avLst>
            </a:prstGeom>
            <a:solidFill>
              <a:srgbClr val="15251B"/>
            </a:solidFill>
            <a:ln w="9525">
              <a:solidFill>
                <a:srgbClr val="52705B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66725" y="1678210"/>
              <a:ext cx="373006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CF5E3"/>
                  </a:solidFill>
                  <a:latin typeface="Arial"/>
                  <a:ea typeface="Microsoft YaHei"/>
                  <a:cs typeface="Arial"/>
                </a:rPr>
                <a:t>Goal / Epic｜互相喜歡才算配對成功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140410" y="1704404"/>
              <a:ext cx="17784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B7C9BD"/>
                  </a:solidFill>
                  <a:latin typeface="Arial"/>
                  <a:ea typeface="Microsoft YaHei"/>
                  <a:cs typeface="Arial"/>
                </a:rPr>
                <a:t>parent issue·泳道標題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81000" y="202111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438150" y="207826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1" name="Line 11"/>
            <p:cNvSpPr/>
            <p:nvPr/>
          </p:nvSpPr>
          <p:spPr>
            <a:xfrm>
              <a:off x="438150" y="2402110"/>
              <a:ext cx="1477708" cy="9525"/>
            </a:xfrm>
            <a:custGeom>
              <a:avLst/>
              <a:gdLst/>
              <a:ahLst/>
              <a:cxnLst/>
              <a:rect l="l" t="t" r="r" b="b"/>
              <a:pathLst>
                <a:path w="1477708" h="9525">
                  <a:moveTo>
                    <a:pt x="0" y="0"/>
                  </a:moveTo>
                  <a:lnTo>
                    <a:pt x="147770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43902" y="2125885"/>
              <a:ext cx="86620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Backlog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020633" y="202111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077783" y="207826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2077783" y="2402110"/>
              <a:ext cx="1477708" cy="9525"/>
            </a:xfrm>
            <a:custGeom>
              <a:avLst/>
              <a:gdLst/>
              <a:ahLst/>
              <a:cxnLst/>
              <a:rect l="l" t="t" r="r" b="b"/>
              <a:pathLst>
                <a:path w="1477708" h="9525">
                  <a:moveTo>
                    <a:pt x="0" y="0"/>
                  </a:moveTo>
                  <a:lnTo>
                    <a:pt x="147770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481298" y="2125885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Ready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077783" y="2440210"/>
              <a:ext cx="1477708" cy="495300"/>
            </a:xfrm>
            <a:prstGeom prst="roundRect">
              <a:avLst>
                <a:gd name="adj" fmla="val 11538"/>
              </a:avLst>
            </a:prstGeom>
            <a:solidFill>
              <a:srgbClr val="192638"/>
            </a:solidFill>
            <a:ln w="9525">
              <a:solidFill>
                <a:srgbClr val="3B4E6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111121" y="2509266"/>
              <a:ext cx="168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93620" y="2509266"/>
              <a:ext cx="9688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Like／ Pass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11121" y="2709291"/>
              <a:ext cx="10390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Ready｜等 #3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077783" y="2973610"/>
              <a:ext cx="1477708" cy="495300"/>
            </a:xfrm>
            <a:prstGeom prst="roundRect">
              <a:avLst>
                <a:gd name="adj" fmla="val 11538"/>
              </a:avLst>
            </a:prstGeom>
            <a:solidFill>
              <a:srgbClr val="192638"/>
            </a:solidFill>
            <a:ln w="9525">
              <a:solidFill>
                <a:srgbClr val="3B4E6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111121" y="3042666"/>
              <a:ext cx="209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320671" y="304266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配對列表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11121" y="3242691"/>
              <a:ext cx="10390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Ready｜等 #3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660267" y="202111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717417" y="207826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3717417" y="2402110"/>
              <a:ext cx="1477708" cy="9525"/>
            </a:xfrm>
            <a:custGeom>
              <a:avLst/>
              <a:gdLst/>
              <a:ahLst/>
              <a:cxnLst/>
              <a:rect l="l" t="t" r="r" b="b"/>
              <a:pathLst>
                <a:path w="1477708" h="9525">
                  <a:moveTo>
                    <a:pt x="0" y="0"/>
                  </a:moveTo>
                  <a:lnTo>
                    <a:pt x="147770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247448" y="2125885"/>
              <a:ext cx="4176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Dev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299900" y="202111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57050" y="207826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5357050" y="2402110"/>
              <a:ext cx="1477708" cy="9525"/>
            </a:xfrm>
            <a:custGeom>
              <a:avLst/>
              <a:gdLst/>
              <a:ahLst/>
              <a:cxnLst/>
              <a:rect l="l" t="t" r="r" b="b"/>
              <a:pathLst>
                <a:path w="1477708" h="9525">
                  <a:moveTo>
                    <a:pt x="0" y="0"/>
                  </a:moveTo>
                  <a:lnTo>
                    <a:pt x="147770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703058" y="2125885"/>
              <a:ext cx="78569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Review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939534" y="202111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996684" y="207826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5" name="Line 35"/>
            <p:cNvSpPr/>
            <p:nvPr/>
          </p:nvSpPr>
          <p:spPr>
            <a:xfrm>
              <a:off x="6996684" y="2402110"/>
              <a:ext cx="1477709" cy="9525"/>
            </a:xfrm>
            <a:custGeom>
              <a:avLst/>
              <a:gdLst/>
              <a:ahLst/>
              <a:cxnLst/>
              <a:rect l="l" t="t" r="r" b="b"/>
              <a:pathLst>
                <a:path w="1477709" h="9525">
                  <a:moveTo>
                    <a:pt x="0" y="0"/>
                  </a:moveTo>
                  <a:lnTo>
                    <a:pt x="1477709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66970" y="2125885"/>
              <a:ext cx="33713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QA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579168" y="202111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8636318" y="207826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9" name="Line 39"/>
            <p:cNvSpPr/>
            <p:nvPr/>
          </p:nvSpPr>
          <p:spPr>
            <a:xfrm>
              <a:off x="8636318" y="2402110"/>
              <a:ext cx="1477708" cy="9525"/>
            </a:xfrm>
            <a:custGeom>
              <a:avLst/>
              <a:gdLst/>
              <a:ahLst/>
              <a:cxnLst/>
              <a:rect l="l" t="t" r="r" b="b"/>
              <a:pathLst>
                <a:path w="1477708" h="9525">
                  <a:moveTo>
                    <a:pt x="0" y="0"/>
                  </a:moveTo>
                  <a:lnTo>
                    <a:pt x="147770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562523" y="2125885"/>
              <a:ext cx="162529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Product Check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218801" y="2021110"/>
              <a:ext cx="1592008" cy="1504950"/>
            </a:xfrm>
            <a:prstGeom prst="roundRect">
              <a:avLst>
                <a:gd name="adj" fmla="val 4430"/>
              </a:avLst>
            </a:prstGeom>
            <a:solidFill>
              <a:srgbClr val="142235"/>
            </a:solidFill>
            <a:ln w="9525">
              <a:solidFill>
                <a:srgbClr val="638AB3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0275951" y="2078260"/>
              <a:ext cx="1477708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3" name="Line 43"/>
            <p:cNvSpPr/>
            <p:nvPr/>
          </p:nvSpPr>
          <p:spPr>
            <a:xfrm>
              <a:off x="10275951" y="2402110"/>
              <a:ext cx="1477709" cy="9525"/>
            </a:xfrm>
            <a:custGeom>
              <a:avLst/>
              <a:gdLst/>
              <a:ahLst/>
              <a:cxnLst/>
              <a:rect l="l" t="t" r="r" b="b"/>
              <a:pathLst>
                <a:path w="1477709" h="9525">
                  <a:moveTo>
                    <a:pt x="0" y="0"/>
                  </a:moveTo>
                  <a:lnTo>
                    <a:pt x="1477709" y="0"/>
                  </a:lnTo>
                </a:path>
              </a:pathLst>
            </a:custGeom>
            <a:noFill/>
            <a:ln w="9525">
              <a:solidFill>
                <a:srgbClr val="83BCFF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742724" y="2125885"/>
              <a:ext cx="5441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Done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0275951" y="2440210"/>
              <a:ext cx="1477708" cy="514350"/>
            </a:xfrm>
            <a:prstGeom prst="roundRect">
              <a:avLst>
                <a:gd name="adj" fmla="val 11111"/>
              </a:avLst>
            </a:prstGeom>
            <a:solidFill>
              <a:srgbClr val="1B3550"/>
            </a:solidFill>
            <a:ln w="19050">
              <a:solidFill>
                <a:srgbClr val="83BCFF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318814" y="2518791"/>
              <a:ext cx="209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528364" y="2518791"/>
              <a:ext cx="12362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318814" y="2718816"/>
              <a:ext cx="5297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Closed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66712" y="3595116"/>
              <a:ext cx="3994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WIP=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66712" y="3795141"/>
              <a:ext cx="80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461468" y="3595116"/>
              <a:ext cx="25260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#3在 Done； #1、 #2在 Ready等待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81000" y="3959447"/>
              <a:ext cx="5629275" cy="1485900"/>
            </a:xfrm>
            <a:prstGeom prst="roundRect">
              <a:avLst>
                <a:gd name="adj" fmla="val 7692"/>
              </a:avLst>
            </a:prstGeom>
            <a:solidFill>
              <a:srgbClr val="14231B"/>
            </a:solidFill>
            <a:ln w="9525">
              <a:solidFill>
                <a:srgbClr val="4A765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61975" y="4188047"/>
              <a:ext cx="13744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SUB-ISSUE #3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61975" y="4549997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81025" y="4883372"/>
              <a:ext cx="1048226" cy="361950"/>
            </a:xfrm>
            <a:prstGeom prst="roundRect">
              <a:avLst>
                <a:gd name="adj" fmla="val 50000"/>
              </a:avLst>
            </a:prstGeom>
            <a:solidFill>
              <a:srgbClr val="204C3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7225" y="4959572"/>
              <a:ext cx="86620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8FFE4"/>
                  </a:solidFill>
                  <a:latin typeface="Arial"/>
                  <a:ea typeface="Microsoft YaHei"/>
                  <a:cs typeface="Arial"/>
                </a:rPr>
                <a:t>Closed✓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162675" y="3916585"/>
              <a:ext cx="64131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三種情境測試通過；產品接受後， #3已 merge回 main、上線並完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162675" y="4183285"/>
              <a:ext cx="2667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成上線檢查，再關閉子票。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162675" y="4640485"/>
              <a:ext cx="40866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Project-wide DoD（所有 ticket共用）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353175" y="4964335"/>
              <a:ext cx="93630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PR已審查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158288" y="4964335"/>
              <a:ext cx="1133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上線後檢查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353175" y="5278660"/>
              <a:ext cx="1352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沒有超出範圍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158288" y="5278660"/>
              <a:ext cx="1352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既有功能沒壞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381000" y="5631085"/>
              <a:ext cx="11430000" cy="457200"/>
            </a:xfrm>
            <a:prstGeom prst="roundRect">
              <a:avLst>
                <a:gd name="adj" fmla="val 16667"/>
              </a:avLst>
            </a:prstGeom>
            <a:solidFill>
              <a:srgbClr val="211E15"/>
            </a:solidFill>
            <a:ln w="9525">
              <a:solidFill>
                <a:srgbClr val="685834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46534" y="5745385"/>
              <a:ext cx="104989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E5A6"/>
                  </a:solidFill>
                  <a:latin typeface="Arial"/>
                  <a:ea typeface="Microsoft YaHei"/>
                  <a:cs typeface="Arial"/>
                </a:rPr>
                <a:t>Goal達成要看上線後訊號：兩週內 10對互相喜歡、錯誤配對率為 0；目前 #1／ #2尚未完成， Goal還沒達成。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51" name="Group 51"/>
          <p:cNvGrpSpPr/>
          <p:nvPr/>
        </p:nvGrpSpPr>
        <p:grpSpPr>
          <a:xfrm>
            <a:off x="346710" y="299085"/>
            <a:ext cx="11464290" cy="5478685"/>
            <a:chOff x="346710" y="299085"/>
            <a:chExt cx="11464290" cy="547868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808048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總回顧：票沿看板前進，動作留下在 GitHub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615345"/>
              <a:ext cx="11430000" cy="514350"/>
            </a:xfrm>
            <a:prstGeom prst="roundRect">
              <a:avLst>
                <a:gd name="adj" fmla="val 16667"/>
              </a:avLst>
            </a:prstGeom>
            <a:solidFill>
              <a:srgbClr val="14231B"/>
            </a:solidFill>
            <a:ln w="9525">
              <a:solidFill>
                <a:srgbClr val="53775C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2167795" y="1767745"/>
              <a:ext cx="161379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Brainstorming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595688" y="1767745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938588" y="1767745"/>
              <a:ext cx="174031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開 parent issue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467064" y="1793938"/>
              <a:ext cx="517957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Goal｜讓互相喜歡的兩人能確認配對成功｜示例票： #3雙向喜歡才配對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81000" y="2320195"/>
              <a:ext cx="1195388" cy="1885950"/>
            </a:xfrm>
            <a:prstGeom prst="roundRect">
              <a:avLst>
                <a:gd name="adj" fmla="val 7968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45592" y="2958370"/>
              <a:ext cx="86620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Backlog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07575" y="3358420"/>
              <a:ext cx="11422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建立 Issue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843088" y="2320195"/>
              <a:ext cx="1195388" cy="1885950"/>
            </a:xfrm>
            <a:prstGeom prst="roundRect">
              <a:avLst>
                <a:gd name="adj" fmla="val 7968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105442" y="2958370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Ready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46659" y="3358420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指派負責人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305175" y="2320195"/>
              <a:ext cx="1195388" cy="1885950"/>
            </a:xfrm>
            <a:prstGeom prst="roundRect">
              <a:avLst>
                <a:gd name="adj" fmla="val 7968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694045" y="2825020"/>
              <a:ext cx="4176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Dev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30787" y="3225070"/>
              <a:ext cx="5441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Push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04271" y="3491770"/>
              <a:ext cx="79719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branch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767262" y="2320195"/>
              <a:ext cx="1195388" cy="1885950"/>
            </a:xfrm>
            <a:prstGeom prst="roundRect">
              <a:avLst>
                <a:gd name="adj" fmla="val 7968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972110" y="2825020"/>
              <a:ext cx="78569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Review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00863" y="3225070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開 Pull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903101" y="3491770"/>
              <a:ext cx="9237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Request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229350" y="2320195"/>
              <a:ext cx="1195388" cy="1885950"/>
            </a:xfrm>
            <a:prstGeom prst="roundRect">
              <a:avLst>
                <a:gd name="adj" fmla="val 7968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58475" y="2825020"/>
              <a:ext cx="33713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QA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77965" y="3225070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執行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28446" y="3491770"/>
              <a:ext cx="79719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checks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91438" y="2320195"/>
              <a:ext cx="1195388" cy="1885950"/>
            </a:xfrm>
            <a:prstGeom prst="roundRect">
              <a:avLst>
                <a:gd name="adj" fmla="val 7968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95009" y="2958370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Goal Check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95009" y="3358420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記錄驗收結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55067" y="3625120"/>
              <a:ext cx="268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果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153525" y="2320195"/>
              <a:ext cx="1195388" cy="1885950"/>
            </a:xfrm>
            <a:prstGeom prst="roundRect">
              <a:avLst>
                <a:gd name="adj" fmla="val 7968"/>
              </a:avLst>
            </a:prstGeom>
            <a:solidFill>
              <a:srgbClr val="211E15"/>
            </a:solidFill>
            <a:ln w="9525">
              <a:solidFill>
                <a:srgbClr val="806A3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392876" y="2701195"/>
              <a:ext cx="71668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E39A"/>
                  </a:solidFill>
                  <a:latin typeface="Arial"/>
                  <a:ea typeface="Microsoft YaHei"/>
                  <a:cs typeface="Arial"/>
                </a:rPr>
                <a:t>Human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79137" y="2948845"/>
              <a:ext cx="5441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E39A"/>
                  </a:solidFill>
                  <a:latin typeface="Arial"/>
                  <a:ea typeface="Microsoft YaHei"/>
                  <a:cs typeface="Arial"/>
                </a:rPr>
                <a:t>Gate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157097" y="334889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人決定放行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87126" y="3615595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／暫停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0615612" y="2320195"/>
              <a:ext cx="1195388" cy="1885950"/>
            </a:xfrm>
            <a:prstGeom prst="roundRect">
              <a:avLst>
                <a:gd name="adj" fmla="val 7968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941225" y="2825020"/>
              <a:ext cx="5441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Done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624935" y="3225070"/>
              <a:ext cx="117674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Merge／關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757202" y="3491770"/>
              <a:ext cx="9122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閉 Issue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897217" y="4206145"/>
              <a:ext cx="7391915" cy="1089211"/>
              <a:chOff x="897217" y="4206145"/>
              <a:chExt cx="7391915" cy="1089211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5364956" y="4206145"/>
                <a:ext cx="1462088" cy="363070"/>
              </a:xfrm>
              <a:custGeom>
                <a:avLst/>
                <a:gdLst/>
                <a:ahLst/>
                <a:cxnLst/>
                <a:rect l="l" t="t" r="r" b="b"/>
                <a:pathLst>
                  <a:path w="1462088" h="363070">
                    <a:moveTo>
                      <a:pt x="0" y="0"/>
                    </a:moveTo>
                    <a:lnTo>
                      <a:pt x="0" y="282388"/>
                    </a:lnTo>
                    <a:cubicBezTo>
                      <a:pt x="0" y="336176"/>
                      <a:pt x="46787" y="363070"/>
                      <a:pt x="140360" y="363070"/>
                    </a:cubicBezTo>
                    <a:lnTo>
                      <a:pt x="731044" y="363070"/>
                    </a:lnTo>
                    <a:moveTo>
                      <a:pt x="1462088" y="0"/>
                    </a:moveTo>
                    <a:lnTo>
                      <a:pt x="1462088" y="282388"/>
                    </a:lnTo>
                    <a:cubicBezTo>
                      <a:pt x="1462088" y="336176"/>
                      <a:pt x="1415301" y="363070"/>
                      <a:pt x="1321727" y="363070"/>
                    </a:cubicBezTo>
                    <a:lnTo>
                      <a:pt x="731044" y="363070"/>
                    </a:lnTo>
                  </a:path>
                </a:pathLst>
              </a:custGeom>
              <a:noFill/>
              <a:ln w="38100" cap="flat">
                <a:solidFill>
                  <a:srgbClr val="FF9289"/>
                </a:solidFill>
                <a:round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3902869" y="4206145"/>
                <a:ext cx="2193131" cy="363070"/>
              </a:xfrm>
              <a:custGeom>
                <a:avLst/>
                <a:gdLst/>
                <a:ahLst/>
                <a:cxnLst/>
                <a:rect l="l" t="t" r="r" b="b"/>
                <a:pathLst>
                  <a:path w="2193131" h="363070">
                    <a:moveTo>
                      <a:pt x="2193131" y="363070"/>
                    </a:moveTo>
                    <a:lnTo>
                      <a:pt x="128664" y="363070"/>
                    </a:lnTo>
                    <a:cubicBezTo>
                      <a:pt x="42888" y="363070"/>
                      <a:pt x="0" y="338417"/>
                      <a:pt x="0" y="289112"/>
                    </a:cubicBezTo>
                    <a:lnTo>
                      <a:pt x="0" y="0"/>
                    </a:lnTo>
                  </a:path>
                </a:pathLst>
              </a:custGeom>
              <a:noFill/>
              <a:ln w="38100" cap="flat">
                <a:solidFill>
                  <a:srgbClr val="FF9289"/>
                </a:solidFill>
                <a:round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78694" y="4206145"/>
                <a:ext cx="7310438" cy="1089211"/>
              </a:xfrm>
              <a:custGeom>
                <a:avLst/>
                <a:gdLst/>
                <a:ahLst/>
                <a:cxnLst/>
                <a:rect l="l" t="t" r="r" b="b"/>
                <a:pathLst>
                  <a:path w="7310438" h="1089211">
                    <a:moveTo>
                      <a:pt x="7310438" y="0"/>
                    </a:moveTo>
                    <a:lnTo>
                      <a:pt x="7310438" y="1008529"/>
                    </a:lnTo>
                    <a:cubicBezTo>
                      <a:pt x="7310438" y="1062317"/>
                      <a:pt x="7263651" y="1089211"/>
                      <a:pt x="7170077" y="1089211"/>
                    </a:cubicBezTo>
                    <a:lnTo>
                      <a:pt x="140360" y="1089211"/>
                    </a:lnTo>
                    <a:cubicBezTo>
                      <a:pt x="46787" y="1089211"/>
                      <a:pt x="0" y="1062317"/>
                      <a:pt x="0" y="1008529"/>
                    </a:cubicBezTo>
                    <a:lnTo>
                      <a:pt x="0" y="0"/>
                    </a:lnTo>
                  </a:path>
                </a:pathLst>
              </a:custGeom>
              <a:noFill/>
              <a:ln w="38100" cap="flat">
                <a:solidFill>
                  <a:srgbClr val="F2CF76"/>
                </a:solidFill>
                <a:round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3821392" y="4206145"/>
                <a:ext cx="162953" cy="73799"/>
              </a:xfrm>
              <a:custGeom>
                <a:avLst/>
                <a:gdLst/>
                <a:ahLst/>
                <a:cxnLst/>
                <a:rect l="l" t="t" r="r" b="b"/>
                <a:pathLst>
                  <a:path w="162953" h="73799">
                    <a:moveTo>
                      <a:pt x="162953" y="73799"/>
                    </a:moveTo>
                    <a:lnTo>
                      <a:pt x="81476" y="0"/>
                    </a:lnTo>
                    <a:lnTo>
                      <a:pt x="0" y="73799"/>
                    </a:lnTo>
                  </a:path>
                </a:pathLst>
              </a:custGeom>
              <a:noFill/>
              <a:ln w="19050" cap="rnd">
                <a:solidFill>
                  <a:srgbClr val="FF9289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97217" y="4206145"/>
                <a:ext cx="162953" cy="73799"/>
              </a:xfrm>
              <a:custGeom>
                <a:avLst/>
                <a:gdLst/>
                <a:ahLst/>
                <a:cxnLst/>
                <a:rect l="l" t="t" r="r" b="b"/>
                <a:pathLst>
                  <a:path w="162953" h="73799">
                    <a:moveTo>
                      <a:pt x="162953" y="73799"/>
                    </a:moveTo>
                    <a:lnTo>
                      <a:pt x="81476" y="0"/>
                    </a:lnTo>
                    <a:lnTo>
                      <a:pt x="0" y="73799"/>
                    </a:lnTo>
                  </a:path>
                </a:pathLst>
              </a:custGeom>
              <a:noFill/>
              <a:ln w="19050" cap="rnd">
                <a:solidFill>
                  <a:srgbClr val="F2CF76"/>
                </a:solidFill>
              </a:ln>
            </p:spPr>
          </p:sp>
        </p:grpSp>
        <p:sp>
          <p:nvSpPr>
            <p:cNvPr id="46" name="Rectangle 46"/>
            <p:cNvSpPr/>
            <p:nvPr/>
          </p:nvSpPr>
          <p:spPr>
            <a:xfrm>
              <a:off x="4314634" y="4682395"/>
              <a:ext cx="2134076" cy="342900"/>
            </a:xfrm>
            <a:prstGeom prst="roundRect">
              <a:avLst>
                <a:gd name="adj" fmla="val 13889"/>
              </a:avLst>
            </a:prstGeom>
            <a:solidFill>
              <a:srgbClr val="0B1119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381310" y="4749070"/>
              <a:ext cx="184382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D0CB"/>
                  </a:solidFill>
                  <a:latin typeface="Arial"/>
                  <a:ea typeface="Microsoft YaHei"/>
                  <a:cs typeface="Arial"/>
                </a:rPr>
                <a:t>Review／ QA退回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381310" y="5015770"/>
              <a:ext cx="4176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D0CB"/>
                  </a:solidFill>
                  <a:latin typeface="Arial"/>
                  <a:ea typeface="Microsoft YaHei"/>
                  <a:cs typeface="Arial"/>
                </a:rPr>
                <a:t>Dev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454718" y="5406295"/>
              <a:ext cx="3682460" cy="342900"/>
            </a:xfrm>
            <a:prstGeom prst="roundRect">
              <a:avLst>
                <a:gd name="adj" fmla="val 13889"/>
              </a:avLst>
            </a:prstGeom>
            <a:solidFill>
              <a:srgbClr val="0B1119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521392" y="5472970"/>
              <a:ext cx="409810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8DFA0"/>
                  </a:solidFill>
                  <a:latin typeface="Arial"/>
                  <a:ea typeface="Microsoft YaHei"/>
                  <a:cs typeface="Arial"/>
                </a:rPr>
                <a:t>Goal Check退回 Backlog／ Refinement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15" name="Group 15"/>
          <p:cNvGrpSpPr/>
          <p:nvPr/>
        </p:nvGrpSpPr>
        <p:grpSpPr>
          <a:xfrm>
            <a:off x="-363379" y="299085"/>
            <a:ext cx="12174379" cy="4753737"/>
            <a:chOff x="-363379" y="299085"/>
            <a:chExt cx="12174379" cy="4753737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37659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Sprint與 Kanban：固定節奏與持續拉票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2549747"/>
              <a:ext cx="5619750" cy="1712595"/>
            </a:xfrm>
            <a:prstGeom prst="roundRect">
              <a:avLst>
                <a:gd name="adj" fmla="val 7786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81038" y="2933128"/>
              <a:ext cx="5297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Sprint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0560" y="3282220"/>
              <a:ext cx="154471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固定時間盒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6275" y="3709797"/>
              <a:ext cx="3543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在固定週期內規劃與檢視一批工作。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191250" y="2549747"/>
              <a:ext cx="5619750" cy="1712595"/>
            </a:xfrm>
            <a:prstGeom prst="roundRect">
              <a:avLst>
                <a:gd name="adj" fmla="val 7786"/>
              </a:avLst>
            </a:prstGeom>
            <a:solidFill>
              <a:srgbClr val="122219"/>
            </a:solidFill>
            <a:ln w="9525">
              <a:solidFill>
                <a:srgbClr val="3E654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491288" y="2933128"/>
              <a:ext cx="5214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本課：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91288" y="3133154"/>
              <a:ext cx="5707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Kanban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80810" y="3282220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持續拉票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86525" y="3709797"/>
              <a:ext cx="45839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工作持續流動；本例一次只做一張（WIP= 1）。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-363379" y="4481322"/>
              <a:ext cx="110137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Kanban管工作流動，不限定票型； User Story是用使用者角度寫需求，起源於 XP， Scrum／ Kanban不強制使用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14912" y="4748022"/>
              <a:ext cx="2571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-252451" y="2095024"/>
            <a:ext cx="12696901" cy="3084862"/>
            <a:chOff x="-252451" y="2095024"/>
            <a:chExt cx="12696901" cy="3084862"/>
          </a:xfrm>
        </p:grpSpPr>
        <p:sp>
          <p:nvSpPr>
            <p:cNvPr id="3" name="TextBox 3"/>
            <p:cNvSpPr txBox="1"/>
            <p:nvPr/>
          </p:nvSpPr>
          <p:spPr>
            <a:xfrm>
              <a:off x="5455510" y="2095024"/>
              <a:ext cx="1280979" cy="1341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6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31907" y="3102769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第四段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252451" y="3632740"/>
              <a:ext cx="12696901" cy="877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2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從一問一答到長任務：角色、資訊與交接開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384929" y="4302062"/>
              <a:ext cx="3422142" cy="877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2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始混在一起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7" name="Group 37"/>
          <p:cNvGrpSpPr/>
          <p:nvPr/>
        </p:nvGrpSpPr>
        <p:grpSpPr>
          <a:xfrm>
            <a:off x="346710" y="299085"/>
            <a:ext cx="11473815" cy="6430899"/>
            <a:chOff x="346710" y="299085"/>
            <a:chExt cx="11473815" cy="6430899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21097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Chat一問一答； Agent朝目標持續行動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721358"/>
              <a:ext cx="1981200" cy="292894"/>
            </a:xfrm>
            <a:prstGeom prst="roundRect">
              <a:avLst>
                <a:gd name="adj" fmla="val 19512"/>
              </a:avLst>
            </a:prstGeom>
            <a:solidFill>
              <a:srgbClr val="14231B"/>
            </a:solidFill>
            <a:ln w="9525">
              <a:solidFill>
                <a:srgbClr val="53775C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452438" y="1790414"/>
              <a:ext cx="21678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3F0D0"/>
                  </a:solidFill>
                  <a:latin typeface="Arial"/>
                  <a:ea typeface="Microsoft YaHei"/>
                  <a:cs typeface="Arial"/>
                </a:rPr>
                <a:t>案例票｜ #3雙向喜歡才配對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381000" y="2204752"/>
              <a:ext cx="5610225" cy="3246120"/>
            </a:xfrm>
            <a:prstGeom prst="roundRect">
              <a:avLst>
                <a:gd name="adj" fmla="val 3521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7" name="Line 7"/>
            <p:cNvSpPr/>
            <p:nvPr/>
          </p:nvSpPr>
          <p:spPr>
            <a:xfrm>
              <a:off x="381000" y="2204752"/>
              <a:ext cx="5610225" cy="9525"/>
            </a:xfrm>
            <a:custGeom>
              <a:avLst/>
              <a:gdLst/>
              <a:ahLst/>
              <a:cxnLst/>
              <a:rect l="l" t="t" r="r" b="b"/>
              <a:pathLst>
                <a:path w="5610225" h="9525">
                  <a:moveTo>
                    <a:pt x="0" y="0"/>
                  </a:moveTo>
                  <a:lnTo>
                    <a:pt x="5610225" y="0"/>
                  </a:lnTo>
                </a:path>
              </a:pathLst>
            </a:custGeom>
            <a:noFill/>
            <a:ln w="28575">
              <a:solidFill>
                <a:srgbClr val="75879B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991225" y="2204752"/>
              <a:ext cx="9525" cy="3246120"/>
            </a:xfrm>
            <a:custGeom>
              <a:avLst/>
              <a:gdLst/>
              <a:ahLst/>
              <a:cxnLst/>
              <a:rect l="l" t="t" r="r" b="b"/>
              <a:pathLst>
                <a:path w="9525" h="3246120">
                  <a:moveTo>
                    <a:pt x="0" y="0"/>
                  </a:moveTo>
                  <a:lnTo>
                    <a:pt x="0" y="324612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5450872"/>
              <a:ext cx="5610225" cy="9525"/>
            </a:xfrm>
            <a:custGeom>
              <a:avLst/>
              <a:gdLst/>
              <a:ahLst/>
              <a:cxnLst/>
              <a:rect l="l" t="t" r="r" b="b"/>
              <a:pathLst>
                <a:path w="5610225" h="9525">
                  <a:moveTo>
                    <a:pt x="0" y="0"/>
                  </a:moveTo>
                  <a:lnTo>
                    <a:pt x="5610225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81000" y="2204752"/>
              <a:ext cx="9525" cy="3246120"/>
            </a:xfrm>
            <a:custGeom>
              <a:avLst/>
              <a:gdLst/>
              <a:ahLst/>
              <a:cxnLst/>
              <a:rect l="l" t="t" r="r" b="b"/>
              <a:pathLst>
                <a:path w="9525" h="3246120">
                  <a:moveTo>
                    <a:pt x="0" y="0"/>
                  </a:moveTo>
                  <a:lnTo>
                    <a:pt x="0" y="324612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81038" y="2559558"/>
              <a:ext cx="12115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CHAT｜一問一答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0560" y="3118199"/>
              <a:ext cx="278572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人一步一步叫 AI做事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95325" y="3841147"/>
              <a:ext cx="4981575" cy="628650"/>
            </a:xfrm>
            <a:prstGeom prst="roundRect">
              <a:avLst>
                <a:gd name="adj" fmla="val 13636"/>
              </a:avLst>
            </a:prstGeom>
            <a:solidFill>
              <a:srgbClr val="0E1721"/>
            </a:solidFill>
            <a:ln w="9525">
              <a:solidFill>
                <a:srgbClr val="30425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00245" y="4050697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0E8F0"/>
                  </a:solidFill>
                  <a:latin typeface="Arial"/>
                  <a:ea typeface="Microsoft YaHei"/>
                  <a:cs typeface="Arial"/>
                </a:rPr>
                <a:t>提問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55793" y="4050697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841784" y="4050697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0E8F0"/>
                  </a:solidFill>
                  <a:latin typeface="Arial"/>
                  <a:ea typeface="Microsoft YaHei"/>
                  <a:cs typeface="Arial"/>
                </a:rPr>
                <a:t>回答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97332" y="4050697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63558" y="4050697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0E8F0"/>
                  </a:solidFill>
                  <a:latin typeface="Arial"/>
                  <a:ea typeface="Microsoft YaHei"/>
                  <a:cs typeface="Arial"/>
                </a:rPr>
                <a:t>人再問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6275" y="4898422"/>
              <a:ext cx="37623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一次回答，接著由人決定下一個問題。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00775" y="2204752"/>
              <a:ext cx="5610225" cy="3246120"/>
            </a:xfrm>
            <a:prstGeom prst="roundRect">
              <a:avLst>
                <a:gd name="adj" fmla="val 3521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21" name="Line 21"/>
            <p:cNvSpPr/>
            <p:nvPr/>
          </p:nvSpPr>
          <p:spPr>
            <a:xfrm>
              <a:off x="6200775" y="2204752"/>
              <a:ext cx="5610225" cy="9525"/>
            </a:xfrm>
            <a:custGeom>
              <a:avLst/>
              <a:gdLst/>
              <a:ahLst/>
              <a:cxnLst/>
              <a:rect l="l" t="t" r="r" b="b"/>
              <a:pathLst>
                <a:path w="5610225" h="9525">
                  <a:moveTo>
                    <a:pt x="0" y="0"/>
                  </a:moveTo>
                  <a:lnTo>
                    <a:pt x="5610225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1811000" y="2204752"/>
              <a:ext cx="9525" cy="3246120"/>
            </a:xfrm>
            <a:custGeom>
              <a:avLst/>
              <a:gdLst/>
              <a:ahLst/>
              <a:cxnLst/>
              <a:rect l="l" t="t" r="r" b="b"/>
              <a:pathLst>
                <a:path w="9525" h="3246120">
                  <a:moveTo>
                    <a:pt x="0" y="0"/>
                  </a:moveTo>
                  <a:lnTo>
                    <a:pt x="0" y="324612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6200775" y="5450872"/>
              <a:ext cx="5610225" cy="9525"/>
            </a:xfrm>
            <a:custGeom>
              <a:avLst/>
              <a:gdLst/>
              <a:ahLst/>
              <a:cxnLst/>
              <a:rect l="l" t="t" r="r" b="b"/>
              <a:pathLst>
                <a:path w="5610225" h="9525">
                  <a:moveTo>
                    <a:pt x="0" y="0"/>
                  </a:moveTo>
                  <a:lnTo>
                    <a:pt x="5610225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6200775" y="2204752"/>
              <a:ext cx="9525" cy="3246120"/>
            </a:xfrm>
            <a:custGeom>
              <a:avLst/>
              <a:gdLst/>
              <a:ahLst/>
              <a:cxnLst/>
              <a:rect l="l" t="t" r="r" b="b"/>
              <a:pathLst>
                <a:path w="9525" h="3246120">
                  <a:moveTo>
                    <a:pt x="0" y="0"/>
                  </a:moveTo>
                  <a:lnTo>
                    <a:pt x="0" y="324612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00812" y="2559558"/>
              <a:ext cx="14662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AGENT｜朝目標工作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90335" y="3118199"/>
              <a:ext cx="303990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持續行動並依結果調整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515100" y="3841147"/>
              <a:ext cx="4981575" cy="628650"/>
            </a:xfrm>
            <a:prstGeom prst="roundRect">
              <a:avLst>
                <a:gd name="adj" fmla="val 13636"/>
              </a:avLst>
            </a:prstGeom>
            <a:solidFill>
              <a:srgbClr val="0E1721"/>
            </a:solidFill>
            <a:ln w="9525">
              <a:solidFill>
                <a:srgbClr val="30425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38760" y="4050697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0E8F0"/>
                  </a:solidFill>
                  <a:latin typeface="Arial"/>
                  <a:ea typeface="Microsoft YaHei"/>
                  <a:cs typeface="Arial"/>
                </a:rPr>
                <a:t>目標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12856" y="4050697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17491" y="4050697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0E8F0"/>
                  </a:solidFill>
                  <a:latin typeface="Arial"/>
                  <a:ea typeface="Microsoft YaHei"/>
                  <a:cs typeface="Arial"/>
                </a:rPr>
                <a:t>行動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91588" y="4050697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396222" y="4050697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0E8F0"/>
                  </a:solidFill>
                  <a:latin typeface="Arial"/>
                  <a:ea typeface="Microsoft YaHei"/>
                  <a:cs typeface="Arial"/>
                </a:rPr>
                <a:t>觀察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70319" y="4050697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674953" y="4050697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0E8F0"/>
                  </a:solidFill>
                  <a:latin typeface="Arial"/>
                  <a:ea typeface="Microsoft YaHei"/>
                  <a:cs typeface="Arial"/>
                </a:rPr>
                <a:t>調整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96050" y="4898422"/>
              <a:ext cx="28860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同一個任務會跨過多個步驟。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68618" y="6531864"/>
              <a:ext cx="64825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EBDCD"/>
                  </a:solidFill>
                  <a:latin typeface="Arial"/>
                  <a:ea typeface="Microsoft YaHei"/>
                  <a:cs typeface="Arial"/>
                </a:rPr>
                <a:t>李宏毅 2024第 9講， 00:08– 02:47； Stanford CS329A， 40:54– 42:45｜案例： #3雙向喜歡才配對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346710" y="299085"/>
            <a:ext cx="11464195" cy="6430899"/>
            <a:chOff x="346710" y="299085"/>
            <a:chExt cx="11464195" cy="6430899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1000582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同一段對話包辦規劃、實作和自評，責任邊界會看不清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728025"/>
              <a:ext cx="7442168" cy="3716274"/>
            </a:xfrm>
            <a:prstGeom prst="roundRect">
              <a:avLst>
                <a:gd name="adj" fmla="val 3332"/>
              </a:avLst>
            </a:prstGeom>
            <a:solidFill>
              <a:srgbClr val="111C28"/>
            </a:solidFill>
            <a:ln w="9525">
              <a:solidFill>
                <a:srgbClr val="40536A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390525" y="1737550"/>
              <a:ext cx="7423118" cy="57331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90525" y="2310860"/>
              <a:ext cx="7423118" cy="9525"/>
            </a:xfrm>
            <a:custGeom>
              <a:avLst/>
              <a:gdLst/>
              <a:ahLst/>
              <a:cxnLst/>
              <a:rect l="l" t="t" r="r" b="b"/>
              <a:pathLst>
                <a:path w="7423118" h="9525">
                  <a:moveTo>
                    <a:pt x="0" y="0"/>
                  </a:moveTo>
                  <a:lnTo>
                    <a:pt x="7423118" y="0"/>
                  </a:lnTo>
                </a:path>
              </a:pathLst>
            </a:custGeom>
            <a:noFill/>
            <a:ln w="9525">
              <a:solidFill>
                <a:srgbClr val="34465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82930" y="1925193"/>
              <a:ext cx="16313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4DEEA"/>
                  </a:solidFill>
                  <a:latin typeface="Arial"/>
                  <a:ea typeface="Microsoft YaHei"/>
                  <a:cs typeface="Arial"/>
                </a:rPr>
                <a:t>#3雙向喜歡才配對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86844" y="1925193"/>
              <a:ext cx="14341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4DEEA"/>
                  </a:solidFill>
                  <a:latin typeface="Arial"/>
                  <a:ea typeface="Microsoft YaHei"/>
                  <a:cs typeface="Arial"/>
                </a:rPr>
                <a:t>規劃→實作→自評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19125" y="2501360"/>
              <a:ext cx="3101912" cy="1276160"/>
            </a:xfrm>
            <a:prstGeom prst="roundRect">
              <a:avLst>
                <a:gd name="adj" fmla="val 6717"/>
              </a:avLst>
            </a:prstGeom>
            <a:solidFill>
              <a:srgbClr val="121C28"/>
            </a:solidFill>
            <a:ln w="9525">
              <a:solidFill>
                <a:srgbClr val="455B7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0580" y="2779490"/>
              <a:ext cx="47199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PM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6295" y="3277552"/>
              <a:ext cx="100584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C7D2DE"/>
                  </a:solidFill>
                  <a:latin typeface="Arial"/>
                  <a:ea typeface="Microsoft YaHei"/>
                  <a:cs typeface="Arial"/>
                </a:rPr>
                <a:t>定義需求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983093" y="2544223"/>
              <a:ext cx="23788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8295A8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83036" y="2501360"/>
              <a:ext cx="3102007" cy="1276160"/>
            </a:xfrm>
            <a:prstGeom prst="roundRect">
              <a:avLst>
                <a:gd name="adj" fmla="val 6717"/>
              </a:avLst>
            </a:prstGeom>
            <a:solidFill>
              <a:srgbClr val="121C28"/>
            </a:solidFill>
            <a:ln w="9525">
              <a:solidFill>
                <a:srgbClr val="455B7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694492" y="2779490"/>
              <a:ext cx="58470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Dev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00206" y="3277552"/>
              <a:ext cx="100584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C7D2DE"/>
                  </a:solidFill>
                  <a:latin typeface="Arial"/>
                  <a:ea typeface="Microsoft YaHei"/>
                  <a:cs typeface="Arial"/>
                </a:rPr>
                <a:t>寫出成果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19125" y="3968020"/>
              <a:ext cx="3101912" cy="1276160"/>
            </a:xfrm>
            <a:prstGeom prst="roundRect">
              <a:avLst>
                <a:gd name="adj" fmla="val 6717"/>
              </a:avLst>
            </a:prstGeom>
            <a:solidFill>
              <a:srgbClr val="121C28"/>
            </a:solidFill>
            <a:ln w="9525">
              <a:solidFill>
                <a:srgbClr val="455B7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0580" y="4246150"/>
              <a:ext cx="145421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Reviewer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6295" y="4744212"/>
              <a:ext cx="172878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C7D2DE"/>
                  </a:solidFill>
                  <a:latin typeface="Arial"/>
                  <a:ea typeface="Microsoft YaHei"/>
                  <a:cs typeface="Arial"/>
                </a:rPr>
                <a:t>檢查自己的改動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83093" y="4010882"/>
              <a:ext cx="23788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8295A8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483036" y="3968020"/>
              <a:ext cx="3102007" cy="1276160"/>
            </a:xfrm>
            <a:prstGeom prst="roundRect">
              <a:avLst>
                <a:gd name="adj" fmla="val 6717"/>
              </a:avLst>
            </a:prstGeom>
            <a:solidFill>
              <a:srgbClr val="121C28"/>
            </a:solidFill>
            <a:ln w="9525">
              <a:solidFill>
                <a:srgbClr val="455B7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94492" y="4246150"/>
              <a:ext cx="47199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QA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00206" y="4744212"/>
              <a:ext cx="19697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C7D2DE"/>
                  </a:solidFill>
                  <a:latin typeface="Arial"/>
                  <a:ea typeface="Microsoft YaHei"/>
                  <a:cs typeface="Arial"/>
                </a:rPr>
                <a:t>判斷自己是否完成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089868" y="1728025"/>
              <a:ext cx="3721037" cy="371627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8089868" y="1728025"/>
              <a:ext cx="9525" cy="3716274"/>
            </a:xfrm>
            <a:custGeom>
              <a:avLst/>
              <a:gdLst/>
              <a:ahLst/>
              <a:cxnLst/>
              <a:rect l="l" t="t" r="r" b="b"/>
              <a:pathLst>
                <a:path w="9525" h="3716274">
                  <a:moveTo>
                    <a:pt x="0" y="0"/>
                  </a:moveTo>
                  <a:lnTo>
                    <a:pt x="0" y="3716274"/>
                  </a:lnTo>
                </a:path>
              </a:pathLst>
            </a:custGeom>
            <a:noFill/>
            <a:ln w="28575">
              <a:solidFill>
                <a:srgbClr val="F2CF7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37518" y="2666143"/>
              <a:ext cx="1352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同一個工作者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26088" y="3178588"/>
              <a:ext cx="337337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產出與評估擠在一起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33708" y="4249102"/>
              <a:ext cx="253003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誰按什麼標準判定？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8618" y="6531864"/>
              <a:ext cx="44248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EBDCD"/>
                  </a:solidFill>
                  <a:latin typeface="Arial"/>
                  <a:ea typeface="Microsoft YaHei"/>
                  <a:cs typeface="Arial"/>
                </a:rPr>
                <a:t>李宏毅 2024第 5講， 20:31– 21:41； Stanford CS224G， PDF第 25頁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59" name="Group 59"/>
          <p:cNvGrpSpPr/>
          <p:nvPr/>
        </p:nvGrpSpPr>
        <p:grpSpPr>
          <a:xfrm>
            <a:off x="346710" y="299085"/>
            <a:ext cx="11490424" cy="6430899"/>
            <a:chOff x="346710" y="299085"/>
            <a:chExt cx="11490424" cy="6430899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808048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同一段對話太長， compact之後資訊會遺失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1950" y="1104900"/>
              <a:ext cx="59640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compact：對話太長時，系統把前面的內容自動壓縮成摘要。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1552575"/>
              <a:ext cx="1447800" cy="352425"/>
            </a:xfrm>
            <a:prstGeom prst="roundRect">
              <a:avLst>
                <a:gd name="adj" fmla="val 18919"/>
              </a:avLst>
            </a:prstGeom>
            <a:solidFill>
              <a:srgbClr val="14231B"/>
            </a:solidFill>
            <a:ln w="9525">
              <a:solidFill>
                <a:srgbClr val="53775C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471488" y="1640681"/>
              <a:ext cx="1426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B4F1C9"/>
                  </a:solidFill>
                  <a:latin typeface="Arial"/>
                  <a:ea typeface="Microsoft YaHei"/>
                  <a:cs typeface="Arial"/>
                </a:rPr>
                <a:t>#3雙向喜歡才配對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381000" y="2057400"/>
              <a:ext cx="2608326" cy="3581400"/>
            </a:xfrm>
            <a:prstGeom prst="roundRect">
              <a:avLst>
                <a:gd name="adj" fmla="val 4017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47688" y="2259806"/>
              <a:ext cx="1752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5825" y="2266950"/>
              <a:ext cx="21083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EF3F8"/>
                  </a:solidFill>
                  <a:latin typeface="Arial"/>
                  <a:ea typeface="Microsoft YaHei"/>
                  <a:cs typeface="Arial"/>
                </a:rPr>
                <a:t>先在對話中定下規則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61975" y="2676525"/>
              <a:ext cx="2246376" cy="1438275"/>
            </a:xfrm>
            <a:prstGeom prst="roundRect">
              <a:avLst>
                <a:gd name="adj" fmla="val 7947"/>
              </a:avLst>
            </a:prstGeom>
            <a:solidFill>
              <a:srgbClr val="0E1721"/>
            </a:solidFill>
            <a:ln w="9525">
              <a:solidFill>
                <a:srgbClr val="40536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09612" y="28598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PO｜票面決定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4850" y="3181350"/>
              <a:ext cx="2228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EF3F8"/>
                  </a:solidFill>
                  <a:latin typeface="Arial"/>
                  <a:ea typeface="Microsoft YaHei"/>
                  <a:cs typeface="Arial"/>
                </a:rPr>
                <a:t>「規則：同一對重複按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4850" y="3448050"/>
              <a:ext cx="221789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EF3F8"/>
                  </a:solidFill>
                  <a:latin typeface="Arial"/>
                  <a:ea typeface="Microsoft YaHei"/>
                  <a:cs typeface="Arial"/>
                </a:rPr>
                <a:t>Like，不會再配對一次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4850" y="3714750"/>
              <a:ext cx="476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EF3F8"/>
                  </a:solidFill>
                  <a:latin typeface="Arial"/>
                  <a:ea typeface="Microsoft YaHei"/>
                  <a:cs typeface="Arial"/>
                </a:rPr>
                <a:t>。」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61975" y="4286250"/>
              <a:ext cx="2246376" cy="1171575"/>
            </a:xfrm>
            <a:prstGeom prst="roundRect">
              <a:avLst>
                <a:gd name="adj" fmla="val 9756"/>
              </a:avLst>
            </a:prstGeom>
            <a:solidFill>
              <a:srgbClr val="14231B"/>
            </a:solidFill>
            <a:ln w="9525">
              <a:solidFill>
                <a:srgbClr val="48655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09612" y="4469606"/>
              <a:ext cx="97333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Agent｜確認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4850" y="4791075"/>
              <a:ext cx="2228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EF3F8"/>
                  </a:solidFill>
                  <a:latin typeface="Arial"/>
                  <a:ea typeface="Microsoft YaHei"/>
                  <a:cs typeface="Arial"/>
                </a:rPr>
                <a:t>「收到：同一對只配對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4850" y="5057775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EF3F8"/>
                  </a:solidFill>
                  <a:latin typeface="Arial"/>
                  <a:ea typeface="Microsoft YaHei"/>
                  <a:cs typeface="Arial"/>
                </a:rPr>
                <a:t>一次。」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056001" y="3690938"/>
              <a:ext cx="24692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408426" y="2057400"/>
              <a:ext cx="2608326" cy="3581400"/>
            </a:xfrm>
            <a:prstGeom prst="roundRect">
              <a:avLst>
                <a:gd name="adj" fmla="val 4017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575113" y="225980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13251" y="2266950"/>
              <a:ext cx="21083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EF3F8"/>
                  </a:solidFill>
                  <a:latin typeface="Arial"/>
                  <a:ea typeface="Microsoft YaHei"/>
                  <a:cs typeface="Arial"/>
                </a:rPr>
                <a:t>同一段對話繼續變長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589401" y="2676525"/>
              <a:ext cx="2246376" cy="1171575"/>
            </a:xfrm>
            <a:prstGeom prst="roundRect">
              <a:avLst>
                <a:gd name="adj" fmla="val 9756"/>
              </a:avLst>
            </a:prstGeom>
            <a:solidFill>
              <a:srgbClr val="0E1721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3589401" y="2676525"/>
              <a:ext cx="2246471" cy="9525"/>
            </a:xfrm>
            <a:custGeom>
              <a:avLst/>
              <a:gdLst/>
              <a:ahLst/>
              <a:cxnLst/>
              <a:rect l="l" t="t" r="r" b="b"/>
              <a:pathLst>
                <a:path w="2246471" h="9525">
                  <a:moveTo>
                    <a:pt x="0" y="0"/>
                  </a:moveTo>
                  <a:lnTo>
                    <a:pt x="2246471" y="0"/>
                  </a:lnTo>
                </a:path>
              </a:pathLst>
            </a:custGeom>
            <a:noFill/>
            <a:ln w="9525">
              <a:solidFill>
                <a:srgbClr val="40536A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5835872" y="2676525"/>
              <a:ext cx="9525" cy="1171575"/>
            </a:xfrm>
            <a:custGeom>
              <a:avLst/>
              <a:gdLst/>
              <a:ahLst/>
              <a:cxnLst/>
              <a:rect l="l" t="t" r="r" b="b"/>
              <a:pathLst>
                <a:path w="9525" h="1171575">
                  <a:moveTo>
                    <a:pt x="0" y="0"/>
                  </a:moveTo>
                  <a:lnTo>
                    <a:pt x="0" y="1171575"/>
                  </a:lnTo>
                </a:path>
              </a:pathLst>
            </a:custGeom>
            <a:noFill/>
            <a:ln w="9525">
              <a:solidFill>
                <a:srgbClr val="40536A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3589401" y="3848100"/>
              <a:ext cx="2246471" cy="9525"/>
            </a:xfrm>
            <a:custGeom>
              <a:avLst/>
              <a:gdLst/>
              <a:ahLst/>
              <a:cxnLst/>
              <a:rect l="l" t="t" r="r" b="b"/>
              <a:pathLst>
                <a:path w="2246471" h="9525">
                  <a:moveTo>
                    <a:pt x="0" y="0"/>
                  </a:moveTo>
                  <a:lnTo>
                    <a:pt x="2246471" y="0"/>
                  </a:lnTo>
                </a:path>
              </a:pathLst>
            </a:custGeom>
            <a:noFill/>
            <a:ln w="9525">
              <a:solidFill>
                <a:srgbClr val="40536A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3589401" y="2676525"/>
              <a:ext cx="9525" cy="1171575"/>
            </a:xfrm>
            <a:custGeom>
              <a:avLst/>
              <a:gdLst/>
              <a:ahLst/>
              <a:cxnLst/>
              <a:rect l="l" t="t" r="r" b="b"/>
              <a:pathLst>
                <a:path w="9525" h="1171575">
                  <a:moveTo>
                    <a:pt x="0" y="0"/>
                  </a:moveTo>
                  <a:lnTo>
                    <a:pt x="0" y="1171575"/>
                  </a:lnTo>
                </a:path>
              </a:pathLst>
            </a:custGeom>
            <a:noFill/>
            <a:ln w="28575">
              <a:solidFill>
                <a:srgbClr val="8295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756088" y="2859881"/>
              <a:ext cx="1014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測試工具輸出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51326" y="3181350"/>
              <a:ext cx="20097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EF3F8"/>
                  </a:solidFill>
                  <a:latin typeface="Arial"/>
                  <a:ea typeface="Microsoft YaHei"/>
                  <a:cs typeface="Arial"/>
                </a:rPr>
                <a:t>「已產生測試資料與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51326" y="3448050"/>
              <a:ext cx="1352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EF3F8"/>
                  </a:solidFill>
                  <a:latin typeface="Arial"/>
                  <a:ea typeface="Microsoft YaHei"/>
                  <a:cs typeface="Arial"/>
                </a:rPr>
                <a:t>執行結果。」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589401" y="4019550"/>
              <a:ext cx="2246376" cy="1438275"/>
            </a:xfrm>
            <a:prstGeom prst="roundRect">
              <a:avLst>
                <a:gd name="adj" fmla="val 7947"/>
              </a:avLst>
            </a:prstGeom>
            <a:solidFill>
              <a:srgbClr val="0E1721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3589401" y="4019550"/>
              <a:ext cx="2246471" cy="9525"/>
            </a:xfrm>
            <a:custGeom>
              <a:avLst/>
              <a:gdLst/>
              <a:ahLst/>
              <a:cxnLst/>
              <a:rect l="l" t="t" r="r" b="b"/>
              <a:pathLst>
                <a:path w="2246471" h="9525">
                  <a:moveTo>
                    <a:pt x="0" y="0"/>
                  </a:moveTo>
                  <a:lnTo>
                    <a:pt x="2246471" y="0"/>
                  </a:lnTo>
                </a:path>
              </a:pathLst>
            </a:custGeom>
            <a:noFill/>
            <a:ln w="9525">
              <a:solidFill>
                <a:srgbClr val="40536A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5835872" y="4019550"/>
              <a:ext cx="9525" cy="1438275"/>
            </a:xfrm>
            <a:custGeom>
              <a:avLst/>
              <a:gdLst/>
              <a:ahLst/>
              <a:cxnLst/>
              <a:rect l="l" t="t" r="r" b="b"/>
              <a:pathLst>
                <a:path w="9525" h="1438275">
                  <a:moveTo>
                    <a:pt x="0" y="0"/>
                  </a:moveTo>
                  <a:lnTo>
                    <a:pt x="0" y="1438275"/>
                  </a:lnTo>
                </a:path>
              </a:pathLst>
            </a:custGeom>
            <a:noFill/>
            <a:ln w="9525">
              <a:solidFill>
                <a:srgbClr val="40536A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3589401" y="5457825"/>
              <a:ext cx="2246471" cy="9525"/>
            </a:xfrm>
            <a:custGeom>
              <a:avLst/>
              <a:gdLst/>
              <a:ahLst/>
              <a:cxnLst/>
              <a:rect l="l" t="t" r="r" b="b"/>
              <a:pathLst>
                <a:path w="2246471" h="9525">
                  <a:moveTo>
                    <a:pt x="0" y="0"/>
                  </a:moveTo>
                  <a:lnTo>
                    <a:pt x="2246471" y="0"/>
                  </a:lnTo>
                </a:path>
              </a:pathLst>
            </a:custGeom>
            <a:noFill/>
            <a:ln w="9525">
              <a:solidFill>
                <a:srgbClr val="40536A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3589401" y="4019550"/>
              <a:ext cx="9525" cy="1438275"/>
            </a:xfrm>
            <a:custGeom>
              <a:avLst/>
              <a:gdLst/>
              <a:ahLst/>
              <a:cxnLst/>
              <a:rect l="l" t="t" r="r" b="b"/>
              <a:pathLst>
                <a:path w="9525" h="1438275">
                  <a:moveTo>
                    <a:pt x="0" y="0"/>
                  </a:moveTo>
                  <a:lnTo>
                    <a:pt x="0" y="1438275"/>
                  </a:lnTo>
                </a:path>
              </a:pathLst>
            </a:custGeom>
            <a:noFill/>
            <a:ln w="28575">
              <a:solidFill>
                <a:srgbClr val="C4A2FF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756088" y="420290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其他討論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751326" y="4524375"/>
              <a:ext cx="20097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EF3F8"/>
                  </a:solidFill>
                  <a:latin typeface="Arial"/>
                  <a:ea typeface="Microsoft YaHei"/>
                  <a:cs typeface="Arial"/>
                </a:rPr>
                <a:t>卡片畫面、測試資料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751326" y="4791075"/>
              <a:ext cx="20097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EF3F8"/>
                  </a:solidFill>
                  <a:latin typeface="Arial"/>
                  <a:ea typeface="Microsoft YaHei"/>
                  <a:cs typeface="Arial"/>
                </a:rPr>
                <a:t>與其他工作交錯進來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751326" y="5057775"/>
              <a:ext cx="2571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EF3F8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83522" y="3690938"/>
              <a:ext cx="24692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35947" y="2057400"/>
              <a:ext cx="2608326" cy="2943225"/>
            </a:xfrm>
            <a:prstGeom prst="roundRect">
              <a:avLst>
                <a:gd name="adj" fmla="val 4017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02635" y="225980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40772" y="2266950"/>
              <a:ext cx="211986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EF3F8"/>
                  </a:solidFill>
                  <a:latin typeface="Arial"/>
                  <a:ea typeface="Microsoft YaHei"/>
                  <a:cs typeface="Arial"/>
                </a:rPr>
                <a:t>compact摘要漏掉規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40772" y="2533650"/>
              <a:ext cx="268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EF3F8"/>
                  </a:solidFill>
                  <a:latin typeface="Arial"/>
                  <a:ea typeface="Microsoft YaHei"/>
                  <a:cs typeface="Arial"/>
                </a:rPr>
                <a:t>則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616922" y="2943225"/>
              <a:ext cx="2246376" cy="1171575"/>
            </a:xfrm>
            <a:prstGeom prst="roundRect">
              <a:avLst>
                <a:gd name="adj" fmla="val 9756"/>
              </a:avLst>
            </a:prstGeom>
            <a:solidFill>
              <a:srgbClr val="211E15"/>
            </a:solidFill>
            <a:ln w="9525">
              <a:solidFill>
                <a:srgbClr val="806A3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64560" y="3126581"/>
              <a:ext cx="97333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Agent｜摘要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59797" y="3448050"/>
              <a:ext cx="20645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EF3F8"/>
                  </a:solidFill>
                  <a:latin typeface="Arial"/>
                  <a:ea typeface="Microsoft YaHei"/>
                  <a:cs typeface="Arial"/>
                </a:rPr>
                <a:t>「 Goal：互相喜歡才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59797" y="3714750"/>
              <a:ext cx="1571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EF3F8"/>
                  </a:solidFill>
                  <a:latin typeface="Arial"/>
                  <a:ea typeface="Microsoft YaHei"/>
                  <a:cs typeface="Arial"/>
                </a:rPr>
                <a:t>算配對成功。」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97872" y="4314825"/>
              <a:ext cx="25684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9289"/>
                  </a:solidFill>
                  <a:latin typeface="Arial"/>
                  <a:ea typeface="Microsoft YaHei"/>
                  <a:cs typeface="Arial"/>
                </a:rPr>
                <a:t>摘要漏掉「不重複配對」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97872" y="458152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9289"/>
                  </a:solidFill>
                  <a:latin typeface="Arial"/>
                  <a:ea typeface="Microsoft YaHei"/>
                  <a:cs typeface="Arial"/>
                </a:rPr>
                <a:t>這條規則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110948" y="3690938"/>
              <a:ext cx="24692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463373" y="2915698"/>
              <a:ext cx="2347627" cy="1864804"/>
            </a:xfrm>
            <a:prstGeom prst="roundRect">
              <a:avLst>
                <a:gd name="adj" fmla="val 5619"/>
              </a:avLst>
            </a:prstGeom>
            <a:solidFill>
              <a:srgbClr val="21191D"/>
            </a:solidFill>
            <a:ln w="9525">
              <a:solidFill>
                <a:srgbClr val="8B514F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630061" y="3118104"/>
              <a:ext cx="17106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Agent依摘要繼續實作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619583" y="3505295"/>
              <a:ext cx="221755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0ED"/>
                  </a:solidFill>
                  <a:latin typeface="Arial"/>
                  <a:ea typeface="Microsoft YaHei"/>
                  <a:cs typeface="Arial"/>
                </a:rPr>
                <a:t>再次 Like，建立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619583" y="3852005"/>
              <a:ext cx="191851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0ED"/>
                  </a:solidFill>
                  <a:latin typeface="Arial"/>
                  <a:ea typeface="Microsoft YaHei"/>
                  <a:cs typeface="Arial"/>
                </a:rPr>
                <a:t>另一筆 Match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625298" y="4361402"/>
              <a:ext cx="20097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B2AA"/>
                  </a:solidFill>
                  <a:latin typeface="Arial"/>
                  <a:ea typeface="Microsoft YaHei"/>
                  <a:cs typeface="Arial"/>
                </a:rPr>
                <a:t>結果：出現重複配對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914430" y="5857875"/>
              <a:ext cx="83629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先定下「不重複配對」規則→工具與其他討論進來→ compact摘要漏掉規則→重複配對。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68618" y="6531864"/>
              <a:ext cx="67317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EBDCD"/>
                  </a:solidFill>
                  <a:latin typeface="Arial"/>
                  <a:ea typeface="Microsoft YaHei"/>
                  <a:cs typeface="Arial"/>
                </a:rPr>
                <a:t>李宏毅 2025秋 Agent講義， PDF第 67– 68頁；李宏毅 2026 AI Agent 1/3，約 17:38（Context Collapse）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346710" y="299085"/>
            <a:ext cx="11464290" cy="6430899"/>
            <a:chOff x="346710" y="299085"/>
            <a:chExt cx="11464290" cy="6430899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830821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換一個新 session，就看不到前面講過的內容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1950" y="1501045"/>
              <a:ext cx="803433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session：一段獨立的對話；開新的對話就是新的 session，看不到前一段的內容。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2082070"/>
              <a:ext cx="5238750" cy="2969895"/>
            </a:xfrm>
            <a:prstGeom prst="roundRect">
              <a:avLst>
                <a:gd name="adj" fmla="val 3849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959584" y="2954941"/>
              <a:ext cx="20815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新 session只收到一段交代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755618" y="3400234"/>
              <a:ext cx="4489418" cy="800100"/>
            </a:xfrm>
            <a:prstGeom prst="roundRect">
              <a:avLst>
                <a:gd name="adj" fmla="val 17857"/>
              </a:avLst>
            </a:prstGeom>
            <a:solidFill>
              <a:srgbClr val="172638"/>
            </a:solidFill>
            <a:ln w="9525">
              <a:solidFill>
                <a:srgbClr val="40536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6665" y="3676460"/>
              <a:ext cx="45072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DF3FA"/>
                  </a:solidFill>
                  <a:latin typeface="Arial"/>
                  <a:ea typeface="Microsoft YaHei"/>
                  <a:cs typeface="Arial"/>
                </a:rPr>
                <a:t>「接手 #3雙向喜歡才配對，繼續完成配對。」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772150" y="197729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572250" y="1948720"/>
              <a:ext cx="5238750" cy="3103245"/>
            </a:xfrm>
            <a:prstGeom prst="roundRect">
              <a:avLst>
                <a:gd name="adj" fmla="val 3683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10388" y="2322576"/>
              <a:ext cx="1926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新接手者看不到前段對話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924675" y="2767870"/>
              <a:ext cx="4533900" cy="800100"/>
            </a:xfrm>
            <a:prstGeom prst="roundRect">
              <a:avLst>
                <a:gd name="adj" fmla="val 17857"/>
              </a:avLst>
            </a:prstGeom>
            <a:solidFill>
              <a:srgbClr val="211E15"/>
            </a:solidFill>
            <a:ln w="9525">
              <a:solidFill>
                <a:srgbClr val="806A3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153275" y="3044095"/>
              <a:ext cx="33242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DF3FA"/>
                  </a:solidFill>
                  <a:latin typeface="Arial"/>
                  <a:ea typeface="Microsoft YaHei"/>
                  <a:cs typeface="Arial"/>
                </a:rPr>
                <a:t>「哪些已完成？哪些還沒決定？」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924675" y="3834670"/>
              <a:ext cx="4533900" cy="864870"/>
            </a:xfrm>
            <a:prstGeom prst="roundRect">
              <a:avLst>
                <a:gd name="adj" fmla="val 8811"/>
              </a:avLst>
            </a:prstGeom>
            <a:solidFill>
              <a:srgbClr val="0E1721"/>
            </a:solidFill>
            <a:ln w="9525">
              <a:solidFill>
                <a:srgbClr val="35495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53325" y="4162234"/>
              <a:ext cx="6953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已完成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29472" y="4099465"/>
              <a:ext cx="42900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9289"/>
                  </a:solidFill>
                  <a:latin typeface="Arial"/>
                  <a:ea typeface="Microsoft YaHei"/>
                  <a:cs typeface="Arial"/>
                </a:rPr>
                <a:t>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529762" y="4162234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待決事項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815447" y="4099465"/>
              <a:ext cx="42900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9289"/>
                  </a:solidFill>
                  <a:latin typeface="Arial"/>
                  <a:ea typeface="Microsoft YaHei"/>
                  <a:cs typeface="Arial"/>
                </a:rPr>
                <a:t>？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595812" y="5242465"/>
              <a:ext cx="3000375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4595812" y="524246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28575">
              <a:solidFill>
                <a:srgbClr val="F2CF7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729162" y="5366290"/>
              <a:ext cx="325850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E39A"/>
                  </a:solidFill>
                  <a:latin typeface="Arial"/>
                  <a:ea typeface="Microsoft YaHei"/>
                  <a:cs typeface="Arial"/>
                </a:rPr>
                <a:t>下一位接手者要去哪裡看現況？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8618" y="6531864"/>
              <a:ext cx="65893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EBDCD"/>
                  </a:solidFill>
                  <a:latin typeface="Arial"/>
                  <a:ea typeface="Microsoft YaHei"/>
                  <a:cs typeface="Arial"/>
                </a:rPr>
                <a:t>李宏毅 2024第 9講， PDF第 11– 14頁； Anthropic〈 Effective harnesses for long-running agents〉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2" name="Group 32"/>
          <p:cNvGrpSpPr/>
          <p:nvPr/>
        </p:nvGrpSpPr>
        <p:grpSpPr>
          <a:xfrm>
            <a:off x="346710" y="299085"/>
            <a:ext cx="11620624" cy="6430899"/>
            <a:chOff x="346710" y="299085"/>
            <a:chExt cx="11620624" cy="6430899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1162062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問題｜ #3雙向喜歡才配對的三種工作，共用同一個 chat與設定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1950" y="1528762"/>
              <a:ext cx="849439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model：用哪一個 AI模型。 effort：讓 AI想多久、想多深的設定。開越高越慢、越貴。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2262188"/>
              <a:ext cx="3507772" cy="2857500"/>
            </a:xfrm>
            <a:prstGeom prst="roundRect">
              <a:avLst>
                <a:gd name="adj" fmla="val 3667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66738" y="2612231"/>
              <a:ext cx="22886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#3雙向喜歡才配對｜難度不同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81025" y="2924175"/>
              <a:ext cx="3107722" cy="533400"/>
            </a:xfrm>
            <a:prstGeom prst="roundRect">
              <a:avLst>
                <a:gd name="adj" fmla="val 14286"/>
              </a:avLst>
            </a:prstGeom>
            <a:solidFill>
              <a:srgbClr val="0E1721"/>
            </a:solidFill>
            <a:ln w="9525">
              <a:solidFill>
                <a:srgbClr val="35495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5800" y="3086100"/>
              <a:ext cx="476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簡單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09700" y="3086100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EF3F8"/>
                  </a:solidFill>
                  <a:latin typeface="Arial"/>
                  <a:ea typeface="Microsoft YaHei"/>
                  <a:cs typeface="Arial"/>
                </a:rPr>
                <a:t>改按鈕文字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81025" y="3590925"/>
              <a:ext cx="3107722" cy="533400"/>
            </a:xfrm>
            <a:prstGeom prst="roundRect">
              <a:avLst>
                <a:gd name="adj" fmla="val 14286"/>
              </a:avLst>
            </a:prstGeom>
            <a:solidFill>
              <a:srgbClr val="0E1721"/>
            </a:solidFill>
            <a:ln w="9525">
              <a:solidFill>
                <a:srgbClr val="35495E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85800" y="3752850"/>
              <a:ext cx="476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中等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09700" y="3752850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EF3F8"/>
                  </a:solidFill>
                  <a:latin typeface="Arial"/>
                  <a:ea typeface="Microsoft YaHei"/>
                  <a:cs typeface="Arial"/>
                </a:rPr>
                <a:t>產生測試資料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81025" y="4257675"/>
              <a:ext cx="3107722" cy="533400"/>
            </a:xfrm>
            <a:prstGeom prst="roundRect">
              <a:avLst>
                <a:gd name="adj" fmla="val 14286"/>
              </a:avLst>
            </a:prstGeom>
            <a:solidFill>
              <a:srgbClr val="0E1721"/>
            </a:solidFill>
            <a:ln w="9525">
              <a:solidFill>
                <a:srgbClr val="35495E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85800" y="4419600"/>
              <a:ext cx="476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困難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09700" y="4419600"/>
              <a:ext cx="18783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EF3F8"/>
                  </a:solidFill>
                  <a:latin typeface="Arial"/>
                  <a:ea typeface="Microsoft YaHei"/>
                  <a:cs typeface="Arial"/>
                </a:rPr>
                <a:t>判斷雙向配對規則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12597" y="2290762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517422" y="2262188"/>
              <a:ext cx="3157061" cy="2857500"/>
            </a:xfrm>
            <a:prstGeom prst="roundRect">
              <a:avLst>
                <a:gd name="adj" fmla="val 3667"/>
              </a:avLst>
            </a:prstGeom>
            <a:solidFill>
              <a:srgbClr val="211E15"/>
            </a:solidFill>
            <a:ln w="9525">
              <a:solidFill>
                <a:srgbClr val="806A3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62140" y="2865692"/>
              <a:ext cx="16675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全部放進同一個 chat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73932" y="3214783"/>
              <a:ext cx="184375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E39A"/>
                  </a:solidFill>
                  <a:latin typeface="Arial"/>
                  <a:ea typeface="Microsoft YaHei"/>
                  <a:cs typeface="Arial"/>
                </a:rPr>
                <a:t>同一個 model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84221" y="3561493"/>
              <a:ext cx="202317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E39A"/>
                  </a:solidFill>
                  <a:latin typeface="Arial"/>
                  <a:ea typeface="Microsoft YaHei"/>
                  <a:cs typeface="Arial"/>
                </a:rPr>
                <a:t>同一個 effort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43330" y="4032790"/>
              <a:ext cx="31051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D5C89F"/>
                  </a:solidFill>
                  <a:latin typeface="Arial"/>
                  <a:ea typeface="Microsoft YaHei"/>
                  <a:cs typeface="Arial"/>
                </a:rPr>
                <a:t>簡單、中等、困難的工作沿用同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38705" y="4299490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D5C89F"/>
                  </a:solidFill>
                  <a:latin typeface="Arial"/>
                  <a:ea typeface="Microsoft YaHei"/>
                  <a:cs typeface="Arial"/>
                </a:rPr>
                <a:t>一套設定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98308" y="2290762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303133" y="2262188"/>
              <a:ext cx="3507772" cy="1371600"/>
            </a:xfrm>
            <a:prstGeom prst="roundRect">
              <a:avLst>
                <a:gd name="adj" fmla="val 7639"/>
              </a:avLst>
            </a:prstGeom>
            <a:solidFill>
              <a:srgbClr val="21191D"/>
            </a:solidFill>
            <a:ln w="9525">
              <a:solidFill>
                <a:srgbClr val="75494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88870" y="2669381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AAA2"/>
                  </a:solidFill>
                  <a:latin typeface="Arial"/>
                  <a:ea typeface="Microsoft YaHei"/>
                  <a:cs typeface="Arial"/>
                </a:rPr>
                <a:t>設定開高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84108" y="3009900"/>
              <a:ext cx="21083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0ED"/>
                  </a:solidFill>
                  <a:latin typeface="Arial"/>
                  <a:ea typeface="Microsoft YaHei"/>
                  <a:cs typeface="Arial"/>
                </a:rPr>
                <a:t>簡單的事也又慢又貴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303133" y="3748088"/>
              <a:ext cx="3507772" cy="1371600"/>
            </a:xfrm>
            <a:prstGeom prst="roundRect">
              <a:avLst>
                <a:gd name="adj" fmla="val 7639"/>
              </a:avLst>
            </a:prstGeom>
            <a:solidFill>
              <a:srgbClr val="21191D"/>
            </a:solidFill>
            <a:ln w="9525">
              <a:solidFill>
                <a:srgbClr val="75494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88870" y="4155281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AAA2"/>
                  </a:solidFill>
                  <a:latin typeface="Arial"/>
                  <a:ea typeface="Microsoft YaHei"/>
                  <a:cs typeface="Arial"/>
                </a:rPr>
                <a:t>設定開低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84108" y="4495800"/>
              <a:ext cx="25684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0ED"/>
                  </a:solidFill>
                  <a:latin typeface="Arial"/>
                  <a:ea typeface="Microsoft YaHei"/>
                  <a:cs typeface="Arial"/>
                </a:rPr>
                <a:t>困難的規則判斷容易出錯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53050" y="5434012"/>
              <a:ext cx="144018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→第 5段怎麼解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8618" y="6531864"/>
              <a:ext cx="45459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EBDCD"/>
                  </a:solidFill>
                  <a:latin typeface="Arial"/>
                  <a:ea typeface="Microsoft YaHei"/>
                  <a:cs typeface="Arial"/>
                </a:rPr>
                <a:t>李宏毅 FrugalGPT， PDF第 9頁； Stanford CS329T第 3講， PDF第 9頁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1718436" y="2429637"/>
            <a:ext cx="8755129" cy="2415540"/>
            <a:chOff x="1718436" y="2429637"/>
            <a:chExt cx="8755129" cy="2415540"/>
          </a:xfrm>
        </p:grpSpPr>
        <p:sp>
          <p:nvSpPr>
            <p:cNvPr id="3" name="TextBox 3"/>
            <p:cNvSpPr txBox="1"/>
            <p:nvPr/>
          </p:nvSpPr>
          <p:spPr>
            <a:xfrm>
              <a:off x="5455510" y="2429637"/>
              <a:ext cx="1280979" cy="1341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6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31907" y="3437382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第五段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718436" y="3967353"/>
              <a:ext cx="8755129" cy="877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2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多 Agent開發：優勢與新問題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6" name="Group 36"/>
          <p:cNvGrpSpPr/>
          <p:nvPr/>
        </p:nvGrpSpPr>
        <p:grpSpPr>
          <a:xfrm>
            <a:off x="346710" y="299085"/>
            <a:ext cx="11473815" cy="6430899"/>
            <a:chOff x="346710" y="299085"/>
            <a:chExt cx="11473815" cy="6430899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1058549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Workflow問誰決定下一步； Single／ Multi問誰承擔責任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487996"/>
              <a:ext cx="1981200" cy="292894"/>
            </a:xfrm>
            <a:prstGeom prst="roundRect">
              <a:avLst>
                <a:gd name="adj" fmla="val 19512"/>
              </a:avLst>
            </a:prstGeom>
            <a:solidFill>
              <a:srgbClr val="14231B"/>
            </a:solidFill>
            <a:ln w="9525">
              <a:solidFill>
                <a:srgbClr val="53775C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452438" y="1557052"/>
              <a:ext cx="21678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3F0D0"/>
                  </a:solidFill>
                  <a:latin typeface="Arial"/>
                  <a:ea typeface="Microsoft YaHei"/>
                  <a:cs typeface="Arial"/>
                </a:rPr>
                <a:t>案例票｜ #3雙向喜歡才配對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381000" y="1971389"/>
              <a:ext cx="5610225" cy="3255645"/>
            </a:xfrm>
            <a:prstGeom prst="roundRect">
              <a:avLst>
                <a:gd name="adj" fmla="val 3511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7" name="Line 7"/>
            <p:cNvSpPr/>
            <p:nvPr/>
          </p:nvSpPr>
          <p:spPr>
            <a:xfrm>
              <a:off x="381000" y="1971389"/>
              <a:ext cx="5610225" cy="9525"/>
            </a:xfrm>
            <a:custGeom>
              <a:avLst/>
              <a:gdLst/>
              <a:ahLst/>
              <a:cxnLst/>
              <a:rect l="l" t="t" r="r" b="b"/>
              <a:pathLst>
                <a:path w="5610225" h="9525">
                  <a:moveTo>
                    <a:pt x="0" y="0"/>
                  </a:moveTo>
                  <a:lnTo>
                    <a:pt x="5610225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991225" y="1971389"/>
              <a:ext cx="9525" cy="3255645"/>
            </a:xfrm>
            <a:custGeom>
              <a:avLst/>
              <a:gdLst/>
              <a:ahLst/>
              <a:cxnLst/>
              <a:rect l="l" t="t" r="r" b="b"/>
              <a:pathLst>
                <a:path w="9525" h="3255645">
                  <a:moveTo>
                    <a:pt x="0" y="0"/>
                  </a:moveTo>
                  <a:lnTo>
                    <a:pt x="0" y="3255645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5227034"/>
              <a:ext cx="5610225" cy="9525"/>
            </a:xfrm>
            <a:custGeom>
              <a:avLst/>
              <a:gdLst/>
              <a:ahLst/>
              <a:cxnLst/>
              <a:rect l="l" t="t" r="r" b="b"/>
              <a:pathLst>
                <a:path w="5610225" h="9525">
                  <a:moveTo>
                    <a:pt x="0" y="0"/>
                  </a:moveTo>
                  <a:lnTo>
                    <a:pt x="5610225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81000" y="1971389"/>
              <a:ext cx="9525" cy="3255645"/>
            </a:xfrm>
            <a:custGeom>
              <a:avLst/>
              <a:gdLst/>
              <a:ahLst/>
              <a:cxnLst/>
              <a:rect l="l" t="t" r="r" b="b"/>
              <a:pathLst>
                <a:path w="9525" h="3255645">
                  <a:moveTo>
                    <a:pt x="0" y="0"/>
                  </a:moveTo>
                  <a:lnTo>
                    <a:pt x="0" y="3255645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81038" y="2326196"/>
              <a:ext cx="2000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問題一｜工作路線與決策權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0560" y="2675287"/>
              <a:ext cx="214279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誰決定下一步？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95325" y="3198209"/>
              <a:ext cx="2233612" cy="1714500"/>
            </a:xfrm>
            <a:prstGeom prst="roundRect">
              <a:avLst>
                <a:gd name="adj" fmla="val 5000"/>
              </a:avLst>
            </a:prstGeom>
            <a:solidFill>
              <a:srgbClr val="0E1721"/>
            </a:solidFill>
            <a:ln w="9525">
              <a:solidFill>
                <a:srgbClr val="34475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7725" y="3760184"/>
              <a:ext cx="10847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Workflow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7725" y="4141184"/>
              <a:ext cx="1571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7D2DE"/>
                  </a:solidFill>
                  <a:latin typeface="Arial"/>
                  <a:ea typeface="Microsoft YaHei"/>
                  <a:cs typeface="Arial"/>
                </a:rPr>
                <a:t>沿預定路徑前進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106817" y="3950684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90A2B6"/>
                  </a:solidFill>
                  <a:latin typeface="Arial"/>
                  <a:ea typeface="Microsoft YaHei"/>
                  <a:cs typeface="Arial"/>
                </a:rPr>
                <a:t>↔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443288" y="3198209"/>
              <a:ext cx="2233612" cy="1714500"/>
            </a:xfrm>
            <a:prstGeom prst="roundRect">
              <a:avLst>
                <a:gd name="adj" fmla="val 5000"/>
              </a:avLst>
            </a:prstGeom>
            <a:solidFill>
              <a:srgbClr val="0E1721"/>
            </a:solidFill>
            <a:ln w="9525">
              <a:solidFill>
                <a:srgbClr val="34475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595688" y="3760184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Agent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95688" y="4141184"/>
              <a:ext cx="17907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7D2DE"/>
                  </a:solidFill>
                  <a:latin typeface="Arial"/>
                  <a:ea typeface="Microsoft YaHei"/>
                  <a:cs typeface="Arial"/>
                </a:rPr>
                <a:t>依狀態決定下一步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00775" y="1971389"/>
              <a:ext cx="5610225" cy="3255645"/>
            </a:xfrm>
            <a:prstGeom prst="roundRect">
              <a:avLst>
                <a:gd name="adj" fmla="val 3511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21" name="Line 21"/>
            <p:cNvSpPr/>
            <p:nvPr/>
          </p:nvSpPr>
          <p:spPr>
            <a:xfrm>
              <a:off x="6200775" y="1971389"/>
              <a:ext cx="5610225" cy="9525"/>
            </a:xfrm>
            <a:custGeom>
              <a:avLst/>
              <a:gdLst/>
              <a:ahLst/>
              <a:cxnLst/>
              <a:rect l="l" t="t" r="r" b="b"/>
              <a:pathLst>
                <a:path w="5610225" h="9525">
                  <a:moveTo>
                    <a:pt x="0" y="0"/>
                  </a:moveTo>
                  <a:lnTo>
                    <a:pt x="5610225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1811000" y="1971389"/>
              <a:ext cx="9525" cy="3255645"/>
            </a:xfrm>
            <a:custGeom>
              <a:avLst/>
              <a:gdLst/>
              <a:ahLst/>
              <a:cxnLst/>
              <a:rect l="l" t="t" r="r" b="b"/>
              <a:pathLst>
                <a:path w="9525" h="3255645">
                  <a:moveTo>
                    <a:pt x="0" y="0"/>
                  </a:moveTo>
                  <a:lnTo>
                    <a:pt x="0" y="3255645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6200775" y="5227034"/>
              <a:ext cx="5610225" cy="9525"/>
            </a:xfrm>
            <a:custGeom>
              <a:avLst/>
              <a:gdLst/>
              <a:ahLst/>
              <a:cxnLst/>
              <a:rect l="l" t="t" r="r" b="b"/>
              <a:pathLst>
                <a:path w="5610225" h="9525">
                  <a:moveTo>
                    <a:pt x="0" y="0"/>
                  </a:moveTo>
                  <a:lnTo>
                    <a:pt x="5610225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6200775" y="1971389"/>
              <a:ext cx="9525" cy="3255645"/>
            </a:xfrm>
            <a:custGeom>
              <a:avLst/>
              <a:gdLst/>
              <a:ahLst/>
              <a:cxnLst/>
              <a:rect l="l" t="t" r="r" b="b"/>
              <a:pathLst>
                <a:path w="9525" h="3255645">
                  <a:moveTo>
                    <a:pt x="0" y="0"/>
                  </a:moveTo>
                  <a:lnTo>
                    <a:pt x="0" y="3255645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00812" y="2326196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問題二｜執行者數量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90335" y="2675287"/>
              <a:ext cx="184375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誰承擔責任？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515100" y="3198209"/>
              <a:ext cx="2233612" cy="1714500"/>
            </a:xfrm>
            <a:prstGeom prst="roundRect">
              <a:avLst>
                <a:gd name="adj" fmla="val 5000"/>
              </a:avLst>
            </a:prstGeom>
            <a:solidFill>
              <a:srgbClr val="0E1721"/>
            </a:solidFill>
            <a:ln w="9525">
              <a:solidFill>
                <a:srgbClr val="34475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67500" y="3760184"/>
              <a:ext cx="14412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Single-agent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67500" y="4141184"/>
              <a:ext cx="1133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7D2DE"/>
                  </a:solidFill>
                  <a:latin typeface="Arial"/>
                  <a:ea typeface="Microsoft YaHei"/>
                  <a:cs typeface="Arial"/>
                </a:rPr>
                <a:t>一位執行者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926592" y="3950684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90A2B6"/>
                  </a:solidFill>
                  <a:latin typeface="Arial"/>
                  <a:ea typeface="Microsoft YaHei"/>
                  <a:cs typeface="Arial"/>
                </a:rPr>
                <a:t>↔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263062" y="3198209"/>
              <a:ext cx="2233612" cy="1714500"/>
            </a:xfrm>
            <a:prstGeom prst="roundRect">
              <a:avLst>
                <a:gd name="adj" fmla="val 5000"/>
              </a:avLst>
            </a:prstGeom>
            <a:solidFill>
              <a:srgbClr val="0E1721"/>
            </a:solidFill>
            <a:ln w="9525">
              <a:solidFill>
                <a:srgbClr val="34475B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15462" y="3760184"/>
              <a:ext cx="136076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Multi-agent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15462" y="4141184"/>
              <a:ext cx="1571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7D2DE"/>
                  </a:solidFill>
                  <a:latin typeface="Arial"/>
                  <a:ea typeface="Microsoft YaHei"/>
                  <a:cs typeface="Arial"/>
                </a:rPr>
                <a:t>多位專責執行者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755696" y="5446109"/>
              <a:ext cx="86806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這是兩個並列的問題；路徑怎麼決定，不等於有幾位 Agent。案例： #3雙向喜歡才配對。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68618" y="6531864"/>
              <a:ext cx="31504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EBDCD"/>
                  </a:solidFill>
                  <a:latin typeface="Arial"/>
                  <a:ea typeface="Microsoft YaHei"/>
                  <a:cs typeface="Arial"/>
                </a:rPr>
                <a:t>Stanford CS224G， PDF第 5、 10、 12– 13、 61頁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43" name="Group 43"/>
          <p:cNvGrpSpPr/>
          <p:nvPr/>
        </p:nvGrpSpPr>
        <p:grpSpPr>
          <a:xfrm>
            <a:off x="-172164" y="299085"/>
            <a:ext cx="12536329" cy="6771608"/>
            <a:chOff x="-172164" y="299085"/>
            <a:chExt cx="12536329" cy="6771608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52151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把工作拆開，也把各站只需要的資訊拆開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2047875" y="849535"/>
              <a:ext cx="8096250" cy="1575340"/>
            </a:xfrm>
            <a:prstGeom prst="roundRect">
              <a:avLst>
                <a:gd name="adj" fmla="val 6651"/>
              </a:avLst>
            </a:prstGeom>
            <a:solidFill>
              <a:srgbClr val="14231B"/>
            </a:solidFill>
            <a:ln w="9525">
              <a:solidFill>
                <a:srgbClr val="53775C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715009" y="1128141"/>
              <a:ext cx="7617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共同 Goal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828455" y="1467707"/>
              <a:ext cx="453509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讓互相喜歡的兩人能確認配對成功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771090" y="1929575"/>
              <a:ext cx="46496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拆分不同工作；兩位 Agent回到同一個產品目標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1954626" y="2424874"/>
              <a:ext cx="8282748" cy="666751"/>
              <a:chOff x="1954626" y="2424874"/>
              <a:chExt cx="8282748" cy="66675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981200" y="2424874"/>
                <a:ext cx="411480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4114800" h="666750">
                    <a:moveTo>
                      <a:pt x="4114800" y="0"/>
                    </a:moveTo>
                    <a:cubicBezTo>
                      <a:pt x="4114800" y="266700"/>
                      <a:pt x="0" y="300037"/>
                      <a:pt x="0" y="666750"/>
                    </a:cubicBezTo>
                  </a:path>
                </a:pathLst>
              </a:custGeom>
              <a:noFill/>
              <a:ln w="28575" cap="flat">
                <a:solidFill>
                  <a:srgbClr val="83BCFF"/>
                </a:solidFill>
                <a:miter lim="800000"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096000" y="2424874"/>
                <a:ext cx="411480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4114800" h="666750">
                    <a:moveTo>
                      <a:pt x="0" y="0"/>
                    </a:moveTo>
                    <a:cubicBezTo>
                      <a:pt x="0" y="266700"/>
                      <a:pt x="4114800" y="300037"/>
                      <a:pt x="4114800" y="666750"/>
                    </a:cubicBezTo>
                  </a:path>
                </a:pathLst>
              </a:custGeom>
              <a:noFill/>
              <a:ln w="28575" cap="flat">
                <a:solidFill>
                  <a:srgbClr val="83BCFF"/>
                </a:solidFill>
                <a:miter lim="800000"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954626" y="3040587"/>
                <a:ext cx="94426" cy="51038"/>
              </a:xfrm>
              <a:custGeom>
                <a:avLst/>
                <a:gdLst/>
                <a:ahLst/>
                <a:cxnLst/>
                <a:rect l="l" t="t" r="r" b="b"/>
                <a:pathLst>
                  <a:path w="94426" h="51038">
                    <a:moveTo>
                      <a:pt x="0" y="0"/>
                    </a:moveTo>
                    <a:lnTo>
                      <a:pt x="26574" y="51038"/>
                    </a:lnTo>
                    <a:lnTo>
                      <a:pt x="94426" y="15281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142948" y="3040587"/>
                <a:ext cx="94426" cy="51038"/>
              </a:xfrm>
              <a:custGeom>
                <a:avLst/>
                <a:gdLst/>
                <a:ahLst/>
                <a:cxnLst/>
                <a:rect l="l" t="t" r="r" b="b"/>
                <a:pathLst>
                  <a:path w="94426" h="51038">
                    <a:moveTo>
                      <a:pt x="0" y="15281"/>
                    </a:moveTo>
                    <a:lnTo>
                      <a:pt x="67852" y="51038"/>
                    </a:lnTo>
                    <a:lnTo>
                      <a:pt x="94426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</p:grpSp>
        <p:sp>
          <p:nvSpPr>
            <p:cNvPr id="13" name="Rectangle 13"/>
            <p:cNvSpPr/>
            <p:nvPr/>
          </p:nvSpPr>
          <p:spPr>
            <a:xfrm>
              <a:off x="381000" y="3091624"/>
              <a:ext cx="3188684" cy="2905125"/>
            </a:xfrm>
            <a:prstGeom prst="roundRect">
              <a:avLst>
                <a:gd name="adj" fmla="val 3279"/>
              </a:avLst>
            </a:prstGeom>
            <a:solidFill>
              <a:srgbClr val="142235"/>
            </a:solidFill>
            <a:ln w="9525">
              <a:solidFill>
                <a:srgbClr val="3B536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42925" y="3848862"/>
              <a:ext cx="20163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Agent A｜配對規則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2925" y="4239387"/>
              <a:ext cx="321468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5E0EB"/>
                  </a:solidFill>
                  <a:latin typeface="Arial"/>
                  <a:ea typeface="Microsoft YaHei"/>
                  <a:cs typeface="Arial"/>
                </a:rPr>
                <a:t>#3雙向喜歡才配對依這張票的 AC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42925" y="4506087"/>
              <a:ext cx="476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5E0EB"/>
                  </a:solidFill>
                  <a:latin typeface="Arial"/>
                  <a:ea typeface="Microsoft YaHei"/>
                  <a:cs typeface="Arial"/>
                </a:rPr>
                <a:t>實作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7688" y="4889468"/>
              <a:ext cx="28875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把配對結果的格式與一個範例寫在 #3的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7688" y="5089493"/>
              <a:ext cx="9979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issue／ PR上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55409" y="3134487"/>
              <a:ext cx="23788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103084" y="3091624"/>
              <a:ext cx="3985736" cy="2905125"/>
            </a:xfrm>
            <a:prstGeom prst="roundRect">
              <a:avLst>
                <a:gd name="adj" fmla="val 3279"/>
              </a:avLst>
            </a:prstGeom>
            <a:solidFill>
              <a:srgbClr val="14231B"/>
            </a:solidFill>
            <a:ln w="9525">
              <a:solidFill>
                <a:srgbClr val="53775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265009" y="3301174"/>
              <a:ext cx="249940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交接卡｜ A交出， B讀取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65009" y="3691700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目標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41309" y="3691700"/>
              <a:ext cx="20974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讓 #2能呈現配對結果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65009" y="405365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產物連結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41309" y="4053650"/>
              <a:ext cx="31708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#3的 issue／ PR格式：配對編號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41309" y="4320350"/>
              <a:ext cx="1352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、雙方使用者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65009" y="4682300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範例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141309" y="4682300"/>
              <a:ext cx="308324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配對編號 M01雙方：小安、小晴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141309" y="4949000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（示意）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265009" y="531095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未決事項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141309" y="5310950"/>
              <a:ext cx="31051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列出待確認項目；沒有就寫「無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141309" y="5577650"/>
              <a:ext cx="2571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」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74546" y="3134487"/>
              <a:ext cx="23788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622220" y="3091624"/>
              <a:ext cx="3188779" cy="2905125"/>
            </a:xfrm>
            <a:prstGeom prst="roundRect">
              <a:avLst>
                <a:gd name="adj" fmla="val 3279"/>
              </a:avLst>
            </a:prstGeom>
            <a:solidFill>
              <a:srgbClr val="142235"/>
            </a:solidFill>
            <a:ln w="9525">
              <a:solidFill>
                <a:srgbClr val="3B536B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784146" y="3848862"/>
              <a:ext cx="228088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Agent B｜配對列表 UI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784146" y="4239387"/>
              <a:ext cx="31270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5E0EB"/>
                  </a:solidFill>
                  <a:latin typeface="Arial"/>
                  <a:ea typeface="Microsoft YaHei"/>
                  <a:cs typeface="Arial"/>
                </a:rPr>
                <a:t>#2配對列表讀取交接卡連到的格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84146" y="4506087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5E0EB"/>
                  </a:solidFill>
                  <a:latin typeface="Arial"/>
                  <a:ea typeface="Microsoft YaHei"/>
                  <a:cs typeface="Arial"/>
                </a:rPr>
                <a:t>式與範例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88908" y="4889468"/>
              <a:ext cx="27231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搭配 #2的畫面需求做出配對列表畫面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81000" y="6168200"/>
              <a:ext cx="11430000" cy="495300"/>
            </a:xfrm>
            <a:prstGeom prst="roundRect">
              <a:avLst>
                <a:gd name="adj" fmla="val 13462"/>
              </a:avLst>
            </a:prstGeom>
            <a:solidFill>
              <a:srgbClr val="211E15"/>
            </a:solidFill>
            <a:ln>
              <a:noFill/>
            </a:ln>
          </p:spPr>
        </p:sp>
        <p:sp>
          <p:nvSpPr>
            <p:cNvPr id="40" name="Line 40"/>
            <p:cNvSpPr/>
            <p:nvPr/>
          </p:nvSpPr>
          <p:spPr>
            <a:xfrm>
              <a:off x="381000" y="616820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38100">
              <a:solidFill>
                <a:srgbClr val="F2CF7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-172164" y="6311074"/>
              <a:ext cx="125363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先從單一 Agent開始；只有工作需求真的不同時才拆分。模型依任務選用：規則判斷用推理較強的模型；畫面樣板用較輕的模型。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68618" y="6872573"/>
              <a:ext cx="47524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EBDCD"/>
                  </a:solidFill>
                  <a:latin typeface="Arial"/>
                  <a:ea typeface="Microsoft YaHei"/>
                  <a:cs typeface="Arial"/>
                </a:rPr>
                <a:t>李宏毅 2025秋季講義， PDF第 72– 73頁； Stanford CS224G， PDF第 13頁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7" name="Group 37"/>
          <p:cNvGrpSpPr/>
          <p:nvPr/>
        </p:nvGrpSpPr>
        <p:grpSpPr>
          <a:xfrm>
            <a:off x="346710" y="299085"/>
            <a:ext cx="14065830" cy="6431090"/>
            <a:chOff x="346710" y="299085"/>
            <a:chExt cx="14065830" cy="6431090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588600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多 Agent會遇到交接失真與衝突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067300" y="1589532"/>
              <a:ext cx="2057400" cy="364331"/>
            </a:xfrm>
            <a:prstGeom prst="roundRect">
              <a:avLst>
                <a:gd name="adj" fmla="val 18301"/>
              </a:avLst>
            </a:prstGeom>
            <a:solidFill>
              <a:srgbClr val="14231B"/>
            </a:solidFill>
            <a:ln w="9525">
              <a:solidFill>
                <a:srgbClr val="53775C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012079" y="1687163"/>
              <a:ext cx="21678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A8EDC1"/>
                  </a:solidFill>
                  <a:latin typeface="Arial"/>
                  <a:ea typeface="Microsoft YaHei"/>
                  <a:cs typeface="Arial"/>
                </a:rPr>
                <a:t>案例票｜ #3雙向喜歡才配對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381000" y="2163413"/>
              <a:ext cx="5610225" cy="3246120"/>
            </a:xfrm>
            <a:prstGeom prst="roundRect">
              <a:avLst>
                <a:gd name="adj" fmla="val 3521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04838" y="2422970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問題一｜交接失真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4360" y="2772061"/>
              <a:ext cx="363797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「不重複配對」規則沒交接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19125" y="3247263"/>
              <a:ext cx="5133975" cy="1485900"/>
            </a:xfrm>
            <a:prstGeom prst="roundRect">
              <a:avLst>
                <a:gd name="adj" fmla="val 5769"/>
              </a:avLst>
            </a:prstGeom>
            <a:solidFill>
              <a:srgbClr val="0E1721"/>
            </a:solidFill>
            <a:ln w="9525">
              <a:solidFill>
                <a:srgbClr val="35495E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704850" y="3332988"/>
              <a:ext cx="1391888" cy="1314450"/>
            </a:xfrm>
            <a:prstGeom prst="roundRect">
              <a:avLst>
                <a:gd name="adj" fmla="val 4348"/>
              </a:avLst>
            </a:prstGeom>
            <a:solidFill>
              <a:srgbClr val="1B2B3C"/>
            </a:solidFill>
            <a:ln w="9525">
              <a:solidFill>
                <a:srgbClr val="35495E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29948" y="3456813"/>
              <a:ext cx="134159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3EDF7"/>
                  </a:solidFill>
                  <a:latin typeface="Arial"/>
                  <a:ea typeface="Microsoft YaHei"/>
                  <a:cs typeface="Arial"/>
                </a:rPr>
                <a:t>Goal讓互相喜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4472" y="3723513"/>
              <a:ext cx="1352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3EDF7"/>
                  </a:solidFill>
                  <a:latin typeface="Arial"/>
                  <a:ea typeface="Microsoft YaHei"/>
                  <a:cs typeface="Arial"/>
                </a:rPr>
                <a:t>歡的兩人能確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4009" y="3990213"/>
              <a:ext cx="1133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3EDF7"/>
                  </a:solidFill>
                  <a:latin typeface="Arial"/>
                  <a:ea typeface="Microsoft YaHei"/>
                  <a:cs typeface="Arial"/>
                </a:rPr>
                <a:t>認配對成功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25313" y="3361563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420588" y="3332988"/>
              <a:ext cx="1391888" cy="1314450"/>
            </a:xfrm>
            <a:prstGeom prst="roundRect">
              <a:avLst>
                <a:gd name="adj" fmla="val 4348"/>
              </a:avLst>
            </a:prstGeom>
            <a:solidFill>
              <a:srgbClr val="1B2B3C"/>
            </a:solidFill>
            <a:ln w="9525">
              <a:solidFill>
                <a:srgbClr val="35495E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440210" y="3456813"/>
              <a:ext cx="1352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3EDF7"/>
                  </a:solidFill>
                  <a:latin typeface="Arial"/>
                  <a:ea typeface="Microsoft YaHei"/>
                  <a:cs typeface="Arial"/>
                </a:rPr>
                <a:t>交接摘要只寫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59285" y="3723513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3EDF7"/>
                  </a:solidFill>
                  <a:latin typeface="Arial"/>
                  <a:ea typeface="Microsoft YaHei"/>
                  <a:cs typeface="Arial"/>
                </a:rPr>
                <a:t>雙向喜歡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40956" y="3361563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136231" y="3332988"/>
              <a:ext cx="1531144" cy="1314450"/>
            </a:xfrm>
            <a:prstGeom prst="roundRect">
              <a:avLst>
                <a:gd name="adj" fmla="val 4348"/>
              </a:avLst>
            </a:prstGeom>
            <a:solidFill>
              <a:srgbClr val="21191D"/>
            </a:solidFill>
            <a:ln w="9525">
              <a:solidFill>
                <a:srgbClr val="75494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077700" y="3456813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0ED"/>
                  </a:solidFill>
                  <a:latin typeface="Arial"/>
                  <a:ea typeface="Microsoft YaHei"/>
                  <a:cs typeface="Arial"/>
                </a:rPr>
                <a:t>漏掉規則同一對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07729" y="3723513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0ED"/>
                  </a:solidFill>
                  <a:latin typeface="Arial"/>
                  <a:ea typeface="Microsoft YaHei"/>
                  <a:cs typeface="Arial"/>
                </a:rPr>
                <a:t>不重複配對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0075" y="4933188"/>
              <a:ext cx="532876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Dev看不到重複 Like的限制，可能再建立一筆 Match。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200775" y="2163413"/>
              <a:ext cx="5610225" cy="3246120"/>
            </a:xfrm>
            <a:prstGeom prst="roundRect">
              <a:avLst>
                <a:gd name="adj" fmla="val 3521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24612" y="2537270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問題二｜互相衝突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14135" y="2886361"/>
              <a:ext cx="274086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同一規則，兩種實作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438900" y="3361563"/>
              <a:ext cx="5133975" cy="1257300"/>
            </a:xfrm>
            <a:prstGeom prst="roundRect">
              <a:avLst>
                <a:gd name="adj" fmla="val 6818"/>
              </a:avLst>
            </a:prstGeom>
            <a:solidFill>
              <a:srgbClr val="0E1721"/>
            </a:solidFill>
            <a:ln w="9525">
              <a:solidFill>
                <a:srgbClr val="35495E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572250" y="3494913"/>
              <a:ext cx="2243138" cy="990600"/>
            </a:xfrm>
            <a:prstGeom prst="roundRect">
              <a:avLst>
                <a:gd name="adj" fmla="val 5769"/>
              </a:avLst>
            </a:prstGeom>
            <a:solidFill>
              <a:srgbClr val="1B2B3C"/>
            </a:solidFill>
            <a:ln w="9525">
              <a:solidFill>
                <a:srgbClr val="40536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86287" y="3609213"/>
              <a:ext cx="241506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D5E0EB"/>
                  </a:solidFill>
                  <a:latin typeface="Arial"/>
                  <a:ea typeface="Microsoft YaHei"/>
                  <a:cs typeface="Arial"/>
                </a:rPr>
                <a:t>Agent A再次 Like就再建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51633" y="3875913"/>
              <a:ext cx="68437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D5E0EB"/>
                  </a:solidFill>
                  <a:latin typeface="Arial"/>
                  <a:ea typeface="Microsoft YaHei"/>
                  <a:cs typeface="Arial"/>
                </a:rPr>
                <a:t>Match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63012" y="3523488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9289"/>
                  </a:solidFill>
                  <a:latin typeface="Arial"/>
                  <a:ea typeface="Microsoft YaHei"/>
                  <a:cs typeface="Arial"/>
                </a:rPr>
                <a:t>↔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196388" y="3494913"/>
              <a:ext cx="2243138" cy="990600"/>
            </a:xfrm>
            <a:prstGeom prst="roundRect">
              <a:avLst>
                <a:gd name="adj" fmla="val 5769"/>
              </a:avLst>
            </a:prstGeom>
            <a:solidFill>
              <a:srgbClr val="1B2B3C"/>
            </a:solidFill>
            <a:ln w="9525">
              <a:solidFill>
                <a:srgbClr val="40536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137809" y="3609213"/>
              <a:ext cx="236029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D5E0EB"/>
                  </a:solidFill>
                  <a:latin typeface="Arial"/>
                  <a:ea typeface="Microsoft YaHei"/>
                  <a:cs typeface="Arial"/>
                </a:rPr>
                <a:t>Agent B依規則不重複配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89369" y="3875913"/>
              <a:ext cx="2571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D5E0EB"/>
                  </a:solidFill>
                  <a:latin typeface="Arial"/>
                  <a:ea typeface="Microsoft YaHei"/>
                  <a:cs typeface="Arial"/>
                </a:rPr>
                <a:t>對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19850" y="4818888"/>
              <a:ext cx="54054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兩邊對重複 Like的處理不同，整合時出現重複 Match。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68618" y="6358700"/>
              <a:ext cx="140439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EBDCD"/>
                  </a:solidFill>
                  <a:latin typeface="Arial"/>
                  <a:ea typeface="Microsoft YaHei"/>
                  <a:cs typeface="Arial"/>
                </a:rPr>
                <a:t>LangChain〈 Benchmarking Multi-Agent Architectures〉， Results&amp; Analysis／ Improvements to supervisor； Stanford HAI〈 AI Coding Agents Fail at Teamwork〉， Critical Skills／ Talk Is Cheap； Cognition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68618" y="6532055"/>
              <a:ext cx="35064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EBDCD"/>
                  </a:solidFill>
                  <a:latin typeface="Arial"/>
                  <a:ea typeface="Microsoft YaHei"/>
                  <a:cs typeface="Arial"/>
                </a:rPr>
                <a:t>（多 Agent協調失敗案例）｜案例： #3雙向喜歡才配對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6" name="Group 36"/>
          <p:cNvGrpSpPr/>
          <p:nvPr/>
        </p:nvGrpSpPr>
        <p:grpSpPr>
          <a:xfrm>
            <a:off x="346710" y="299085"/>
            <a:ext cx="11473815" cy="6430899"/>
            <a:chOff x="346710" y="299085"/>
            <a:chExt cx="11473815" cy="6430899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627935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重工與資訊孤島，讓協作成本上升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067300" y="2019014"/>
              <a:ext cx="2057400" cy="364331"/>
            </a:xfrm>
            <a:prstGeom prst="roundRect">
              <a:avLst>
                <a:gd name="adj" fmla="val 18301"/>
              </a:avLst>
            </a:prstGeom>
            <a:solidFill>
              <a:srgbClr val="14231B"/>
            </a:solidFill>
            <a:ln w="9525">
              <a:solidFill>
                <a:srgbClr val="53775C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012079" y="2116646"/>
              <a:ext cx="21678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A8EDC1"/>
                  </a:solidFill>
                  <a:latin typeface="Arial"/>
                  <a:ea typeface="Microsoft YaHei"/>
                  <a:cs typeface="Arial"/>
                </a:rPr>
                <a:t>案例票｜ #3雙向喜歡才配對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381000" y="2592896"/>
              <a:ext cx="5610225" cy="2560320"/>
            </a:xfrm>
            <a:prstGeom prst="roundRect">
              <a:avLst>
                <a:gd name="adj" fmla="val 4464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7" name="Line 7"/>
            <p:cNvSpPr/>
            <p:nvPr/>
          </p:nvSpPr>
          <p:spPr>
            <a:xfrm>
              <a:off x="381000" y="2592896"/>
              <a:ext cx="5610225" cy="9525"/>
            </a:xfrm>
            <a:custGeom>
              <a:avLst/>
              <a:gdLst/>
              <a:ahLst/>
              <a:cxnLst/>
              <a:rect l="l" t="t" r="r" b="b"/>
              <a:pathLst>
                <a:path w="5610225" h="9525">
                  <a:moveTo>
                    <a:pt x="0" y="0"/>
                  </a:moveTo>
                  <a:lnTo>
                    <a:pt x="5610225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991225" y="2592896"/>
              <a:ext cx="9525" cy="2560320"/>
            </a:xfrm>
            <a:custGeom>
              <a:avLst/>
              <a:gdLst/>
              <a:ahLst/>
              <a:cxnLst/>
              <a:rect l="l" t="t" r="r" b="b"/>
              <a:pathLst>
                <a:path w="9525" h="2560320">
                  <a:moveTo>
                    <a:pt x="0" y="0"/>
                  </a:moveTo>
                  <a:lnTo>
                    <a:pt x="0" y="256032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5153216"/>
              <a:ext cx="5610225" cy="9525"/>
            </a:xfrm>
            <a:custGeom>
              <a:avLst/>
              <a:gdLst/>
              <a:ahLst/>
              <a:cxnLst/>
              <a:rect l="l" t="t" r="r" b="b"/>
              <a:pathLst>
                <a:path w="5610225" h="9525">
                  <a:moveTo>
                    <a:pt x="0" y="0"/>
                  </a:moveTo>
                  <a:lnTo>
                    <a:pt x="5610225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81000" y="2592896"/>
              <a:ext cx="9525" cy="2560320"/>
            </a:xfrm>
            <a:custGeom>
              <a:avLst/>
              <a:gdLst/>
              <a:ahLst/>
              <a:cxnLst/>
              <a:rect l="l" t="t" r="r" b="b"/>
              <a:pathLst>
                <a:path w="9525" h="2560320">
                  <a:moveTo>
                    <a:pt x="0" y="0"/>
                  </a:moveTo>
                  <a:lnTo>
                    <a:pt x="0" y="256032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5788" y="2881027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可查證的協作問題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75310" y="3230118"/>
              <a:ext cx="303990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同一份配對規則做兩次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00075" y="3705416"/>
              <a:ext cx="2519362" cy="800100"/>
            </a:xfrm>
            <a:prstGeom prst="roundRect">
              <a:avLst>
                <a:gd name="adj" fmla="val 9524"/>
              </a:avLst>
            </a:prstGeom>
            <a:solidFill>
              <a:srgbClr val="0E1721"/>
            </a:solidFill>
            <a:ln w="9525">
              <a:solidFill>
                <a:srgbClr val="40536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1979" y="3857816"/>
              <a:ext cx="253555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Agent A：實作雙向 Like→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17571" y="4124516"/>
              <a:ext cx="68437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Match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252788" y="3705416"/>
              <a:ext cx="2519362" cy="800100"/>
            </a:xfrm>
            <a:prstGeom prst="roundRect">
              <a:avLst>
                <a:gd name="adj" fmla="val 9524"/>
              </a:avLst>
            </a:prstGeom>
            <a:solidFill>
              <a:srgbClr val="0E1721"/>
            </a:solidFill>
            <a:ln w="9525">
              <a:solidFill>
                <a:srgbClr val="40536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332321" y="3857816"/>
              <a:ext cx="236029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Agent B：又寫一次互相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60746" y="4124516"/>
              <a:ext cx="90344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Like判斷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43075" y="4667440"/>
              <a:ext cx="28860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重做「雙向喜歡才配對」規則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00775" y="2592896"/>
              <a:ext cx="5610225" cy="2560320"/>
            </a:xfrm>
            <a:prstGeom prst="roundRect">
              <a:avLst>
                <a:gd name="adj" fmla="val 4464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21" name="Line 21"/>
            <p:cNvSpPr/>
            <p:nvPr/>
          </p:nvSpPr>
          <p:spPr>
            <a:xfrm>
              <a:off x="6200775" y="2592896"/>
              <a:ext cx="5610225" cy="9525"/>
            </a:xfrm>
            <a:custGeom>
              <a:avLst/>
              <a:gdLst/>
              <a:ahLst/>
              <a:cxnLst/>
              <a:rect l="l" t="t" r="r" b="b"/>
              <a:pathLst>
                <a:path w="5610225" h="9525">
                  <a:moveTo>
                    <a:pt x="0" y="0"/>
                  </a:moveTo>
                  <a:lnTo>
                    <a:pt x="5610225" y="0"/>
                  </a:lnTo>
                </a:path>
              </a:pathLst>
            </a:custGeom>
            <a:noFill/>
            <a:ln w="28575">
              <a:solidFill>
                <a:srgbClr val="F2CF76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1811000" y="2592896"/>
              <a:ext cx="9525" cy="2560320"/>
            </a:xfrm>
            <a:custGeom>
              <a:avLst/>
              <a:gdLst/>
              <a:ahLst/>
              <a:cxnLst/>
              <a:rect l="l" t="t" r="r" b="b"/>
              <a:pathLst>
                <a:path w="9525" h="2560320">
                  <a:moveTo>
                    <a:pt x="0" y="0"/>
                  </a:moveTo>
                  <a:lnTo>
                    <a:pt x="0" y="256032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6200775" y="5153216"/>
              <a:ext cx="5610225" cy="9525"/>
            </a:xfrm>
            <a:custGeom>
              <a:avLst/>
              <a:gdLst/>
              <a:ahLst/>
              <a:cxnLst/>
              <a:rect l="l" t="t" r="r" b="b"/>
              <a:pathLst>
                <a:path w="5610225" h="9525">
                  <a:moveTo>
                    <a:pt x="0" y="0"/>
                  </a:moveTo>
                  <a:lnTo>
                    <a:pt x="5610225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6200775" y="2592896"/>
              <a:ext cx="9525" cy="2560320"/>
            </a:xfrm>
            <a:custGeom>
              <a:avLst/>
              <a:gdLst/>
              <a:ahLst/>
              <a:cxnLst/>
              <a:rect l="l" t="t" r="r" b="b"/>
              <a:pathLst>
                <a:path w="9525" h="2560320">
                  <a:moveTo>
                    <a:pt x="0" y="0"/>
                  </a:moveTo>
                  <a:lnTo>
                    <a:pt x="0" y="256032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05562" y="2852452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社群經驗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95085" y="3201543"/>
              <a:ext cx="393701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看不到「不重複配對」的進度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419850" y="3810190"/>
              <a:ext cx="2356866" cy="990600"/>
            </a:xfrm>
            <a:prstGeom prst="roundRect">
              <a:avLst>
                <a:gd name="adj" fmla="val 7692"/>
              </a:avLst>
            </a:prstGeom>
            <a:solidFill>
              <a:srgbClr val="1B1A16"/>
            </a:solidFill>
            <a:ln w="9525">
              <a:solidFill>
                <a:srgbClr val="584F39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8136" y="3924490"/>
              <a:ext cx="236029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4D7B3"/>
                  </a:solidFill>
                  <a:latin typeface="Arial"/>
                  <a:ea typeface="Microsoft YaHei"/>
                  <a:cs typeface="Arial"/>
                </a:rPr>
                <a:t>Agent A其他規則已測「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83858" y="4191190"/>
              <a:ext cx="2228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4D7B3"/>
                  </a:solidFill>
                  <a:latin typeface="Arial"/>
                  <a:ea typeface="Microsoft YaHei"/>
                  <a:cs typeface="Arial"/>
                </a:rPr>
                <a:t>不重複配對」尚未交接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929116" y="4200716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9289"/>
                  </a:solidFill>
                  <a:latin typeface="Arial"/>
                  <a:ea typeface="Microsoft YaHei"/>
                  <a:cs typeface="Arial"/>
                </a:rPr>
                <a:t>×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234964" y="3676840"/>
              <a:ext cx="2356961" cy="1257300"/>
            </a:xfrm>
            <a:prstGeom prst="roundRect">
              <a:avLst>
                <a:gd name="adj" fmla="val 6061"/>
              </a:avLst>
            </a:prstGeom>
            <a:solidFill>
              <a:srgbClr val="1B1A16"/>
            </a:solidFill>
            <a:ln w="9525">
              <a:solidFill>
                <a:srgbClr val="584F39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233249" y="3791140"/>
              <a:ext cx="236029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4D7B3"/>
                  </a:solidFill>
                  <a:latin typeface="Arial"/>
                  <a:ea typeface="Microsoft YaHei"/>
                  <a:cs typeface="Arial"/>
                </a:rPr>
                <a:t>Agent B看板沒記錄「不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189434" y="4057840"/>
              <a:ext cx="24479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4D7B3"/>
                  </a:solidFill>
                  <a:latin typeface="Arial"/>
                  <a:ea typeface="Microsoft YaHei"/>
                  <a:cs typeface="Arial"/>
                </a:rPr>
                <a:t>重複配對」不確定是否要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175272" y="4324540"/>
              <a:ext cx="476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4D7B3"/>
                  </a:solidFill>
                  <a:latin typeface="Arial"/>
                  <a:ea typeface="Microsoft YaHei"/>
                  <a:cs typeface="Arial"/>
                </a:rPr>
                <a:t>重測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68618" y="6531864"/>
              <a:ext cx="87894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EBDCD"/>
                  </a:solidFill>
                  <a:latin typeface="Arial"/>
                  <a:ea typeface="Microsoft YaHei"/>
                  <a:cs typeface="Arial"/>
                </a:rPr>
                <a:t>Stanford HAI〈 AI Coding Agents Fail at Teamwork〉， Talk Is Cheap（重複工作）；社群經驗（資訊孤島）｜案例： #3雙向喜歡才配對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0" name="Group 30"/>
          <p:cNvGrpSpPr/>
          <p:nvPr/>
        </p:nvGrpSpPr>
        <p:grpSpPr>
          <a:xfrm>
            <a:off x="346710" y="299085"/>
            <a:ext cx="14044470" cy="6431090"/>
            <a:chOff x="346710" y="299085"/>
            <a:chExt cx="14044470" cy="6431090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607233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SHIFT：小偏誤會隨迭代一路放大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648111"/>
              <a:ext cx="1981200" cy="292894"/>
            </a:xfrm>
            <a:prstGeom prst="roundRect">
              <a:avLst>
                <a:gd name="adj" fmla="val 19512"/>
              </a:avLst>
            </a:prstGeom>
            <a:solidFill>
              <a:srgbClr val="14231B"/>
            </a:solidFill>
            <a:ln w="9525">
              <a:solidFill>
                <a:srgbClr val="53775C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452438" y="1717167"/>
              <a:ext cx="21678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3F0D0"/>
                  </a:solidFill>
                  <a:latin typeface="Arial"/>
                  <a:ea typeface="Microsoft YaHei"/>
                  <a:cs typeface="Arial"/>
                </a:rPr>
                <a:t>案例票｜ #3雙向喜歡才配對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381000" y="2131504"/>
              <a:ext cx="11430000" cy="619125"/>
            </a:xfrm>
            <a:prstGeom prst="roundRect">
              <a:avLst>
                <a:gd name="adj" fmla="val 13846"/>
              </a:avLst>
            </a:prstGeom>
            <a:solidFill>
              <a:srgbClr val="211E15"/>
            </a:solidFill>
            <a:ln w="9525">
              <a:solidFill>
                <a:srgbClr val="725B3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2283904"/>
              <a:ext cx="742950" cy="314325"/>
            </a:xfrm>
            <a:prstGeom prst="roundRect">
              <a:avLst>
                <a:gd name="adj" fmla="val 15152"/>
              </a:avLst>
            </a:prstGeom>
            <a:solidFill>
              <a:srgbClr val="4E3E2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42938" y="236248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E3A0"/>
                  </a:solidFill>
                  <a:latin typeface="Arial"/>
                  <a:ea typeface="Microsoft YaHei"/>
                  <a:cs typeface="Arial"/>
                </a:rPr>
                <a:t>社群經驗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66850" y="2336292"/>
              <a:ext cx="49262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沒有 re-anchor，工作可能逐步偏離初始目標。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81000" y="2941129"/>
              <a:ext cx="2286000" cy="1952625"/>
            </a:xfrm>
            <a:prstGeom prst="roundRect">
              <a:avLst>
                <a:gd name="adj" fmla="val 4878"/>
              </a:avLst>
            </a:prstGeom>
            <a:solidFill>
              <a:srgbClr val="121C28"/>
            </a:solidFill>
            <a:ln w="9525">
              <a:solidFill>
                <a:srgbClr val="3C506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81100" y="3256978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原始目標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2604" y="3596545"/>
              <a:ext cx="214279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讓互相喜歡的兩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2604" y="3943255"/>
              <a:ext cx="214279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人能確認配對成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49716" y="4289965"/>
              <a:ext cx="3485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29057" y="2983992"/>
              <a:ext cx="23788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429000" y="2941129"/>
              <a:ext cx="2286000" cy="1952625"/>
            </a:xfrm>
            <a:prstGeom prst="roundRect">
              <a:avLst>
                <a:gd name="adj" fmla="val 4878"/>
              </a:avLst>
            </a:prstGeom>
            <a:solidFill>
              <a:srgbClr val="121C28"/>
            </a:solidFill>
            <a:ln w="9525">
              <a:solidFill>
                <a:srgbClr val="3C506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229100" y="3603593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一次交接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99642" y="3943159"/>
              <a:ext cx="154471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一點小偏誤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977057" y="2983992"/>
              <a:ext cx="23788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477000" y="2941129"/>
              <a:ext cx="2286000" cy="1952625"/>
            </a:xfrm>
            <a:prstGeom prst="roundRect">
              <a:avLst>
                <a:gd name="adj" fmla="val 4878"/>
              </a:avLst>
            </a:prstGeom>
            <a:solidFill>
              <a:srgbClr val="121C28"/>
            </a:solidFill>
            <a:ln w="9525">
              <a:solidFill>
                <a:srgbClr val="3C506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194947" y="3603593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再一輪迭代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98123" y="3943159"/>
              <a:ext cx="184375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偏誤繼續累積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25057" y="2983992"/>
              <a:ext cx="23788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525000" y="2941129"/>
              <a:ext cx="2286000" cy="1952625"/>
            </a:xfrm>
            <a:prstGeom prst="roundRect">
              <a:avLst>
                <a:gd name="adj" fmla="val 4878"/>
              </a:avLst>
            </a:prstGeom>
            <a:solidFill>
              <a:srgbClr val="211E15"/>
            </a:solidFill>
            <a:ln w="9525">
              <a:solidFill>
                <a:srgbClr val="725B37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160794" y="3603593"/>
              <a:ext cx="1014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沒有拉回目標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45160" y="3943159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DDA0"/>
                  </a:solidFill>
                  <a:latin typeface="Arial"/>
                  <a:ea typeface="Microsoft YaHei"/>
                  <a:cs typeface="Arial"/>
                </a:rPr>
                <a:t>逐步偏離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43425" y="5112830"/>
              <a:ext cx="31051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這是風險示意，不是量化結果。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8618" y="6358700"/>
              <a:ext cx="14022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EBDCD"/>
                  </a:solidFill>
                  <a:latin typeface="Arial"/>
                  <a:ea typeface="Microsoft YaHei"/>
                  <a:cs typeface="Arial"/>
                </a:rPr>
                <a:t>社群經驗｜ Anthropic〈 How we built our multi-agent research system〉， Production reliability and engineering challenges； LangChain〈 Benchmarking Multi-Agent Architectures〉， Results&amp; Analysis；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8618" y="6532055"/>
              <a:ext cx="63686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EBDCD"/>
                  </a:solidFill>
                  <a:latin typeface="Arial"/>
                  <a:ea typeface="Microsoft YaHei"/>
                  <a:cs typeface="Arial"/>
                </a:rPr>
                <a:t>Stanford HAI〈 AI Coding Agents Fail at Teamwork〉， Talk Is Cheap｜案例： #3雙向喜歡才配對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2229" y="2429637"/>
            <a:ext cx="12067543" cy="3084862"/>
            <a:chOff x="62229" y="2429637"/>
            <a:chExt cx="12067543" cy="3084862"/>
          </a:xfrm>
        </p:grpSpPr>
        <p:sp>
          <p:nvSpPr>
            <p:cNvPr id="3" name="TextBox 3"/>
            <p:cNvSpPr txBox="1"/>
            <p:nvPr/>
          </p:nvSpPr>
          <p:spPr>
            <a:xfrm>
              <a:off x="5455510" y="2429637"/>
              <a:ext cx="1280979" cy="1341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6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31907" y="3437382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第六段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2229" y="3967353"/>
              <a:ext cx="12067543" cy="877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2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為什麼多 Agent要配合軟體工程：五個原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709895" y="4636675"/>
              <a:ext cx="772211" cy="877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2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則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55" name="Group 55"/>
          <p:cNvGrpSpPr/>
          <p:nvPr/>
        </p:nvGrpSpPr>
        <p:grpSpPr>
          <a:xfrm>
            <a:off x="346710" y="299085"/>
            <a:ext cx="11464290" cy="6430899"/>
            <a:chOff x="346710" y="299085"/>
            <a:chExt cx="11464290" cy="6430899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816329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五個原則，逐一回應 Chat與多 Agent的問題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725138"/>
              <a:ext cx="1981200" cy="292894"/>
            </a:xfrm>
            <a:prstGeom prst="roundRect">
              <a:avLst>
                <a:gd name="adj" fmla="val 19512"/>
              </a:avLst>
            </a:prstGeom>
            <a:solidFill>
              <a:srgbClr val="14231B"/>
            </a:solidFill>
            <a:ln w="9525">
              <a:solidFill>
                <a:srgbClr val="53775C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452438" y="794194"/>
              <a:ext cx="21678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3F0D0"/>
                  </a:solidFill>
                  <a:latin typeface="Arial"/>
                  <a:ea typeface="Microsoft YaHei"/>
                  <a:cs typeface="Arial"/>
                </a:rPr>
                <a:t>案例票｜ #3雙向喜歡才配對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381000" y="1208532"/>
              <a:ext cx="11430000" cy="971550"/>
            </a:xfrm>
            <a:prstGeom prst="roundRect">
              <a:avLst>
                <a:gd name="adj" fmla="val 8824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42925" y="1313307"/>
              <a:ext cx="4833080" cy="762000"/>
            </a:xfrm>
            <a:prstGeom prst="roundRect">
              <a:avLst>
                <a:gd name="adj" fmla="val 15000"/>
              </a:avLst>
            </a:prstGeom>
            <a:solidFill>
              <a:srgbClr val="1B1A1B"/>
            </a:solidFill>
            <a:ln w="9525">
              <a:solidFill>
                <a:srgbClr val="4A424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28662" y="1458563"/>
              <a:ext cx="33064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9AAA0"/>
                  </a:solidFill>
                  <a:latin typeface="Arial"/>
                  <a:ea typeface="Microsoft YaHei"/>
                  <a:cs typeface="Arial"/>
                </a:rPr>
                <a:t>4– 5｜資訊留在對話、換站難交接、資訊孤島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23900" y="1713357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現況容易遺漏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547455" y="1684782"/>
              <a:ext cx="1097185" cy="19050"/>
            </a:xfrm>
            <a:prstGeom prst="rect">
              <a:avLst/>
            </a:prstGeom>
            <a:solidFill>
              <a:srgbClr val="F2CF7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815995" y="1313307"/>
              <a:ext cx="4833080" cy="762000"/>
            </a:xfrm>
            <a:prstGeom prst="roundRect">
              <a:avLst>
                <a:gd name="adj" fmla="val 15000"/>
              </a:avLst>
            </a:prstGeom>
            <a:solidFill>
              <a:srgbClr val="142235"/>
            </a:solidFill>
            <a:ln w="9525">
              <a:solidFill>
                <a:srgbClr val="3B5D7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001732" y="1458563"/>
              <a:ext cx="455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原則 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996970" y="1713357"/>
              <a:ext cx="22693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External task state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98242" y="1713357"/>
              <a:ext cx="1352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4E0EC"/>
                  </a:solidFill>
                  <a:latin typeface="Arial"/>
                  <a:ea typeface="Microsoft YaHei"/>
                  <a:cs typeface="Arial"/>
                </a:rPr>
                <a:t>狀態留在票上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81000" y="2275332"/>
              <a:ext cx="11430000" cy="971550"/>
            </a:xfrm>
            <a:prstGeom prst="roundRect">
              <a:avLst>
                <a:gd name="adj" fmla="val 8824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2380107"/>
              <a:ext cx="4833080" cy="762000"/>
            </a:xfrm>
            <a:prstGeom prst="roundRect">
              <a:avLst>
                <a:gd name="adj" fmla="val 15000"/>
              </a:avLst>
            </a:prstGeom>
            <a:solidFill>
              <a:srgbClr val="1B1A1B"/>
            </a:solidFill>
            <a:ln w="9525">
              <a:solidFill>
                <a:srgbClr val="4A424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8662" y="2525363"/>
              <a:ext cx="25835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9AAA0"/>
                  </a:solidFill>
                  <a:latin typeface="Arial"/>
                  <a:ea typeface="Microsoft YaHei"/>
                  <a:cs typeface="Arial"/>
                </a:rPr>
                <a:t>4｜長任務反覆追問、工作沒有停點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3900" y="2780157"/>
              <a:ext cx="18783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範圍與停止點不清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547455" y="2751582"/>
              <a:ext cx="1097185" cy="19050"/>
            </a:xfrm>
            <a:prstGeom prst="rect">
              <a:avLst/>
            </a:prstGeom>
            <a:solidFill>
              <a:srgbClr val="F2CF76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815995" y="2380107"/>
              <a:ext cx="4833080" cy="762000"/>
            </a:xfrm>
            <a:prstGeom prst="roundRect">
              <a:avLst>
                <a:gd name="adj" fmla="val 15000"/>
              </a:avLst>
            </a:prstGeom>
            <a:solidFill>
              <a:srgbClr val="142235"/>
            </a:solidFill>
            <a:ln w="9525">
              <a:solidFill>
                <a:srgbClr val="3B5D7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001732" y="2525363"/>
              <a:ext cx="4968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原則 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96970" y="2780157"/>
              <a:ext cx="9237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Bounded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96970" y="3046857"/>
              <a:ext cx="111923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execution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842820" y="2780157"/>
              <a:ext cx="1352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4E0EC"/>
                  </a:solidFill>
                  <a:latin typeface="Arial"/>
                  <a:ea typeface="Microsoft YaHei"/>
                  <a:cs typeface="Arial"/>
                </a:rPr>
                <a:t>切小並設停點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81000" y="3342132"/>
              <a:ext cx="11430000" cy="971550"/>
            </a:xfrm>
            <a:prstGeom prst="roundRect">
              <a:avLst>
                <a:gd name="adj" fmla="val 8824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3446907"/>
              <a:ext cx="4833080" cy="762000"/>
            </a:xfrm>
            <a:prstGeom prst="roundRect">
              <a:avLst>
                <a:gd name="adj" fmla="val 15000"/>
              </a:avLst>
            </a:prstGeom>
            <a:solidFill>
              <a:srgbClr val="1B1A1B"/>
            </a:solidFill>
            <a:ln w="9525">
              <a:solidFill>
                <a:srgbClr val="4A4240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28662" y="3592163"/>
              <a:ext cx="29778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9AAA0"/>
                  </a:solidFill>
                  <a:latin typeface="Arial"/>
                  <a:ea typeface="Microsoft YaHei"/>
                  <a:cs typeface="Arial"/>
                </a:rPr>
                <a:t>4– 5｜一人分飾多角、各站需要不同資訊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3900" y="3846957"/>
              <a:ext cx="18783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角色責任混在一起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547455" y="3818382"/>
              <a:ext cx="1097185" cy="19050"/>
            </a:xfrm>
            <a:prstGeom prst="rect">
              <a:avLst/>
            </a:prstGeom>
            <a:solidFill>
              <a:srgbClr val="F2CF76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815995" y="3446907"/>
              <a:ext cx="4833080" cy="762000"/>
            </a:xfrm>
            <a:prstGeom prst="roundRect">
              <a:avLst>
                <a:gd name="adj" fmla="val 15000"/>
              </a:avLst>
            </a:prstGeom>
            <a:solidFill>
              <a:srgbClr val="142235"/>
            </a:solidFill>
            <a:ln w="9525">
              <a:solidFill>
                <a:srgbClr val="3B5D7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001732" y="3592163"/>
              <a:ext cx="4968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原則 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96970" y="3846957"/>
              <a:ext cx="4866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Role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96970" y="4113657"/>
              <a:ext cx="124575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separation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17446" y="3846957"/>
              <a:ext cx="1352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4E0EC"/>
                  </a:solidFill>
                  <a:latin typeface="Arial"/>
                  <a:ea typeface="Microsoft YaHei"/>
                  <a:cs typeface="Arial"/>
                </a:rPr>
                <a:t>依責任分角色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81000" y="4408932"/>
              <a:ext cx="11430000" cy="971550"/>
            </a:xfrm>
            <a:prstGeom prst="roundRect">
              <a:avLst>
                <a:gd name="adj" fmla="val 8824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42925" y="4513707"/>
              <a:ext cx="4833080" cy="762000"/>
            </a:xfrm>
            <a:prstGeom prst="roundRect">
              <a:avLst>
                <a:gd name="adj" fmla="val 15000"/>
              </a:avLst>
            </a:prstGeom>
            <a:solidFill>
              <a:srgbClr val="1B1A1B"/>
            </a:solidFill>
            <a:ln w="9525">
              <a:solidFill>
                <a:srgbClr val="4A4240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28662" y="4658963"/>
              <a:ext cx="1926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9AAA0"/>
                  </a:solidFill>
                  <a:latin typeface="Arial"/>
                  <a:ea typeface="Microsoft YaHei"/>
                  <a:cs typeface="Arial"/>
                </a:rPr>
                <a:t>5｜交接失真、衝突、重工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3900" y="4913757"/>
              <a:ext cx="233838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完成回報缺少獨立核對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547455" y="4885182"/>
              <a:ext cx="1097185" cy="19050"/>
            </a:xfrm>
            <a:prstGeom prst="rect">
              <a:avLst/>
            </a:prstGeom>
            <a:solidFill>
              <a:srgbClr val="F2CF7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815995" y="4513707"/>
              <a:ext cx="4833080" cy="762000"/>
            </a:xfrm>
            <a:prstGeom prst="roundRect">
              <a:avLst>
                <a:gd name="adj" fmla="val 15000"/>
              </a:avLst>
            </a:prstGeom>
            <a:solidFill>
              <a:srgbClr val="142235"/>
            </a:solidFill>
            <a:ln w="9525">
              <a:solidFill>
                <a:srgbClr val="3B5D7B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01732" y="4658963"/>
              <a:ext cx="4968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原則 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96970" y="4913757"/>
              <a:ext cx="137226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Independent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96970" y="5180457"/>
              <a:ext cx="138376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verification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282303" y="4913757"/>
              <a:ext cx="1352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4E0EC"/>
                  </a:solidFill>
                  <a:latin typeface="Arial"/>
                  <a:ea typeface="Microsoft YaHei"/>
                  <a:cs typeface="Arial"/>
                </a:rPr>
                <a:t>由另一站核對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81000" y="5475732"/>
              <a:ext cx="11430000" cy="971550"/>
            </a:xfrm>
            <a:prstGeom prst="roundRect">
              <a:avLst>
                <a:gd name="adj" fmla="val 8824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542925" y="5580507"/>
              <a:ext cx="4833080" cy="762000"/>
            </a:xfrm>
            <a:prstGeom prst="roundRect">
              <a:avLst>
                <a:gd name="adj" fmla="val 15000"/>
              </a:avLst>
            </a:prstGeom>
            <a:solidFill>
              <a:srgbClr val="1B1A1B"/>
            </a:solidFill>
            <a:ln w="9525">
              <a:solidFill>
                <a:srgbClr val="4A4240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28662" y="5725763"/>
              <a:ext cx="17784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9AAA0"/>
                  </a:solidFill>
                  <a:latin typeface="Arial"/>
                  <a:ea typeface="Microsoft YaHei"/>
                  <a:cs typeface="Arial"/>
                </a:rPr>
                <a:t>5-5｜小偏誤隨迭代放大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23900" y="5980557"/>
              <a:ext cx="18783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目標可能逐步偏離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547455" y="5951982"/>
              <a:ext cx="1097185" cy="19050"/>
            </a:xfrm>
            <a:prstGeom prst="rect">
              <a:avLst/>
            </a:prstGeom>
            <a:solidFill>
              <a:srgbClr val="F2CF76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815995" y="5580507"/>
              <a:ext cx="4833080" cy="762000"/>
            </a:xfrm>
            <a:prstGeom prst="roundRect">
              <a:avLst>
                <a:gd name="adj" fmla="val 15000"/>
              </a:avLst>
            </a:prstGeom>
            <a:solidFill>
              <a:srgbClr val="142235"/>
            </a:solidFill>
            <a:ln w="9525">
              <a:solidFill>
                <a:srgbClr val="3B5D7B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001732" y="5725763"/>
              <a:ext cx="4968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原則 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996970" y="5980557"/>
              <a:ext cx="20163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Goal re-anchoring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765667" y="5980557"/>
              <a:ext cx="1352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4E0EC"/>
                  </a:solidFill>
                  <a:latin typeface="Arial"/>
                  <a:ea typeface="Microsoft YaHei"/>
                  <a:cs typeface="Arial"/>
                </a:rPr>
                <a:t>回查原始目標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68618" y="6531864"/>
              <a:ext cx="10021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EBDCD"/>
                  </a:solidFill>
                  <a:latin typeface="Arial"/>
                  <a:ea typeface="Microsoft YaHei"/>
                  <a:cs typeface="Arial"/>
                </a:rPr>
                <a:t>李宏毅 2026講義， PDF第 47– 52頁； Stanford CS329A， 42:21– 42:45、 47:03– 47:24；李宏毅 2024 Agent講義， PDF第 10頁｜案例： #3雙向喜歡才配對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16" name="Group 16"/>
          <p:cNvGrpSpPr/>
          <p:nvPr/>
        </p:nvGrpSpPr>
        <p:grpSpPr>
          <a:xfrm>
            <a:off x="346710" y="299085"/>
            <a:ext cx="11464290" cy="4897660"/>
            <a:chOff x="346710" y="299085"/>
            <a:chExt cx="11464290" cy="4897660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408488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External task state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2339245"/>
              <a:ext cx="5353050" cy="2857500"/>
            </a:xfrm>
            <a:prstGeom prst="roundRect">
              <a:avLst>
                <a:gd name="adj" fmla="val 4667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2781300" y="3129820"/>
              <a:ext cx="552450" cy="552450"/>
            </a:xfrm>
            <a:prstGeom prst="roundRect">
              <a:avLst>
                <a:gd name="adj" fmla="val 24138"/>
              </a:avLst>
            </a:prstGeom>
            <a:solidFill>
              <a:srgbClr val="2D2638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2843524" y="3204115"/>
              <a:ext cx="428001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D4B4FF"/>
                  </a:solidFill>
                  <a:latin typeface="Arial"/>
                  <a:ea typeface="Microsoft YaHei"/>
                  <a:cs typeface="Arial"/>
                </a:rPr>
                <a:t>…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81305" y="3806095"/>
              <a:ext cx="275243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Chat-driven｜靠對話推進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271712" y="4168045"/>
              <a:ext cx="1571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狀態藏在對話裡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13692" y="3663220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457950" y="2339245"/>
              <a:ext cx="5353050" cy="2857500"/>
            </a:xfrm>
            <a:prstGeom prst="roundRect">
              <a:avLst>
                <a:gd name="adj" fmla="val 4667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8858250" y="2910745"/>
              <a:ext cx="552450" cy="552450"/>
            </a:xfrm>
            <a:prstGeom prst="roundRect">
              <a:avLst>
                <a:gd name="adj" fmla="val 24138"/>
              </a:avLst>
            </a:prstGeom>
            <a:solidFill>
              <a:srgbClr val="26384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56004" y="2985040"/>
              <a:ext cx="756942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05224" y="3587020"/>
              <a:ext cx="325850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Work-driven｜依票上狀態推進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88793" y="3948970"/>
              <a:ext cx="329136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GitHub Issue／看板留下工作狀態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46754" y="4387120"/>
              <a:ext cx="277544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新 Session讀票，不讀聊天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346710" y="299085"/>
            <a:ext cx="11464290" cy="4564285"/>
            <a:chOff x="346710" y="299085"/>
            <a:chExt cx="11464290" cy="456428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373293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Bounded execution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2672620"/>
              <a:ext cx="11430000" cy="2190750"/>
            </a:xfrm>
            <a:prstGeom prst="roundRect">
              <a:avLst>
                <a:gd name="adj" fmla="val 6087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390525" y="2682145"/>
              <a:ext cx="11410950" cy="552450"/>
            </a:xfrm>
            <a:prstGeom prst="rect">
              <a:avLst/>
            </a:prstGeom>
            <a:solidFill>
              <a:srgbClr val="172536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61975" y="2853595"/>
              <a:ext cx="89249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ISSUE #3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49444" y="2853595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3377470"/>
              <a:ext cx="2717006" cy="1162050"/>
            </a:xfrm>
            <a:prstGeom prst="roundRect">
              <a:avLst>
                <a:gd name="adj" fmla="val 7377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47700" y="3539395"/>
              <a:ext cx="2911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AC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7700" y="3901345"/>
              <a:ext cx="2667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AD4DF"/>
                  </a:solidFill>
                  <a:latin typeface="Arial"/>
                  <a:ea typeface="Microsoft YaHei"/>
                  <a:cs typeface="Arial"/>
                </a:rPr>
                <a:t>單向不配對、雙向才配對、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7700" y="4168045"/>
              <a:ext cx="1133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AD4DF"/>
                  </a:solidFill>
                  <a:latin typeface="Arial"/>
                  <a:ea typeface="Microsoft YaHei"/>
                  <a:cs typeface="Arial"/>
                </a:rPr>
                <a:t>重複不增筆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336131" y="3377470"/>
              <a:ext cx="2717006" cy="1162050"/>
            </a:xfrm>
            <a:prstGeom prst="roundRect">
              <a:avLst>
                <a:gd name="adj" fmla="val 7377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450431" y="3539395"/>
              <a:ext cx="160229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Out-of-scope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50431" y="3901345"/>
              <a:ext cx="2228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AD4DF"/>
                  </a:solidFill>
                  <a:latin typeface="Arial"/>
                  <a:ea typeface="Microsoft YaHei"/>
                  <a:cs typeface="Arial"/>
                </a:rPr>
                <a:t>聊天、推薦、解除配對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138862" y="3377470"/>
              <a:ext cx="2717006" cy="1162050"/>
            </a:xfrm>
            <a:prstGeom prst="roundRect">
              <a:avLst>
                <a:gd name="adj" fmla="val 7377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53162" y="3539395"/>
              <a:ext cx="106172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Stop rule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53162" y="3901345"/>
              <a:ext cx="2228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AD4DF"/>
                  </a:solidFill>
                  <a:latin typeface="Arial"/>
                  <a:ea typeface="Microsoft YaHei"/>
                  <a:cs typeface="Arial"/>
                </a:rPr>
                <a:t>超出核准範圍，先停下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941594" y="3377470"/>
              <a:ext cx="2717006" cy="1162050"/>
            </a:xfrm>
            <a:prstGeom prst="roundRect">
              <a:avLst>
                <a:gd name="adj" fmla="val 7377"/>
              </a:avLst>
            </a:prstGeom>
            <a:solidFill>
              <a:srgbClr val="18283A"/>
            </a:solidFill>
            <a:ln w="9525">
              <a:solidFill>
                <a:srgbClr val="536B89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55894" y="3539395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WIP= 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55894" y="3901345"/>
              <a:ext cx="1352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AD4DF"/>
                  </a:solidFill>
                  <a:latin typeface="Arial"/>
                  <a:ea typeface="Microsoft YaHei"/>
                  <a:cs typeface="Arial"/>
                </a:rPr>
                <a:t>一次只做一張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7" name="Group 27"/>
          <p:cNvGrpSpPr/>
          <p:nvPr/>
        </p:nvGrpSpPr>
        <p:grpSpPr>
          <a:xfrm>
            <a:off x="346710" y="299085"/>
            <a:ext cx="11464290" cy="4802410"/>
            <a:chOff x="346710" y="299085"/>
            <a:chExt cx="11464290" cy="4802410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317396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Role separation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2434495"/>
              <a:ext cx="2714625" cy="2667000"/>
            </a:xfrm>
            <a:prstGeom prst="roundRect">
              <a:avLst>
                <a:gd name="adj" fmla="val 4286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1490662" y="3167920"/>
              <a:ext cx="495300" cy="495300"/>
            </a:xfrm>
            <a:prstGeom prst="roundRect">
              <a:avLst>
                <a:gd name="adj" fmla="val 50000"/>
              </a:avLst>
            </a:prstGeom>
            <a:solidFill>
              <a:srgbClr val="263C58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656005" y="319649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P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06173" y="3777520"/>
              <a:ext cx="146427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PO/PM Agent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71575" y="4129945"/>
              <a:ext cx="1133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規劃與接受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286125" y="2434495"/>
              <a:ext cx="2714625" cy="2667000"/>
            </a:xfrm>
            <a:prstGeom prst="roundRect">
              <a:avLst>
                <a:gd name="adj" fmla="val 4286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4395788" y="3167920"/>
              <a:ext cx="495300" cy="495300"/>
            </a:xfrm>
            <a:prstGeom prst="roundRect">
              <a:avLst>
                <a:gd name="adj" fmla="val 50000"/>
              </a:avLst>
            </a:prstGeom>
            <a:solidFill>
              <a:srgbClr val="263C5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561130" y="319649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83820" y="3777520"/>
              <a:ext cx="111923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Developer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08098" y="4044220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Agent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86238" y="4129945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依票實作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191250" y="2434495"/>
              <a:ext cx="2714625" cy="2667000"/>
            </a:xfrm>
            <a:prstGeom prst="roundRect">
              <a:avLst>
                <a:gd name="adj" fmla="val 4286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300912" y="3167920"/>
              <a:ext cx="495300" cy="495300"/>
            </a:xfrm>
            <a:prstGeom prst="roundRect">
              <a:avLst>
                <a:gd name="adj" fmla="val 50000"/>
              </a:avLst>
            </a:prstGeom>
            <a:solidFill>
              <a:srgbClr val="263C5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66255" y="319649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94696" y="3777520"/>
              <a:ext cx="110773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PR Review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13223" y="4044220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Agent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91362" y="4129945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獨立審查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096375" y="2434495"/>
              <a:ext cx="2714625" cy="2667000"/>
            </a:xfrm>
            <a:prstGeom prst="roundRect">
              <a:avLst>
                <a:gd name="adj" fmla="val 4286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0206038" y="3167920"/>
              <a:ext cx="495300" cy="495300"/>
            </a:xfrm>
            <a:prstGeom prst="roundRect">
              <a:avLst>
                <a:gd name="adj" fmla="val 50000"/>
              </a:avLst>
            </a:prstGeom>
            <a:solidFill>
              <a:srgbClr val="263C5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348377" y="3196495"/>
              <a:ext cx="21062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Q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85119" y="3777520"/>
              <a:ext cx="33713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QA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118348" y="4044220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Agent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952672" y="4129945"/>
              <a:ext cx="10020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依 AC驗證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16" name="Group 16"/>
          <p:cNvGrpSpPr/>
          <p:nvPr/>
        </p:nvGrpSpPr>
        <p:grpSpPr>
          <a:xfrm>
            <a:off x="346710" y="299085"/>
            <a:ext cx="11464290" cy="4850035"/>
            <a:chOff x="346710" y="299085"/>
            <a:chExt cx="11464290" cy="485003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501649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Independent verification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2386870"/>
              <a:ext cx="5310188" cy="2095500"/>
            </a:xfrm>
            <a:prstGeom prst="roundRect">
              <a:avLst>
                <a:gd name="adj" fmla="val 5455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2125682" y="3139345"/>
              <a:ext cx="182082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Developer Agent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469356" y="3520345"/>
              <a:ext cx="1133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「做好了」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3692" y="332984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500812" y="2386870"/>
              <a:ext cx="5310188" cy="2095500"/>
            </a:xfrm>
            <a:prstGeom prst="roundRect">
              <a:avLst>
                <a:gd name="adj" fmla="val 5455"/>
              </a:avLst>
            </a:prstGeom>
            <a:solidFill>
              <a:srgbClr val="121C28"/>
            </a:solidFill>
            <a:ln w="9525">
              <a:solidFill>
                <a:srgbClr val="42694D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36544" y="2948845"/>
              <a:ext cx="10387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QA Agent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72926" y="3329845"/>
              <a:ext cx="196596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C5D5C9"/>
                  </a:solidFill>
                  <a:latin typeface="Arial"/>
                  <a:ea typeface="Microsoft YaHei"/>
                  <a:cs typeface="Arial"/>
                </a:rPr>
                <a:t>核對 #3的 AC與證據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23455" y="3710845"/>
              <a:ext cx="246490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PASS／ FAIL／ NOT RUN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81000" y="4672870"/>
              <a:ext cx="11430000" cy="476250"/>
            </a:xfrm>
            <a:prstGeom prst="rect">
              <a:avLst/>
            </a:prstGeom>
            <a:solidFill>
              <a:srgbClr val="131E2B"/>
            </a:solidFill>
            <a:ln>
              <a:noFill/>
            </a:ln>
          </p:spPr>
        </p:sp>
        <p:sp>
          <p:nvSpPr>
            <p:cNvPr id="13" name="Line 13"/>
            <p:cNvSpPr/>
            <p:nvPr/>
          </p:nvSpPr>
          <p:spPr>
            <a:xfrm>
              <a:off x="381000" y="467287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42925" y="4806220"/>
              <a:ext cx="4176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DoD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6890" y="4806220"/>
              <a:ext cx="578881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PR Review、 QA與 Developer分開；只認證據，不認自述。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15" name="Group 15"/>
          <p:cNvGrpSpPr/>
          <p:nvPr/>
        </p:nvGrpSpPr>
        <p:grpSpPr>
          <a:xfrm>
            <a:off x="-380286" y="299085"/>
            <a:ext cx="12952571" cy="4507135"/>
            <a:chOff x="-380286" y="299085"/>
            <a:chExt cx="12952571" cy="450713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29378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Goal re-anchoring：回到 parent Goal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2529745"/>
              <a:ext cx="11430000" cy="609600"/>
            </a:xfrm>
            <a:prstGeom prst="roundRect">
              <a:avLst>
                <a:gd name="adj" fmla="val 12500"/>
              </a:avLst>
            </a:prstGeom>
            <a:solidFill>
              <a:srgbClr val="211D14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2529745"/>
              <a:ext cx="9525" cy="609600"/>
            </a:xfrm>
            <a:custGeom>
              <a:avLst/>
              <a:gdLst/>
              <a:ahLst/>
              <a:cxnLst/>
              <a:rect l="l" t="t" r="r" b="b"/>
              <a:pathLst>
                <a:path w="9525"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noFill/>
            <a:ln w="38100">
              <a:solidFill>
                <a:srgbClr val="F2CF7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2450" y="2729770"/>
              <a:ext cx="61108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E5A6"/>
                  </a:solidFill>
                  <a:latin typeface="Arial"/>
                  <a:ea typeface="Microsoft YaHei"/>
                  <a:cs typeface="Arial"/>
                </a:rPr>
                <a:t>「功能完全符合 AC，但這根本不是我們現在需要的東西。」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519862" y="3329845"/>
              <a:ext cx="5291138" cy="952500"/>
            </a:xfrm>
            <a:prstGeom prst="roundRect">
              <a:avLst>
                <a:gd name="adj" fmla="val 10000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96238" y="3529870"/>
              <a:ext cx="233838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Product / Goal Check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74142" y="3872770"/>
              <a:ext cx="15825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不要繼續 patch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86438" y="3796570"/>
              <a:ext cx="457200" cy="19050"/>
            </a:xfrm>
            <a:prstGeom prst="rect">
              <a:avLst/>
            </a:prstGeom>
            <a:solidFill>
              <a:srgbClr val="F2CF7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381000" y="3329845"/>
              <a:ext cx="5291138" cy="952500"/>
            </a:xfrm>
            <a:prstGeom prst="roundRect">
              <a:avLst>
                <a:gd name="adj" fmla="val 10000"/>
              </a:avLst>
            </a:prstGeom>
            <a:solidFill>
              <a:srgbClr val="14231B"/>
            </a:solidFill>
            <a:ln w="9525">
              <a:solidFill>
                <a:srgbClr val="53775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638848" y="3529870"/>
              <a:ext cx="277544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Ticket Refinement / Goal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89196" y="3872770"/>
              <a:ext cx="367474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回到 parent：互相喜歡才算配對成功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-380286" y="4501420"/>
              <a:ext cx="1295257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D1DBE6"/>
                  </a:solidFill>
                  <a:latin typeface="Arial"/>
                  <a:ea typeface="Microsoft YaHei"/>
                  <a:cs typeface="Arial"/>
                </a:rPr>
                <a:t>回應 SHIFT：每輪都把 #3對回 parent Goal，避免小偏誤累積成方向偏離；釐清後重排 Backlog，需要改 Goal時交 Human Gate決定。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12543" y="2095024"/>
            <a:ext cx="12166915" cy="3084862"/>
            <a:chOff x="12543" y="2095024"/>
            <a:chExt cx="12166915" cy="3084862"/>
          </a:xfrm>
        </p:grpSpPr>
        <p:sp>
          <p:nvSpPr>
            <p:cNvPr id="3" name="TextBox 3"/>
            <p:cNvSpPr txBox="1"/>
            <p:nvPr/>
          </p:nvSpPr>
          <p:spPr>
            <a:xfrm>
              <a:off x="5455415" y="2095024"/>
              <a:ext cx="1280979" cy="1341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6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31907" y="3102769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第七段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543" y="3632740"/>
              <a:ext cx="12166915" cy="877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2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回顧從 Brainstorming到上線： Agent與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076525" y="4302062"/>
              <a:ext cx="6038949" cy="877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2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Human的新合作方式</a:t>
              </a: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83" name="Group 83"/>
          <p:cNvGrpSpPr/>
          <p:nvPr/>
        </p:nvGrpSpPr>
        <p:grpSpPr>
          <a:xfrm>
            <a:off x="346710" y="299085"/>
            <a:ext cx="12088654" cy="6430899"/>
            <a:chOff x="346710" y="299085"/>
            <a:chExt cx="12088654" cy="6430899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1017144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同一張「 #3雙向喜歡才配對」：關卡不變，接手者改變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561975"/>
              <a:ext cx="11430000" cy="171450"/>
            </a:xfrm>
            <a:prstGeom prst="roundRect">
              <a:avLst>
                <a:gd name="adj" fmla="val 50000"/>
              </a:avLst>
            </a:prstGeom>
            <a:solidFill>
              <a:srgbClr val="14231B"/>
            </a:solidFill>
            <a:ln w="9525">
              <a:solidFill>
                <a:srgbClr val="42694D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485775" y="676275"/>
              <a:ext cx="190133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3F0D0"/>
                  </a:solidFill>
                  <a:latin typeface="Arial"/>
                  <a:ea typeface="Microsoft YaHei"/>
                  <a:cs typeface="Arial"/>
                </a:rPr>
                <a:t>#3雙向喜歡才配對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115116" y="647700"/>
              <a:ext cx="2428875" cy="295275"/>
            </a:xfrm>
            <a:prstGeom prst="roundRect">
              <a:avLst>
                <a:gd name="adj" fmla="val 16129"/>
              </a:avLst>
            </a:prstGeom>
            <a:solidFill>
              <a:srgbClr val="102018"/>
            </a:solidFill>
            <a:ln w="9525">
              <a:solidFill>
                <a:srgbClr val="45634B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167503" y="707231"/>
              <a:ext cx="263282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3F0D0"/>
                  </a:solidFill>
                  <a:latin typeface="Arial"/>
                  <a:ea typeface="Microsoft YaHei"/>
                  <a:cs typeface="Arial"/>
                </a:rPr>
                <a:t>固定｜ 9個關卡、交付物與存放位置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58290" y="647700"/>
              <a:ext cx="1295400" cy="295275"/>
            </a:xfrm>
            <a:prstGeom prst="roundRect">
              <a:avLst>
                <a:gd name="adj" fmla="val 16129"/>
              </a:avLst>
            </a:prstGeom>
            <a:solidFill>
              <a:srgbClr val="142233"/>
            </a:solidFill>
            <a:ln w="9525">
              <a:solidFill>
                <a:srgbClr val="45688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10678" y="707231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9E3FF"/>
                  </a:solidFill>
                  <a:latin typeface="Arial"/>
                  <a:ea typeface="Microsoft YaHei"/>
                  <a:cs typeface="Arial"/>
                </a:rPr>
                <a:t>改變｜各站接手者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27557" y="716756"/>
              <a:ext cx="26739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每站：負責者→產物／位置→人的動作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81000" y="923925"/>
              <a:ext cx="11430000" cy="5248275"/>
            </a:xfrm>
            <a:prstGeom prst="rect">
              <a:avLst/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385762" y="928688"/>
              <a:ext cx="11420475" cy="295275"/>
            </a:xfrm>
            <a:prstGeom prst="rect">
              <a:avLst/>
            </a:prstGeom>
            <a:solidFill>
              <a:srgbClr val="192638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385762" y="928688"/>
              <a:ext cx="1524000" cy="295275"/>
            </a:xfrm>
            <a:prstGeom prst="rect">
              <a:avLst/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81012" y="985838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關卡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909762" y="928688"/>
              <a:ext cx="4948238" cy="295275"/>
            </a:xfrm>
            <a:prstGeom prst="rect">
              <a:avLst/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005012" y="985838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傳統流程（人）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858000" y="928688"/>
              <a:ext cx="4948238" cy="295275"/>
            </a:xfrm>
            <a:prstGeom prst="rect">
              <a:avLst/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53250" y="985838"/>
              <a:ext cx="21083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Agent＋ Human流程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85762" y="1223962"/>
              <a:ext cx="1524000" cy="523875"/>
            </a:xfrm>
            <a:prstGeom prst="rect">
              <a:avLst/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81012" y="1281112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想法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909762" y="1223962"/>
              <a:ext cx="4948238" cy="523875"/>
            </a:xfrm>
            <a:prstGeom prst="rect">
              <a:avLst/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05012" y="1281112"/>
              <a:ext cx="403621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PM／ PO問題／使用者結果→ Issue定方向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858000" y="1223962"/>
              <a:ext cx="4948238" cy="523875"/>
            </a:xfrm>
            <a:prstGeom prst="rect">
              <a:avLst/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53250" y="1281112"/>
              <a:ext cx="547116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PM Agent＋ PO AgentBrainstorm決議→ Issue提供背景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53250" y="1509712"/>
              <a:ext cx="6953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、目標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85762" y="1747838"/>
              <a:ext cx="1524000" cy="523875"/>
            </a:xfrm>
            <a:prstGeom prst="rect">
              <a:avLst/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81012" y="1804988"/>
              <a:ext cx="4866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Goal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909762" y="1747838"/>
              <a:ext cx="4948238" cy="523875"/>
            </a:xfrm>
            <a:prstGeom prst="rect">
              <a:avLst/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005012" y="1804988"/>
              <a:ext cx="408003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PM／ POGoal／成功訊號→ Issue確認 Goal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858000" y="1747838"/>
              <a:ext cx="4948238" cy="523875"/>
            </a:xfrm>
            <a:prstGeom prst="rect">
              <a:avLst/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53250" y="1804988"/>
              <a:ext cx="417861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PO AgentGoal／成功訊號→ Issue確認 Goal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85762" y="2271712"/>
              <a:ext cx="1524000" cy="523875"/>
            </a:xfrm>
            <a:prstGeom prst="rect">
              <a:avLst/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81012" y="2328862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配對票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909762" y="2271712"/>
              <a:ext cx="4948238" cy="523875"/>
            </a:xfrm>
            <a:prstGeom prst="rect">
              <a:avLst/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005012" y="2328862"/>
              <a:ext cx="46496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PM／ PO配對票／ AC→ Issue、看板定範圍與 AC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858000" y="2271712"/>
              <a:ext cx="4948238" cy="523875"/>
            </a:xfrm>
            <a:prstGeom prst="rect">
              <a:avLst/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53250" y="2328862"/>
              <a:ext cx="48796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PO Agent票面／既有 AC→ Issue、看板補未決條件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85762" y="2795588"/>
              <a:ext cx="1524000" cy="523875"/>
            </a:xfrm>
            <a:prstGeom prst="rect">
              <a:avLst/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81012" y="2852738"/>
              <a:ext cx="2911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PR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909762" y="2795588"/>
              <a:ext cx="4948238" cy="523875"/>
            </a:xfrm>
            <a:prstGeom prst="rect">
              <a:avLst/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005012" y="2852738"/>
              <a:ext cx="433197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Dev程式變更／ PR→ branch、 PR實作、送審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858000" y="2795588"/>
              <a:ext cx="4948238" cy="523875"/>
            </a:xfrm>
            <a:prstGeom prst="rect">
              <a:avLst/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953250" y="2852738"/>
              <a:ext cx="500014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Dev Agent程式變更／ PR→ branch、 PR依節奏查看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53250" y="3081338"/>
              <a:ext cx="2790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PR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85762" y="3319462"/>
              <a:ext cx="1524000" cy="523875"/>
            </a:xfrm>
            <a:prstGeom prst="rect">
              <a:avLst/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81012" y="3376612"/>
              <a:ext cx="124575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Review意見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909762" y="3319462"/>
              <a:ext cx="4948238" cy="523875"/>
            </a:xfrm>
            <a:prstGeom prst="rect">
              <a:avLst/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005012" y="3376612"/>
              <a:ext cx="382809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Reviewer（人）審查意見→ PR核對改動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858000" y="3319462"/>
              <a:ext cx="4948238" cy="523875"/>
            </a:xfrm>
            <a:prstGeom prst="rect">
              <a:avLst/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953250" y="3376612"/>
              <a:ext cx="44196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Reviewer AgentReview意見→ PR依節奏看 PR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385762" y="3843338"/>
              <a:ext cx="1524000" cy="523875"/>
            </a:xfrm>
            <a:prstGeom prst="rect">
              <a:avLst/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81012" y="3900488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驗證證據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909762" y="3843338"/>
              <a:ext cx="4948238" cy="523875"/>
            </a:xfrm>
            <a:prstGeom prst="rect">
              <a:avLst/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005012" y="3900488"/>
              <a:ext cx="42991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QA（人） AC驗證證據→ PR、 Issue記錄結果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858000" y="3843338"/>
              <a:ext cx="4948238" cy="523875"/>
            </a:xfrm>
            <a:prstGeom prst="rect">
              <a:avLst/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53250" y="3900488"/>
              <a:ext cx="424434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QA AgentAC驗證證據→ PR、 Issue抽查證據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385762" y="4367212"/>
              <a:ext cx="1524000" cy="752475"/>
            </a:xfrm>
            <a:prstGeom prst="rect">
              <a:avLst/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81012" y="4424362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Goal Check／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81012" y="4652962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接受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909762" y="4367212"/>
              <a:ext cx="4948238" cy="752475"/>
            </a:xfrm>
            <a:prstGeom prst="rect">
              <a:avLst/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2005012" y="4424362"/>
              <a:ext cx="50877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PO／ Product接受／退回→ Issue、看板對回原 Goal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858000" y="4367212"/>
              <a:ext cx="4948238" cy="752475"/>
            </a:xfrm>
            <a:prstGeom prst="rect">
              <a:avLst/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953250" y="4424362"/>
              <a:ext cx="54821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Product／ PO Agent提出接受／退回建議→ Issue、看板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953250" y="4652962"/>
              <a:ext cx="309419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人： Goal Check確認 Goal／ AC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385762" y="5119688"/>
              <a:ext cx="11420475" cy="523875"/>
            </a:xfrm>
            <a:prstGeom prst="rect">
              <a:avLst/>
            </a:prstGeom>
            <a:solidFill>
              <a:srgbClr val="302814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385762" y="5119688"/>
              <a:ext cx="1524000" cy="523875"/>
            </a:xfrm>
            <a:prstGeom prst="rect">
              <a:avLst/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481012" y="5176838"/>
              <a:ext cx="12917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E39A"/>
                  </a:solidFill>
                  <a:latin typeface="Arial"/>
                  <a:ea typeface="Microsoft YaHei"/>
                  <a:cs typeface="Arial"/>
                </a:rPr>
                <a:t>Human Gate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1909762" y="5119688"/>
              <a:ext cx="4948238" cy="523875"/>
            </a:xfrm>
            <a:prstGeom prst="rect">
              <a:avLst/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2005012" y="5176838"/>
              <a:ext cx="52411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E39A"/>
                  </a:solidFill>
                  <a:latin typeface="Arial"/>
                  <a:ea typeface="Microsoft YaHei"/>
                  <a:cs typeface="Arial"/>
                </a:rPr>
                <a:t>人最終放行／暫停→ Issue、 PR決定是否允許合併／上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2005012" y="5405438"/>
              <a:ext cx="2571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E39A"/>
                  </a:solidFill>
                  <a:latin typeface="Arial"/>
                  <a:ea typeface="Microsoft YaHei"/>
                  <a:cs typeface="Arial"/>
                </a:rPr>
                <a:t>線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858000" y="5119688"/>
              <a:ext cx="4948238" cy="523875"/>
            </a:xfrm>
            <a:prstGeom prst="rect">
              <a:avLst/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953250" y="5176838"/>
              <a:ext cx="52411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E39A"/>
                  </a:solidFill>
                  <a:latin typeface="Arial"/>
                  <a:ea typeface="Microsoft YaHei"/>
                  <a:cs typeface="Arial"/>
                </a:rPr>
                <a:t>人最終放行／暫停→ Issue、 PR決定是否允許合併／上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953250" y="5405438"/>
              <a:ext cx="2571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E39A"/>
                  </a:solidFill>
                  <a:latin typeface="Arial"/>
                  <a:ea typeface="Microsoft YaHei"/>
                  <a:cs typeface="Arial"/>
                </a:rPr>
                <a:t>線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385762" y="5643562"/>
              <a:ext cx="1524000" cy="523875"/>
            </a:xfrm>
            <a:prstGeom prst="rect">
              <a:avLst/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481012" y="5700712"/>
              <a:ext cx="140677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Merge／上線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1909762" y="5643562"/>
              <a:ext cx="4948238" cy="523875"/>
            </a:xfrm>
            <a:prstGeom prst="rect">
              <a:avLst/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2005012" y="5700712"/>
              <a:ext cx="490156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上線執行者 Merge／上線結果→ PR、看板確認上線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858000" y="5643562"/>
              <a:ext cx="4948238" cy="523875"/>
            </a:xfrm>
            <a:prstGeom prst="rect">
              <a:avLst/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953250" y="5700712"/>
              <a:ext cx="523017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既有上線執行者 Merge／上線結果→ PR、看板按 Gate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953250" y="5929312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結果確認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27459" y="6391275"/>
              <a:ext cx="1093708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C4D0DC"/>
                  </a:solidFill>
                  <a:latin typeface="Arial"/>
                  <a:ea typeface="Microsoft YaHei"/>
                  <a:cs typeface="Arial"/>
                </a:rPr>
                <a:t>關卡與交付物位置固定； Agent接手工作。人於 Goal Check確認 Goal／ AC，並在 Human Gate作最終上線決定。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368618" y="6531864"/>
              <a:ext cx="100425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EBDCD"/>
                  </a:solidFill>
                  <a:latin typeface="Arial"/>
                  <a:ea typeface="Microsoft YaHei"/>
                  <a:cs typeface="Arial"/>
                </a:rPr>
                <a:t>李宏毅 2024第 5講， 20:31– 21:41； Stanford CS329T第 4講， PDF第 11– 12頁。角色對照為本簡報整理；指定來源未提供 #3雙向喜歡才配對的實際站點安排。</a:t>
              </a: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1" name="Group 31"/>
          <p:cNvGrpSpPr/>
          <p:nvPr/>
        </p:nvGrpSpPr>
        <p:grpSpPr>
          <a:xfrm>
            <a:off x="346710" y="299085"/>
            <a:ext cx="11464290" cy="6430899"/>
            <a:chOff x="346710" y="299085"/>
            <a:chExt cx="11464290" cy="6430899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963317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Brainstorming：從 PM／ PO討論到 Agent整理決議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224820"/>
              <a:ext cx="5305425" cy="4722495"/>
            </a:xfrm>
            <a:prstGeom prst="roundRect">
              <a:avLst>
                <a:gd name="adj" fmla="val 2420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14362" y="2127314"/>
              <a:ext cx="15401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傳統： PM／ PO討論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3885" y="2466880"/>
              <a:ext cx="154471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人一起釐清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28650" y="2932652"/>
              <a:ext cx="4810125" cy="514350"/>
            </a:xfrm>
            <a:prstGeom prst="roundRect">
              <a:avLst>
                <a:gd name="adj" fmla="val 12963"/>
              </a:avLst>
            </a:prstGeom>
            <a:solidFill>
              <a:srgbClr val="0E1721"/>
            </a:solidFill>
            <a:ln w="9525">
              <a:solidFill>
                <a:srgbClr val="34475B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2950" y="3075527"/>
              <a:ext cx="1133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5E0EB"/>
                  </a:solidFill>
                  <a:latin typeface="Arial"/>
                  <a:ea typeface="Microsoft YaHei"/>
                  <a:cs typeface="Arial"/>
                </a:rPr>
                <a:t>為誰解決？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28650" y="3532727"/>
              <a:ext cx="4810125" cy="514350"/>
            </a:xfrm>
            <a:prstGeom prst="roundRect">
              <a:avLst>
                <a:gd name="adj" fmla="val 12963"/>
              </a:avLst>
            </a:prstGeom>
            <a:solidFill>
              <a:srgbClr val="0E1721"/>
            </a:solidFill>
            <a:ln w="9525">
              <a:solidFill>
                <a:srgbClr val="34475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2950" y="3675602"/>
              <a:ext cx="20097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5E0EB"/>
                  </a:solidFill>
                  <a:latin typeface="Arial"/>
                  <a:ea typeface="Microsoft YaHei"/>
                  <a:cs typeface="Arial"/>
                </a:rPr>
                <a:t>現在的問題是什麼？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28650" y="4132802"/>
              <a:ext cx="4810125" cy="514350"/>
            </a:xfrm>
            <a:prstGeom prst="roundRect">
              <a:avLst>
                <a:gd name="adj" fmla="val 12963"/>
              </a:avLst>
            </a:prstGeom>
            <a:solidFill>
              <a:srgbClr val="0E1721"/>
            </a:solidFill>
            <a:ln w="9525">
              <a:solidFill>
                <a:srgbClr val="34475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42950" y="4275677"/>
              <a:ext cx="17907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5E0EB"/>
                  </a:solidFill>
                  <a:latin typeface="Arial"/>
                  <a:ea typeface="Microsoft YaHei"/>
                  <a:cs typeface="Arial"/>
                </a:rPr>
                <a:t>成功結果是什麼？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9600" y="4828127"/>
              <a:ext cx="38609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DCBD9"/>
                  </a:solidFill>
                  <a:latin typeface="Arial"/>
                  <a:ea typeface="Microsoft YaHei"/>
                  <a:cs typeface="Arial"/>
                </a:rPr>
                <a:t>決議由 PM／ PO整理成 Goal與工作票。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16704" y="1253395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505575" y="1224820"/>
              <a:ext cx="5305425" cy="4722495"/>
            </a:xfrm>
            <a:prstGeom prst="roundRect">
              <a:avLst>
                <a:gd name="adj" fmla="val 2420"/>
              </a:avLst>
            </a:prstGeom>
            <a:solidFill>
              <a:srgbClr val="142235"/>
            </a:solidFill>
            <a:ln w="9525">
              <a:solidFill>
                <a:srgbClr val="3B5D7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738938" y="1493901"/>
              <a:ext cx="375832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現在： PM Agent＋ PO Agent｜ #3雙向喜歡才配對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28460" y="1833467"/>
              <a:ext cx="395196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人提供方向， Agent整理內容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753225" y="2299240"/>
              <a:ext cx="4810125" cy="514350"/>
            </a:xfrm>
            <a:prstGeom prst="roundRect">
              <a:avLst>
                <a:gd name="adj" fmla="val 12963"/>
              </a:avLst>
            </a:prstGeom>
            <a:solidFill>
              <a:srgbClr val="0E1721"/>
            </a:solidFill>
            <a:ln w="9525">
              <a:solidFill>
                <a:srgbClr val="34475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867525" y="2442115"/>
              <a:ext cx="318182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5E0EB"/>
                  </a:solidFill>
                  <a:latin typeface="Arial"/>
                  <a:ea typeface="Microsoft YaHei"/>
                  <a:cs typeface="Arial"/>
                </a:rPr>
                <a:t>PM Agent整理問題、使用者結果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753225" y="2899315"/>
              <a:ext cx="4810125" cy="514350"/>
            </a:xfrm>
            <a:prstGeom prst="roundRect">
              <a:avLst>
                <a:gd name="adj" fmla="val 12963"/>
              </a:avLst>
            </a:prstGeom>
            <a:solidFill>
              <a:srgbClr val="0E1721"/>
            </a:solidFill>
            <a:ln w="9525">
              <a:solidFill>
                <a:srgbClr val="34475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867525" y="3042190"/>
              <a:ext cx="323659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5E0EB"/>
                  </a:solidFill>
                  <a:latin typeface="Arial"/>
                  <a:ea typeface="Microsoft YaHei"/>
                  <a:cs typeface="Arial"/>
                </a:rPr>
                <a:t>PO Agent整理範圍、 Goal與票面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34175" y="3594640"/>
              <a:ext cx="37623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DCBD9"/>
                  </a:solidFill>
                  <a:latin typeface="Arial"/>
                  <a:ea typeface="Microsoft YaHei"/>
                  <a:cs typeface="Arial"/>
                </a:rPr>
                <a:t>人做什麼：提供背景、目標與優先序。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753225" y="3928015"/>
              <a:ext cx="4810125" cy="1771650"/>
            </a:xfrm>
            <a:prstGeom prst="roundRect">
              <a:avLst>
                <a:gd name="adj" fmla="val 4301"/>
              </a:avLst>
            </a:prstGeom>
            <a:solidFill>
              <a:srgbClr val="101A26"/>
            </a:solidFill>
            <a:ln w="9525">
              <a:solidFill>
                <a:srgbClr val="33475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98942" y="4099465"/>
              <a:ext cx="19769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Brainstorming決議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9072562" y="4451890"/>
              <a:ext cx="171450" cy="114300"/>
            </a:xfrm>
            <a:custGeom>
              <a:avLst/>
              <a:gdLst/>
              <a:ahLst/>
              <a:cxnLst/>
              <a:rect l="l" t="t" r="r" b="b"/>
              <a:pathLst>
                <a:path w="171450" h="114300">
                  <a:moveTo>
                    <a:pt x="0" y="57150"/>
                  </a:moveTo>
                  <a:lnTo>
                    <a:pt x="171450" y="57150"/>
                  </a:lnTo>
                  <a:moveTo>
                    <a:pt x="114300" y="0"/>
                  </a:moveTo>
                  <a:lnTo>
                    <a:pt x="171450" y="57150"/>
                  </a:lnTo>
                  <a:lnTo>
                    <a:pt x="114300" y="114300"/>
                  </a:lnTo>
                </a:path>
              </a:pathLst>
            </a:custGeom>
            <a:noFill/>
            <a:ln w="15240" cap="rnd">
              <a:solidFill>
                <a:srgbClr val="83BCFF"/>
              </a:solidFill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883557" y="4709065"/>
              <a:ext cx="27869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6EEF6"/>
                  </a:solidFill>
                  <a:latin typeface="Arial"/>
                  <a:ea typeface="Microsoft YaHei"/>
                  <a:cs typeface="Arial"/>
                </a:rPr>
                <a:t>Goal：互相喜歡才算配對成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83557" y="4975765"/>
              <a:ext cx="268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6EEF6"/>
                  </a:solidFill>
                  <a:latin typeface="Arial"/>
                  <a:ea typeface="Microsoft YaHei"/>
                  <a:cs typeface="Arial"/>
                </a:rPr>
                <a:t>功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9072562" y="5061490"/>
              <a:ext cx="171450" cy="114300"/>
            </a:xfrm>
            <a:custGeom>
              <a:avLst/>
              <a:gdLst/>
              <a:ahLst/>
              <a:cxnLst/>
              <a:rect l="l" t="t" r="r" b="b"/>
              <a:pathLst>
                <a:path w="171450" h="114300">
                  <a:moveTo>
                    <a:pt x="0" y="57150"/>
                  </a:moveTo>
                  <a:lnTo>
                    <a:pt x="171450" y="57150"/>
                  </a:lnTo>
                  <a:moveTo>
                    <a:pt x="114300" y="0"/>
                  </a:moveTo>
                  <a:lnTo>
                    <a:pt x="171450" y="57150"/>
                  </a:lnTo>
                  <a:lnTo>
                    <a:pt x="114300" y="114300"/>
                  </a:lnTo>
                </a:path>
              </a:pathLst>
            </a:custGeom>
            <a:noFill/>
            <a:ln w="15240" cap="rnd">
              <a:solidFill>
                <a:srgbClr val="83BCFF"/>
              </a:solidFill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26374" y="5318665"/>
              <a:ext cx="190133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6EEF6"/>
                  </a:solidFill>
                  <a:latin typeface="Arial"/>
                  <a:ea typeface="Microsoft YaHei"/>
                  <a:cs typeface="Arial"/>
                </a:rPr>
                <a:t>#3雙向喜歡才配對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68618" y="6531864"/>
              <a:ext cx="50016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EBDCD"/>
                  </a:solidFill>
                  <a:latin typeface="Arial"/>
                  <a:ea typeface="Microsoft YaHei"/>
                  <a:cs typeface="Arial"/>
                </a:rPr>
                <a:t>李宏毅 2024第 5講， 20:31– 21:41； Stanford CS329T第 4講， PDF第 11– 12頁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68" name="Group 68"/>
          <p:cNvGrpSpPr/>
          <p:nvPr/>
        </p:nvGrpSpPr>
        <p:grpSpPr>
          <a:xfrm>
            <a:off x="346710" y="299085"/>
            <a:ext cx="11955685" cy="6430899"/>
            <a:chOff x="346710" y="299085"/>
            <a:chExt cx="11955685" cy="6430899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1089603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Human Gate固定在 Goal Check後； PR人工審查依節奏選擇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981932"/>
              <a:ext cx="11430000" cy="514350"/>
            </a:xfrm>
            <a:prstGeom prst="roundRect">
              <a:avLst>
                <a:gd name="adj" fmla="val 16667"/>
              </a:avLst>
            </a:prstGeom>
            <a:solidFill>
              <a:srgbClr val="142235"/>
            </a:solidFill>
            <a:ln w="9525">
              <a:solidFill>
                <a:srgbClr val="3B5D7B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488394" y="116052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共同起點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659946" y="1134332"/>
              <a:ext cx="42914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Pull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12665" y="1401032"/>
              <a:ext cx="9237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Request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323761" y="1134332"/>
              <a:ext cx="359806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#3雙向喜歡才配對進入 Review／ QA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3210397" y="1524857"/>
              <a:ext cx="5771206" cy="228601"/>
              <a:chOff x="3210397" y="1524857"/>
              <a:chExt cx="5771206" cy="22860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3238500" y="1524857"/>
                <a:ext cx="28575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228600">
                    <a:moveTo>
                      <a:pt x="2857500" y="0"/>
                    </a:moveTo>
                    <a:cubicBezTo>
                      <a:pt x="2857500" y="106680"/>
                      <a:pt x="0" y="106680"/>
                      <a:pt x="0" y="228600"/>
                    </a:cubicBezTo>
                  </a:path>
                </a:pathLst>
              </a:custGeom>
              <a:noFill/>
              <a:ln w="23812" cap="flat">
                <a:solidFill>
                  <a:srgbClr val="83BCFF"/>
                </a:solidFill>
                <a:miter lim="800000"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096000" y="1524857"/>
                <a:ext cx="28575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228600">
                    <a:moveTo>
                      <a:pt x="0" y="0"/>
                    </a:moveTo>
                    <a:cubicBezTo>
                      <a:pt x="0" y="106680"/>
                      <a:pt x="2857500" y="106680"/>
                      <a:pt x="2857500" y="228600"/>
                    </a:cubicBezTo>
                  </a:path>
                </a:pathLst>
              </a:custGeom>
              <a:noFill/>
              <a:ln w="23812" cap="flat">
                <a:solidFill>
                  <a:srgbClr val="83BCFF"/>
                </a:solidFill>
                <a:miter lim="800000"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3210397" y="1734121"/>
                <a:ext cx="94870" cy="19337"/>
              </a:xfrm>
              <a:custGeom>
                <a:avLst/>
                <a:gdLst/>
                <a:ahLst/>
                <a:cxnLst/>
                <a:rect l="l" t="t" r="r" b="b"/>
                <a:pathLst>
                  <a:path w="94870" h="19337">
                    <a:moveTo>
                      <a:pt x="0" y="0"/>
                    </a:moveTo>
                    <a:lnTo>
                      <a:pt x="28103" y="19337"/>
                    </a:lnTo>
                    <a:lnTo>
                      <a:pt x="94870" y="5453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886733" y="1734121"/>
                <a:ext cx="94870" cy="19337"/>
              </a:xfrm>
              <a:custGeom>
                <a:avLst/>
                <a:gdLst/>
                <a:ahLst/>
                <a:cxnLst/>
                <a:rect l="l" t="t" r="r" b="b"/>
                <a:pathLst>
                  <a:path w="94870" h="19337">
                    <a:moveTo>
                      <a:pt x="0" y="5453"/>
                    </a:moveTo>
                    <a:lnTo>
                      <a:pt x="66767" y="19337"/>
                    </a:lnTo>
                    <a:lnTo>
                      <a:pt x="9487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</p:grpSp>
        <p:sp>
          <p:nvSpPr>
            <p:cNvPr id="14" name="Rectangle 14"/>
            <p:cNvSpPr/>
            <p:nvPr/>
          </p:nvSpPr>
          <p:spPr>
            <a:xfrm>
              <a:off x="381000" y="1782032"/>
              <a:ext cx="5648325" cy="1626870"/>
            </a:xfrm>
            <a:prstGeom prst="roundRect">
              <a:avLst>
                <a:gd name="adj" fmla="val 7026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381000" y="1782032"/>
              <a:ext cx="5648325" cy="9525"/>
            </a:xfrm>
            <a:custGeom>
              <a:avLst/>
              <a:gdLst/>
              <a:ahLst/>
              <a:cxnLst/>
              <a:rect l="l" t="t" r="r" b="b"/>
              <a:pathLst>
                <a:path w="5648325" h="9525">
                  <a:moveTo>
                    <a:pt x="0" y="0"/>
                  </a:moveTo>
                  <a:lnTo>
                    <a:pt x="5648325" y="0"/>
                  </a:lnTo>
                </a:path>
              </a:pathLst>
            </a:custGeom>
            <a:noFill/>
            <a:ln w="28575">
              <a:solidFill>
                <a:srgbClr val="F2CF76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6029325" y="1782032"/>
              <a:ext cx="9525" cy="1626870"/>
            </a:xfrm>
            <a:custGeom>
              <a:avLst/>
              <a:gdLst/>
              <a:ahLst/>
              <a:cxnLst/>
              <a:rect l="l" t="t" r="r" b="b"/>
              <a:pathLst>
                <a:path w="9525" h="1626870">
                  <a:moveTo>
                    <a:pt x="0" y="0"/>
                  </a:moveTo>
                  <a:lnTo>
                    <a:pt x="0" y="162687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381000" y="3408902"/>
              <a:ext cx="5648325" cy="9525"/>
            </a:xfrm>
            <a:custGeom>
              <a:avLst/>
              <a:gdLst/>
              <a:ahLst/>
              <a:cxnLst/>
              <a:rect l="l" t="t" r="r" b="b"/>
              <a:pathLst>
                <a:path w="5648325" h="9525">
                  <a:moveTo>
                    <a:pt x="0" y="0"/>
                  </a:moveTo>
                  <a:lnTo>
                    <a:pt x="5648325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381000" y="1782032"/>
              <a:ext cx="9525" cy="1626870"/>
            </a:xfrm>
            <a:custGeom>
              <a:avLst/>
              <a:gdLst/>
              <a:ahLst/>
              <a:cxnLst/>
              <a:rect l="l" t="t" r="r" b="b"/>
              <a:pathLst>
                <a:path w="9525" h="1626870">
                  <a:moveTo>
                    <a:pt x="0" y="0"/>
                  </a:moveTo>
                  <a:lnTo>
                    <a:pt x="0" y="162687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47688" y="1993964"/>
              <a:ext cx="1983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慢速節奏／重要 release前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7210" y="2304955"/>
              <a:ext cx="106625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人看 PR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2925" y="2694527"/>
              <a:ext cx="405812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CCD9"/>
                  </a:solidFill>
                  <a:latin typeface="Arial"/>
                  <a:ea typeface="Microsoft YaHei"/>
                  <a:cs typeface="Arial"/>
                </a:rPr>
                <a:t>Reviewer與 QA各自檢查，人看 PR改動。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42925" y="3046952"/>
              <a:ext cx="2790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1344" y="3046952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79944" y="3046952"/>
              <a:ext cx="14987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Reviewer（人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79944" y="3313652"/>
              <a:ext cx="268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33460" y="3046952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762060" y="3046952"/>
              <a:ext cx="79719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E39A"/>
                  </a:solidFill>
                  <a:latin typeface="Arial"/>
                  <a:ea typeface="Microsoft YaHei"/>
                  <a:cs typeface="Arial"/>
                </a:rPr>
                <a:t>QA（人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762060" y="3313652"/>
              <a:ext cx="268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E39A"/>
                  </a:solidFill>
                  <a:latin typeface="Arial"/>
                  <a:ea typeface="Microsoft YaHei"/>
                  <a:cs typeface="Arial"/>
                </a:rPr>
                <a:t>）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162675" y="1782032"/>
              <a:ext cx="5648325" cy="1626870"/>
            </a:xfrm>
            <a:prstGeom prst="roundRect">
              <a:avLst>
                <a:gd name="adj" fmla="val 7026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6162675" y="1782032"/>
              <a:ext cx="5648325" cy="9525"/>
            </a:xfrm>
            <a:custGeom>
              <a:avLst/>
              <a:gdLst/>
              <a:ahLst/>
              <a:cxnLst/>
              <a:rect l="l" t="t" r="r" b="b"/>
              <a:pathLst>
                <a:path w="5648325" h="9525">
                  <a:moveTo>
                    <a:pt x="0" y="0"/>
                  </a:moveTo>
                  <a:lnTo>
                    <a:pt x="5648325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11811000" y="1782032"/>
              <a:ext cx="9525" cy="1626870"/>
            </a:xfrm>
            <a:custGeom>
              <a:avLst/>
              <a:gdLst/>
              <a:ahLst/>
              <a:cxnLst/>
              <a:rect l="l" t="t" r="r" b="b"/>
              <a:pathLst>
                <a:path w="9525" h="1626870">
                  <a:moveTo>
                    <a:pt x="0" y="0"/>
                  </a:moveTo>
                  <a:lnTo>
                    <a:pt x="0" y="162687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6162675" y="3408902"/>
              <a:ext cx="5648325" cy="9525"/>
            </a:xfrm>
            <a:custGeom>
              <a:avLst/>
              <a:gdLst/>
              <a:ahLst/>
              <a:cxnLst/>
              <a:rect l="l" t="t" r="r" b="b"/>
              <a:pathLst>
                <a:path w="5648325" h="9525">
                  <a:moveTo>
                    <a:pt x="0" y="0"/>
                  </a:moveTo>
                  <a:lnTo>
                    <a:pt x="5648325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6162675" y="1782032"/>
              <a:ext cx="9525" cy="1626870"/>
            </a:xfrm>
            <a:custGeom>
              <a:avLst/>
              <a:gdLst/>
              <a:ahLst/>
              <a:cxnLst/>
              <a:rect l="l" t="t" r="r" b="b"/>
              <a:pathLst>
                <a:path w="9525" h="1626870">
                  <a:moveTo>
                    <a:pt x="0" y="0"/>
                  </a:moveTo>
                  <a:lnTo>
                    <a:pt x="0" y="162687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29362" y="1993964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快速節奏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18885" y="2304955"/>
              <a:ext cx="395196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Reviewer Agent＋ QA Agent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24600" y="2694527"/>
              <a:ext cx="42772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CCD9"/>
                  </a:solidFill>
                  <a:latin typeface="Arial"/>
                  <a:ea typeface="Microsoft YaHei"/>
                  <a:cs typeface="Arial"/>
                </a:rPr>
                <a:t>Agent檢查 PR；人關注 Epic／ milestone。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24600" y="3046952"/>
              <a:ext cx="2790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33020" y="3046952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61620" y="3046952"/>
              <a:ext cx="10387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Reviewer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61620" y="3313652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Agent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38852" y="3046952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67452" y="3046952"/>
              <a:ext cx="33713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E39A"/>
                  </a:solidFill>
                  <a:latin typeface="Arial"/>
                  <a:ea typeface="Microsoft YaHei"/>
                  <a:cs typeface="Arial"/>
                </a:rPr>
                <a:t>QA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567452" y="3313652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E39A"/>
                  </a:solidFill>
                  <a:latin typeface="Arial"/>
                  <a:ea typeface="Microsoft YaHei"/>
                  <a:cs typeface="Arial"/>
                </a:rPr>
                <a:t>Agent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3238500" y="3437477"/>
              <a:ext cx="5715000" cy="229575"/>
              <a:chOff x="3238500" y="3437477"/>
              <a:chExt cx="5715000" cy="22957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3238500" y="3437477"/>
                <a:ext cx="26289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628900" h="228600">
                    <a:moveTo>
                      <a:pt x="0" y="0"/>
                    </a:moveTo>
                    <a:cubicBezTo>
                      <a:pt x="0" y="111211"/>
                      <a:pt x="1943100" y="111211"/>
                      <a:pt x="2628900" y="228600"/>
                    </a:cubicBezTo>
                  </a:path>
                </a:pathLst>
              </a:custGeom>
              <a:noFill/>
              <a:ln w="23812" cap="flat">
                <a:solidFill>
                  <a:srgbClr val="83BCFF"/>
                </a:solidFill>
                <a:miter lim="800000"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324600" y="3437477"/>
                <a:ext cx="26289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628900" h="228600">
                    <a:moveTo>
                      <a:pt x="2628900" y="0"/>
                    </a:moveTo>
                    <a:cubicBezTo>
                      <a:pt x="2628900" y="111211"/>
                      <a:pt x="685800" y="111211"/>
                      <a:pt x="0" y="228600"/>
                    </a:cubicBezTo>
                  </a:path>
                </a:pathLst>
              </a:custGeom>
              <a:noFill/>
              <a:ln w="23812" cap="flat">
                <a:solidFill>
                  <a:srgbClr val="83BCFF"/>
                </a:solidFill>
                <a:miter lim="800000"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5776031" y="3644148"/>
                <a:ext cx="91369" cy="22904"/>
              </a:xfrm>
              <a:custGeom>
                <a:avLst/>
                <a:gdLst/>
                <a:ahLst/>
                <a:cxnLst/>
                <a:rect l="l" t="t" r="r" b="b"/>
                <a:pathLst>
                  <a:path w="91369" h="22904">
                    <a:moveTo>
                      <a:pt x="0" y="22904"/>
                    </a:moveTo>
                    <a:lnTo>
                      <a:pt x="91369" y="21929"/>
                    </a:lnTo>
                    <a:lnTo>
                      <a:pt x="49203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324600" y="3644148"/>
                <a:ext cx="91369" cy="22904"/>
              </a:xfrm>
              <a:custGeom>
                <a:avLst/>
                <a:gdLst/>
                <a:ahLst/>
                <a:cxnLst/>
                <a:rect l="l" t="t" r="r" b="b"/>
                <a:pathLst>
                  <a:path w="91369" h="22904">
                    <a:moveTo>
                      <a:pt x="42166" y="0"/>
                    </a:moveTo>
                    <a:lnTo>
                      <a:pt x="0" y="21929"/>
                    </a:lnTo>
                    <a:lnTo>
                      <a:pt x="91369" y="22904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</p:grpSp>
        <p:sp>
          <p:nvSpPr>
            <p:cNvPr id="49" name="Rectangle 49"/>
            <p:cNvSpPr/>
            <p:nvPr/>
          </p:nvSpPr>
          <p:spPr>
            <a:xfrm>
              <a:off x="3905250" y="3694652"/>
              <a:ext cx="4381500" cy="438150"/>
            </a:xfrm>
            <a:prstGeom prst="roundRect">
              <a:avLst>
                <a:gd name="adj" fmla="val 17391"/>
              </a:avLst>
            </a:prstGeom>
            <a:solidFill>
              <a:srgbClr val="172B40"/>
            </a:solidFill>
            <a:ln w="9525">
              <a:solidFill>
                <a:srgbClr val="4C719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038600" y="3799427"/>
              <a:ext cx="1133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9EAFF"/>
                  </a:solidFill>
                  <a:latin typeface="Arial"/>
                  <a:ea typeface="Microsoft YaHei"/>
                  <a:cs typeface="Arial"/>
                </a:rPr>
                <a:t>Goal Check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981700" y="4189952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↓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143250" y="4380452"/>
              <a:ext cx="5905500" cy="552450"/>
            </a:xfrm>
            <a:prstGeom prst="roundRect">
              <a:avLst>
                <a:gd name="adj" fmla="val 15517"/>
              </a:avLst>
            </a:prstGeom>
            <a:solidFill>
              <a:srgbClr val="211E15"/>
            </a:solidFill>
            <a:ln w="9525">
              <a:solidFill>
                <a:srgbClr val="806A36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4518755" y="4447127"/>
              <a:ext cx="1399318" cy="419100"/>
            </a:xfrm>
            <a:prstGeom prst="roundRect">
              <a:avLst>
                <a:gd name="adj" fmla="val 15909"/>
              </a:avLst>
            </a:prstGeom>
            <a:solidFill>
              <a:srgbClr val="302814"/>
            </a:solidFill>
            <a:ln w="9525">
              <a:solidFill>
                <a:srgbClr val="C59B42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623530" y="4542377"/>
              <a:ext cx="12917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E39A"/>
                  </a:solidFill>
                  <a:latin typeface="Arial"/>
                  <a:ea typeface="Microsoft YaHei"/>
                  <a:cs typeface="Arial"/>
                </a:rPr>
                <a:t>Human Gate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108478" y="4551902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508528" y="4551902"/>
              <a:ext cx="134159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Merge／上線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381000" y="5047202"/>
              <a:ext cx="11430000" cy="1143000"/>
            </a:xfrm>
            <a:prstGeom prst="roundRect">
              <a:avLst>
                <a:gd name="adj" fmla="val 7500"/>
              </a:avLst>
            </a:prstGeom>
            <a:solidFill>
              <a:srgbClr val="14231B"/>
            </a:solidFill>
            <a:ln w="9525">
              <a:solidFill>
                <a:srgbClr val="53775C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42925" y="5218652"/>
              <a:ext cx="266042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上線前｜依 AC與證據驗收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42925" y="5542502"/>
              <a:ext cx="452913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Goal Check：這張票有沒有推進 Goal？ Human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42925" y="5809202"/>
              <a:ext cx="227266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Gate：可不可以上線？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914281" y="5468207"/>
              <a:ext cx="22202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253895" y="5513927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上線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790581" y="5468207"/>
              <a:ext cx="22202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130195" y="5218652"/>
              <a:ext cx="42361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上線後｜量成功訊號，判斷 Goal是否達成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130195" y="5542502"/>
              <a:ext cx="6172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兩週內 10對互相喜歡的配對、錯誤配對率維持 0。沒達成：回到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130195" y="5809202"/>
              <a:ext cx="395954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Goal，重新排序或調整（re-anchor）。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368618" y="6531864"/>
              <a:ext cx="67815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EBDCD"/>
                  </a:solidFill>
                  <a:latin typeface="Arial"/>
                  <a:ea typeface="Microsoft YaHei"/>
                  <a:cs typeface="Arial"/>
                </a:rPr>
                <a:t>Stanford CS329T第 4講， PDF第 11– 12頁； Notion看板指南，步驟 3– 5（Human Gate位置依本簡報定案）</a:t>
              </a: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42" name="Group 42"/>
          <p:cNvGrpSpPr/>
          <p:nvPr/>
        </p:nvGrpSpPr>
        <p:grpSpPr>
          <a:xfrm>
            <a:off x="346710" y="299085"/>
            <a:ext cx="12045315" cy="6430899"/>
            <a:chOff x="346710" y="299085"/>
            <a:chExt cx="12045315" cy="6430899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948825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反例｜ Human Gate被跳過，問題在合併後才被看見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976312"/>
              <a:ext cx="11430000" cy="1552575"/>
            </a:xfrm>
            <a:prstGeom prst="roundRect">
              <a:avLst>
                <a:gd name="adj" fmla="val 7362"/>
              </a:avLst>
            </a:prstGeom>
            <a:solidFill>
              <a:srgbClr val="211E15"/>
            </a:solidFill>
            <a:ln w="9525">
              <a:solidFill>
                <a:srgbClr val="725B2C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4061460" y="1185862"/>
              <a:ext cx="406908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5CF93"/>
                  </a:solidFill>
                  <a:latin typeface="Arial"/>
                  <a:ea typeface="Microsoft YaHei"/>
                  <a:cs typeface="Arial"/>
                </a:rPr>
                <a:t>教學示例｜ #3雙向喜歡才配對的預期關卡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3537966" y="1547812"/>
              <a:ext cx="1334548" cy="476250"/>
            </a:xfrm>
            <a:prstGeom prst="roundRect">
              <a:avLst>
                <a:gd name="adj" fmla="val 14000"/>
              </a:avLst>
            </a:prstGeom>
            <a:solidFill>
              <a:srgbClr val="171B20"/>
            </a:solidFill>
            <a:ln w="9525">
              <a:solidFill>
                <a:srgbClr val="725B2C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652266" y="1671638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4F6F8"/>
                  </a:solidFill>
                  <a:latin typeface="Arial"/>
                  <a:ea typeface="Microsoft YaHei"/>
                  <a:cs typeface="Arial"/>
                </a:rPr>
                <a:t>Goal Check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977289" y="1662112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86864" y="1547812"/>
              <a:ext cx="1418368" cy="476250"/>
            </a:xfrm>
            <a:prstGeom prst="roundRect">
              <a:avLst>
                <a:gd name="adj" fmla="val 14000"/>
              </a:avLst>
            </a:prstGeom>
            <a:solidFill>
              <a:srgbClr val="302814"/>
            </a:solidFill>
            <a:ln w="9525">
              <a:solidFill>
                <a:srgbClr val="D2A93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501164" y="1671638"/>
              <a:ext cx="12917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E39A"/>
                  </a:solidFill>
                  <a:latin typeface="Arial"/>
                  <a:ea typeface="Microsoft YaHei"/>
                  <a:cs typeface="Arial"/>
                </a:rPr>
                <a:t>Human Gate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909911" y="1662112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319486" y="1547812"/>
              <a:ext cx="1431322" cy="476250"/>
            </a:xfrm>
            <a:prstGeom prst="roundRect">
              <a:avLst>
                <a:gd name="adj" fmla="val 14000"/>
              </a:avLst>
            </a:prstGeom>
            <a:solidFill>
              <a:srgbClr val="171B20"/>
            </a:solidFill>
            <a:ln w="9525">
              <a:solidFill>
                <a:srgbClr val="725B2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433786" y="1671638"/>
              <a:ext cx="140677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4F6F8"/>
                  </a:solidFill>
                  <a:latin typeface="Arial"/>
                  <a:ea typeface="Microsoft YaHei"/>
                  <a:cs typeface="Arial"/>
                </a:rPr>
                <a:t>Merge／上線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824770" y="2169319"/>
              <a:ext cx="25424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E5CF93"/>
                  </a:solidFill>
                  <a:latin typeface="Arial"/>
                  <a:ea typeface="Microsoft YaHei"/>
                  <a:cs typeface="Arial"/>
                </a:rPr>
                <a:t>人在 Goal Check後決定放行或暫停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81000" y="2719388"/>
              <a:ext cx="11430000" cy="3476625"/>
            </a:xfrm>
            <a:prstGeom prst="roundRect">
              <a:avLst>
                <a:gd name="adj" fmla="val 3288"/>
              </a:avLst>
            </a:prstGeom>
            <a:solidFill>
              <a:srgbClr val="1B171A"/>
            </a:solidFill>
            <a:ln w="9525">
              <a:solidFill>
                <a:srgbClr val="75494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42925" y="2928938"/>
              <a:ext cx="41457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另一個實際案例｜ v7簡報首版發布 PR #43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43516" y="2928938"/>
              <a:ext cx="198184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AAA2"/>
                  </a:solidFill>
                  <a:latin typeface="Arial"/>
                  <a:ea typeface="Microsoft YaHei"/>
                  <a:cs typeface="Arial"/>
                </a:rPr>
                <a:t>Human Gate未守住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61975" y="3300412"/>
              <a:ext cx="3333750" cy="1800225"/>
            </a:xfrm>
            <a:prstGeom prst="roundRect">
              <a:avLst>
                <a:gd name="adj" fmla="val 4762"/>
              </a:avLst>
            </a:prstGeom>
            <a:solidFill>
              <a:srgbClr val="21191D"/>
            </a:solidFill>
            <a:ln w="9525">
              <a:solidFill>
                <a:srgbClr val="75494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19138" y="3626644"/>
              <a:ext cx="5214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AAA2"/>
                  </a:solidFill>
                  <a:latin typeface="Arial"/>
                  <a:ea typeface="Microsoft YaHei"/>
                  <a:cs typeface="Arial"/>
                </a:rPr>
                <a:t>先發生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4375" y="3929062"/>
              <a:ext cx="26719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0ED"/>
                  </a:solidFill>
                  <a:latin typeface="Arial"/>
                  <a:ea typeface="Microsoft YaHei"/>
                  <a:cs typeface="Arial"/>
                </a:rPr>
                <a:t>PR #43合併， v7簡報上線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4375" y="4291012"/>
              <a:ext cx="32694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0C5C4"/>
                  </a:solidFill>
                  <a:latin typeface="Arial"/>
                  <a:ea typeface="Microsoft YaHei"/>
                  <a:cs typeface="Arial"/>
                </a:rPr>
                <a:t>未經 Human Gate，首版先對外發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4375" y="4557712"/>
              <a:ext cx="2571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0C5C4"/>
                  </a:solidFill>
                  <a:latin typeface="Arial"/>
                  <a:ea typeface="Microsoft YaHei"/>
                  <a:cs typeface="Arial"/>
                </a:rPr>
                <a:t>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962400" y="3343275"/>
              <a:ext cx="24692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9289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429125" y="3300412"/>
              <a:ext cx="3333750" cy="1800225"/>
            </a:xfrm>
            <a:prstGeom prst="roundRect">
              <a:avLst>
                <a:gd name="adj" fmla="val 4762"/>
              </a:avLst>
            </a:prstGeom>
            <a:solidFill>
              <a:srgbClr val="21191D"/>
            </a:solidFill>
            <a:ln w="9525">
              <a:solidFill>
                <a:srgbClr val="75494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86288" y="3626644"/>
              <a:ext cx="5214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AAA2"/>
                  </a:solidFill>
                  <a:latin typeface="Arial"/>
                  <a:ea typeface="Microsoft YaHei"/>
                  <a:cs typeface="Arial"/>
                </a:rPr>
                <a:t>上線後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81525" y="3929062"/>
              <a:ext cx="283294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0ED"/>
                  </a:solidFill>
                  <a:latin typeface="Arial"/>
                  <a:ea typeface="Microsoft YaHei"/>
                  <a:cs typeface="Arial"/>
                </a:rPr>
                <a:t>Owner看過首版後指出問題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81525" y="4291012"/>
              <a:ext cx="341185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0C5C4"/>
                  </a:solidFill>
                  <a:latin typeface="Arial"/>
                  <a:ea typeface="Microsoft YaHei"/>
                  <a:cs typeface="Arial"/>
                </a:rPr>
                <a:t>把上線前的 AC測試結果，當成上線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81525" y="4557712"/>
              <a:ext cx="140731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0C5C4"/>
                  </a:solidFill>
                  <a:latin typeface="Arial"/>
                  <a:ea typeface="Microsoft YaHei"/>
                  <a:cs typeface="Arial"/>
                </a:rPr>
                <a:t>後的 Goal成效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29550" y="3343275"/>
              <a:ext cx="24692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9289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296275" y="3300412"/>
              <a:ext cx="3333750" cy="1800225"/>
            </a:xfrm>
            <a:prstGeom prst="roundRect">
              <a:avLst>
                <a:gd name="adj" fmla="val 4762"/>
              </a:avLst>
            </a:prstGeom>
            <a:solidFill>
              <a:srgbClr val="14231B"/>
            </a:solidFill>
            <a:ln w="9525">
              <a:solidFill>
                <a:srgbClr val="45634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53438" y="3493294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修正方向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48675" y="3795712"/>
              <a:ext cx="279844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0ED"/>
                  </a:solidFill>
                  <a:latin typeface="Arial"/>
                  <a:ea typeface="Microsoft YaHei"/>
                  <a:cs typeface="Arial"/>
                </a:rPr>
                <a:t>上線前驗收、上線後量成效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48675" y="4157662"/>
              <a:ext cx="33570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AE5D2"/>
                  </a:solidFill>
                  <a:latin typeface="Arial"/>
                  <a:ea typeface="Microsoft YaHei"/>
                  <a:cs typeface="Arial"/>
                </a:rPr>
                <a:t>上線後才量成功訊號：兩週內 10對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48675" y="4424362"/>
              <a:ext cx="33242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AE5D2"/>
                  </a:solidFill>
                  <a:latin typeface="Arial"/>
                  <a:ea typeface="Microsoft YaHei"/>
                  <a:cs typeface="Arial"/>
                </a:rPr>
                <a:t>互相喜歡的配對、錯誤配對率維持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48675" y="4691062"/>
              <a:ext cx="37766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AE5D2"/>
                  </a:solidFill>
                  <a:latin typeface="Arial"/>
                  <a:ea typeface="Microsoft YaHei"/>
                  <a:cs typeface="Arial"/>
                </a:rPr>
                <a:t>0。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61975" y="5233988"/>
              <a:ext cx="11068050" cy="781050"/>
            </a:xfrm>
            <a:prstGeom prst="rect">
              <a:avLst/>
            </a:prstGeom>
            <a:solidFill>
              <a:srgbClr val="21191D"/>
            </a:solidFill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561975" y="5233988"/>
              <a:ext cx="9525" cy="781050"/>
            </a:xfrm>
            <a:custGeom>
              <a:avLst/>
              <a:gdLst/>
              <a:ahLst/>
              <a:cxnLst/>
              <a:rect l="l" t="t" r="r" b="b"/>
              <a:pathLst>
                <a:path w="9525" h="781050">
                  <a:moveTo>
                    <a:pt x="0" y="0"/>
                  </a:moveTo>
                  <a:lnTo>
                    <a:pt x="0" y="781050"/>
                  </a:lnTo>
                </a:path>
              </a:pathLst>
            </a:custGeom>
            <a:noFill/>
            <a:ln w="38100">
              <a:solidFill>
                <a:srgbClr val="FF9289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33425" y="5519738"/>
              <a:ext cx="302847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AAA2"/>
                  </a:solidFill>
                  <a:latin typeface="Arial"/>
                  <a:ea typeface="Microsoft YaHei"/>
                  <a:cs typeface="Arial"/>
                </a:rPr>
                <a:t>少了 Merge前的 Human Gate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850606" y="5386388"/>
              <a:ext cx="754141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D2D1"/>
                  </a:solidFill>
                  <a:latin typeface="Arial"/>
                  <a:ea typeface="Microsoft YaHei"/>
                  <a:cs typeface="Arial"/>
                </a:rPr>
                <a:t>上線前未攔下「把 AC當成成效」的錯誤說明； Owner看過 v7上線版後才指出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50606" y="5653088"/>
              <a:ext cx="6953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D2D1"/>
                  </a:solidFill>
                  <a:latin typeface="Arial"/>
                  <a:ea typeface="Microsoft YaHei"/>
                  <a:cs typeface="Arial"/>
                </a:rPr>
                <a:t>問題。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68618" y="6531864"/>
              <a:ext cx="64540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EBDCD"/>
                  </a:solidFill>
                  <a:latin typeface="Arial"/>
                  <a:ea typeface="Microsoft YaHei"/>
                  <a:cs typeface="Arial"/>
                </a:rPr>
                <a:t>案例紀錄： v7首版 PR #43（merge b709242）； SSOT #41， Owner修訂 9與 Goal／ Ticket修正紀錄</a:t>
              </a: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2529977" y="2429637"/>
            <a:ext cx="7132046" cy="2415540"/>
            <a:chOff x="2529977" y="2429637"/>
            <a:chExt cx="7132046" cy="2415540"/>
          </a:xfrm>
        </p:grpSpPr>
        <p:sp>
          <p:nvSpPr>
            <p:cNvPr id="3" name="TextBox 3"/>
            <p:cNvSpPr txBox="1"/>
            <p:nvPr/>
          </p:nvSpPr>
          <p:spPr>
            <a:xfrm>
              <a:off x="5733845" y="2429637"/>
              <a:ext cx="724310" cy="1341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6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99640" y="3437382"/>
              <a:ext cx="99271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Appendix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529977" y="3967353"/>
              <a:ext cx="7132046" cy="877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2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架構六層與 Kanban回顧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47" name="Group 47"/>
          <p:cNvGrpSpPr/>
          <p:nvPr/>
        </p:nvGrpSpPr>
        <p:grpSpPr>
          <a:xfrm>
            <a:off x="346710" y="299085"/>
            <a:ext cx="11309699" cy="6040660"/>
            <a:chOff x="346710" y="299085"/>
            <a:chExt cx="11309699" cy="6040660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561687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架構六層：一張 #3如何被交接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1950" y="878110"/>
              <a:ext cx="64789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同一張票由目標拆解，經看板派工與執行，再由證據和人核准。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910971" y="1662970"/>
              <a:ext cx="10369868" cy="666750"/>
            </a:xfrm>
            <a:prstGeom prst="roundRect">
              <a:avLst>
                <a:gd name="adj" fmla="val 11429"/>
              </a:avLst>
            </a:prstGeom>
            <a:noFill/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910971" y="1662970"/>
              <a:ext cx="10369867" cy="9525"/>
            </a:xfrm>
            <a:custGeom>
              <a:avLst/>
              <a:gdLst/>
              <a:ahLst/>
              <a:cxnLst/>
              <a:rect l="l" t="t" r="r" b="b"/>
              <a:pathLst>
                <a:path w="10369867" h="9525">
                  <a:moveTo>
                    <a:pt x="0" y="0"/>
                  </a:moveTo>
                  <a:lnTo>
                    <a:pt x="10369867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1280838" y="166297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10971" y="2329720"/>
              <a:ext cx="10369867" cy="9525"/>
            </a:xfrm>
            <a:custGeom>
              <a:avLst/>
              <a:gdLst/>
              <a:ahLst/>
              <a:cxnLst/>
              <a:rect l="l" t="t" r="r" b="b"/>
              <a:pathLst>
                <a:path w="10369867" h="9525">
                  <a:moveTo>
                    <a:pt x="0" y="0"/>
                  </a:moveTo>
                  <a:lnTo>
                    <a:pt x="10369867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10971" y="166297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38100">
              <a:solidFill>
                <a:srgbClr val="48617D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20521" y="1891570"/>
              <a:ext cx="238439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1｜ Goal / Governance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188458" y="1891570"/>
              <a:ext cx="449627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人定 parent Goal； PO/PM Agent記錄目標。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10971" y="2463070"/>
              <a:ext cx="10369868" cy="666750"/>
            </a:xfrm>
            <a:prstGeom prst="roundRect">
              <a:avLst>
                <a:gd name="adj" fmla="val 11429"/>
              </a:avLst>
            </a:prstGeom>
            <a:noFill/>
            <a:ln>
              <a:noFill/>
            </a:ln>
          </p:spPr>
        </p:sp>
        <p:sp>
          <p:nvSpPr>
            <p:cNvPr id="13" name="Line 13"/>
            <p:cNvSpPr/>
            <p:nvPr/>
          </p:nvSpPr>
          <p:spPr>
            <a:xfrm>
              <a:off x="910971" y="2463070"/>
              <a:ext cx="10369867" cy="9525"/>
            </a:xfrm>
            <a:custGeom>
              <a:avLst/>
              <a:gdLst/>
              <a:ahLst/>
              <a:cxnLst/>
              <a:rect l="l" t="t" r="r" b="b"/>
              <a:pathLst>
                <a:path w="10369867" h="9525">
                  <a:moveTo>
                    <a:pt x="0" y="0"/>
                  </a:moveTo>
                  <a:lnTo>
                    <a:pt x="10369867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1280838" y="246307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910971" y="3129820"/>
              <a:ext cx="10369867" cy="9525"/>
            </a:xfrm>
            <a:custGeom>
              <a:avLst/>
              <a:gdLst/>
              <a:ahLst/>
              <a:cxnLst/>
              <a:rect l="l" t="t" r="r" b="b"/>
              <a:pathLst>
                <a:path w="10369867" h="9525">
                  <a:moveTo>
                    <a:pt x="0" y="0"/>
                  </a:moveTo>
                  <a:lnTo>
                    <a:pt x="10369867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910971" y="246307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38100">
              <a:solidFill>
                <a:srgbClr val="6B75B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20521" y="2691670"/>
              <a:ext cx="245340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2｜ Planning / Backlog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88458" y="2691670"/>
              <a:ext cx="351043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PO/PM Agent把 Goal拆成 #3子票。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10971" y="3263170"/>
              <a:ext cx="10369868" cy="666750"/>
            </a:xfrm>
            <a:prstGeom prst="roundRect">
              <a:avLst>
                <a:gd name="adj" fmla="val 11429"/>
              </a:avLst>
            </a:prstGeom>
            <a:noFill/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910971" y="3263170"/>
              <a:ext cx="10369867" cy="9525"/>
            </a:xfrm>
            <a:custGeom>
              <a:avLst/>
              <a:gdLst/>
              <a:ahLst/>
              <a:cxnLst/>
              <a:rect l="l" t="t" r="r" b="b"/>
              <a:pathLst>
                <a:path w="10369867" h="9525">
                  <a:moveTo>
                    <a:pt x="0" y="0"/>
                  </a:moveTo>
                  <a:lnTo>
                    <a:pt x="10369867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1280838" y="326317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910971" y="3929920"/>
              <a:ext cx="10369867" cy="9525"/>
            </a:xfrm>
            <a:custGeom>
              <a:avLst/>
              <a:gdLst/>
              <a:ahLst/>
              <a:cxnLst/>
              <a:rect l="l" t="t" r="r" b="b"/>
              <a:pathLst>
                <a:path w="10369867" h="9525">
                  <a:moveTo>
                    <a:pt x="0" y="0"/>
                  </a:moveTo>
                  <a:lnTo>
                    <a:pt x="10369867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910971" y="326317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38100">
              <a:solidFill>
                <a:srgbClr val="8071B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20521" y="3491770"/>
              <a:ext cx="26949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3｜ Task Graph / Kanban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88458" y="3491770"/>
              <a:ext cx="38609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看板記錄 #3的狀態；從 Ready欄取票。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10971" y="4063270"/>
              <a:ext cx="10369868" cy="666750"/>
            </a:xfrm>
            <a:prstGeom prst="roundRect">
              <a:avLst>
                <a:gd name="adj" fmla="val 11429"/>
              </a:avLst>
            </a:prstGeom>
            <a:noFill/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910971" y="4063270"/>
              <a:ext cx="10369867" cy="9525"/>
            </a:xfrm>
            <a:custGeom>
              <a:avLst/>
              <a:gdLst/>
              <a:ahLst/>
              <a:cxnLst/>
              <a:rect l="l" t="t" r="r" b="b"/>
              <a:pathLst>
                <a:path w="10369867" h="9525">
                  <a:moveTo>
                    <a:pt x="0" y="0"/>
                  </a:moveTo>
                  <a:lnTo>
                    <a:pt x="10369867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11280838" y="406327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910971" y="4730020"/>
              <a:ext cx="10369867" cy="9525"/>
            </a:xfrm>
            <a:custGeom>
              <a:avLst/>
              <a:gdLst/>
              <a:ahLst/>
              <a:cxnLst/>
              <a:rect l="l" t="t" r="r" b="b"/>
              <a:pathLst>
                <a:path w="10369867" h="9525">
                  <a:moveTo>
                    <a:pt x="0" y="0"/>
                  </a:moveTo>
                  <a:lnTo>
                    <a:pt x="10369867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910971" y="406327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38100">
              <a:solidFill>
                <a:srgbClr val="9169A4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120521" y="4291870"/>
              <a:ext cx="202784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4｜ Orchestrator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188458" y="4291870"/>
              <a:ext cx="42991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依目前狀態，把 #3交給 Developer Agent。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10971" y="4863370"/>
              <a:ext cx="10369868" cy="666750"/>
            </a:xfrm>
            <a:prstGeom prst="roundRect">
              <a:avLst>
                <a:gd name="adj" fmla="val 11429"/>
              </a:avLst>
            </a:prstGeom>
            <a:noFill/>
            <a:ln>
              <a:noFill/>
            </a:ln>
          </p:spPr>
        </p:sp>
        <p:sp>
          <p:nvSpPr>
            <p:cNvPr id="34" name="Line 34"/>
            <p:cNvSpPr/>
            <p:nvPr/>
          </p:nvSpPr>
          <p:spPr>
            <a:xfrm>
              <a:off x="910971" y="4863370"/>
              <a:ext cx="10369867" cy="9525"/>
            </a:xfrm>
            <a:custGeom>
              <a:avLst/>
              <a:gdLst/>
              <a:ahLst/>
              <a:cxnLst/>
              <a:rect l="l" t="t" r="r" b="b"/>
              <a:pathLst>
                <a:path w="10369867" h="9525">
                  <a:moveTo>
                    <a:pt x="0" y="0"/>
                  </a:moveTo>
                  <a:lnTo>
                    <a:pt x="10369867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11280838" y="486337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910971" y="5530120"/>
              <a:ext cx="10369867" cy="9525"/>
            </a:xfrm>
            <a:custGeom>
              <a:avLst/>
              <a:gdLst/>
              <a:ahLst/>
              <a:cxnLst/>
              <a:rect l="l" t="t" r="r" b="b"/>
              <a:pathLst>
                <a:path w="10369867" h="9525">
                  <a:moveTo>
                    <a:pt x="0" y="0"/>
                  </a:moveTo>
                  <a:lnTo>
                    <a:pt x="10369867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910971" y="486337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38100">
              <a:solidFill>
                <a:srgbClr val="4F8C79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120521" y="5091970"/>
              <a:ext cx="24879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5｜ Execution Runtime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188458" y="5091970"/>
              <a:ext cx="49234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Developer Agent實作 #3，提交 commit並開 PR。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10971" y="5663470"/>
              <a:ext cx="10369868" cy="666750"/>
            </a:xfrm>
            <a:prstGeom prst="roundRect">
              <a:avLst>
                <a:gd name="adj" fmla="val 11429"/>
              </a:avLst>
            </a:prstGeom>
            <a:noFill/>
            <a:ln>
              <a:noFill/>
            </a:ln>
          </p:spPr>
        </p:sp>
        <p:sp>
          <p:nvSpPr>
            <p:cNvPr id="41" name="Line 41"/>
            <p:cNvSpPr/>
            <p:nvPr/>
          </p:nvSpPr>
          <p:spPr>
            <a:xfrm>
              <a:off x="910971" y="5663470"/>
              <a:ext cx="10369867" cy="9525"/>
            </a:xfrm>
            <a:custGeom>
              <a:avLst/>
              <a:gdLst/>
              <a:ahLst/>
              <a:cxnLst/>
              <a:rect l="l" t="t" r="r" b="b"/>
              <a:pathLst>
                <a:path w="10369867" h="9525">
                  <a:moveTo>
                    <a:pt x="0" y="0"/>
                  </a:moveTo>
                  <a:lnTo>
                    <a:pt x="10369867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11280838" y="566347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910971" y="6330220"/>
              <a:ext cx="10369867" cy="9525"/>
            </a:xfrm>
            <a:custGeom>
              <a:avLst/>
              <a:gdLst/>
              <a:ahLst/>
              <a:cxnLst/>
              <a:rect l="l" t="t" r="r" b="b"/>
              <a:pathLst>
                <a:path w="10369867" h="9525">
                  <a:moveTo>
                    <a:pt x="0" y="0"/>
                  </a:moveTo>
                  <a:lnTo>
                    <a:pt x="10369867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910971" y="566347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38100">
              <a:solidFill>
                <a:srgbClr val="70A774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120521" y="5892070"/>
              <a:ext cx="271793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6｜ Review / QA / Human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188458" y="5892070"/>
              <a:ext cx="646795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Review與 QA留下證據； Human Gate核准後才 merge、進 Done。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42" name="Group 42"/>
          <p:cNvGrpSpPr/>
          <p:nvPr/>
        </p:nvGrpSpPr>
        <p:grpSpPr>
          <a:xfrm>
            <a:off x="-150257" y="299085"/>
            <a:ext cx="12492514" cy="6454140"/>
            <a:chOff x="-150257" y="299085"/>
            <a:chExt cx="12492514" cy="6454140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25237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Kanban回顧： Agent依序拉取同一張票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58145"/>
              <a:ext cx="11430000" cy="457200"/>
            </a:xfrm>
            <a:prstGeom prst="roundRect">
              <a:avLst>
                <a:gd name="adj" fmla="val 18750"/>
              </a:avLst>
            </a:prstGeom>
            <a:solidFill>
              <a:srgbClr val="172B3E"/>
            </a:solidFill>
            <a:ln w="9525">
              <a:solidFill>
                <a:srgbClr val="83BCFF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495300" y="1281970"/>
              <a:ext cx="373006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CF5E3"/>
                  </a:solidFill>
                  <a:latin typeface="Arial"/>
                  <a:ea typeface="Microsoft YaHei"/>
                  <a:cs typeface="Arial"/>
                </a:rPr>
                <a:t>Goal / Epic｜互相喜歡才算配對成功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896600" y="1281970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7C9BD"/>
                  </a:solidFill>
                  <a:latin typeface="Arial"/>
                  <a:ea typeface="Microsoft YaHei"/>
                  <a:cs typeface="Arial"/>
                </a:rPr>
                <a:t>泳道標題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381000" y="1805845"/>
              <a:ext cx="1262062" cy="2095500"/>
            </a:xfrm>
            <a:prstGeom prst="roundRect">
              <a:avLst>
                <a:gd name="adj" fmla="val 6792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78834" y="2624995"/>
              <a:ext cx="86620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Backlog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833562" y="1805845"/>
              <a:ext cx="1262062" cy="2095500"/>
            </a:xfrm>
            <a:prstGeom prst="roundRect">
              <a:avLst>
                <a:gd name="adj" fmla="val 6792"/>
              </a:avLst>
            </a:prstGeom>
            <a:solidFill>
              <a:srgbClr val="172B3E"/>
            </a:solidFill>
            <a:ln w="9525">
              <a:solidFill>
                <a:srgbClr val="83BCF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129254" y="1920145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Ready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919288" y="2463070"/>
              <a:ext cx="1090612" cy="561975"/>
            </a:xfrm>
            <a:prstGeom prst="roundRect">
              <a:avLst>
                <a:gd name="adj" fmla="val 11864"/>
              </a:avLst>
            </a:prstGeom>
            <a:solidFill>
              <a:srgbClr val="151F2C"/>
            </a:solidFill>
            <a:ln w="9525">
              <a:solidFill>
                <a:srgbClr val="394C6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971675" y="2551176"/>
              <a:ext cx="168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73224" y="2551176"/>
              <a:ext cx="5375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Like／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73224" y="2751201"/>
              <a:ext cx="4081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Pass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71675" y="2779776"/>
              <a:ext cx="10390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Ready｜等 #3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919288" y="3082195"/>
              <a:ext cx="1090612" cy="561975"/>
            </a:xfrm>
            <a:prstGeom prst="roundRect">
              <a:avLst>
                <a:gd name="adj" fmla="val 11864"/>
              </a:avLst>
            </a:prstGeom>
            <a:solidFill>
              <a:srgbClr val="151F2C"/>
            </a:solidFill>
            <a:ln w="9525">
              <a:solidFill>
                <a:srgbClr val="394C6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971675" y="3170301"/>
              <a:ext cx="209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00275" y="3170301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配對列表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71675" y="3398901"/>
              <a:ext cx="10390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Ready｜等 #3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286125" y="1805845"/>
              <a:ext cx="1262062" cy="2095500"/>
            </a:xfrm>
            <a:prstGeom prst="roundRect">
              <a:avLst>
                <a:gd name="adj" fmla="val 6792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708333" y="2624995"/>
              <a:ext cx="4176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Dev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738688" y="1805845"/>
              <a:ext cx="1262062" cy="2095500"/>
            </a:xfrm>
            <a:prstGeom prst="roundRect">
              <a:avLst>
                <a:gd name="adj" fmla="val 6792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976872" y="2624995"/>
              <a:ext cx="78569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Review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191250" y="1805845"/>
              <a:ext cx="1262062" cy="2095500"/>
            </a:xfrm>
            <a:prstGeom prst="roundRect">
              <a:avLst>
                <a:gd name="adj" fmla="val 6792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53713" y="2624995"/>
              <a:ext cx="33713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QA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643812" y="1805845"/>
              <a:ext cx="1262062" cy="2095500"/>
            </a:xfrm>
            <a:prstGeom prst="roundRect">
              <a:avLst>
                <a:gd name="adj" fmla="val 6792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812988" y="2624995"/>
              <a:ext cx="9237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Product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39504" y="2863120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Check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096375" y="1805845"/>
              <a:ext cx="1262062" cy="2095500"/>
            </a:xfrm>
            <a:prstGeom prst="roundRect">
              <a:avLst>
                <a:gd name="adj" fmla="val 6792"/>
              </a:avLst>
            </a:prstGeom>
            <a:solidFill>
              <a:srgbClr val="211E15"/>
            </a:solidFill>
            <a:ln w="9525">
              <a:solidFill>
                <a:srgbClr val="806A3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081528" y="2213038"/>
              <a:ext cx="12917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Human Gate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302353" y="3344132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產品負責人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0548938" y="1805845"/>
              <a:ext cx="1262062" cy="2095500"/>
            </a:xfrm>
            <a:prstGeom prst="roundRect">
              <a:avLst>
                <a:gd name="adj" fmla="val 6792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07887" y="2624995"/>
              <a:ext cx="5441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Done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833562" y="4091845"/>
              <a:ext cx="1262062" cy="1562100"/>
            </a:xfrm>
            <a:prstGeom prst="roundRect">
              <a:avLst>
                <a:gd name="adj" fmla="val 6792"/>
              </a:avLst>
            </a:prstGeom>
            <a:solidFill>
              <a:srgbClr val="1B3550"/>
            </a:solidFill>
            <a:ln w="19050">
              <a:solidFill>
                <a:srgbClr val="83BCF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938338" y="4244245"/>
              <a:ext cx="2790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938338" y="456809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938338" y="4834795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配對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943100" y="5151501"/>
              <a:ext cx="12280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5D4E2"/>
                  </a:solidFill>
                  <a:latin typeface="Arial"/>
                  <a:ea typeface="Microsoft YaHei"/>
                  <a:cs typeface="Arial"/>
                </a:rPr>
                <a:t>Agent依序交接·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943100" y="5351526"/>
              <a:ext cx="4804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5D4E2"/>
                  </a:solidFill>
                  <a:latin typeface="Arial"/>
                  <a:ea typeface="Microsoft YaHei"/>
                  <a:cs typeface="Arial"/>
                </a:rPr>
                <a:t>WIP= 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-150257" y="6181725"/>
              <a:ext cx="124925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#3 Done≠ Goal達成； #1、 #2在 Ready。 Human Gate由產品負責人（人類流程中的 PO／ PM本人）決定，核准後 #3才進 Done（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556647" y="6448425"/>
              <a:ext cx="10787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WIP= 1）。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