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_rels/notesSlide3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7.xml"/>
</Relationships>
</file>

<file path=ppt/notesSlides/_rels/notesSlide3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8.xml"/>
</Relationships>
</file>

<file path=ppt/notesSlides/_rels/notesSlide3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9.xml"/>
</Relationships>
</file>

<file path=ppt/notesSlides/_rels/notesSlide4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0.xml"/>
</Relationships>
</file>

<file path=ppt/notesSlides/_rels/notesSlide4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1.xml"/>
</Relationships>
</file>

<file path=ppt/notesSlides/_rels/notesSlide4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2.xml"/>
</Relationships>
</file>

<file path=ppt/notesSlides/_rels/notesSlide4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3.xml"/>
</Relationships>
</file>

<file path=ppt/notesSlides/_rels/notesSlide4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10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11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12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13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14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15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16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17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18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19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20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21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22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23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24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25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26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27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28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29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30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31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32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33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34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35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36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37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38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39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40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41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42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43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101｜v7｜第 44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9_img1.png"/>
  <Relationship Id="rId3" Type="http://schemas.openxmlformats.org/officeDocument/2006/relationships/image" Target="../media/s29_img2.png"/>
  <Relationship Id="rId4" Type="http://schemas.openxmlformats.org/officeDocument/2006/relationships/image" Target="../media/s29_img3.png"/>
  <Relationship Id="rId5" Type="http://schemas.openxmlformats.org/officeDocument/2006/relationships/image" Target="../media/s29_img4.png"/>
  <Relationship Id="rId6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6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7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8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9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0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1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2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3.xml"/>
</Relationships>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987457" y="2542699"/>
            <a:ext cx="8402726" cy="2077117"/>
            <a:chOff x="987457" y="2542699"/>
            <a:chExt cx="8402726" cy="2077117"/>
          </a:xfrm>
        </p:grpSpPr>
        <p:sp>
          <p:nvSpPr>
            <p:cNvPr id="3" name="TextBox 3"/>
            <p:cNvSpPr txBox="1"/>
            <p:nvPr/>
          </p:nvSpPr>
          <p:spPr>
            <a:xfrm>
              <a:off x="987457" y="2542699"/>
              <a:ext cx="1345677" cy="17556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40" b="1" dirty="0">
                  <a:solidFill>
                    <a:srgbClr val="42556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8417" y="3572066"/>
              <a:ext cx="8341766" cy="780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84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第一段｜軟體是怎麼被做出來的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72801" y="4229672"/>
              <a:ext cx="7059168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20" dirty="0">
                  <a:solidFill>
                    <a:srgbClr val="CAD5E2"/>
                  </a:solidFill>
                  <a:latin typeface="Arial"/>
                  <a:ea typeface="Microsoft YaHei"/>
                  <a:cs typeface="Arial"/>
                </a:rPr>
                <a:t>一個想法，怎麼經過敏捷／看板流程，成為交付的軟體？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477831" y="336956"/>
            <a:ext cx="10429348" cy="4864742"/>
            <a:chOff x="477831" y="336956"/>
            <a:chExt cx="10429348" cy="4864742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4046116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範例產品： Matching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809625" y="2248948"/>
              <a:ext cx="3079718" cy="2952750"/>
            </a:xfrm>
            <a:prstGeom prst="roundRect">
              <a:avLst>
                <a:gd name="adj" fmla="val 9677"/>
              </a:avLst>
            </a:prstGeom>
            <a:noFill/>
            <a:ln w="19050">
              <a:solidFill>
                <a:srgbClr val="485A70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063901" y="2497550"/>
              <a:ext cx="5710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A的畫面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863662" y="2791873"/>
              <a:ext cx="971550" cy="971550"/>
            </a:xfrm>
            <a:prstGeom prst="roundRect">
              <a:avLst>
                <a:gd name="adj" fmla="val 49020"/>
              </a:avLst>
            </a:prstGeom>
            <a:solidFill>
              <a:srgbClr val="263C58"/>
            </a:solidFill>
            <a:ln w="38100">
              <a:solidFill>
                <a:srgbClr val="83BCF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01282" y="2843308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48908" y="3940112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喜歡這個人嗎？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868519" y="4573048"/>
              <a:ext cx="961834" cy="400050"/>
            </a:xfrm>
            <a:prstGeom prst="roundRect">
              <a:avLst>
                <a:gd name="adj" fmla="val 50000"/>
              </a:avLst>
            </a:prstGeom>
            <a:solidFill>
              <a:srgbClr val="D64D6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04168" y="4691158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99256" y="3568160"/>
              <a:ext cx="2469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556093" y="2248948"/>
              <a:ext cx="3079718" cy="2952750"/>
            </a:xfrm>
            <a:prstGeom prst="roundRect">
              <a:avLst>
                <a:gd name="adj" fmla="val 9677"/>
              </a:avLst>
            </a:prstGeom>
            <a:noFill/>
            <a:ln w="19050">
              <a:solidFill>
                <a:srgbClr val="485A7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10369" y="2497550"/>
              <a:ext cx="5710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B的畫面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610034" y="2791873"/>
              <a:ext cx="971550" cy="971550"/>
            </a:xfrm>
            <a:prstGeom prst="roundRect">
              <a:avLst>
                <a:gd name="adj" fmla="val 49020"/>
              </a:avLst>
            </a:prstGeom>
            <a:solidFill>
              <a:srgbClr val="3B2D53"/>
            </a:solidFill>
            <a:ln w="38100">
              <a:solidFill>
                <a:srgbClr val="D19A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47655" y="2843308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95281" y="3940112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喜歡這個人嗎？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614988" y="4573048"/>
              <a:ext cx="961834" cy="400050"/>
            </a:xfrm>
            <a:prstGeom prst="roundRect">
              <a:avLst>
                <a:gd name="adj" fmla="val 50000"/>
              </a:avLst>
            </a:prstGeom>
            <a:solidFill>
              <a:srgbClr val="D64D6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50636" y="4691158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45725" y="3568160"/>
              <a:ext cx="2469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588722" y="3178588"/>
              <a:ext cx="50749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77758" y="4109180"/>
              <a:ext cx="21294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雙方都看到 Match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5" name="Group 65"/>
          <p:cNvGrpSpPr/>
          <p:nvPr/>
        </p:nvGrpSpPr>
        <p:grpSpPr>
          <a:xfrm>
            <a:off x="168771" y="336956"/>
            <a:ext cx="11347020" cy="5071785"/>
            <a:chOff x="168771" y="336956"/>
            <a:chExt cx="11347020" cy="5071785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8807159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理論流程： Goal是 parent， ticket沿看板前進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168771" y="1869481"/>
              <a:ext cx="11347020" cy="3539260"/>
              <a:chOff x="168771" y="1869481"/>
              <a:chExt cx="11347020" cy="3539260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1365997" y="2107622"/>
                <a:ext cx="8745575" cy="3301119"/>
                <a:chOff x="1365997" y="2107622"/>
                <a:chExt cx="8745575" cy="3301119"/>
              </a:xfrm>
            </p:grpSpPr>
            <p:sp>
              <p:nvSpPr>
                <p:cNvPr id="4" name="Freeform 4"/>
                <p:cNvSpPr/>
                <p:nvPr/>
              </p:nvSpPr>
              <p:spPr>
                <a:xfrm>
                  <a:off x="2236448" y="2107622"/>
                  <a:ext cx="3613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320" h="9525">
                      <a:moveTo>
                        <a:pt x="0" y="0"/>
                      </a:moveTo>
                      <a:lnTo>
                        <a:pt x="361320" y="0"/>
                      </a:lnTo>
                    </a:path>
                  </a:pathLst>
                </a:custGeom>
                <a:noFill/>
                <a:ln w="28575" cap="rnd">
                  <a:solidFill>
                    <a:srgbClr val="83BCFF"/>
                  </a:solidFill>
                  <a:round/>
                </a:ln>
              </p:spPr>
            </p:sp>
            <p:sp>
              <p:nvSpPr>
                <p:cNvPr id="5" name="Freeform 5"/>
                <p:cNvSpPr/>
                <p:nvPr/>
              </p:nvSpPr>
              <p:spPr>
                <a:xfrm>
                  <a:off x="1365997" y="2353974"/>
                  <a:ext cx="1773750" cy="55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3750" h="558398">
                      <a:moveTo>
                        <a:pt x="1773750" y="0"/>
                      </a:moveTo>
                      <a:cubicBezTo>
                        <a:pt x="1773750" y="344893"/>
                        <a:pt x="0" y="205294"/>
                        <a:pt x="0" y="558398"/>
                      </a:cubicBezTo>
                    </a:path>
                  </a:pathLst>
                </a:custGeom>
                <a:noFill/>
                <a:ln w="28575" cap="rnd">
                  <a:solidFill>
                    <a:srgbClr val="83DDA7"/>
                  </a:solidFill>
                  <a:round/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5767525" y="2345762"/>
                  <a:ext cx="3695313" cy="5666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5313" h="566610">
                      <a:moveTo>
                        <a:pt x="3481806" y="566610"/>
                      </a:moveTo>
                      <a:cubicBezTo>
                        <a:pt x="3695313" y="213505"/>
                        <a:pt x="2463542" y="164235"/>
                        <a:pt x="0" y="0"/>
                      </a:cubicBezTo>
                    </a:path>
                  </a:pathLst>
                </a:custGeom>
                <a:noFill/>
                <a:ln w="28575" cap="rnd">
                  <a:solidFill>
                    <a:srgbClr val="83DDA7"/>
                  </a:solidFill>
                  <a:round/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2121483" y="3298324"/>
                  <a:ext cx="10675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53" h="9525">
                      <a:moveTo>
                        <a:pt x="0" y="0"/>
                      </a:moveTo>
                      <a:lnTo>
                        <a:pt x="106753" y="0"/>
                      </a:lnTo>
                    </a:path>
                  </a:pathLst>
                </a:custGeom>
                <a:noFill/>
                <a:ln w="28575" cap="rnd">
                  <a:solidFill>
                    <a:srgbClr val="83BCFF"/>
                  </a:solidFill>
                  <a:round/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3632456" y="3298324"/>
                  <a:ext cx="17244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48" h="9525">
                      <a:moveTo>
                        <a:pt x="0" y="0"/>
                      </a:moveTo>
                      <a:lnTo>
                        <a:pt x="172448" y="0"/>
                      </a:lnTo>
                    </a:path>
                  </a:pathLst>
                </a:custGeom>
                <a:noFill/>
                <a:ln w="28575" cap="rnd">
                  <a:solidFill>
                    <a:srgbClr val="83BCFF"/>
                  </a:solidFill>
                  <a:round/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5209123" y="3298324"/>
                  <a:ext cx="17244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48" h="9525">
                      <a:moveTo>
                        <a:pt x="0" y="0"/>
                      </a:moveTo>
                      <a:lnTo>
                        <a:pt x="172448" y="0"/>
                      </a:lnTo>
                    </a:path>
                  </a:pathLst>
                </a:custGeom>
                <a:noFill/>
                <a:ln w="28575" cap="rnd">
                  <a:solidFill>
                    <a:srgbClr val="83BCFF"/>
                  </a:solidFill>
                  <a:round/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6785790" y="3298324"/>
                  <a:ext cx="17244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48" h="9525">
                      <a:moveTo>
                        <a:pt x="0" y="0"/>
                      </a:moveTo>
                      <a:lnTo>
                        <a:pt x="172448" y="0"/>
                      </a:lnTo>
                    </a:path>
                  </a:pathLst>
                </a:custGeom>
                <a:noFill/>
                <a:ln w="28575" cap="rnd">
                  <a:solidFill>
                    <a:srgbClr val="83BCFF"/>
                  </a:solidFill>
                  <a:round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362457" y="3298324"/>
                  <a:ext cx="17244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48" h="9525">
                      <a:moveTo>
                        <a:pt x="0" y="0"/>
                      </a:moveTo>
                      <a:lnTo>
                        <a:pt x="172448" y="0"/>
                      </a:lnTo>
                    </a:path>
                  </a:pathLst>
                </a:custGeom>
                <a:noFill/>
                <a:ln w="28575" cap="rnd">
                  <a:solidFill>
                    <a:srgbClr val="83BCFF"/>
                  </a:solidFill>
                  <a:round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939124" y="3298324"/>
                  <a:ext cx="17244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48" h="9525">
                      <a:moveTo>
                        <a:pt x="0" y="0"/>
                      </a:moveTo>
                      <a:lnTo>
                        <a:pt x="172448" y="0"/>
                      </a:lnTo>
                    </a:path>
                  </a:pathLst>
                </a:custGeom>
                <a:noFill/>
                <a:ln w="28575" cap="rnd">
                  <a:solidFill>
                    <a:srgbClr val="83BCFF"/>
                  </a:solidFill>
                  <a:round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4190858" y="3676064"/>
                  <a:ext cx="1905139" cy="262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139" h="262776">
                      <a:moveTo>
                        <a:pt x="1905139" y="0"/>
                      </a:moveTo>
                      <a:cubicBezTo>
                        <a:pt x="1905139" y="262776"/>
                        <a:pt x="796545" y="262776"/>
                        <a:pt x="0" y="0"/>
                      </a:cubicBezTo>
                    </a:path>
                  </a:pathLst>
                </a:custGeom>
                <a:noFill/>
                <a:ln w="28575" cap="rnd">
                  <a:solidFill>
                    <a:srgbClr val="FF9289"/>
                  </a:solidFill>
                  <a:round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4519331" y="3676064"/>
                  <a:ext cx="3153334" cy="624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334" h="624092">
                      <a:moveTo>
                        <a:pt x="3153334" y="0"/>
                      </a:moveTo>
                      <a:cubicBezTo>
                        <a:pt x="3153334" y="624092"/>
                        <a:pt x="714427" y="624092"/>
                        <a:pt x="0" y="0"/>
                      </a:cubicBezTo>
                    </a:path>
                  </a:pathLst>
                </a:custGeom>
                <a:noFill/>
                <a:ln w="28575" cap="rnd">
                  <a:solidFill>
                    <a:srgbClr val="FF9289"/>
                  </a:solidFill>
                  <a:round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4847803" y="3676064"/>
                  <a:ext cx="4401529" cy="985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1529" h="985409">
                      <a:moveTo>
                        <a:pt x="4401529" y="0"/>
                      </a:moveTo>
                      <a:cubicBezTo>
                        <a:pt x="4401529" y="985409"/>
                        <a:pt x="837604" y="985409"/>
                        <a:pt x="0" y="0"/>
                      </a:cubicBezTo>
                    </a:path>
                  </a:pathLst>
                </a:custGeom>
                <a:noFill/>
                <a:ln w="28575" cap="rnd">
                  <a:solidFill>
                    <a:srgbClr val="FF9289"/>
                  </a:solidFill>
                  <a:round/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365997" y="3676064"/>
                  <a:ext cx="7883335" cy="1732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83335" h="1732677">
                      <a:moveTo>
                        <a:pt x="7883335" y="0"/>
                      </a:moveTo>
                      <a:cubicBezTo>
                        <a:pt x="7883335" y="1732677"/>
                        <a:pt x="0" y="1732677"/>
                        <a:pt x="0" y="0"/>
                      </a:cubicBezTo>
                    </a:path>
                  </a:pathLst>
                </a:custGeom>
                <a:noFill/>
                <a:ln w="28575" cap="rnd">
                  <a:solidFill>
                    <a:srgbClr val="F2CF76"/>
                  </a:solidFill>
                  <a:prstDash val="sysDash"/>
                  <a:round/>
                </a:ln>
              </p:spPr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1974732" y="2477150"/>
                <a:ext cx="8128628" cy="2925433"/>
                <a:chOff x="1974732" y="2477150"/>
                <a:chExt cx="8128628" cy="2925433"/>
              </a:xfrm>
            </p:grpSpPr>
            <p:sp>
              <p:nvSpPr>
                <p:cNvPr id="18" name="Rectangle 18"/>
                <p:cNvSpPr/>
                <p:nvPr/>
              </p:nvSpPr>
              <p:spPr>
                <a:xfrm>
                  <a:off x="2195389" y="2477150"/>
                  <a:ext cx="1888716" cy="229929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0B1119"/>
                </a:solidFill>
                <a:ln w="14288" cap="flat">
                  <a:solidFill>
                    <a:srgbClr val="675834"/>
                  </a:solidFill>
                  <a:miter lim="800000"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974732" y="2528473"/>
                  <a:ext cx="2330030" cy="197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0" b="1" dirty="0">
                      <a:solidFill>
                        <a:srgbClr val="F2CF76"/>
                      </a:solidFill>
                      <a:latin typeface="Inter"/>
                      <a:ea typeface="Microsoft JhengHei"/>
                      <a:cs typeface="Inter"/>
                    </a:rPr>
                    <a:t>Goal parent ↓ Ticket Refinement</a:t>
                  </a:r>
                </a:p>
              </p:txBody>
            </p:sp>
            <p:sp>
              <p:nvSpPr>
                <p:cNvPr id="20" name="Rectangle 20"/>
                <p:cNvSpPr/>
                <p:nvPr/>
              </p:nvSpPr>
              <p:spPr>
                <a:xfrm>
                  <a:off x="8395304" y="2477150"/>
                  <a:ext cx="1708056" cy="229929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0B1119"/>
                </a:solidFill>
                <a:ln w="14288" cap="flat">
                  <a:solidFill>
                    <a:srgbClr val="675834"/>
                  </a:solidFill>
                  <a:miter lim="800000"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8590016" y="2528473"/>
                  <a:ext cx="1318631" cy="197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0" b="1" dirty="0">
                      <a:solidFill>
                        <a:srgbClr val="F2CF76"/>
                      </a:solidFill>
                      <a:latin typeface="Inter"/>
                      <a:ea typeface="Microsoft JhengHei"/>
                      <a:cs typeface="Inter"/>
                    </a:rPr>
                    <a:t>↑ 對照 parent Goal</a:t>
                  </a:r>
                </a:p>
              </p:txBody>
            </p:sp>
            <p:sp>
              <p:nvSpPr>
                <p:cNvPr id="22" name="Rectangle 22"/>
                <p:cNvSpPr/>
                <p:nvPr/>
              </p:nvSpPr>
              <p:spPr>
                <a:xfrm>
                  <a:off x="4905286" y="3733546"/>
                  <a:ext cx="1396007" cy="213505"/>
                </a:xfrm>
                <a:prstGeom prst="roundRect">
                  <a:avLst>
                    <a:gd name="adj" fmla="val 23077"/>
                  </a:avLst>
                </a:prstGeom>
                <a:solidFill>
                  <a:srgbClr val="0B1119"/>
                </a:solidFill>
                <a:ln w="14288" cap="flat">
                  <a:solidFill>
                    <a:srgbClr val="67444A"/>
                  </a:solidFill>
                  <a:miter lim="800000"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5096427" y="3784870"/>
                  <a:ext cx="1013724" cy="197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0" b="1" dirty="0">
                      <a:solidFill>
                        <a:srgbClr val="FFD0CB"/>
                      </a:solidFill>
                      <a:latin typeface="Inter"/>
                      <a:ea typeface="Microsoft JhengHei"/>
                      <a:cs typeface="Inter"/>
                    </a:rPr>
                    <a:t>PR Review fail</a:t>
                  </a:r>
                </a:p>
              </p:txBody>
            </p:sp>
            <p:sp>
              <p:nvSpPr>
                <p:cNvPr id="24" name="Rectangle 24"/>
                <p:cNvSpPr/>
                <p:nvPr/>
              </p:nvSpPr>
              <p:spPr>
                <a:xfrm>
                  <a:off x="5907126" y="4078440"/>
                  <a:ext cx="1757327" cy="213505"/>
                </a:xfrm>
                <a:prstGeom prst="roundRect">
                  <a:avLst>
                    <a:gd name="adj" fmla="val 23077"/>
                  </a:avLst>
                </a:prstGeom>
                <a:solidFill>
                  <a:srgbClr val="0B1119"/>
                </a:solidFill>
                <a:ln w="14288" cap="flat">
                  <a:solidFill>
                    <a:srgbClr val="67444A"/>
                  </a:solidFill>
                  <a:miter lim="800000"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6007486" y="4129763"/>
                  <a:ext cx="1556607" cy="197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0" b="1" dirty="0">
                      <a:solidFill>
                        <a:srgbClr val="FFD0CB"/>
                      </a:solidFill>
                      <a:latin typeface="Inter"/>
                      <a:ea typeface="Microsoft JhengHei"/>
                      <a:cs typeface="Inter"/>
                    </a:rPr>
                    <a:t>QA / Verification fail</a:t>
                  </a:r>
                </a:p>
              </p:txBody>
            </p:sp>
            <p:sp>
              <p:nvSpPr>
                <p:cNvPr id="26" name="Rectangle 26"/>
                <p:cNvSpPr/>
                <p:nvPr/>
              </p:nvSpPr>
              <p:spPr>
                <a:xfrm>
                  <a:off x="6711883" y="4439756"/>
                  <a:ext cx="1601302" cy="213505"/>
                </a:xfrm>
                <a:prstGeom prst="roundRect">
                  <a:avLst>
                    <a:gd name="adj" fmla="val 23077"/>
                  </a:avLst>
                </a:prstGeom>
                <a:solidFill>
                  <a:srgbClr val="0B1119"/>
                </a:solidFill>
                <a:ln w="14288" cap="flat">
                  <a:solidFill>
                    <a:srgbClr val="67444A"/>
                  </a:solidFill>
                  <a:miter lim="800000"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6741280" y="4491079"/>
                  <a:ext cx="1534297" cy="197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0" b="1" dirty="0">
                      <a:solidFill>
                        <a:srgbClr val="FFD0CB"/>
                      </a:solidFill>
                      <a:latin typeface="Inter"/>
                      <a:ea typeface="Microsoft JhengHei"/>
                      <a:cs typeface="Inter"/>
                    </a:rPr>
                    <a:t>implementation issue</a:t>
                  </a:r>
                </a:p>
              </p:txBody>
            </p:sp>
            <p:sp>
              <p:nvSpPr>
                <p:cNvPr id="28" name="Rectangle 28"/>
                <p:cNvSpPr/>
                <p:nvPr/>
              </p:nvSpPr>
              <p:spPr>
                <a:xfrm>
                  <a:off x="3755633" y="5137754"/>
                  <a:ext cx="4762848" cy="246352"/>
                </a:xfrm>
                <a:prstGeom prst="roundRect">
                  <a:avLst>
                    <a:gd name="adj" fmla="val 23334"/>
                  </a:avLst>
                </a:prstGeom>
                <a:solidFill>
                  <a:srgbClr val="0B1119"/>
                </a:solidFill>
                <a:ln w="14288" cap="flat">
                  <a:solidFill>
                    <a:srgbClr val="675834"/>
                  </a:solidFill>
                  <a:miter lim="800000"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4261831" y="5205501"/>
                  <a:ext cx="3750451" cy="197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0" b="1" dirty="0">
                      <a:solidFill>
                        <a:srgbClr val="F2CF76"/>
                      </a:solidFill>
                      <a:latin typeface="Inter"/>
                      <a:ea typeface="Microsoft JhengHei"/>
                      <a:cs typeface="Inter"/>
                    </a:rPr>
                    <a:t>goal / problem issue · 回到 Ticket Refinement / Goal</a:t>
                  </a:r>
                </a:p>
              </p:txBody>
            </p:sp>
          </p:grpSp>
          <p:grpSp>
            <p:nvGrpSpPr>
              <p:cNvPr id="50" name="Group 50"/>
              <p:cNvGrpSpPr/>
              <p:nvPr/>
            </p:nvGrpSpPr>
            <p:grpSpPr>
              <a:xfrm>
                <a:off x="168771" y="1869481"/>
                <a:ext cx="11347020" cy="1806583"/>
                <a:chOff x="168771" y="1869481"/>
                <a:chExt cx="11347020" cy="1806583"/>
              </a:xfrm>
            </p:grpSpPr>
            <p:sp>
              <p:nvSpPr>
                <p:cNvPr id="31" name="Rectangle 31"/>
                <p:cNvSpPr/>
                <p:nvPr/>
              </p:nvSpPr>
              <p:spPr>
                <a:xfrm>
                  <a:off x="676205" y="1869481"/>
                  <a:ext cx="1560243" cy="476281"/>
                </a:xfrm>
                <a:prstGeom prst="roundRect">
                  <a:avLst>
                    <a:gd name="adj" fmla="val 17242"/>
                  </a:avLst>
                </a:prstGeom>
                <a:solidFill>
                  <a:srgbClr val="121C28"/>
                </a:solidFill>
                <a:ln w="19050" cap="flat">
                  <a:solidFill>
                    <a:srgbClr val="2B3A4C"/>
                  </a:solidFill>
                  <a:miter lim="800000"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760679" y="2025504"/>
                  <a:ext cx="1391295" cy="2627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93" b="1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Brainstorming</a:t>
                  </a:r>
                </a:p>
              </p:txBody>
            </p:sp>
            <p:sp>
              <p:nvSpPr>
                <p:cNvPr id="33" name="Rectangle 33"/>
                <p:cNvSpPr/>
                <p:nvPr/>
              </p:nvSpPr>
              <p:spPr>
                <a:xfrm>
                  <a:off x="2647039" y="1869481"/>
                  <a:ext cx="3284723" cy="476281"/>
                </a:xfrm>
                <a:prstGeom prst="roundRect">
                  <a:avLst>
                    <a:gd name="adj" fmla="val 17242"/>
                  </a:avLst>
                </a:prstGeom>
                <a:solidFill>
                  <a:srgbClr val="14231B"/>
                </a:solidFill>
                <a:ln w="19050" cap="flat">
                  <a:solidFill>
                    <a:srgbClr val="83DDA7"/>
                  </a:solidFill>
                  <a:miter lim="800000"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2978981" y="1935175"/>
                  <a:ext cx="2620839" cy="2627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93" b="1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Goal / Epic｜互相喜歡才配對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2980613" y="2127330"/>
                  <a:ext cx="2617574" cy="210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35" dirty="0">
                      <a:solidFill>
                        <a:srgbClr val="C7D4CA"/>
                      </a:solidFill>
                      <a:latin typeface="Inter"/>
                      <a:ea typeface="Microsoft JhengHei"/>
                      <a:cs typeface="Inter"/>
                    </a:rPr>
                    <a:t>Parent issue · 不是 workflow state</a:t>
                  </a:r>
                </a:p>
              </p:txBody>
            </p:sp>
            <p:sp>
              <p:nvSpPr>
                <p:cNvPr id="36" name="Rectangle 36"/>
                <p:cNvSpPr/>
                <p:nvPr/>
              </p:nvSpPr>
              <p:spPr>
                <a:xfrm>
                  <a:off x="610510" y="2912372"/>
                  <a:ext cx="1510973" cy="763692"/>
                </a:xfrm>
                <a:prstGeom prst="roundRect">
                  <a:avLst>
                    <a:gd name="adj" fmla="val 10753"/>
                  </a:avLst>
                </a:prstGeom>
                <a:solidFill>
                  <a:srgbClr val="121C28"/>
                </a:solidFill>
                <a:ln w="19050" cap="flat">
                  <a:solidFill>
                    <a:srgbClr val="2B3A4C"/>
                  </a:solidFill>
                  <a:miter lim="800000"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168771" y="3098779"/>
                  <a:ext cx="2394451" cy="2364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Ticket Refinement</a:t>
                  </a:r>
                  <a:r>
                    <a:rPr lang="zh-CN" sz="1350" b="1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/ Backlog</a:t>
                  </a:r>
                </a:p>
              </p:txBody>
            </p:sp>
            <p:sp>
              <p:nvSpPr>
                <p:cNvPr id="38" name="Rectangle 38"/>
                <p:cNvSpPr/>
                <p:nvPr/>
              </p:nvSpPr>
              <p:spPr>
                <a:xfrm>
                  <a:off x="2252872" y="2912372"/>
                  <a:ext cx="1379584" cy="763692"/>
                </a:xfrm>
                <a:prstGeom prst="roundRect">
                  <a:avLst>
                    <a:gd name="adj" fmla="val 10753"/>
                  </a:avLst>
                </a:prstGeom>
                <a:solidFill>
                  <a:srgbClr val="121C28"/>
                </a:solidFill>
                <a:ln w="19050" cap="flat">
                  <a:solidFill>
                    <a:srgbClr val="2B3A4C"/>
                  </a:solidFill>
                  <a:miter lim="800000"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2653559" y="3199783"/>
                  <a:ext cx="578209" cy="2627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93" b="1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Ready</a:t>
                  </a:r>
                </a:p>
              </p:txBody>
            </p:sp>
            <p:sp>
              <p:nvSpPr>
                <p:cNvPr id="40" name="Rectangle 40"/>
                <p:cNvSpPr/>
                <p:nvPr/>
              </p:nvSpPr>
              <p:spPr>
                <a:xfrm>
                  <a:off x="3829539" y="2912372"/>
                  <a:ext cx="1379584" cy="763692"/>
                </a:xfrm>
                <a:prstGeom prst="roundRect">
                  <a:avLst>
                    <a:gd name="adj" fmla="val 10753"/>
                  </a:avLst>
                </a:prstGeom>
                <a:solidFill>
                  <a:srgbClr val="121C28"/>
                </a:solidFill>
                <a:ln w="19050" cap="flat">
                  <a:solidFill>
                    <a:srgbClr val="2B3A4C"/>
                  </a:solidFill>
                  <a:miter lim="800000"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4036870" y="3199783"/>
                  <a:ext cx="964921" cy="2627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93" b="1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Developer</a:t>
                  </a:r>
                </a:p>
              </p:txBody>
            </p:sp>
            <p:sp>
              <p:nvSpPr>
                <p:cNvPr id="42" name="Rectangle 42"/>
                <p:cNvSpPr/>
                <p:nvPr/>
              </p:nvSpPr>
              <p:spPr>
                <a:xfrm>
                  <a:off x="5406206" y="2912372"/>
                  <a:ext cx="1379584" cy="763692"/>
                </a:xfrm>
                <a:prstGeom prst="roundRect">
                  <a:avLst>
                    <a:gd name="adj" fmla="val 10753"/>
                  </a:avLst>
                </a:prstGeom>
                <a:solidFill>
                  <a:srgbClr val="121C28"/>
                </a:solidFill>
                <a:ln w="19050" cap="flat">
                  <a:solidFill>
                    <a:srgbClr val="2B3A4C"/>
                  </a:solidFill>
                  <a:miter lim="800000"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5618495" y="3199783"/>
                  <a:ext cx="955005" cy="2627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93" b="1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PR Review</a:t>
                  </a:r>
                </a:p>
              </p:txBody>
            </p:sp>
            <p:sp>
              <p:nvSpPr>
                <p:cNvPr id="44" name="Rectangle 44"/>
                <p:cNvSpPr/>
                <p:nvPr/>
              </p:nvSpPr>
              <p:spPr>
                <a:xfrm>
                  <a:off x="6982873" y="2912372"/>
                  <a:ext cx="1379584" cy="763692"/>
                </a:xfrm>
                <a:prstGeom prst="roundRect">
                  <a:avLst>
                    <a:gd name="adj" fmla="val 10753"/>
                  </a:avLst>
                </a:prstGeom>
                <a:solidFill>
                  <a:srgbClr val="121C28"/>
                </a:solidFill>
                <a:ln w="19050" cap="flat">
                  <a:solidFill>
                    <a:srgbClr val="2B3A4C"/>
                  </a:solidFill>
                  <a:miter lim="800000"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6862987" y="3084819"/>
                  <a:ext cx="1619355" cy="2627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QA /</a:t>
                  </a:r>
                  <a:r>
                    <a:rPr lang="zh-CN" sz="1500" b="1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Verification</a:t>
                  </a:r>
                </a:p>
              </p:txBody>
            </p:sp>
            <p:sp>
              <p:nvSpPr>
                <p:cNvPr id="46" name="Rectangle 46"/>
                <p:cNvSpPr/>
                <p:nvPr/>
              </p:nvSpPr>
              <p:spPr>
                <a:xfrm>
                  <a:off x="8559540" y="2912372"/>
                  <a:ext cx="1379584" cy="763692"/>
                </a:xfrm>
                <a:prstGeom prst="roundRect">
                  <a:avLst>
                    <a:gd name="adj" fmla="val 10753"/>
                  </a:avLst>
                </a:prstGeom>
                <a:solidFill>
                  <a:srgbClr val="121C28"/>
                </a:solidFill>
                <a:ln w="19050" cap="flat">
                  <a:solidFill>
                    <a:srgbClr val="2B3A4C"/>
                  </a:solidFill>
                  <a:miter lim="800000"/>
                </a:ln>
              </p:spPr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8271088" y="3084819"/>
                  <a:ext cx="1956488" cy="2627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Product /</a:t>
                  </a:r>
                  <a:r>
                    <a:rPr lang="zh-CN" sz="1500" b="1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Goal Check</a:t>
                  </a:r>
                </a:p>
              </p:txBody>
            </p:sp>
            <p:sp>
              <p:nvSpPr>
                <p:cNvPr id="48" name="Rectangle 48"/>
                <p:cNvSpPr/>
                <p:nvPr/>
              </p:nvSpPr>
              <p:spPr>
                <a:xfrm>
                  <a:off x="10136207" y="2912372"/>
                  <a:ext cx="1379584" cy="763692"/>
                </a:xfrm>
                <a:prstGeom prst="roundRect">
                  <a:avLst>
                    <a:gd name="adj" fmla="val 10753"/>
                  </a:avLst>
                </a:prstGeom>
                <a:solidFill>
                  <a:srgbClr val="121C28"/>
                </a:solidFill>
                <a:ln w="19050" cap="flat">
                  <a:solidFill>
                    <a:srgbClr val="2B3A4C"/>
                  </a:solidFill>
                  <a:miter lim="800000"/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10591430" y="3199783"/>
                  <a:ext cx="469137" cy="2627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93" b="1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Done</a:t>
                  </a:r>
                </a:p>
              </p:txBody>
            </p:sp>
          </p:grpSp>
          <p:sp>
            <p:nvSpPr>
              <p:cNvPr id="51" name="Freeform 51"/>
              <p:cNvSpPr/>
              <p:nvPr/>
            </p:nvSpPr>
            <p:spPr>
              <a:xfrm>
                <a:off x="2535367" y="2068021"/>
                <a:ext cx="62401" cy="79201"/>
              </a:xfrm>
              <a:custGeom>
                <a:avLst/>
                <a:gdLst/>
                <a:ahLst/>
                <a:cxnLst/>
                <a:rect l="l" t="t" r="r" b="b"/>
                <a:pathLst>
                  <a:path w="62401" h="79201">
                    <a:moveTo>
                      <a:pt x="0" y="79201"/>
                    </a:moveTo>
                    <a:lnTo>
                      <a:pt x="62401" y="39601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345379" y="2841401"/>
                <a:ext cx="76057" cy="70971"/>
              </a:xfrm>
              <a:custGeom>
                <a:avLst/>
                <a:gdLst/>
                <a:ahLst/>
                <a:cxnLst/>
                <a:rect l="l" t="t" r="r" b="b"/>
                <a:pathLst>
                  <a:path w="76057" h="70971">
                    <a:moveTo>
                      <a:pt x="0" y="0"/>
                    </a:moveTo>
                    <a:lnTo>
                      <a:pt x="20618" y="70971"/>
                    </a:lnTo>
                    <a:lnTo>
                      <a:pt x="76057" y="22098"/>
                    </a:lnTo>
                  </a:path>
                </a:pathLst>
              </a:custGeom>
              <a:noFill/>
              <a:ln w="19050" cap="rnd">
                <a:solidFill>
                  <a:srgbClr val="83DDA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767525" y="2310360"/>
                <a:ext cx="64875" cy="79029"/>
              </a:xfrm>
              <a:custGeom>
                <a:avLst/>
                <a:gdLst/>
                <a:ahLst/>
                <a:cxnLst/>
                <a:rect l="l" t="t" r="r" b="b"/>
                <a:pathLst>
                  <a:path w="64875" h="79029">
                    <a:moveTo>
                      <a:pt x="64875" y="0"/>
                    </a:moveTo>
                    <a:lnTo>
                      <a:pt x="0" y="35402"/>
                    </a:lnTo>
                    <a:lnTo>
                      <a:pt x="59656" y="79029"/>
                    </a:lnTo>
                  </a:path>
                </a:pathLst>
              </a:custGeom>
              <a:noFill/>
              <a:ln w="19050" cap="rnd">
                <a:solidFill>
                  <a:srgbClr val="83DDA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2165835" y="3258724"/>
                <a:ext cx="62401" cy="79201"/>
              </a:xfrm>
              <a:custGeom>
                <a:avLst/>
                <a:gdLst/>
                <a:ahLst/>
                <a:cxnLst/>
                <a:rect l="l" t="t" r="r" b="b"/>
                <a:pathLst>
                  <a:path w="62401" h="79201">
                    <a:moveTo>
                      <a:pt x="0" y="79201"/>
                    </a:moveTo>
                    <a:lnTo>
                      <a:pt x="62401" y="39601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3742502" y="3258724"/>
                <a:ext cx="62401" cy="79201"/>
              </a:xfrm>
              <a:custGeom>
                <a:avLst/>
                <a:gdLst/>
                <a:ahLst/>
                <a:cxnLst/>
                <a:rect l="l" t="t" r="r" b="b"/>
                <a:pathLst>
                  <a:path w="62401" h="79201">
                    <a:moveTo>
                      <a:pt x="0" y="79201"/>
                    </a:moveTo>
                    <a:lnTo>
                      <a:pt x="62401" y="39601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319169" y="3258724"/>
                <a:ext cx="62401" cy="79201"/>
              </a:xfrm>
              <a:custGeom>
                <a:avLst/>
                <a:gdLst/>
                <a:ahLst/>
                <a:cxnLst/>
                <a:rect l="l" t="t" r="r" b="b"/>
                <a:pathLst>
                  <a:path w="62401" h="79201">
                    <a:moveTo>
                      <a:pt x="0" y="79201"/>
                    </a:moveTo>
                    <a:lnTo>
                      <a:pt x="62401" y="39601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895836" y="3258724"/>
                <a:ext cx="62401" cy="79201"/>
              </a:xfrm>
              <a:custGeom>
                <a:avLst/>
                <a:gdLst/>
                <a:ahLst/>
                <a:cxnLst/>
                <a:rect l="l" t="t" r="r" b="b"/>
                <a:pathLst>
                  <a:path w="62401" h="79201">
                    <a:moveTo>
                      <a:pt x="0" y="79201"/>
                    </a:moveTo>
                    <a:lnTo>
                      <a:pt x="62401" y="39601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472503" y="3258724"/>
                <a:ext cx="62401" cy="79201"/>
              </a:xfrm>
              <a:custGeom>
                <a:avLst/>
                <a:gdLst/>
                <a:ahLst/>
                <a:cxnLst/>
                <a:rect l="l" t="t" r="r" b="b"/>
                <a:pathLst>
                  <a:path w="62401" h="79201">
                    <a:moveTo>
                      <a:pt x="0" y="79201"/>
                    </a:moveTo>
                    <a:lnTo>
                      <a:pt x="62401" y="39601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0049170" y="3258724"/>
                <a:ext cx="62401" cy="79201"/>
              </a:xfrm>
              <a:custGeom>
                <a:avLst/>
                <a:gdLst/>
                <a:ahLst/>
                <a:cxnLst/>
                <a:rect l="l" t="t" r="r" b="b"/>
                <a:pathLst>
                  <a:path w="62401" h="79201">
                    <a:moveTo>
                      <a:pt x="0" y="79201"/>
                    </a:moveTo>
                    <a:lnTo>
                      <a:pt x="62401" y="39601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4190858" y="3657341"/>
                <a:ext cx="71495" cy="75442"/>
              </a:xfrm>
              <a:custGeom>
                <a:avLst/>
                <a:gdLst/>
                <a:ahLst/>
                <a:cxnLst/>
                <a:rect l="l" t="t" r="r" b="b"/>
                <a:pathLst>
                  <a:path w="71495" h="75442">
                    <a:moveTo>
                      <a:pt x="71495" y="0"/>
                    </a:moveTo>
                    <a:lnTo>
                      <a:pt x="0" y="18724"/>
                    </a:lnTo>
                    <a:lnTo>
                      <a:pt x="47383" y="75442"/>
                    </a:lnTo>
                  </a:path>
                </a:pathLst>
              </a:custGeom>
              <a:noFill/>
              <a:ln w="19050" cap="rnd">
                <a:solidFill>
                  <a:srgbClr val="FF9289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4519331" y="3676064"/>
                <a:ext cx="73375" cy="70157"/>
              </a:xfrm>
              <a:custGeom>
                <a:avLst/>
                <a:gdLst/>
                <a:ahLst/>
                <a:cxnLst/>
                <a:rect l="l" t="t" r="r" b="b"/>
                <a:pathLst>
                  <a:path w="73375" h="70157">
                    <a:moveTo>
                      <a:pt x="73375" y="8843"/>
                    </a:moveTo>
                    <a:lnTo>
                      <a:pt x="0" y="0"/>
                    </a:lnTo>
                    <a:lnTo>
                      <a:pt x="23240" y="70157"/>
                    </a:lnTo>
                  </a:path>
                </a:pathLst>
              </a:custGeom>
              <a:noFill/>
              <a:ln w="19050" cap="rnd">
                <a:solidFill>
                  <a:srgbClr val="FF9289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4847803" y="3676064"/>
                <a:ext cx="71215" cy="72851"/>
              </a:xfrm>
              <a:custGeom>
                <a:avLst/>
                <a:gdLst/>
                <a:ahLst/>
                <a:cxnLst/>
                <a:rect l="l" t="t" r="r" b="b"/>
                <a:pathLst>
                  <a:path w="71215" h="72851">
                    <a:moveTo>
                      <a:pt x="71215" y="19762"/>
                    </a:moveTo>
                    <a:lnTo>
                      <a:pt x="0" y="0"/>
                    </a:lnTo>
                    <a:lnTo>
                      <a:pt x="12441" y="72851"/>
                    </a:lnTo>
                  </a:path>
                </a:pathLst>
              </a:custGeom>
              <a:noFill/>
              <a:ln w="19050" cap="rnd">
                <a:solidFill>
                  <a:srgbClr val="FF9289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329631" y="3676064"/>
                <a:ext cx="79099" cy="64340"/>
              </a:xfrm>
              <a:custGeom>
                <a:avLst/>
                <a:gdLst/>
                <a:ahLst/>
                <a:cxnLst/>
                <a:rect l="l" t="t" r="r" b="b"/>
                <a:pathLst>
                  <a:path w="79099" h="64340">
                    <a:moveTo>
                      <a:pt x="79099" y="60299"/>
                    </a:moveTo>
                    <a:lnTo>
                      <a:pt x="36366" y="0"/>
                    </a:lnTo>
                    <a:lnTo>
                      <a:pt x="0" y="64340"/>
                    </a:lnTo>
                  </a:path>
                </a:pathLst>
              </a:custGeom>
              <a:noFill/>
              <a:ln w="19050" cap="rnd">
                <a:solidFill>
                  <a:srgbClr val="F2CF76"/>
                </a:solidFill>
              </a:ln>
            </p:spPr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477831" y="336956"/>
            <a:ext cx="9809169" cy="5379473"/>
            <a:chOff x="477831" y="336956"/>
            <a:chExt cx="9809169" cy="5379473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7096482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一張 Goal Issue，拆成三張 sub-issue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905000" y="1734122"/>
              <a:ext cx="8382000" cy="3982307"/>
            </a:xfrm>
            <a:prstGeom prst="roundRect">
              <a:avLst>
                <a:gd name="adj" fmla="val 3349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1914525" y="1743646"/>
              <a:ext cx="8362950" cy="390525"/>
            </a:xfrm>
            <a:prstGeom prst="rect">
              <a:avLst/>
            </a:prstGeom>
            <a:solidFill>
              <a:srgbClr val="0F1720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1914525" y="2134172"/>
              <a:ext cx="8362950" cy="9525"/>
            </a:xfrm>
            <a:custGeom>
              <a:avLst/>
              <a:gdLst/>
              <a:ahLst/>
              <a:cxnLst/>
              <a:rect l="l" t="t" r="r" b="b"/>
              <a:pathLst>
                <a:path w="8362950" h="9525">
                  <a:moveTo>
                    <a:pt x="0" y="0"/>
                  </a:moveTo>
                  <a:lnTo>
                    <a:pt x="83629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072640" y="1858899"/>
              <a:ext cx="18285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GitHub· Goal / Epic Issue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763601" y="1858899"/>
              <a:ext cx="3947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Open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20290" y="2497074"/>
              <a:ext cx="8701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GOAL / EPIC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07908" y="2763298"/>
              <a:ext cx="222520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互相喜歡才配對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18385" y="3158109"/>
              <a:ext cx="43594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Parent issue｜這個 Goal說明三張 ticket為什麼存在。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33625" y="3497199"/>
              <a:ext cx="7524750" cy="1828800"/>
            </a:xfrm>
            <a:prstGeom prst="roundRect">
              <a:avLst>
                <a:gd name="adj" fmla="val 5208"/>
              </a:avLst>
            </a:prstGeom>
            <a:solidFill>
              <a:srgbClr val="0E1721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61260" y="3662934"/>
              <a:ext cx="9966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Sub-issues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76500" y="3925824"/>
              <a:ext cx="723900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2476500" y="3925824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556510" y="4058222"/>
              <a:ext cx="1794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85160" y="4058222"/>
              <a:ext cx="10334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77826" y="4064889"/>
              <a:ext cx="3947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Open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476500" y="4344924"/>
              <a:ext cx="723900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2476500" y="4344924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556510" y="4477322"/>
              <a:ext cx="223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85160" y="4477322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277826" y="4483989"/>
              <a:ext cx="3947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Open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476500" y="4764024"/>
              <a:ext cx="7239000" cy="419100"/>
            </a:xfrm>
            <a:prstGeom prst="roundRect">
              <a:avLst>
                <a:gd name="adj" fmla="val 15909"/>
              </a:avLst>
            </a:prstGeom>
            <a:solidFill>
              <a:srgbClr val="17283B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2476500" y="4764024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556510" y="4896421"/>
              <a:ext cx="223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85160" y="4896421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73515" y="4903089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全程範例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477831" y="336956"/>
            <a:ext cx="11702263" cy="5331467"/>
            <a:chOff x="477831" y="336956"/>
            <a:chExt cx="11702263" cy="5331467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8786549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看板先登場： Goal是泳道，三張子票在 Backlog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2029873"/>
              <a:ext cx="11168062" cy="371475"/>
            </a:xfrm>
            <a:prstGeom prst="roundRect">
              <a:avLst>
                <a:gd name="adj" fmla="val 20513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21506" y="2137029"/>
              <a:ext cx="22799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Epic｜互相喜歡才配對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0606" y="2140363"/>
              <a:ext cx="24266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issue·泳道標題，不佔欄位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1969" y="2468023"/>
              <a:ext cx="1538288" cy="2667000"/>
            </a:xfrm>
            <a:prstGeom prst="roundRect">
              <a:avLst>
                <a:gd name="adj" fmla="val 4954"/>
              </a:avLst>
            </a:prstGeom>
            <a:solidFill>
              <a:srgbClr val="142235"/>
            </a:solidFill>
            <a:ln w="9525">
              <a:solidFill>
                <a:srgbClr val="83BCF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97694" y="2553748"/>
              <a:ext cx="1366838" cy="24946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597694" y="2803208"/>
              <a:ext cx="1366838" cy="9525"/>
            </a:xfrm>
            <a:custGeom>
              <a:avLst/>
              <a:gdLst/>
              <a:ahLst/>
              <a:cxnLst/>
              <a:rect l="l" t="t" r="r" b="b"/>
              <a:pathLst>
                <a:path w="1366838" h="9525">
                  <a:moveTo>
                    <a:pt x="0" y="0"/>
                  </a:moveTo>
                  <a:lnTo>
                    <a:pt x="136683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7941" y="2573750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97694" y="2879408"/>
              <a:ext cx="1366838" cy="344710"/>
            </a:xfrm>
            <a:prstGeom prst="roundRect">
              <a:avLst>
                <a:gd name="adj" fmla="val 19342"/>
              </a:avLst>
            </a:prstGeom>
            <a:solidFill>
              <a:srgbClr val="1B2A3C"/>
            </a:solidFill>
            <a:ln w="9525">
              <a:solidFill>
                <a:srgbClr val="43546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97694" y="3290697"/>
              <a:ext cx="1366838" cy="344710"/>
            </a:xfrm>
            <a:prstGeom prst="roundRect">
              <a:avLst>
                <a:gd name="adj" fmla="val 19342"/>
              </a:avLst>
            </a:prstGeom>
            <a:solidFill>
              <a:srgbClr val="1B2A3C"/>
            </a:solidFill>
            <a:ln w="9525">
              <a:solidFill>
                <a:srgbClr val="43546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97694" y="3702082"/>
              <a:ext cx="1366838" cy="517970"/>
            </a:xfrm>
            <a:prstGeom prst="roundRect">
              <a:avLst>
                <a:gd name="adj" fmla="val 12872"/>
              </a:avLst>
            </a:prstGeom>
            <a:solidFill>
              <a:srgbClr val="1B3550"/>
            </a:solidFill>
            <a:ln w="9525">
              <a:solidFill>
                <a:srgbClr val="83BCF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116931" y="2468023"/>
              <a:ext cx="1538288" cy="2667000"/>
            </a:xfrm>
            <a:prstGeom prst="roundRect">
              <a:avLst>
                <a:gd name="adj" fmla="val 4954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202656" y="2553748"/>
              <a:ext cx="1366838" cy="24946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2202656" y="2803208"/>
              <a:ext cx="1366838" cy="9525"/>
            </a:xfrm>
            <a:custGeom>
              <a:avLst/>
              <a:gdLst/>
              <a:ahLst/>
              <a:cxnLst/>
              <a:rect l="l" t="t" r="r" b="b"/>
              <a:pathLst>
                <a:path w="1366838" h="9525">
                  <a:moveTo>
                    <a:pt x="0" y="0"/>
                  </a:moveTo>
                  <a:lnTo>
                    <a:pt x="136683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51337" y="2573750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721894" y="2468023"/>
              <a:ext cx="1538288" cy="2667000"/>
            </a:xfrm>
            <a:prstGeom prst="roundRect">
              <a:avLst>
                <a:gd name="adj" fmla="val 4954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07619" y="2553748"/>
              <a:ext cx="1366838" cy="24946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3807619" y="2803208"/>
              <a:ext cx="1366838" cy="9525"/>
            </a:xfrm>
            <a:custGeom>
              <a:avLst/>
              <a:gdLst/>
              <a:ahLst/>
              <a:cxnLst/>
              <a:rect l="l" t="t" r="r" b="b"/>
              <a:pathLst>
                <a:path w="1366838" h="9525">
                  <a:moveTo>
                    <a:pt x="0" y="0"/>
                  </a:moveTo>
                  <a:lnTo>
                    <a:pt x="136683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44861" y="2573750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26856" y="2468023"/>
              <a:ext cx="1538288" cy="2667000"/>
            </a:xfrm>
            <a:prstGeom prst="roundRect">
              <a:avLst>
                <a:gd name="adj" fmla="val 4954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12581" y="2553748"/>
              <a:ext cx="1366838" cy="24946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5412581" y="2803208"/>
              <a:ext cx="1366838" cy="9525"/>
            </a:xfrm>
            <a:custGeom>
              <a:avLst/>
              <a:gdLst/>
              <a:ahLst/>
              <a:cxnLst/>
              <a:rect l="l" t="t" r="r" b="b"/>
              <a:pathLst>
                <a:path w="1366838" h="9525">
                  <a:moveTo>
                    <a:pt x="0" y="0"/>
                  </a:moveTo>
                  <a:lnTo>
                    <a:pt x="136683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21007" y="2573750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931819" y="2468023"/>
              <a:ext cx="1538288" cy="2667000"/>
            </a:xfrm>
            <a:prstGeom prst="roundRect">
              <a:avLst>
                <a:gd name="adj" fmla="val 4954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17544" y="2553748"/>
              <a:ext cx="1366838" cy="24946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7017544" y="2803208"/>
              <a:ext cx="1366838" cy="9525"/>
            </a:xfrm>
            <a:custGeom>
              <a:avLst/>
              <a:gdLst/>
              <a:ahLst/>
              <a:cxnLst/>
              <a:rect l="l" t="t" r="r" b="b"/>
              <a:pathLst>
                <a:path w="1366838" h="9525">
                  <a:moveTo>
                    <a:pt x="0" y="0"/>
                  </a:moveTo>
                  <a:lnTo>
                    <a:pt x="136683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82964" y="2573750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536781" y="2468023"/>
              <a:ext cx="1538288" cy="2667000"/>
            </a:xfrm>
            <a:prstGeom prst="roundRect">
              <a:avLst>
                <a:gd name="adj" fmla="val 4954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622506" y="2553748"/>
              <a:ext cx="1366838" cy="24946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8622506" y="2803208"/>
              <a:ext cx="1366838" cy="9525"/>
            </a:xfrm>
            <a:custGeom>
              <a:avLst/>
              <a:gdLst/>
              <a:ahLst/>
              <a:cxnLst/>
              <a:rect l="l" t="t" r="r" b="b"/>
              <a:pathLst>
                <a:path w="1366838" h="9525">
                  <a:moveTo>
                    <a:pt x="0" y="0"/>
                  </a:moveTo>
                  <a:lnTo>
                    <a:pt x="136683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37071" y="2573750"/>
              <a:ext cx="1137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141744" y="2468023"/>
              <a:ext cx="1538288" cy="2667000"/>
            </a:xfrm>
            <a:prstGeom prst="roundRect">
              <a:avLst>
                <a:gd name="adj" fmla="val 4954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227469" y="2553748"/>
              <a:ext cx="1366838" cy="24946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10227469" y="2803208"/>
              <a:ext cx="1366838" cy="9525"/>
            </a:xfrm>
            <a:custGeom>
              <a:avLst/>
              <a:gdLst/>
              <a:ahLst/>
              <a:cxnLst/>
              <a:rect l="l" t="t" r="r" b="b"/>
              <a:pathLst>
                <a:path w="1366838" h="9525">
                  <a:moveTo>
                    <a:pt x="0" y="0"/>
                  </a:moveTo>
                  <a:lnTo>
                    <a:pt x="136683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720430" y="2573750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6729" y="5234083"/>
              <a:ext cx="4261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6729" y="5424583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58842" y="5234083"/>
              <a:ext cx="39212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下一步： Refinement完成後， #3才能進 Ready。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477831" y="336956"/>
            <a:ext cx="9904419" cy="6301969"/>
            <a:chOff x="477831" y="336956"/>
            <a:chExt cx="9904419" cy="6301969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6292669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Brainstorming：從問題形成 Goal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809750" y="2187035"/>
              <a:ext cx="8572500" cy="2495550"/>
            </a:xfrm>
            <a:prstGeom prst="roundRect">
              <a:avLst>
                <a:gd name="adj" fmla="val 4580"/>
              </a:avLst>
            </a:prstGeom>
            <a:solidFill>
              <a:srgbClr val="101820"/>
            </a:solidFill>
            <a:ln w="9525">
              <a:solidFill>
                <a:srgbClr val="65748A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2020824" y="2371344"/>
              <a:ext cx="4006977" cy="1022032"/>
            </a:xfrm>
            <a:prstGeom prst="rect">
              <a:avLst/>
            </a:prstGeom>
            <a:solidFill>
              <a:srgbClr val="F5D78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155126" y="2550890"/>
              <a:ext cx="69177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為誰？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69224" y="2932081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想找到互相喜歡對象的使用者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164199" y="2371344"/>
              <a:ext cx="4006977" cy="1022032"/>
            </a:xfrm>
            <a:prstGeom prst="rect">
              <a:avLst/>
            </a:prstGeom>
            <a:solidFill>
              <a:srgbClr val="B6DDC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98502" y="2550890"/>
              <a:ext cx="69177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問題？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7169" y="2932081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單向喜歡不能算配對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020824" y="3476244"/>
              <a:ext cx="4006977" cy="1022032"/>
            </a:xfrm>
            <a:prstGeom prst="rect">
              <a:avLst/>
            </a:prstGeom>
            <a:solidFill>
              <a:srgbClr val="CBB9F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55126" y="3655790"/>
              <a:ext cx="69177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方案？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69224" y="4036981"/>
              <a:ext cx="13301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雙方 Like才 Match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64199" y="3476244"/>
              <a:ext cx="4006977" cy="1022032"/>
            </a:xfrm>
            <a:prstGeom prst="rect">
              <a:avLst/>
            </a:prstGeom>
            <a:solidFill>
              <a:srgbClr val="B6DDC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98502" y="3655790"/>
              <a:ext cx="11288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這輪先不選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07169" y="4036981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聊天、推薦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16432" y="6342698"/>
              <a:ext cx="19495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形成 parent Goal / Epic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17133" y="6415088"/>
              <a:ext cx="323850" cy="19050"/>
            </a:xfrm>
            <a:prstGeom prst="rect">
              <a:avLst/>
            </a:prstGeom>
            <a:solidFill>
              <a:srgbClr val="83DDA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55283" y="6210300"/>
              <a:ext cx="1504950" cy="428625"/>
            </a:xfrm>
            <a:prstGeom prst="roundRect">
              <a:avLst>
                <a:gd name="adj" fmla="val 20000"/>
              </a:avLst>
            </a:prstGeom>
            <a:solidFill>
              <a:srgbClr val="15241B"/>
            </a:solidFill>
            <a:ln w="9525">
              <a:solidFill>
                <a:srgbClr val="53775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81013" y="6321742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互相喜歡才配對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73" name="Group 73"/>
          <p:cNvGrpSpPr/>
          <p:nvPr/>
        </p:nvGrpSpPr>
        <p:grpSpPr>
          <a:xfrm>
            <a:off x="477831" y="336956"/>
            <a:ext cx="11422656" cy="6090038"/>
            <a:chOff x="477831" y="336956"/>
            <a:chExt cx="11422656" cy="6090038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3881232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一個好的 Goal長怎樣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811720"/>
              <a:ext cx="11168062" cy="314325"/>
            </a:xfrm>
            <a:prstGeom prst="roundRect">
              <a:avLst>
                <a:gd name="adj" fmla="val 24242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02456" y="890302"/>
              <a:ext cx="22799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Epic｜互相喜歡才配對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13836" y="893635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1969" y="1173670"/>
              <a:ext cx="1554480" cy="1843850"/>
            </a:xfrm>
            <a:prstGeom prst="roundRect">
              <a:avLst>
                <a:gd name="adj" fmla="val 4289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69119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569119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6038" y="1269873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69119" y="1505140"/>
              <a:ext cx="144018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2934" y="1582293"/>
              <a:ext cx="15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242" y="1582293"/>
              <a:ext cx="904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2934" y="176126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69119" y="1996535"/>
              <a:ext cx="144018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2934" y="207368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0674" y="207368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2934" y="225275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69119" y="2487930"/>
              <a:ext cx="1440180" cy="472345"/>
            </a:xfrm>
            <a:prstGeom prst="roundRect">
              <a:avLst>
                <a:gd name="adj" fmla="val 12099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2459" y="257460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0199" y="257460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2459" y="2753678"/>
              <a:ext cx="8624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Refinement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114074" y="1173670"/>
              <a:ext cx="155467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171224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2171224" y="146704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56671" y="1269873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716369" y="1173670"/>
              <a:ext cx="155467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773519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3773519" y="146704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47528" y="1269873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18665" y="1173670"/>
              <a:ext cx="155448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75815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5375815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20912" y="1269873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20770" y="1173670"/>
              <a:ext cx="155467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77920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6977920" y="146704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80107" y="1269873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523065" y="1173670"/>
              <a:ext cx="155467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580215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8580215" y="146704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731546" y="1269873"/>
              <a:ext cx="1137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125361" y="1173670"/>
              <a:ext cx="155448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182511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10182511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712144" y="1269873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8634" y="3085148"/>
              <a:ext cx="372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8634" y="3251835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97816" y="3085148"/>
              <a:ext cx="27026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#3在 Backlog； #1、 #2在 Backlog等待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143000" y="3572446"/>
              <a:ext cx="9906000" cy="2845022"/>
            </a:xfrm>
            <a:prstGeom prst="roundRect">
              <a:avLst>
                <a:gd name="adj" fmla="val 468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1143000" y="3572446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11049000" y="3572446"/>
              <a:ext cx="9525" cy="2845022"/>
            </a:xfrm>
            <a:custGeom>
              <a:avLst/>
              <a:gdLst/>
              <a:ahLst/>
              <a:cxnLst/>
              <a:rect l="l" t="t" r="r" b="b"/>
              <a:pathLst>
                <a:path w="9525" h="2845022">
                  <a:moveTo>
                    <a:pt x="0" y="0"/>
                  </a:moveTo>
                  <a:lnTo>
                    <a:pt x="0" y="284502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1143000" y="6417469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1143000" y="3572446"/>
              <a:ext cx="9525" cy="2845022"/>
            </a:xfrm>
            <a:custGeom>
              <a:avLst/>
              <a:gdLst/>
              <a:ahLst/>
              <a:cxnLst/>
              <a:rect l="l" t="t" r="r" b="b"/>
              <a:pathLst>
                <a:path w="9525" h="2845022">
                  <a:moveTo>
                    <a:pt x="0" y="0"/>
                  </a:moveTo>
                  <a:lnTo>
                    <a:pt x="0" y="284502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377315" y="3763899"/>
              <a:ext cx="20313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GOAL / EPIC ISSUE· PARENT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357455" y="3763899"/>
              <a:ext cx="16207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不是 workflow state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367790" y="4044887"/>
              <a:ext cx="47383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讓互相喜歡的兩人，能確認配對成功。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390650" y="4393406"/>
              <a:ext cx="4672012" cy="828675"/>
            </a:xfrm>
            <a:prstGeom prst="roundRect">
              <a:avLst>
                <a:gd name="adj" fmla="val 10345"/>
              </a:avLst>
            </a:prstGeom>
            <a:solidFill>
              <a:srgbClr val="0F1720"/>
            </a:solidFill>
            <a:ln w="9525">
              <a:solidFill>
                <a:srgbClr val="2B3A4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499235" y="4492466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成功訊號（上線後）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500188" y="4738688"/>
              <a:ext cx="51467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上線兩週，出現 10對互相喜歡的配對（教學範例，門檻依現況設定）。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129338" y="4393406"/>
              <a:ext cx="4672012" cy="828675"/>
            </a:xfrm>
            <a:prstGeom prst="roundRect">
              <a:avLst>
                <a:gd name="adj" fmla="val 10345"/>
              </a:avLst>
            </a:prstGeom>
            <a:solidFill>
              <a:srgbClr val="0F1720"/>
            </a:solidFill>
            <a:ln w="9525">
              <a:solidFill>
                <a:srgbClr val="2B3A4C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37922" y="4492466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護欄訊號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38875" y="4738688"/>
              <a:ext cx="26328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錯誤配對率＝ 0（核對錯配紀錄）。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390650" y="5288756"/>
              <a:ext cx="4672012" cy="614362"/>
            </a:xfrm>
            <a:prstGeom prst="roundRect">
              <a:avLst>
                <a:gd name="adj" fmla="val 13953"/>
              </a:avLst>
            </a:prstGeom>
            <a:solidFill>
              <a:srgbClr val="0F1720"/>
            </a:solidFill>
            <a:ln w="9525">
              <a:solidFill>
                <a:srgbClr val="2B3A4C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499235" y="5387816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這輪不做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500188" y="5634038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聊天、推薦、解除配對。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129338" y="5288756"/>
              <a:ext cx="4672012" cy="614362"/>
            </a:xfrm>
            <a:prstGeom prst="roundRect">
              <a:avLst>
                <a:gd name="adj" fmla="val 13953"/>
              </a:avLst>
            </a:prstGeom>
            <a:solidFill>
              <a:srgbClr val="0F1720"/>
            </a:solidFill>
            <a:ln w="9525">
              <a:solidFill>
                <a:srgbClr val="2B3A4C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237922" y="5387816"/>
              <a:ext cx="1180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好 Goal的條件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38875" y="5634038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結果導向／可驗證／範圍清楚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390650" y="5979319"/>
              <a:ext cx="9410700" cy="295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1" name="Line 71"/>
            <p:cNvSpPr/>
            <p:nvPr/>
          </p:nvSpPr>
          <p:spPr>
            <a:xfrm>
              <a:off x="1390650" y="5979319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375410" y="6059329"/>
              <a:ext cx="3053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C0B9"/>
                  </a:solidFill>
                  <a:latin typeface="Arial"/>
                  <a:ea typeface="Microsoft YaHei"/>
                  <a:cs typeface="Arial"/>
                </a:rPr>
                <a:t>壞 Goal：做完喜歡、配對、聊天功能。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91" name="Group 91"/>
          <p:cNvGrpSpPr/>
          <p:nvPr/>
        </p:nvGrpSpPr>
        <p:grpSpPr>
          <a:xfrm>
            <a:off x="477831" y="336956"/>
            <a:ext cx="11422656" cy="6335306"/>
            <a:chOff x="477831" y="336956"/>
            <a:chExt cx="11422656" cy="6335306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5653741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Ticket Refinement / Backlog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811720"/>
              <a:ext cx="11168062" cy="314325"/>
            </a:xfrm>
            <a:prstGeom prst="roundRect">
              <a:avLst>
                <a:gd name="adj" fmla="val 24242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02456" y="890302"/>
              <a:ext cx="22799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Epic｜互相喜歡才配對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13836" y="893635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1969" y="1173670"/>
              <a:ext cx="1554480" cy="1843850"/>
            </a:xfrm>
            <a:prstGeom prst="roundRect">
              <a:avLst>
                <a:gd name="adj" fmla="val 4289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69119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569119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6038" y="1269873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69119" y="1505140"/>
              <a:ext cx="144018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2934" y="1582293"/>
              <a:ext cx="15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242" y="1582293"/>
              <a:ext cx="904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2934" y="176126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69119" y="1996535"/>
              <a:ext cx="144018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2934" y="207368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0674" y="207368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2934" y="225275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69119" y="2487930"/>
              <a:ext cx="1440180" cy="472345"/>
            </a:xfrm>
            <a:prstGeom prst="roundRect">
              <a:avLst>
                <a:gd name="adj" fmla="val 12099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2459" y="257460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0199" y="257460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2459" y="2753678"/>
              <a:ext cx="8624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Refinement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114074" y="1173670"/>
              <a:ext cx="155467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171224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2171224" y="146704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56671" y="1269873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716369" y="1173670"/>
              <a:ext cx="155467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773519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3773519" y="146704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47528" y="1269873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18665" y="1173670"/>
              <a:ext cx="155448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75815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5375815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20912" y="1269873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20770" y="1173670"/>
              <a:ext cx="155467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77920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6977920" y="146704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80107" y="1269873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523065" y="1173670"/>
              <a:ext cx="155467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580215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8580215" y="146704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731546" y="1269873"/>
              <a:ext cx="1137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125361" y="1173670"/>
              <a:ext cx="155448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182511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10182511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712144" y="1269873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8634" y="3085148"/>
              <a:ext cx="372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8634" y="3251835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97816" y="3085148"/>
              <a:ext cx="27026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#3在 Backlog； #1、 #2在 Backlog等待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62000" y="3350895"/>
              <a:ext cx="10668000" cy="2992755"/>
            </a:xfrm>
            <a:prstGeom prst="roundRect">
              <a:avLst>
                <a:gd name="adj" fmla="val 445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71525" y="3360420"/>
              <a:ext cx="10648950" cy="476250"/>
            </a:xfrm>
            <a:prstGeom prst="rect">
              <a:avLst/>
            </a:prstGeom>
            <a:solidFill>
              <a:srgbClr val="17253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1065" y="3523298"/>
              <a:ext cx="9621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SUB-ISSUE #3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110930" y="3501866"/>
              <a:ext cx="15658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447591" y="3455670"/>
              <a:ext cx="830008" cy="285750"/>
            </a:xfrm>
            <a:prstGeom prst="roundRect">
              <a:avLst>
                <a:gd name="adj" fmla="val 50000"/>
              </a:avLst>
            </a:prstGeom>
            <a:solidFill>
              <a:srgbClr val="26384D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519981" y="3523298"/>
              <a:ext cx="6477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71525" y="3836670"/>
              <a:ext cx="5324475" cy="57388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771525" y="3836670"/>
              <a:ext cx="5324475" cy="9525"/>
            </a:xfrm>
            <a:custGeom>
              <a:avLst/>
              <a:gdLst/>
              <a:ahLst/>
              <a:cxnLst/>
              <a:rect l="l" t="t" r="r" b="b"/>
              <a:pathLst>
                <a:path w="5324475" h="9525">
                  <a:moveTo>
                    <a:pt x="0" y="0"/>
                  </a:moveTo>
                  <a:lnTo>
                    <a:pt x="532447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6096000" y="3836670"/>
              <a:ext cx="9525" cy="573881"/>
            </a:xfrm>
            <a:custGeom>
              <a:avLst/>
              <a:gdLst/>
              <a:ahLst/>
              <a:cxnLst/>
              <a:rect l="l" t="t" r="r" b="b"/>
              <a:pathLst>
                <a:path w="9525" h="573881">
                  <a:moveTo>
                    <a:pt x="0" y="0"/>
                  </a:moveTo>
                  <a:lnTo>
                    <a:pt x="0" y="573881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80110" y="3935730"/>
              <a:ext cx="4445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1062" y="417242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96000" y="3836670"/>
              <a:ext cx="5324475" cy="57388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2" name="Line 62"/>
            <p:cNvSpPr/>
            <p:nvPr/>
          </p:nvSpPr>
          <p:spPr>
            <a:xfrm>
              <a:off x="6096000" y="3836670"/>
              <a:ext cx="5324475" cy="9525"/>
            </a:xfrm>
            <a:custGeom>
              <a:avLst/>
              <a:gdLst/>
              <a:ahLst/>
              <a:cxnLst/>
              <a:rect l="l" t="t" r="r" b="b"/>
              <a:pathLst>
                <a:path w="5324475" h="9525">
                  <a:moveTo>
                    <a:pt x="0" y="0"/>
                  </a:moveTo>
                  <a:lnTo>
                    <a:pt x="532447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04585" y="3935730"/>
              <a:ext cx="12910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Context / Why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05538" y="417242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單向喜歡不能算配對。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71525" y="4410551"/>
              <a:ext cx="5324475" cy="57388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6" name="Line 66"/>
            <p:cNvSpPr/>
            <p:nvPr/>
          </p:nvSpPr>
          <p:spPr>
            <a:xfrm>
              <a:off x="771525" y="4410551"/>
              <a:ext cx="5324475" cy="9525"/>
            </a:xfrm>
            <a:custGeom>
              <a:avLst/>
              <a:gdLst/>
              <a:ahLst/>
              <a:cxnLst/>
              <a:rect l="l" t="t" r="r" b="b"/>
              <a:pathLst>
                <a:path w="5324475" h="9525">
                  <a:moveTo>
                    <a:pt x="0" y="0"/>
                  </a:moveTo>
                  <a:lnTo>
                    <a:pt x="532447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6096000" y="4410551"/>
              <a:ext cx="9525" cy="573881"/>
            </a:xfrm>
            <a:custGeom>
              <a:avLst/>
              <a:gdLst/>
              <a:ahLst/>
              <a:cxnLst/>
              <a:rect l="l" t="t" r="r" b="b"/>
              <a:pathLst>
                <a:path w="9525" h="573881">
                  <a:moveTo>
                    <a:pt x="0" y="0"/>
                  </a:moveTo>
                  <a:lnTo>
                    <a:pt x="0" y="573881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80110" y="4509611"/>
              <a:ext cx="3893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Goal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80110" y="4700111"/>
              <a:ext cx="646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linkage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1062" y="4746308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支援「互相喜歡才配對」。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096000" y="4410551"/>
              <a:ext cx="5324475" cy="57388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2" name="Line 72"/>
            <p:cNvSpPr/>
            <p:nvPr/>
          </p:nvSpPr>
          <p:spPr>
            <a:xfrm>
              <a:off x="6096000" y="4410551"/>
              <a:ext cx="5324475" cy="9525"/>
            </a:xfrm>
            <a:custGeom>
              <a:avLst/>
              <a:gdLst/>
              <a:ahLst/>
              <a:cxnLst/>
              <a:rect l="l" t="t" r="r" b="b"/>
              <a:pathLst>
                <a:path w="5324475" h="9525">
                  <a:moveTo>
                    <a:pt x="0" y="0"/>
                  </a:moveTo>
                  <a:lnTo>
                    <a:pt x="532447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204585" y="4509611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Scope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205538" y="4746308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判斷雙向喜歡並建立配對。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71525" y="4984432"/>
              <a:ext cx="10648950" cy="95964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6" name="Line 76"/>
            <p:cNvSpPr/>
            <p:nvPr/>
          </p:nvSpPr>
          <p:spPr>
            <a:xfrm>
              <a:off x="771525" y="4984432"/>
              <a:ext cx="10648950" cy="9525"/>
            </a:xfrm>
            <a:custGeom>
              <a:avLst/>
              <a:gdLst/>
              <a:ahLst/>
              <a:cxnLst/>
              <a:rect l="l" t="t" r="r" b="b"/>
              <a:pathLst>
                <a:path w="10648950" h="9525">
                  <a:moveTo>
                    <a:pt x="0" y="0"/>
                  </a:moveTo>
                  <a:lnTo>
                    <a:pt x="106489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11420475" y="4984432"/>
              <a:ext cx="9525" cy="959644"/>
            </a:xfrm>
            <a:custGeom>
              <a:avLst/>
              <a:gdLst/>
              <a:ahLst/>
              <a:cxnLst/>
              <a:rect l="l" t="t" r="r" b="b"/>
              <a:pathLst>
                <a:path w="9525" h="959644">
                  <a:moveTo>
                    <a:pt x="0" y="0"/>
                  </a:moveTo>
                  <a:lnTo>
                    <a:pt x="0" y="959644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80110" y="5083492"/>
              <a:ext cx="1815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Acceptance Criteria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81062" y="5320189"/>
              <a:ext cx="51713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A｜ A喜歡 B→不配對 B｜ B也喜歡 A→成功配對 C｜重複喜歡→不重複配對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71525" y="5944076"/>
              <a:ext cx="5324475" cy="57388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1" name="Line 81"/>
            <p:cNvSpPr/>
            <p:nvPr/>
          </p:nvSpPr>
          <p:spPr>
            <a:xfrm>
              <a:off x="771525" y="5944076"/>
              <a:ext cx="5324475" cy="9525"/>
            </a:xfrm>
            <a:custGeom>
              <a:avLst/>
              <a:gdLst/>
              <a:ahLst/>
              <a:cxnLst/>
              <a:rect l="l" t="t" r="r" b="b"/>
              <a:pathLst>
                <a:path w="5324475" h="9525">
                  <a:moveTo>
                    <a:pt x="0" y="0"/>
                  </a:moveTo>
                  <a:lnTo>
                    <a:pt x="532447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80110" y="6043136"/>
              <a:ext cx="11898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Out of Scope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81062" y="6279832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聊天、推薦、解除配對。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096000" y="5944076"/>
              <a:ext cx="5324475" cy="57388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5" name="Line 85"/>
            <p:cNvSpPr/>
            <p:nvPr/>
          </p:nvSpPr>
          <p:spPr>
            <a:xfrm>
              <a:off x="6096000" y="5944076"/>
              <a:ext cx="5324475" cy="9525"/>
            </a:xfrm>
            <a:custGeom>
              <a:avLst/>
              <a:gdLst/>
              <a:ahLst/>
              <a:cxnLst/>
              <a:rect l="l" t="t" r="r" b="b"/>
              <a:pathLst>
                <a:path w="5324475" h="9525">
                  <a:moveTo>
                    <a:pt x="0" y="0"/>
                  </a:moveTo>
                  <a:lnTo>
                    <a:pt x="532447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6" name="Line 86"/>
            <p:cNvSpPr/>
            <p:nvPr/>
          </p:nvSpPr>
          <p:spPr>
            <a:xfrm>
              <a:off x="11420475" y="5944076"/>
              <a:ext cx="9525" cy="573881"/>
            </a:xfrm>
            <a:custGeom>
              <a:avLst/>
              <a:gdLst/>
              <a:ahLst/>
              <a:cxnLst/>
              <a:rect l="l" t="t" r="r" b="b"/>
              <a:pathLst>
                <a:path w="9525" h="573881">
                  <a:moveTo>
                    <a:pt x="0" y="0"/>
                  </a:moveTo>
                  <a:lnTo>
                    <a:pt x="0" y="573881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204585" y="6043136"/>
              <a:ext cx="7941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Required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204585" y="6233636"/>
              <a:ext cx="7941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Evidence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205538" y="6279832"/>
              <a:ext cx="20413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A／ B／ C三情境測試結果。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2743414" y="6458902"/>
              <a:ext cx="67051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依賴：無阻擋（Like資料用測試資料）。 DoD屬於專案層級，所有 ticket共用； ticket不放 DoD。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94" name="Group 94"/>
          <p:cNvGrpSpPr/>
          <p:nvPr/>
        </p:nvGrpSpPr>
        <p:grpSpPr>
          <a:xfrm>
            <a:off x="477831" y="336956"/>
            <a:ext cx="11422656" cy="5743899"/>
            <a:chOff x="477831" y="336956"/>
            <a:chExt cx="11422656" cy="5743899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6313280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AC、 DoD、 Out-of-scope差在哪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811720"/>
              <a:ext cx="11168062" cy="314325"/>
            </a:xfrm>
            <a:prstGeom prst="roundRect">
              <a:avLst>
                <a:gd name="adj" fmla="val 24242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02456" y="890302"/>
              <a:ext cx="22799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Epic｜互相喜歡才配對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13836" y="893635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1969" y="1173670"/>
              <a:ext cx="1554480" cy="1843850"/>
            </a:xfrm>
            <a:prstGeom prst="roundRect">
              <a:avLst>
                <a:gd name="adj" fmla="val 4289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69119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569119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6038" y="1269873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69119" y="1505140"/>
              <a:ext cx="144018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2934" y="1582293"/>
              <a:ext cx="15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242" y="1582293"/>
              <a:ext cx="904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2934" y="176126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69119" y="1996535"/>
              <a:ext cx="144018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2934" y="207368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0674" y="207368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2934" y="225275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69119" y="2487930"/>
              <a:ext cx="1440180" cy="472345"/>
            </a:xfrm>
            <a:prstGeom prst="roundRect">
              <a:avLst>
                <a:gd name="adj" fmla="val 12099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2459" y="257460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0199" y="257460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2459" y="2753678"/>
              <a:ext cx="8624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Refinement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114074" y="1173670"/>
              <a:ext cx="155467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171224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2171224" y="146704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56671" y="1269873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716369" y="1173670"/>
              <a:ext cx="155467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773519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3773519" y="146704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47528" y="1269873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18665" y="1173670"/>
              <a:ext cx="155448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75815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5375815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20912" y="1269873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20770" y="1173670"/>
              <a:ext cx="155467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77920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6977920" y="146704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80107" y="1269873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523065" y="1173670"/>
              <a:ext cx="155467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580215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8580215" y="146704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731546" y="1269873"/>
              <a:ext cx="1137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125361" y="1173670"/>
              <a:ext cx="1554480" cy="1843850"/>
            </a:xfrm>
            <a:prstGeom prst="roundRect">
              <a:avLst>
                <a:gd name="adj" fmla="val 4289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182511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10182511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712144" y="1269873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8634" y="3085148"/>
              <a:ext cx="372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8634" y="3251835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97816" y="3085148"/>
              <a:ext cx="27026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#3在 Backlog； #1、 #2在 Backlog等待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62000" y="3909155"/>
              <a:ext cx="10668000" cy="2171700"/>
            </a:xfrm>
            <a:prstGeom prst="roundRect">
              <a:avLst>
                <a:gd name="adj" fmla="val 4386"/>
              </a:avLst>
            </a:prstGeom>
            <a:solidFill>
              <a:srgbClr val="101821"/>
            </a:solidFill>
            <a:ln w="9525">
              <a:solidFill>
                <a:srgbClr val="2B3A4C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71525" y="3918680"/>
              <a:ext cx="3549587" cy="438150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4321112" y="391868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771525" y="4356830"/>
              <a:ext cx="3549587" cy="9525"/>
            </a:xfrm>
            <a:custGeom>
              <a:avLst/>
              <a:gdLst/>
              <a:ahLst/>
              <a:cxnLst/>
              <a:rect l="l" t="t" r="r" b="b"/>
              <a:pathLst>
                <a:path w="3549587" h="9525">
                  <a:moveTo>
                    <a:pt x="0" y="0"/>
                  </a:moveTo>
                  <a:lnTo>
                    <a:pt x="354958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90588" y="4054412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AF2FA"/>
                  </a:solidFill>
                  <a:latin typeface="Arial"/>
                  <a:ea typeface="Microsoft YaHei"/>
                  <a:cs typeface="Arial"/>
                </a:rPr>
                <a:t>項目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321112" y="3918680"/>
              <a:ext cx="3549587" cy="438150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7870603" y="391868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4321112" y="4356830"/>
              <a:ext cx="3549491" cy="9525"/>
            </a:xfrm>
            <a:custGeom>
              <a:avLst/>
              <a:gdLst/>
              <a:ahLst/>
              <a:cxnLst/>
              <a:rect l="l" t="t" r="r" b="b"/>
              <a:pathLst>
                <a:path w="3549491" h="9525">
                  <a:moveTo>
                    <a:pt x="0" y="0"/>
                  </a:moveTo>
                  <a:lnTo>
                    <a:pt x="354949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440174" y="4054412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AF2FA"/>
                  </a:solidFill>
                  <a:latin typeface="Arial"/>
                  <a:ea typeface="Microsoft YaHei"/>
                  <a:cs typeface="Arial"/>
                </a:rPr>
                <a:t>回答的問題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870603" y="3918680"/>
              <a:ext cx="3549872" cy="438150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60" name="Line 60"/>
            <p:cNvSpPr/>
            <p:nvPr/>
          </p:nvSpPr>
          <p:spPr>
            <a:xfrm>
              <a:off x="7870603" y="4356830"/>
              <a:ext cx="3549872" cy="9525"/>
            </a:xfrm>
            <a:custGeom>
              <a:avLst/>
              <a:gdLst/>
              <a:ahLst/>
              <a:cxnLst/>
              <a:rect l="l" t="t" r="r" b="b"/>
              <a:pathLst>
                <a:path w="3549872" h="9525">
                  <a:moveTo>
                    <a:pt x="0" y="0"/>
                  </a:moveTo>
                  <a:lnTo>
                    <a:pt x="3549872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989665" y="4054412"/>
              <a:ext cx="13656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AF2FA"/>
                  </a:solidFill>
                  <a:latin typeface="Arial"/>
                  <a:ea typeface="Microsoft YaHei"/>
                  <a:cs typeface="Arial"/>
                </a:rPr>
                <a:t>Matching #3例子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71525" y="4356830"/>
              <a:ext cx="3549587" cy="638175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63" name="Line 63"/>
            <p:cNvSpPr/>
            <p:nvPr/>
          </p:nvSpPr>
          <p:spPr>
            <a:xfrm>
              <a:off x="4321112" y="4356830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771525" y="4995005"/>
              <a:ext cx="3549587" cy="9525"/>
            </a:xfrm>
            <a:custGeom>
              <a:avLst/>
              <a:gdLst/>
              <a:ahLst/>
              <a:cxnLst/>
              <a:rect l="l" t="t" r="r" b="b"/>
              <a:pathLst>
                <a:path w="3549587" h="9525">
                  <a:moveTo>
                    <a:pt x="0" y="0"/>
                  </a:moveTo>
                  <a:lnTo>
                    <a:pt x="354958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90588" y="4492562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AC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4321112" y="4356830"/>
              <a:ext cx="3549587" cy="6381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7" name="Line 67"/>
            <p:cNvSpPr/>
            <p:nvPr/>
          </p:nvSpPr>
          <p:spPr>
            <a:xfrm>
              <a:off x="7870603" y="4356830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4321112" y="4995005"/>
              <a:ext cx="3549491" cy="9525"/>
            </a:xfrm>
            <a:custGeom>
              <a:avLst/>
              <a:gdLst/>
              <a:ahLst/>
              <a:cxnLst/>
              <a:rect l="l" t="t" r="r" b="b"/>
              <a:pathLst>
                <a:path w="3549491" h="9525">
                  <a:moveTo>
                    <a:pt x="0" y="0"/>
                  </a:moveTo>
                  <a:lnTo>
                    <a:pt x="354949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440174" y="4492562"/>
              <a:ext cx="17291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這張 ticket做對了嗎？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870603" y="4356830"/>
              <a:ext cx="3549872" cy="6381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1" name="Line 71"/>
            <p:cNvSpPr/>
            <p:nvPr/>
          </p:nvSpPr>
          <p:spPr>
            <a:xfrm>
              <a:off x="7870603" y="4995005"/>
              <a:ext cx="3549872" cy="9525"/>
            </a:xfrm>
            <a:custGeom>
              <a:avLst/>
              <a:gdLst/>
              <a:ahLst/>
              <a:cxnLst/>
              <a:rect l="l" t="t" r="r" b="b"/>
              <a:pathLst>
                <a:path w="3549872" h="9525">
                  <a:moveTo>
                    <a:pt x="0" y="0"/>
                  </a:moveTo>
                  <a:lnTo>
                    <a:pt x="3549872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989665" y="4492562"/>
              <a:ext cx="36843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A／ B／ C：單向不配對、雙向配對、重複喜歡不重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989665" y="469258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複配對。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71525" y="4995005"/>
              <a:ext cx="3549587" cy="638175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75" name="Line 75"/>
            <p:cNvSpPr/>
            <p:nvPr/>
          </p:nvSpPr>
          <p:spPr>
            <a:xfrm>
              <a:off x="4321112" y="4995005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771525" y="5633180"/>
              <a:ext cx="3549587" cy="9525"/>
            </a:xfrm>
            <a:custGeom>
              <a:avLst/>
              <a:gdLst/>
              <a:ahLst/>
              <a:cxnLst/>
              <a:rect l="l" t="t" r="r" b="b"/>
              <a:pathLst>
                <a:path w="3549587" h="9525">
                  <a:moveTo>
                    <a:pt x="0" y="0"/>
                  </a:moveTo>
                  <a:lnTo>
                    <a:pt x="354958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90588" y="5130736"/>
              <a:ext cx="3132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DoD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4321112" y="4995005"/>
              <a:ext cx="3549587" cy="6381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9" name="Line 79"/>
            <p:cNvSpPr/>
            <p:nvPr/>
          </p:nvSpPr>
          <p:spPr>
            <a:xfrm>
              <a:off x="7870603" y="4995005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4321112" y="5633180"/>
              <a:ext cx="3549491" cy="9525"/>
            </a:xfrm>
            <a:custGeom>
              <a:avLst/>
              <a:gdLst/>
              <a:ahLst/>
              <a:cxnLst/>
              <a:rect l="l" t="t" r="r" b="b"/>
              <a:pathLst>
                <a:path w="3549491" h="9525">
                  <a:moveTo>
                    <a:pt x="0" y="0"/>
                  </a:moveTo>
                  <a:lnTo>
                    <a:pt x="354949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4440174" y="513073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整個工作真的完成了嗎？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7870603" y="4995005"/>
              <a:ext cx="3549872" cy="6381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3" name="Line 83"/>
            <p:cNvSpPr/>
            <p:nvPr/>
          </p:nvSpPr>
          <p:spPr>
            <a:xfrm>
              <a:off x="7870603" y="5633180"/>
              <a:ext cx="3549872" cy="9525"/>
            </a:xfrm>
            <a:custGeom>
              <a:avLst/>
              <a:gdLst/>
              <a:ahLst/>
              <a:cxnLst/>
              <a:rect l="l" t="t" r="r" b="b"/>
              <a:pathLst>
                <a:path w="3549872" h="9525">
                  <a:moveTo>
                    <a:pt x="0" y="0"/>
                  </a:moveTo>
                  <a:lnTo>
                    <a:pt x="3549872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989665" y="5130736"/>
              <a:ext cx="37254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#3的 PR已審查、上線後檢查、未超範圍、既有功能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989665" y="5330762"/>
              <a:ext cx="27149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沒壞；專案層級，所有 ticket共用。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71525" y="5633180"/>
              <a:ext cx="3549587" cy="438150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87" name="Line 87"/>
            <p:cNvSpPr/>
            <p:nvPr/>
          </p:nvSpPr>
          <p:spPr>
            <a:xfrm>
              <a:off x="4321112" y="563318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8" name="Line 88"/>
            <p:cNvSpPr/>
            <p:nvPr/>
          </p:nvSpPr>
          <p:spPr>
            <a:xfrm>
              <a:off x="771525" y="6071330"/>
              <a:ext cx="3549587" cy="9525"/>
            </a:xfrm>
            <a:custGeom>
              <a:avLst/>
              <a:gdLst/>
              <a:ahLst/>
              <a:cxnLst/>
              <a:rect l="l" t="t" r="r" b="b"/>
              <a:pathLst>
                <a:path w="3549587" h="9525">
                  <a:moveTo>
                    <a:pt x="0" y="0"/>
                  </a:moveTo>
                  <a:lnTo>
                    <a:pt x="3549587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90588" y="5768912"/>
              <a:ext cx="12017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Out-of-scope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321112" y="5633180"/>
              <a:ext cx="3549587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1" name="Line 91"/>
            <p:cNvSpPr/>
            <p:nvPr/>
          </p:nvSpPr>
          <p:spPr>
            <a:xfrm>
              <a:off x="7870603" y="563318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4440174" y="5768912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這次明確不做什麼？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989665" y="5768912"/>
              <a:ext cx="23452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#3不做聊天、推薦、解除配對。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74" name="Group 74"/>
          <p:cNvGrpSpPr/>
          <p:nvPr/>
        </p:nvGrpSpPr>
        <p:grpSpPr>
          <a:xfrm>
            <a:off x="477831" y="336956"/>
            <a:ext cx="11405844" cy="5474342"/>
            <a:chOff x="477831" y="336956"/>
            <a:chExt cx="11405844" cy="5474342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1201857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4824" y="770763"/>
              <a:ext cx="25289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Ticket是否寫得足以開始？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1969" y="1135570"/>
              <a:ext cx="11168062" cy="314325"/>
            </a:xfrm>
            <a:prstGeom prst="roundRect">
              <a:avLst>
                <a:gd name="adj" fmla="val 24242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2456" y="1214152"/>
              <a:ext cx="22799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Epic｜互相喜歡才配對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13836" y="1217486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11969" y="149752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69119" y="155467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569119" y="179089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6038" y="1593723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69119" y="1828990"/>
              <a:ext cx="144018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12934" y="1906143"/>
              <a:ext cx="15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5242" y="1906143"/>
              <a:ext cx="904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2934" y="208511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69119" y="2320385"/>
              <a:ext cx="144018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2934" y="239753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0674" y="239753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2934" y="257660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114074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171224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2171224" y="179089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656671" y="1593723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171224" y="1828990"/>
              <a:ext cx="1440370" cy="472345"/>
            </a:xfrm>
            <a:prstGeom prst="roundRect">
              <a:avLst>
                <a:gd name="adj" fmla="val 12099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24564" y="191566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32399" y="191566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24564" y="2094643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準備開工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716369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773519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3773519" y="179089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347528" y="1593723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18665" y="149752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75815" y="155467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5375815" y="179089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20912" y="1593723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20770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77920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6977920" y="179089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80107" y="1593723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23065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580215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8580215" y="179089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31546" y="1593723"/>
              <a:ext cx="1137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125361" y="149752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182511" y="155467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10182511" y="179089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712144" y="1593723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8634" y="2898458"/>
              <a:ext cx="372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98634" y="3065145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11354" y="2898458"/>
              <a:ext cx="2572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#3在 Ready； #1、 #2在 Backlog等待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047875" y="3992023"/>
              <a:ext cx="8096250" cy="1819275"/>
            </a:xfrm>
            <a:prstGeom prst="roundRect">
              <a:avLst>
                <a:gd name="adj" fmla="val 733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2266950" y="4211098"/>
              <a:ext cx="7658100" cy="4286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2266950" y="4639723"/>
              <a:ext cx="7658100" cy="9525"/>
            </a:xfrm>
            <a:custGeom>
              <a:avLst/>
              <a:gdLst/>
              <a:ahLst/>
              <a:cxnLst/>
              <a:rect l="l" t="t" r="r" b="b"/>
              <a:pathLst>
                <a:path w="7658100" h="9525">
                  <a:moveTo>
                    <a:pt x="0" y="0"/>
                  </a:moveTo>
                  <a:lnTo>
                    <a:pt x="76581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251710" y="4272058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SUB-ISSUE #3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450146" y="4249198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358312" y="4211098"/>
              <a:ext cx="566738" cy="285750"/>
            </a:xfrm>
            <a:prstGeom prst="roundRect">
              <a:avLst>
                <a:gd name="adj" fmla="val 50000"/>
              </a:avLst>
            </a:prstGeom>
            <a:solidFill>
              <a:srgbClr val="1A3A5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30702" y="4278725"/>
              <a:ext cx="4483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266950" y="4734973"/>
              <a:ext cx="1470565" cy="952500"/>
            </a:xfrm>
            <a:prstGeom prst="roundRect">
              <a:avLst>
                <a:gd name="adj" fmla="val 9000"/>
              </a:avLst>
            </a:prstGeom>
            <a:solidFill>
              <a:srgbClr val="101922"/>
            </a:solidFill>
            <a:ln w="9525">
              <a:solidFill>
                <a:srgbClr val="2B3A4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339340" y="4840700"/>
              <a:ext cx="13608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✓ PM／ PO與 Dev都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339340" y="500738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認定清楚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813715" y="4734973"/>
              <a:ext cx="1470755" cy="952500"/>
            </a:xfrm>
            <a:prstGeom prst="roundRect">
              <a:avLst>
                <a:gd name="adj" fmla="val 9000"/>
              </a:avLst>
            </a:prstGeom>
            <a:solidFill>
              <a:srgbClr val="101922"/>
            </a:solidFill>
            <a:ln w="9525">
              <a:solidFill>
                <a:srgbClr val="2B3A4C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886105" y="4840700"/>
              <a:ext cx="939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✓ Why、 Goal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886105" y="5007388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linkage、 Scope、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886105" y="5174075"/>
              <a:ext cx="9621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AC完整且可驗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60670" y="4734973"/>
              <a:ext cx="1470565" cy="952500"/>
            </a:xfrm>
            <a:prstGeom prst="roundRect">
              <a:avLst>
                <a:gd name="adj" fmla="val 9000"/>
              </a:avLst>
            </a:prstGeom>
            <a:solidFill>
              <a:srgbClr val="101922"/>
            </a:solidFill>
            <a:ln w="9525">
              <a:solidFill>
                <a:srgbClr val="2B3A4C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433060" y="4840700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✓ Out of Scope明確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907435" y="4734973"/>
              <a:ext cx="1470755" cy="952500"/>
            </a:xfrm>
            <a:prstGeom prst="roundRect">
              <a:avLst>
                <a:gd name="adj" fmla="val 9000"/>
              </a:avLst>
            </a:prstGeom>
            <a:solidFill>
              <a:srgbClr val="101922"/>
            </a:solidFill>
            <a:ln w="9525">
              <a:solidFill>
                <a:srgbClr val="2B3A4C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979825" y="4840700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✓依賴無阻擋（用測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79825" y="500738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試資料）； Required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79825" y="5174075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Evidence已確認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454295" y="4734973"/>
              <a:ext cx="1470565" cy="952500"/>
            </a:xfrm>
            <a:prstGeom prst="roundRect">
              <a:avLst>
                <a:gd name="adj" fmla="val 9000"/>
              </a:avLst>
            </a:prstGeom>
            <a:solidFill>
              <a:srgbClr val="101922"/>
            </a:solidFill>
            <a:ln w="9525">
              <a:solidFill>
                <a:srgbClr val="2B3A4C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526685" y="4840700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✓範圍夠小，可作為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526685" y="5007388"/>
              <a:ext cx="847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一張 ticket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70" name="Group 70"/>
          <p:cNvGrpSpPr/>
          <p:nvPr/>
        </p:nvGrpSpPr>
        <p:grpSpPr>
          <a:xfrm>
            <a:off x="477831" y="336956"/>
            <a:ext cx="11370935" cy="5733898"/>
            <a:chOff x="477831" y="336956"/>
            <a:chExt cx="11370935" cy="5733898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2005669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811720"/>
              <a:ext cx="11168062" cy="314325"/>
            </a:xfrm>
            <a:prstGeom prst="roundRect">
              <a:avLst>
                <a:gd name="adj" fmla="val 24242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02456" y="890302"/>
              <a:ext cx="22799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Epic｜互相喜歡才配對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13836" y="893635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1969" y="117367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69119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569119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6038" y="1269873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114074" y="117367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171224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2171224" y="146704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56671" y="1269873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171224" y="1505140"/>
              <a:ext cx="144037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215039" y="1582293"/>
              <a:ext cx="15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97347" y="1582293"/>
              <a:ext cx="904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15039" y="176126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171224" y="1996535"/>
              <a:ext cx="144037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215039" y="207368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2874" y="207368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15039" y="225275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716369" y="117367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773519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3773519" y="146704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47528" y="1269873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773519" y="1505140"/>
              <a:ext cx="1440370" cy="472345"/>
            </a:xfrm>
            <a:prstGeom prst="roundRect">
              <a:avLst>
                <a:gd name="adj" fmla="val 12099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26859" y="159181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34600" y="159181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26859" y="1770793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進行中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18665" y="117367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75815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5375815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20912" y="1269873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20770" y="117367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77920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6977920" y="146704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80107" y="1269873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523065" y="117367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580215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8580215" y="146704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731546" y="1269873"/>
              <a:ext cx="1137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125361" y="117367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182511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10182511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712144" y="1269873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8634" y="2574608"/>
              <a:ext cx="372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8634" y="2741295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75482" y="2574608"/>
              <a:ext cx="22732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#3在 Dev； #1、 #2在 Ready等待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143000" y="3408616"/>
              <a:ext cx="9906000" cy="2662238"/>
            </a:xfrm>
            <a:prstGeom prst="roundRect">
              <a:avLst>
                <a:gd name="adj" fmla="val 5009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152525" y="3589592"/>
              <a:ext cx="9886950" cy="390525"/>
            </a:xfrm>
            <a:prstGeom prst="rect">
              <a:avLst/>
            </a:prstGeom>
            <a:solidFill>
              <a:srgbClr val="0F1720"/>
            </a:solidFill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1152525" y="3980116"/>
              <a:ext cx="9886950" cy="9525"/>
            </a:xfrm>
            <a:custGeom>
              <a:avLst/>
              <a:gdLst/>
              <a:ahLst/>
              <a:cxnLst/>
              <a:rect l="l" t="t" r="r" b="b"/>
              <a:pathLst>
                <a:path w="9886950" h="9525">
                  <a:moveTo>
                    <a:pt x="0" y="0"/>
                  </a:moveTo>
                  <a:lnTo>
                    <a:pt x="98869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310640" y="3704844"/>
              <a:ext cx="16062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GitHub· Pull requests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35292" y="3704844"/>
              <a:ext cx="6247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Issue #3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38262" y="4187285"/>
              <a:ext cx="323927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 Open PR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362075" y="4594479"/>
              <a:ext cx="9467850" cy="952500"/>
            </a:xfrm>
            <a:prstGeom prst="roundRect">
              <a:avLst>
                <a:gd name="adj" fmla="val 10000"/>
              </a:avLst>
            </a:prstGeom>
            <a:solidFill>
              <a:srgbClr val="0E1721"/>
            </a:solidFill>
            <a:ln w="9525">
              <a:solidFill>
                <a:srgbClr val="2B3A4C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485900" y="4875466"/>
              <a:ext cx="2047875" cy="390525"/>
            </a:xfrm>
            <a:prstGeom prst="roundRect">
              <a:avLst>
                <a:gd name="adj" fmla="val 19512"/>
              </a:avLst>
            </a:prstGeom>
            <a:solidFill>
              <a:srgbClr val="172638"/>
            </a:solidFill>
            <a:ln w="9525">
              <a:solidFill>
                <a:srgbClr val="3A5069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994416" y="4982623"/>
              <a:ext cx="1030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Ready ticket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639379" y="4988814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876675" y="4775454"/>
              <a:ext cx="2047875" cy="590550"/>
            </a:xfrm>
            <a:prstGeom prst="roundRect">
              <a:avLst>
                <a:gd name="adj" fmla="val 12903"/>
              </a:avLst>
            </a:prstGeom>
            <a:solidFill>
              <a:srgbClr val="172638"/>
            </a:solidFill>
            <a:ln w="9525">
              <a:solidFill>
                <a:srgbClr val="3A5069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615220" y="4882610"/>
              <a:ext cx="5707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branch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879949" y="5061204"/>
              <a:ext cx="20413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feature/3-mutual-match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30154" y="4988814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67450" y="4875466"/>
              <a:ext cx="2047875" cy="390525"/>
            </a:xfrm>
            <a:prstGeom prst="roundRect">
              <a:avLst>
                <a:gd name="adj" fmla="val 19512"/>
              </a:avLst>
            </a:prstGeom>
            <a:solidFill>
              <a:srgbClr val="172638"/>
            </a:solidFill>
            <a:ln w="9525">
              <a:solidFill>
                <a:srgbClr val="3A5069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93672" y="4982623"/>
              <a:ext cx="5954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commit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20929" y="4988814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658225" y="4875466"/>
              <a:ext cx="2047875" cy="390525"/>
            </a:xfrm>
            <a:prstGeom prst="roundRect">
              <a:avLst>
                <a:gd name="adj" fmla="val 19512"/>
              </a:avLst>
            </a:prstGeom>
            <a:solidFill>
              <a:srgbClr val="172638"/>
            </a:solidFill>
            <a:ln w="9525">
              <a:solidFill>
                <a:srgbClr val="3A5069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577507" y="4982623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346835" y="5684139"/>
              <a:ext cx="35006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只實作 #3範圍， PR附變更說明與自我檢查。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81" name="Group 81"/>
          <p:cNvGrpSpPr/>
          <p:nvPr/>
        </p:nvGrpSpPr>
        <p:grpSpPr>
          <a:xfrm>
            <a:off x="477831" y="336956"/>
            <a:ext cx="11295879" cy="5862867"/>
            <a:chOff x="477831" y="336956"/>
            <a:chExt cx="11295879" cy="5862867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1985059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 Review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811720"/>
              <a:ext cx="11168062" cy="314325"/>
            </a:xfrm>
            <a:prstGeom prst="roundRect">
              <a:avLst>
                <a:gd name="adj" fmla="val 24242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02456" y="890302"/>
              <a:ext cx="22799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Epic｜互相喜歡才配對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13836" y="893635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1969" y="117367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69119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569119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6038" y="1269873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114074" y="117367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171224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2171224" y="146704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56671" y="1269873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171224" y="1505140"/>
              <a:ext cx="144037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215039" y="1582293"/>
              <a:ext cx="15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97347" y="1582293"/>
              <a:ext cx="904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15039" y="176126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171224" y="1996535"/>
              <a:ext cx="144037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215039" y="207368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2874" y="207368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15039" y="225275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716369" y="117367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773519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3773519" y="146704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47528" y="1269873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773519" y="1505140"/>
              <a:ext cx="1440370" cy="613315"/>
            </a:xfrm>
            <a:prstGeom prst="roundRect">
              <a:avLst>
                <a:gd name="adj" fmla="val 9318"/>
              </a:avLst>
            </a:prstGeom>
            <a:solidFill>
              <a:srgbClr val="2A1E23"/>
            </a:solidFill>
            <a:ln w="9525">
              <a:solidFill>
                <a:srgbClr val="AD737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17334" y="1582293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25075" y="1582293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17334" y="1761268"/>
              <a:ext cx="1575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Earlier position·退回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17334" y="192128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修改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18665" y="117367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75815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5375815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20912" y="1269873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75815" y="1505140"/>
              <a:ext cx="1440180" cy="472345"/>
            </a:xfrm>
            <a:prstGeom prst="roundRect">
              <a:avLst>
                <a:gd name="adj" fmla="val 12099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29155" y="159181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36895" y="159181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29155" y="1770793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重新送審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920770" y="117367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77920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6977920" y="146704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80107" y="1269873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23065" y="117367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580215" y="123082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8580215" y="146704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31546" y="1269873"/>
              <a:ext cx="1137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125361" y="117367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182511" y="123082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10182511" y="146704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712144" y="1269873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523547" y="2573655"/>
              <a:ext cx="5490332" cy="361950"/>
              <a:chOff x="523547" y="2573655"/>
              <a:chExt cx="5490332" cy="3619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453636" y="2573655"/>
                <a:ext cx="1560243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1560243" h="361950">
                    <a:moveTo>
                      <a:pt x="1560243" y="0"/>
                    </a:moveTo>
                    <a:cubicBezTo>
                      <a:pt x="1560243" y="361950"/>
                      <a:pt x="0" y="361950"/>
                      <a:pt x="0" y="0"/>
                    </a:cubicBezTo>
                  </a:path>
                </a:pathLst>
              </a:custGeom>
              <a:noFill/>
              <a:ln w="33338" cap="rnd">
                <a:solidFill>
                  <a:srgbClr val="FF9289"/>
                </a:solidFill>
                <a:miter lim="800000"/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709052" y="2602230"/>
                <a:ext cx="3284723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3284723" h="219075">
                    <a:moveTo>
                      <a:pt x="49271" y="0"/>
                    </a:moveTo>
                    <a:lnTo>
                      <a:pt x="3235452" y="0"/>
                    </a:lnTo>
                    <a:cubicBezTo>
                      <a:pt x="3262664" y="0"/>
                      <a:pt x="3284723" y="25587"/>
                      <a:pt x="3284723" y="57150"/>
                    </a:cubicBezTo>
                    <a:lnTo>
                      <a:pt x="3284723" y="161925"/>
                    </a:lnTo>
                    <a:cubicBezTo>
                      <a:pt x="3284723" y="193488"/>
                      <a:pt x="3262664" y="219075"/>
                      <a:pt x="3235452" y="219075"/>
                    </a:cubicBezTo>
                    <a:lnTo>
                      <a:pt x="49271" y="219075"/>
                    </a:lnTo>
                    <a:cubicBezTo>
                      <a:pt x="22059" y="219075"/>
                      <a:pt x="0" y="193488"/>
                      <a:pt x="0" y="161925"/>
                    </a:cubicBezTo>
                    <a:lnTo>
                      <a:pt x="0" y="57150"/>
                    </a:lnTo>
                    <a:cubicBezTo>
                      <a:pt x="0" y="25587"/>
                      <a:pt x="22059" y="0"/>
                      <a:pt x="49271" y="0"/>
                    </a:cubicBezTo>
                    <a:close/>
                  </a:path>
                </a:pathLst>
              </a:custGeom>
              <a:solidFill>
                <a:srgbClr val="0B1119"/>
              </a:solidFill>
              <a:ln w="14288" cap="flat">
                <a:solidFill>
                  <a:srgbClr val="67444A"/>
                </a:solidFill>
                <a:miter lim="800000"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523547" y="2634615"/>
                <a:ext cx="365573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D0CB"/>
                    </a:solidFill>
                    <a:latin typeface="Inter"/>
                    <a:ea typeface="Microsoft JhengHei"/>
                    <a:cs typeface="Inter"/>
                  </a:rPr>
                  <a:t>Request changes · Review 退回 Developer</a:t>
                </a:r>
              </a:p>
            </p:txBody>
          </p:sp>
          <p:sp>
            <p:nvSpPr>
              <p:cNvPr id="55" name="Freeform 55"/>
              <p:cNvSpPr/>
              <p:nvPr/>
            </p:nvSpPr>
            <p:spPr>
              <a:xfrm>
                <a:off x="4432448" y="2573655"/>
                <a:ext cx="83953" cy="92025"/>
              </a:xfrm>
              <a:custGeom>
                <a:avLst/>
                <a:gdLst/>
                <a:ahLst/>
                <a:cxnLst/>
                <a:rect l="l" t="t" r="r" b="b"/>
                <a:pathLst>
                  <a:path w="83953" h="92025">
                    <a:moveTo>
                      <a:pt x="83953" y="61420"/>
                    </a:moveTo>
                    <a:lnTo>
                      <a:pt x="21188" y="0"/>
                    </a:lnTo>
                    <a:lnTo>
                      <a:pt x="0" y="92025"/>
                    </a:lnTo>
                  </a:path>
                </a:pathLst>
              </a:custGeom>
              <a:noFill/>
              <a:ln w="19050" cap="rnd">
                <a:solidFill>
                  <a:srgbClr val="FF9289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498634" y="3079432"/>
              <a:ext cx="372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98634" y="3246120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54676" y="3079432"/>
              <a:ext cx="32854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#3經 Review→ Dev修正→重新送審； #1、 #2等待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143000" y="3784378"/>
              <a:ext cx="9906000" cy="2415445"/>
            </a:xfrm>
            <a:prstGeom prst="roundRect">
              <a:avLst>
                <a:gd name="adj" fmla="val 5521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152525" y="3793903"/>
              <a:ext cx="9886950" cy="390525"/>
            </a:xfrm>
            <a:prstGeom prst="rect">
              <a:avLst/>
            </a:prstGeom>
            <a:solidFill>
              <a:srgbClr val="0F1720"/>
            </a:solidFill>
            <a:ln>
              <a:noFill/>
            </a:ln>
          </p:spPr>
        </p:sp>
        <p:sp>
          <p:nvSpPr>
            <p:cNvPr id="62" name="Line 62"/>
            <p:cNvSpPr/>
            <p:nvPr/>
          </p:nvSpPr>
          <p:spPr>
            <a:xfrm>
              <a:off x="1152525" y="4184428"/>
              <a:ext cx="9886950" cy="9525"/>
            </a:xfrm>
            <a:custGeom>
              <a:avLst/>
              <a:gdLst/>
              <a:ahLst/>
              <a:cxnLst/>
              <a:rect l="l" t="t" r="r" b="b"/>
              <a:pathLst>
                <a:path w="9886950" h="9525">
                  <a:moveTo>
                    <a:pt x="0" y="0"/>
                  </a:moveTo>
                  <a:lnTo>
                    <a:pt x="98869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310640" y="3909155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GitHub· Pull Request #3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76199" y="3909155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 thread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362075" y="4184428"/>
              <a:ext cx="9467850" cy="4667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6" name="Line 66"/>
            <p:cNvSpPr/>
            <p:nvPr/>
          </p:nvSpPr>
          <p:spPr>
            <a:xfrm>
              <a:off x="1362075" y="4651153"/>
              <a:ext cx="9467850" cy="9525"/>
            </a:xfrm>
            <a:custGeom>
              <a:avLst/>
              <a:gdLst/>
              <a:ahLst/>
              <a:cxnLst/>
              <a:rect l="l" t="t" r="r" b="b"/>
              <a:pathLst>
                <a:path w="9467850" h="9525">
                  <a:moveTo>
                    <a:pt x="0" y="0"/>
                  </a:moveTo>
                  <a:lnTo>
                    <a:pt x="94678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461135" y="4331113"/>
              <a:ext cx="18523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Reviewer·第一次審查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447943" y="4270153"/>
              <a:ext cx="1267682" cy="285750"/>
            </a:xfrm>
            <a:prstGeom prst="roundRect">
              <a:avLst>
                <a:gd name="adj" fmla="val 50000"/>
              </a:avLst>
            </a:prstGeom>
            <a:solidFill>
              <a:srgbClr val="472A2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520333" y="4337780"/>
              <a:ext cx="617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Request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520333" y="4504468"/>
              <a:ext cx="617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changes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476375" y="4765453"/>
              <a:ext cx="361950" cy="361950"/>
            </a:xfrm>
            <a:prstGeom prst="roundRect">
              <a:avLst>
                <a:gd name="adj" fmla="val 50000"/>
              </a:avLst>
            </a:prstGeom>
            <a:solidFill>
              <a:srgbClr val="51416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461135" y="4788313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985010" y="4788313"/>
              <a:ext cx="23789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3DCE7"/>
                  </a:solidFill>
                  <a:latin typeface="Arial"/>
                  <a:ea typeface="Microsoft YaHei"/>
                  <a:cs typeface="Arial"/>
                </a:rPr>
                <a:t>多做了聊天室，超出 #3範圍。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986915" y="5105495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請移除聊天室；退回 Developer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986915" y="5272183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476375" y="5390293"/>
              <a:ext cx="9239250" cy="400050"/>
            </a:xfrm>
            <a:prstGeom prst="roundRect">
              <a:avLst>
                <a:gd name="adj" fmla="val 19048"/>
              </a:avLst>
            </a:prstGeom>
            <a:solidFill>
              <a:srgbClr val="14231B"/>
            </a:solidFill>
            <a:ln w="9525">
              <a:solidFill>
                <a:srgbClr val="42694D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584960" y="5508403"/>
              <a:ext cx="22562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Developer修正：移除聊天室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895975" y="5580793"/>
              <a:ext cx="400050" cy="19050"/>
            </a:xfrm>
            <a:prstGeom prst="rect">
              <a:avLst/>
            </a:prstGeom>
            <a:solidFill>
              <a:srgbClr val="83BC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366510" y="5508403"/>
              <a:ext cx="23767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重新送審· Review pass→ QA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463040" y="5886545"/>
              <a:ext cx="43512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檢查 code、 architecture、 regression、 maintainability。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23" name="Group 123"/>
          <p:cNvGrpSpPr/>
          <p:nvPr/>
        </p:nvGrpSpPr>
        <p:grpSpPr>
          <a:xfrm>
            <a:off x="477831" y="336956"/>
            <a:ext cx="11559483" cy="5539493"/>
            <a:chOff x="477831" y="336956"/>
            <a:chExt cx="11559483" cy="5539493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3489631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 / Verification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4824" y="770763"/>
              <a:ext cx="58413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AC是否成立？檢查 observable behavior、 AC與 edge cases。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1969" y="1135570"/>
              <a:ext cx="11168062" cy="314325"/>
            </a:xfrm>
            <a:prstGeom prst="roundRect">
              <a:avLst>
                <a:gd name="adj" fmla="val 24242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2456" y="1214152"/>
              <a:ext cx="22799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Epic｜互相喜歡才配對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13836" y="1217486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11969" y="149752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69119" y="155467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569119" y="179089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6038" y="1593723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14074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171224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2171224" y="179089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656671" y="1593723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71224" y="1828990"/>
              <a:ext cx="144037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15039" y="1906143"/>
              <a:ext cx="15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97347" y="1906143"/>
              <a:ext cx="904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15039" y="208511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171224" y="2320385"/>
              <a:ext cx="144037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15039" y="239753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22874" y="239753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15039" y="257660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716369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773519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3773519" y="179089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47528" y="1593723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773519" y="1828990"/>
              <a:ext cx="1440370" cy="613315"/>
            </a:xfrm>
            <a:prstGeom prst="roundRect">
              <a:avLst>
                <a:gd name="adj" fmla="val 931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817334" y="1906143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25075" y="1906143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17334" y="2085118"/>
              <a:ext cx="16982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Earlier position· fixed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18665" y="149752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75815" y="155467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5375815" y="179089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20912" y="1593723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20770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77920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6977920" y="179089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80107" y="1593723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977920" y="1828990"/>
              <a:ext cx="1440370" cy="472345"/>
            </a:xfrm>
            <a:prstGeom prst="roundRect">
              <a:avLst>
                <a:gd name="adj" fmla="val 12099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31260" y="191566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39095" y="191566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31260" y="2094643"/>
              <a:ext cx="10004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Retest· PASS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23065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580215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8580215" y="179089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31546" y="1593723"/>
              <a:ext cx="1137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125361" y="149752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182511" y="155467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10182511" y="179089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712144" y="1593723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713702" y="2878455"/>
              <a:ext cx="4764405" cy="304800"/>
            </a:xfrm>
            <a:prstGeom prst="roundRect">
              <a:avLst>
                <a:gd name="adj" fmla="val 21875"/>
              </a:avLst>
            </a:prstGeom>
            <a:solidFill>
              <a:srgbClr val="25191D"/>
            </a:solidFill>
            <a:ln w="9525">
              <a:solidFill>
                <a:srgbClr val="67444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776567" y="2955608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05271" y="295751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63450" y="2955608"/>
              <a:ext cx="5982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QA FAIL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713702" y="3221355"/>
              <a:ext cx="4764405" cy="304800"/>
            </a:xfrm>
            <a:prstGeom prst="roundRect">
              <a:avLst>
                <a:gd name="adj" fmla="val 21875"/>
              </a:avLst>
            </a:prstGeom>
            <a:solidFill>
              <a:srgbClr val="142119"/>
            </a:solidFill>
            <a:ln w="9525">
              <a:solidFill>
                <a:srgbClr val="49614D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776567" y="3298508"/>
              <a:ext cx="7432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D9CC"/>
                  </a:solidFill>
                  <a:latin typeface="Arial"/>
                  <a:ea typeface="Microsoft YaHei"/>
                  <a:cs typeface="Arial"/>
                </a:rPr>
                <a:t>Dev fixed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05271" y="330041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63450" y="3298508"/>
              <a:ext cx="13550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D9CC"/>
                  </a:solidFill>
                  <a:latin typeface="Arial"/>
                  <a:ea typeface="Microsoft YaHei"/>
                  <a:cs typeface="Arial"/>
                </a:rPr>
                <a:t>QA retest / PASS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98634" y="3593782"/>
              <a:ext cx="372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8634" y="3760470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46161" y="3593782"/>
              <a:ext cx="38911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僅 #3一張進行中（QA）； Dev卡為較早位置； #1、 #2等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46161" y="3760470"/>
              <a:ext cx="180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待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11969" y="3859530"/>
              <a:ext cx="11168062" cy="1707356"/>
            </a:xfrm>
            <a:prstGeom prst="roundRect">
              <a:avLst>
                <a:gd name="adj" fmla="val 5579"/>
              </a:avLst>
            </a:prstGeom>
            <a:solidFill>
              <a:srgbClr val="101821"/>
            </a:solidFill>
            <a:ln w="9525">
              <a:solidFill>
                <a:srgbClr val="2B3A4C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21494" y="3869055"/>
              <a:ext cx="2787301" cy="373856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66" name="Line 66"/>
            <p:cNvSpPr/>
            <p:nvPr/>
          </p:nvSpPr>
          <p:spPr>
            <a:xfrm>
              <a:off x="3308794" y="3869055"/>
              <a:ext cx="9525" cy="373856"/>
            </a:xfrm>
            <a:custGeom>
              <a:avLst/>
              <a:gdLst/>
              <a:ahLst/>
              <a:cxnLst/>
              <a:rect l="l" t="t" r="r" b="b"/>
              <a:pathLst>
                <a:path w="9525" h="373856">
                  <a:moveTo>
                    <a:pt x="0" y="0"/>
                  </a:moveTo>
                  <a:lnTo>
                    <a:pt x="0" y="373856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521494" y="4242911"/>
              <a:ext cx="2787301" cy="9525"/>
            </a:xfrm>
            <a:custGeom>
              <a:avLst/>
              <a:gdLst/>
              <a:ahLst/>
              <a:cxnLst/>
              <a:rect l="l" t="t" r="r" b="b"/>
              <a:pathLst>
                <a:path w="2787301" h="9525">
                  <a:moveTo>
                    <a:pt x="0" y="0"/>
                  </a:moveTo>
                  <a:lnTo>
                    <a:pt x="278730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11981" y="3976211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BEAFF"/>
                  </a:solidFill>
                  <a:latin typeface="Arial"/>
                  <a:ea typeface="Microsoft YaHei"/>
                  <a:cs typeface="Arial"/>
                </a:rPr>
                <a:t>AC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308794" y="3869055"/>
              <a:ext cx="2787301" cy="373856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70" name="Line 70"/>
            <p:cNvSpPr/>
            <p:nvPr/>
          </p:nvSpPr>
          <p:spPr>
            <a:xfrm>
              <a:off x="6096000" y="3869055"/>
              <a:ext cx="9525" cy="373856"/>
            </a:xfrm>
            <a:custGeom>
              <a:avLst/>
              <a:gdLst/>
              <a:ahLst/>
              <a:cxnLst/>
              <a:rect l="l" t="t" r="r" b="b"/>
              <a:pathLst>
                <a:path w="9525" h="373856">
                  <a:moveTo>
                    <a:pt x="0" y="0"/>
                  </a:moveTo>
                  <a:lnTo>
                    <a:pt x="0" y="373856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1" name="Line 71"/>
            <p:cNvSpPr/>
            <p:nvPr/>
          </p:nvSpPr>
          <p:spPr>
            <a:xfrm>
              <a:off x="3308794" y="4242911"/>
              <a:ext cx="2787206" cy="9525"/>
            </a:xfrm>
            <a:custGeom>
              <a:avLst/>
              <a:gdLst/>
              <a:ahLst/>
              <a:cxnLst/>
              <a:rect l="l" t="t" r="r" b="b"/>
              <a:pathLst>
                <a:path w="2787206" h="9525">
                  <a:moveTo>
                    <a:pt x="0" y="0"/>
                  </a:moveTo>
                  <a:lnTo>
                    <a:pt x="278720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399282" y="397621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BEAFF"/>
                  </a:solidFill>
                  <a:latin typeface="Arial"/>
                  <a:ea typeface="Microsoft YaHei"/>
                  <a:cs typeface="Arial"/>
                </a:rPr>
                <a:t>預期行為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096000" y="3869055"/>
              <a:ext cx="2787301" cy="373856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74" name="Line 74"/>
            <p:cNvSpPr/>
            <p:nvPr/>
          </p:nvSpPr>
          <p:spPr>
            <a:xfrm>
              <a:off x="8883301" y="3869055"/>
              <a:ext cx="9525" cy="373856"/>
            </a:xfrm>
            <a:custGeom>
              <a:avLst/>
              <a:gdLst/>
              <a:ahLst/>
              <a:cxnLst/>
              <a:rect l="l" t="t" r="r" b="b"/>
              <a:pathLst>
                <a:path w="9525" h="373856">
                  <a:moveTo>
                    <a:pt x="0" y="0"/>
                  </a:moveTo>
                  <a:lnTo>
                    <a:pt x="0" y="373856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6096000" y="4242911"/>
              <a:ext cx="2787301" cy="9525"/>
            </a:xfrm>
            <a:custGeom>
              <a:avLst/>
              <a:gdLst/>
              <a:ahLst/>
              <a:cxnLst/>
              <a:rect l="l" t="t" r="r" b="b"/>
              <a:pathLst>
                <a:path w="2787301" h="9525">
                  <a:moveTo>
                    <a:pt x="0" y="0"/>
                  </a:moveTo>
                  <a:lnTo>
                    <a:pt x="278730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186488" y="397621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BEAFF"/>
                  </a:solidFill>
                  <a:latin typeface="Arial"/>
                  <a:ea typeface="Microsoft YaHei"/>
                  <a:cs typeface="Arial"/>
                </a:rPr>
                <a:t>證據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883301" y="3869055"/>
              <a:ext cx="2787301" cy="373856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78" name="Line 78"/>
            <p:cNvSpPr/>
            <p:nvPr/>
          </p:nvSpPr>
          <p:spPr>
            <a:xfrm>
              <a:off x="8883301" y="4242911"/>
              <a:ext cx="2787206" cy="9525"/>
            </a:xfrm>
            <a:custGeom>
              <a:avLst/>
              <a:gdLst/>
              <a:ahLst/>
              <a:cxnLst/>
              <a:rect l="l" t="t" r="r" b="b"/>
              <a:pathLst>
                <a:path w="2787206" h="9525">
                  <a:moveTo>
                    <a:pt x="0" y="0"/>
                  </a:moveTo>
                  <a:lnTo>
                    <a:pt x="278720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973788" y="397621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BEAFF"/>
                  </a:solidFill>
                  <a:latin typeface="Arial"/>
                  <a:ea typeface="Microsoft YaHei"/>
                  <a:cs typeface="Arial"/>
                </a:rPr>
                <a:t>狀態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21494" y="4242911"/>
              <a:ext cx="2787301" cy="566738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81" name="Line 81"/>
            <p:cNvSpPr/>
            <p:nvPr/>
          </p:nvSpPr>
          <p:spPr>
            <a:xfrm>
              <a:off x="3308794" y="4242911"/>
              <a:ext cx="9525" cy="566738"/>
            </a:xfrm>
            <a:custGeom>
              <a:avLst/>
              <a:gdLst/>
              <a:ahLst/>
              <a:cxnLst/>
              <a:rect l="l" t="t" r="r" b="b"/>
              <a:pathLst>
                <a:path w="9525" h="566738">
                  <a:moveTo>
                    <a:pt x="0" y="0"/>
                  </a:moveTo>
                  <a:lnTo>
                    <a:pt x="0" y="566738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521494" y="4809649"/>
              <a:ext cx="2787301" cy="9525"/>
            </a:xfrm>
            <a:custGeom>
              <a:avLst/>
              <a:gdLst/>
              <a:ahLst/>
              <a:cxnLst/>
              <a:rect l="l" t="t" r="r" b="b"/>
              <a:pathLst>
                <a:path w="2787301" h="9525">
                  <a:moveTo>
                    <a:pt x="0" y="0"/>
                  </a:moveTo>
                  <a:lnTo>
                    <a:pt x="278730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11981" y="4350068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BEAFF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3308794" y="4242911"/>
              <a:ext cx="2787301" cy="5667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5" name="Line 85"/>
            <p:cNvSpPr/>
            <p:nvPr/>
          </p:nvSpPr>
          <p:spPr>
            <a:xfrm>
              <a:off x="6096000" y="4242911"/>
              <a:ext cx="9525" cy="566738"/>
            </a:xfrm>
            <a:custGeom>
              <a:avLst/>
              <a:gdLst/>
              <a:ahLst/>
              <a:cxnLst/>
              <a:rect l="l" t="t" r="r" b="b"/>
              <a:pathLst>
                <a:path w="9525" h="566738">
                  <a:moveTo>
                    <a:pt x="0" y="0"/>
                  </a:moveTo>
                  <a:lnTo>
                    <a:pt x="0" y="566738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6" name="Line 86"/>
            <p:cNvSpPr/>
            <p:nvPr/>
          </p:nvSpPr>
          <p:spPr>
            <a:xfrm>
              <a:off x="3308794" y="4809649"/>
              <a:ext cx="2787206" cy="9525"/>
            </a:xfrm>
            <a:custGeom>
              <a:avLst/>
              <a:gdLst/>
              <a:ahLst/>
              <a:cxnLst/>
              <a:rect l="l" t="t" r="r" b="b"/>
              <a:pathLst>
                <a:path w="2787206" h="9525">
                  <a:moveTo>
                    <a:pt x="0" y="0"/>
                  </a:moveTo>
                  <a:lnTo>
                    <a:pt x="278720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3399282" y="4350068"/>
              <a:ext cx="2107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A喜歡 B， B未喜歡 A→不配對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096000" y="4242911"/>
              <a:ext cx="2787301" cy="5667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9" name="Line 89"/>
            <p:cNvSpPr/>
            <p:nvPr/>
          </p:nvSpPr>
          <p:spPr>
            <a:xfrm>
              <a:off x="8883301" y="4242911"/>
              <a:ext cx="9525" cy="566738"/>
            </a:xfrm>
            <a:custGeom>
              <a:avLst/>
              <a:gdLst/>
              <a:ahLst/>
              <a:cxnLst/>
              <a:rect l="l" t="t" r="r" b="b"/>
              <a:pathLst>
                <a:path w="9525" h="566738">
                  <a:moveTo>
                    <a:pt x="0" y="0"/>
                  </a:moveTo>
                  <a:lnTo>
                    <a:pt x="0" y="566738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0" name="Line 90"/>
            <p:cNvSpPr/>
            <p:nvPr/>
          </p:nvSpPr>
          <p:spPr>
            <a:xfrm>
              <a:off x="6096000" y="4809649"/>
              <a:ext cx="2787301" cy="9525"/>
            </a:xfrm>
            <a:custGeom>
              <a:avLst/>
              <a:gdLst/>
              <a:ahLst/>
              <a:cxnLst/>
              <a:rect l="l" t="t" r="r" b="b"/>
              <a:pathLst>
                <a:path w="2787301" h="9525">
                  <a:moveTo>
                    <a:pt x="0" y="0"/>
                  </a:moveTo>
                  <a:lnTo>
                    <a:pt x="278730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186488" y="4350068"/>
              <a:ext cx="3027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初測：顯示 Match；修正後重測：未顯示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186488" y="4542949"/>
              <a:ext cx="5132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Match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8883301" y="4242911"/>
              <a:ext cx="2787301" cy="5667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4" name="Line 94"/>
            <p:cNvSpPr/>
            <p:nvPr/>
          </p:nvSpPr>
          <p:spPr>
            <a:xfrm>
              <a:off x="8883301" y="4809649"/>
              <a:ext cx="2787206" cy="9525"/>
            </a:xfrm>
            <a:custGeom>
              <a:avLst/>
              <a:gdLst/>
              <a:ahLst/>
              <a:cxnLst/>
              <a:rect l="l" t="t" r="r" b="b"/>
              <a:pathLst>
                <a:path w="2787206" h="9525">
                  <a:moveTo>
                    <a:pt x="0" y="0"/>
                  </a:moveTo>
                  <a:lnTo>
                    <a:pt x="278720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973788" y="4350068"/>
              <a:ext cx="14662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初測 FAIL重測 PASS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521494" y="4809649"/>
              <a:ext cx="2787301" cy="373856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97" name="Line 97"/>
            <p:cNvSpPr/>
            <p:nvPr/>
          </p:nvSpPr>
          <p:spPr>
            <a:xfrm>
              <a:off x="3308794" y="4809649"/>
              <a:ext cx="9525" cy="373856"/>
            </a:xfrm>
            <a:custGeom>
              <a:avLst/>
              <a:gdLst/>
              <a:ahLst/>
              <a:cxnLst/>
              <a:rect l="l" t="t" r="r" b="b"/>
              <a:pathLst>
                <a:path w="9525" h="373856">
                  <a:moveTo>
                    <a:pt x="0" y="0"/>
                  </a:moveTo>
                  <a:lnTo>
                    <a:pt x="0" y="373856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8" name="Line 98"/>
            <p:cNvSpPr/>
            <p:nvPr/>
          </p:nvSpPr>
          <p:spPr>
            <a:xfrm>
              <a:off x="521494" y="5183505"/>
              <a:ext cx="2787301" cy="9525"/>
            </a:xfrm>
            <a:custGeom>
              <a:avLst/>
              <a:gdLst/>
              <a:ahLst/>
              <a:cxnLst/>
              <a:rect l="l" t="t" r="r" b="b"/>
              <a:pathLst>
                <a:path w="2787301" h="9525">
                  <a:moveTo>
                    <a:pt x="0" y="0"/>
                  </a:moveTo>
                  <a:lnTo>
                    <a:pt x="278730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11981" y="4916805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BEAFF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3308794" y="4809649"/>
              <a:ext cx="2787301" cy="37385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1" name="Line 101"/>
            <p:cNvSpPr/>
            <p:nvPr/>
          </p:nvSpPr>
          <p:spPr>
            <a:xfrm>
              <a:off x="6096000" y="4809649"/>
              <a:ext cx="9525" cy="373856"/>
            </a:xfrm>
            <a:custGeom>
              <a:avLst/>
              <a:gdLst/>
              <a:ahLst/>
              <a:cxnLst/>
              <a:rect l="l" t="t" r="r" b="b"/>
              <a:pathLst>
                <a:path w="9525" h="373856">
                  <a:moveTo>
                    <a:pt x="0" y="0"/>
                  </a:moveTo>
                  <a:lnTo>
                    <a:pt x="0" y="373856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2" name="Line 102"/>
            <p:cNvSpPr/>
            <p:nvPr/>
          </p:nvSpPr>
          <p:spPr>
            <a:xfrm>
              <a:off x="3308794" y="5183505"/>
              <a:ext cx="2787206" cy="9525"/>
            </a:xfrm>
            <a:custGeom>
              <a:avLst/>
              <a:gdLst/>
              <a:ahLst/>
              <a:cxnLst/>
              <a:rect l="l" t="t" r="r" b="b"/>
              <a:pathLst>
                <a:path w="2787206" h="9525">
                  <a:moveTo>
                    <a:pt x="0" y="0"/>
                  </a:moveTo>
                  <a:lnTo>
                    <a:pt x="278720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3399282" y="4916805"/>
              <a:ext cx="14991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B也喜歡 A→成功配對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096000" y="4809649"/>
              <a:ext cx="2787301" cy="37385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5" name="Line 105"/>
            <p:cNvSpPr/>
            <p:nvPr/>
          </p:nvSpPr>
          <p:spPr>
            <a:xfrm>
              <a:off x="8883301" y="4809649"/>
              <a:ext cx="9525" cy="373856"/>
            </a:xfrm>
            <a:custGeom>
              <a:avLst/>
              <a:gdLst/>
              <a:ahLst/>
              <a:cxnLst/>
              <a:rect l="l" t="t" r="r" b="b"/>
              <a:pathLst>
                <a:path w="9525" h="373856">
                  <a:moveTo>
                    <a:pt x="0" y="0"/>
                  </a:moveTo>
                  <a:lnTo>
                    <a:pt x="0" y="373856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6096000" y="5183505"/>
              <a:ext cx="2787301" cy="9525"/>
            </a:xfrm>
            <a:custGeom>
              <a:avLst/>
              <a:gdLst/>
              <a:ahLst/>
              <a:cxnLst/>
              <a:rect l="l" t="t" r="r" b="b"/>
              <a:pathLst>
                <a:path w="2787301" h="9525">
                  <a:moveTo>
                    <a:pt x="0" y="0"/>
                  </a:moveTo>
                  <a:lnTo>
                    <a:pt x="278730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186488" y="4916805"/>
              <a:ext cx="12197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雙方顯示 Match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8883301" y="4809649"/>
              <a:ext cx="2787301" cy="37385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9" name="Line 109"/>
            <p:cNvSpPr/>
            <p:nvPr/>
          </p:nvSpPr>
          <p:spPr>
            <a:xfrm>
              <a:off x="8883301" y="5183505"/>
              <a:ext cx="2787206" cy="9525"/>
            </a:xfrm>
            <a:custGeom>
              <a:avLst/>
              <a:gdLst/>
              <a:ahLst/>
              <a:cxnLst/>
              <a:rect l="l" t="t" r="r" b="b"/>
              <a:pathLst>
                <a:path w="2787206" h="9525">
                  <a:moveTo>
                    <a:pt x="0" y="0"/>
                  </a:moveTo>
                  <a:lnTo>
                    <a:pt x="278720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8973788" y="4916805"/>
              <a:ext cx="390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521494" y="5183505"/>
              <a:ext cx="2787301" cy="373856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112" name="Line 112"/>
            <p:cNvSpPr/>
            <p:nvPr/>
          </p:nvSpPr>
          <p:spPr>
            <a:xfrm>
              <a:off x="3308794" y="5183505"/>
              <a:ext cx="9525" cy="373856"/>
            </a:xfrm>
            <a:custGeom>
              <a:avLst/>
              <a:gdLst/>
              <a:ahLst/>
              <a:cxnLst/>
              <a:rect l="l" t="t" r="r" b="b"/>
              <a:pathLst>
                <a:path w="9525" h="373856">
                  <a:moveTo>
                    <a:pt x="0" y="0"/>
                  </a:moveTo>
                  <a:lnTo>
                    <a:pt x="0" y="373856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3" name="Line 113"/>
            <p:cNvSpPr/>
            <p:nvPr/>
          </p:nvSpPr>
          <p:spPr>
            <a:xfrm>
              <a:off x="521494" y="5557361"/>
              <a:ext cx="2787301" cy="9525"/>
            </a:xfrm>
            <a:custGeom>
              <a:avLst/>
              <a:gdLst/>
              <a:ahLst/>
              <a:cxnLst/>
              <a:rect l="l" t="t" r="r" b="b"/>
              <a:pathLst>
                <a:path w="2787301" h="9525">
                  <a:moveTo>
                    <a:pt x="0" y="0"/>
                  </a:moveTo>
                  <a:lnTo>
                    <a:pt x="278730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611981" y="5290661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BEAFF"/>
                  </a:solidFill>
                  <a:latin typeface="Arial"/>
                  <a:ea typeface="Microsoft YaHei"/>
                  <a:cs typeface="Arial"/>
                </a:rPr>
                <a:t>C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3308794" y="5183505"/>
              <a:ext cx="2787301" cy="37385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6" name="Line 116"/>
            <p:cNvSpPr/>
            <p:nvPr/>
          </p:nvSpPr>
          <p:spPr>
            <a:xfrm>
              <a:off x="6096000" y="5183505"/>
              <a:ext cx="9525" cy="373856"/>
            </a:xfrm>
            <a:custGeom>
              <a:avLst/>
              <a:gdLst/>
              <a:ahLst/>
              <a:cxnLst/>
              <a:rect l="l" t="t" r="r" b="b"/>
              <a:pathLst>
                <a:path w="9525" h="373856">
                  <a:moveTo>
                    <a:pt x="0" y="0"/>
                  </a:moveTo>
                  <a:lnTo>
                    <a:pt x="0" y="373856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3399282" y="5290661"/>
              <a:ext cx="1597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重複喜歡→不重複配對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6096000" y="5183505"/>
              <a:ext cx="2787301" cy="37385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9" name="Line 119"/>
            <p:cNvSpPr/>
            <p:nvPr/>
          </p:nvSpPr>
          <p:spPr>
            <a:xfrm>
              <a:off x="8883301" y="5183505"/>
              <a:ext cx="9525" cy="373856"/>
            </a:xfrm>
            <a:custGeom>
              <a:avLst/>
              <a:gdLst/>
              <a:ahLst/>
              <a:cxnLst/>
              <a:rect l="l" t="t" r="r" b="b"/>
              <a:pathLst>
                <a:path w="9525" h="373856">
                  <a:moveTo>
                    <a:pt x="0" y="0"/>
                  </a:moveTo>
                  <a:lnTo>
                    <a:pt x="0" y="373856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6186488" y="5290661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只有一筆配對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8973788" y="5290661"/>
              <a:ext cx="390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9542764" y="5663089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狀態： PASS／ FAIL／ NOT RUN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80" name="Group 80"/>
          <p:cNvGrpSpPr/>
          <p:nvPr/>
        </p:nvGrpSpPr>
        <p:grpSpPr>
          <a:xfrm>
            <a:off x="477831" y="336956"/>
            <a:ext cx="12333817" cy="5379949"/>
            <a:chOff x="477831" y="336956"/>
            <a:chExt cx="12333817" cy="5379949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4190390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Product / Goal Check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4824" y="770763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做對的東西了嗎？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1969" y="1135570"/>
              <a:ext cx="11168062" cy="314325"/>
            </a:xfrm>
            <a:prstGeom prst="roundRect">
              <a:avLst>
                <a:gd name="adj" fmla="val 24242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2456" y="1214152"/>
              <a:ext cx="22799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Epic｜互相喜歡才配對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13836" y="1217486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11969" y="149752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69119" y="155467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569119" y="179089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6038" y="1593723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69119" y="1828990"/>
              <a:ext cx="1440180" cy="773335"/>
            </a:xfrm>
            <a:prstGeom prst="roundRect">
              <a:avLst>
                <a:gd name="adj" fmla="val 7390"/>
              </a:avLst>
            </a:prstGeom>
            <a:solidFill>
              <a:srgbClr val="2A1E23"/>
            </a:solidFill>
            <a:ln w="9525">
              <a:solidFill>
                <a:srgbClr val="AD737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12934" y="1906143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0674" y="1906143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2934" y="2085118"/>
              <a:ext cx="17825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Earlier position· Ticket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2934" y="2245138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Refinement / Goal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114074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171224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2171224" y="179089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56671" y="1593723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171224" y="1828990"/>
              <a:ext cx="144037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215039" y="1906143"/>
              <a:ext cx="15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97347" y="1906143"/>
              <a:ext cx="904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15039" y="208511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171224" y="2320385"/>
              <a:ext cx="144037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215039" y="239753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22874" y="239753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15039" y="257660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716369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773519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3773519" y="179089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347528" y="1593723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18665" y="149752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75815" y="155467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5375815" y="179089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20912" y="1593723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920770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977920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6977920" y="179089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80107" y="1593723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523065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580215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8580215" y="179089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31546" y="1593723"/>
              <a:ext cx="1137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580215" y="1828990"/>
              <a:ext cx="1440370" cy="472345"/>
            </a:xfrm>
            <a:prstGeom prst="roundRect">
              <a:avLst>
                <a:gd name="adj" fmla="val 12099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633555" y="191566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41391" y="191566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33555" y="2094643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檢查中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125361" y="149752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182511" y="155467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10182511" y="179089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712144" y="1593723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333149" y="2897505"/>
              <a:ext cx="7801217" cy="361950"/>
              <a:chOff x="1333149" y="2897505"/>
              <a:chExt cx="7801217" cy="36195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333149" y="2897505"/>
                <a:ext cx="7801217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7801217" h="361950">
                    <a:moveTo>
                      <a:pt x="7801217" y="0"/>
                    </a:moveTo>
                    <a:cubicBezTo>
                      <a:pt x="7801217" y="361950"/>
                      <a:pt x="0" y="361950"/>
                      <a:pt x="0" y="0"/>
                    </a:cubicBezTo>
                  </a:path>
                </a:pathLst>
              </a:custGeom>
              <a:noFill/>
              <a:ln w="33338" cap="rnd">
                <a:solidFill>
                  <a:srgbClr val="F2CF76"/>
                </a:solidFill>
                <a:miter lim="800000"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3591396" y="2926080"/>
                <a:ext cx="3284723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3284723" h="219075">
                    <a:moveTo>
                      <a:pt x="49271" y="0"/>
                    </a:moveTo>
                    <a:lnTo>
                      <a:pt x="3235452" y="0"/>
                    </a:lnTo>
                    <a:cubicBezTo>
                      <a:pt x="3262664" y="0"/>
                      <a:pt x="3284723" y="25587"/>
                      <a:pt x="3284723" y="57150"/>
                    </a:cubicBezTo>
                    <a:lnTo>
                      <a:pt x="3284723" y="161925"/>
                    </a:lnTo>
                    <a:cubicBezTo>
                      <a:pt x="3284723" y="193488"/>
                      <a:pt x="3262664" y="219075"/>
                      <a:pt x="3235452" y="219075"/>
                    </a:cubicBezTo>
                    <a:lnTo>
                      <a:pt x="49271" y="219075"/>
                    </a:lnTo>
                    <a:cubicBezTo>
                      <a:pt x="22059" y="219075"/>
                      <a:pt x="0" y="193488"/>
                      <a:pt x="0" y="161925"/>
                    </a:cubicBezTo>
                    <a:lnTo>
                      <a:pt x="0" y="57150"/>
                    </a:lnTo>
                    <a:cubicBezTo>
                      <a:pt x="0" y="25587"/>
                      <a:pt x="22059" y="0"/>
                      <a:pt x="49271" y="0"/>
                    </a:cubicBezTo>
                    <a:close/>
                  </a:path>
                </a:pathLst>
              </a:custGeom>
              <a:solidFill>
                <a:srgbClr val="0B1119"/>
              </a:solidFill>
              <a:ln w="14288" cap="flat">
                <a:solidFill>
                  <a:srgbClr val="675834"/>
                </a:solidFill>
                <a:miter lim="800000"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3125256" y="2958465"/>
                <a:ext cx="42170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2CF76"/>
                    </a:solidFill>
                    <a:latin typeface="Inter"/>
                    <a:ea typeface="Microsoft JhengHei"/>
                    <a:cs typeface="Inter"/>
                  </a:rPr>
                  <a:t>goal / problem issue · Ticket Refinement / Goal</a:t>
                </a:r>
              </a:p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1333149" y="2897505"/>
                <a:ext cx="80646" cy="92284"/>
              </a:xfrm>
              <a:custGeom>
                <a:avLst/>
                <a:gdLst/>
                <a:ahLst/>
                <a:cxnLst/>
                <a:rect l="l" t="t" r="r" b="b"/>
                <a:pathLst>
                  <a:path w="80646" h="92284">
                    <a:moveTo>
                      <a:pt x="80646" y="17953"/>
                    </a:moveTo>
                    <a:lnTo>
                      <a:pt x="0" y="0"/>
                    </a:lnTo>
                    <a:lnTo>
                      <a:pt x="20333" y="92284"/>
                    </a:lnTo>
                  </a:path>
                </a:pathLst>
              </a:custGeom>
              <a:noFill/>
              <a:ln w="19050" cap="rnd">
                <a:solidFill>
                  <a:srgbClr val="F2CF76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498634" y="3403282"/>
              <a:ext cx="372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8634" y="3569970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572952" y="3403282"/>
              <a:ext cx="82386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僅 #3一張進行中（Product Check）； Backlog卡為較早位置； goal／ problem issue可退回 Ticket Refinement / Goal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1969" y="3669030"/>
              <a:ext cx="4974146" cy="1543050"/>
            </a:xfrm>
            <a:prstGeom prst="roundRect">
              <a:avLst>
                <a:gd name="adj" fmla="val 679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06304" y="3834765"/>
              <a:ext cx="18268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這在解 Goal的問題嗎？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06304" y="4120515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做完會推進成功訊號嗎？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6304" y="4406265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現在仍是最高優先嗎？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8179" y="470154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三題都「是」才放行。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600414" y="3669030"/>
              <a:ext cx="6079617" cy="1543050"/>
            </a:xfrm>
            <a:prstGeom prst="roundRect">
              <a:avLst>
                <a:gd name="adj" fmla="val 679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771864" y="3811905"/>
              <a:ext cx="5736717" cy="381000"/>
            </a:xfrm>
            <a:prstGeom prst="rect">
              <a:avLst/>
            </a:prstGeom>
            <a:solidFill>
              <a:srgbClr val="211D14"/>
            </a:solidFill>
            <a:ln>
              <a:noFill/>
            </a:ln>
          </p:spPr>
        </p:sp>
        <p:sp>
          <p:nvSpPr>
            <p:cNvPr id="68" name="Line 68"/>
            <p:cNvSpPr/>
            <p:nvPr/>
          </p:nvSpPr>
          <p:spPr>
            <a:xfrm>
              <a:off x="5771864" y="3811905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28575">
              <a:solidFill>
                <a:srgbClr val="F2CF7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870924" y="3920490"/>
              <a:ext cx="53583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E5A6"/>
                  </a:solidFill>
                  <a:latin typeface="Arial"/>
                  <a:ea typeface="Microsoft YaHei"/>
                  <a:cs typeface="Arial"/>
                </a:rPr>
                <a:t>若發現：「功能完全符合 AC，但這根本不是我們現在需要的東西。」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771864" y="4269105"/>
              <a:ext cx="5736717" cy="361950"/>
            </a:xfrm>
            <a:prstGeom prst="roundRect">
              <a:avLst>
                <a:gd name="adj" fmla="val 21053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863304" y="437483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implementation issue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459248" y="4440555"/>
              <a:ext cx="361950" cy="19050"/>
            </a:xfrm>
            <a:prstGeom prst="rect">
              <a:avLst/>
            </a:prstGeom>
            <a:solidFill>
              <a:srgbClr val="83BC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633677" y="4374832"/>
              <a:ext cx="783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771864" y="4707255"/>
              <a:ext cx="5736717" cy="361950"/>
            </a:xfrm>
            <a:prstGeom prst="roundRect">
              <a:avLst>
                <a:gd name="adj" fmla="val 21053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863304" y="4812983"/>
              <a:ext cx="1514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goal / problem issue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459248" y="4878705"/>
              <a:ext cx="361950" cy="19050"/>
            </a:xfrm>
            <a:prstGeom prst="rect">
              <a:avLst/>
            </a:prstGeom>
            <a:solidFill>
              <a:srgbClr val="83BC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474332" y="4812983"/>
              <a:ext cx="19428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Ticket Refinement / Goal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11969" y="5326380"/>
              <a:ext cx="11168062" cy="390525"/>
            </a:xfrm>
            <a:prstGeom prst="roundRect">
              <a:avLst>
                <a:gd name="adj" fmla="val 19512"/>
              </a:avLst>
            </a:prstGeom>
            <a:solidFill>
              <a:srgbClr val="142119"/>
            </a:solidFill>
            <a:ln w="9525">
              <a:solidFill>
                <a:srgbClr val="49614D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12934" y="5432108"/>
              <a:ext cx="5999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8D9CC"/>
                  </a:solidFill>
                  <a:latin typeface="Arial"/>
                  <a:ea typeface="Microsoft YaHei"/>
                  <a:cs typeface="Arial"/>
                </a:rPr>
                <a:t>Goal成敗看上線後訊號：兩週 10對互相喜歡；護欄為錯誤配對率＝ 0（核對錯配紀錄）。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2" name="Group 62"/>
          <p:cNvGrpSpPr/>
          <p:nvPr/>
        </p:nvGrpSpPr>
        <p:grpSpPr>
          <a:xfrm>
            <a:off x="477831" y="336956"/>
            <a:ext cx="11366887" cy="5231454"/>
            <a:chOff x="477831" y="336956"/>
            <a:chExt cx="11366887" cy="5231454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975141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4824" y="770763"/>
              <a:ext cx="32742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AC＋ project-wide DoD是否成立？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1969" y="1135570"/>
              <a:ext cx="11168062" cy="314325"/>
            </a:xfrm>
            <a:prstGeom prst="roundRect">
              <a:avLst>
                <a:gd name="adj" fmla="val 24242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2456" y="1214152"/>
              <a:ext cx="22799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Epic｜互相喜歡才配對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13836" y="1217486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issue·泳道標題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11969" y="149752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69119" y="155467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569119" y="179089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6038" y="1593723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14074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171224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2171224" y="179089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656671" y="1593723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71224" y="1828990"/>
              <a:ext cx="144037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15039" y="1906143"/>
              <a:ext cx="15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97347" y="1906143"/>
              <a:ext cx="904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15039" y="208511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171224" y="2320385"/>
              <a:ext cx="1440370" cy="453295"/>
            </a:xfrm>
            <a:prstGeom prst="roundRect">
              <a:avLst>
                <a:gd name="adj" fmla="val 12608"/>
              </a:avLst>
            </a:prstGeom>
            <a:solidFill>
              <a:srgbClr val="192638"/>
            </a:solidFill>
            <a:ln w="9525">
              <a:solidFill>
                <a:srgbClr val="3B4E6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15039" y="239753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22874" y="239753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15039" y="257660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等待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716369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773519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3773519" y="179089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47528" y="1593723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18665" y="149752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75815" y="155467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5375815" y="179089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20912" y="1593723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920770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77920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6977920" y="1790890"/>
              <a:ext cx="1440370" cy="9525"/>
            </a:xfrm>
            <a:custGeom>
              <a:avLst/>
              <a:gdLst/>
              <a:ahLst/>
              <a:cxnLst/>
              <a:rect l="l" t="t" r="r" b="b"/>
              <a:pathLst>
                <a:path w="1440370" h="9525">
                  <a:moveTo>
                    <a:pt x="0" y="0"/>
                  </a:moveTo>
                  <a:lnTo>
                    <a:pt x="144037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80107" y="1593723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523065" y="1497520"/>
              <a:ext cx="1554670" cy="1333310"/>
            </a:xfrm>
            <a:prstGeom prst="roundRect">
              <a:avLst>
                <a:gd name="adj" fmla="val 5001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580215" y="1554670"/>
              <a:ext cx="144037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8580215" y="1790890"/>
              <a:ext cx="1440371" cy="9525"/>
            </a:xfrm>
            <a:custGeom>
              <a:avLst/>
              <a:gdLst/>
              <a:ahLst/>
              <a:cxnLst/>
              <a:rect l="l" t="t" r="r" b="b"/>
              <a:pathLst>
                <a:path w="1440371" h="9525">
                  <a:moveTo>
                    <a:pt x="0" y="0"/>
                  </a:moveTo>
                  <a:lnTo>
                    <a:pt x="1440371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31546" y="1593723"/>
              <a:ext cx="1137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125361" y="1497520"/>
              <a:ext cx="1554480" cy="1333310"/>
            </a:xfrm>
            <a:prstGeom prst="roundRect">
              <a:avLst>
                <a:gd name="adj" fmla="val 5001"/>
              </a:avLst>
            </a:prstGeom>
            <a:solidFill>
              <a:srgbClr val="142235"/>
            </a:solidFill>
            <a:ln w="9525">
              <a:solidFill>
                <a:srgbClr val="638AB3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182511" y="1554670"/>
              <a:ext cx="1440180" cy="23622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10182511" y="1790890"/>
              <a:ext cx="1440180" cy="9525"/>
            </a:xfrm>
            <a:custGeom>
              <a:avLst/>
              <a:gdLst/>
              <a:ahLst/>
              <a:cxnLst/>
              <a:rect l="l" t="t" r="r" b="b"/>
              <a:pathLst>
                <a:path w="1440180" h="9525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noFill/>
            <a:ln w="9525">
              <a:solidFill>
                <a:srgbClr val="83BCF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712144" y="1593723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182511" y="1828990"/>
              <a:ext cx="1440180" cy="472345"/>
            </a:xfrm>
            <a:prstGeom prst="roundRect">
              <a:avLst>
                <a:gd name="adj" fmla="val 12099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235851" y="191566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43591" y="191566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35851" y="2094643"/>
              <a:ext cx="4943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9C6D3"/>
                  </a:solidFill>
                  <a:latin typeface="Arial"/>
                  <a:ea typeface="Microsoft YaHei"/>
                  <a:cs typeface="Arial"/>
                </a:rPr>
                <a:t>Closed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8634" y="2898458"/>
              <a:ext cx="372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WIP=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98634" y="3065145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87090" y="2898458"/>
              <a:ext cx="23576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#3在 Done； #1、 #2在 Ready等待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95375" y="4234910"/>
              <a:ext cx="4177570" cy="1333500"/>
            </a:xfrm>
            <a:prstGeom prst="roundRect">
              <a:avLst>
                <a:gd name="adj" fmla="val 8571"/>
              </a:avLst>
            </a:prstGeom>
            <a:solidFill>
              <a:srgbClr val="14231B"/>
            </a:solidFill>
            <a:ln w="9525">
              <a:solidFill>
                <a:srgbClr val="4A765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282065" y="4454938"/>
              <a:ext cx="9621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SUB-ISSUE #3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77302" y="4747832"/>
              <a:ext cx="15658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295400" y="5063585"/>
              <a:ext cx="877062" cy="304800"/>
            </a:xfrm>
            <a:prstGeom prst="roundRect">
              <a:avLst>
                <a:gd name="adj" fmla="val 50000"/>
              </a:avLst>
            </a:prstGeom>
            <a:solidFill>
              <a:srgbClr val="204C3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375410" y="5134070"/>
              <a:ext cx="692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8FFE4"/>
                  </a:solidFill>
                  <a:latin typeface="Arial"/>
                  <a:ea typeface="Microsoft YaHei"/>
                  <a:cs typeface="Arial"/>
                </a:rPr>
                <a:t>Closed✓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429155" y="4367308"/>
              <a:ext cx="17217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A／ B／ C的 AC通過。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429155" y="4748308"/>
              <a:ext cx="32692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Project-wide DoD（所有 ticket共用）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619655" y="5015008"/>
              <a:ext cx="7490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PR已審查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6292" y="5015008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上線後檢查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619655" y="5272183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沒有超出範圍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36292" y="5272183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既有功能沒壞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477831" y="336956"/>
            <a:ext cx="11202201" cy="4316483"/>
            <a:chOff x="477831" y="336956"/>
            <a:chExt cx="11202201" cy="4316483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7343809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Sprint與 Kanban：固定節奏與持續拉票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2832830"/>
              <a:ext cx="5512594" cy="1427702"/>
            </a:xfrm>
            <a:prstGeom prst="roundRect">
              <a:avLst>
                <a:gd name="adj" fmla="val 934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6759" y="3110008"/>
              <a:ext cx="4943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Sprint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8186" y="3427666"/>
              <a:ext cx="136648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固定時間盒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4854" y="3816668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在固定週期內規劃與檢視一批工作。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167438" y="2832830"/>
              <a:ext cx="5512594" cy="1427702"/>
            </a:xfrm>
            <a:prstGeom prst="roundRect">
              <a:avLst>
                <a:gd name="adj" fmla="val 9340"/>
              </a:avLst>
            </a:prstGeom>
            <a:solidFill>
              <a:srgbClr val="122219"/>
            </a:solidFill>
            <a:ln w="9525">
              <a:solidFill>
                <a:srgbClr val="3E654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392228" y="3110008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本課：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92228" y="3276695"/>
              <a:ext cx="532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Kanban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3655" y="3427666"/>
              <a:ext cx="110194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持續拉票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90322" y="3816668"/>
              <a:ext cx="36671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工作持續流動；本例一次只做一張（WIP= 1）。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40913" y="4424839"/>
              <a:ext cx="71101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Kanban管工作流動，不限定票型； User Story起源於 XP， Scrum／ Kanban都不要求固定格式。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987457" y="2542699"/>
            <a:ext cx="10787664" cy="2077117"/>
            <a:chOff x="987457" y="2542699"/>
            <a:chExt cx="10787664" cy="2077117"/>
          </a:xfrm>
        </p:grpSpPr>
        <p:sp>
          <p:nvSpPr>
            <p:cNvPr id="3" name="TextBox 3"/>
            <p:cNvSpPr txBox="1"/>
            <p:nvPr/>
          </p:nvSpPr>
          <p:spPr>
            <a:xfrm>
              <a:off x="987457" y="2542699"/>
              <a:ext cx="1676918" cy="17556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40" b="1" dirty="0">
                  <a:solidFill>
                    <a:srgbClr val="42556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8417" y="3572066"/>
              <a:ext cx="10726704" cy="780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84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第二段｜工作記錄在哪裡： Git與 GitHub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72801" y="4229672"/>
              <a:ext cx="5376672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20" dirty="0">
                  <a:solidFill>
                    <a:srgbClr val="CAD5E2"/>
                  </a:solidFill>
                  <a:latin typeface="Arial"/>
                  <a:ea typeface="Microsoft YaHei"/>
                  <a:cs typeface="Arial"/>
                </a:rPr>
                <a:t>第一段的每一步，實際上落在什麼工具上？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477831" y="336956"/>
            <a:ext cx="10047294" cy="4559370"/>
            <a:chOff x="477831" y="336956"/>
            <a:chExt cx="10047294" cy="4559370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2438491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Git與 GitHub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666875" y="2554224"/>
              <a:ext cx="4000500" cy="2342102"/>
            </a:xfrm>
            <a:prstGeom prst="roundRect">
              <a:avLst>
                <a:gd name="adj" fmla="val 650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484650" y="2867596"/>
              <a:ext cx="36476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◷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459949" y="3558635"/>
              <a:ext cx="41416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Git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301365" y="3938111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版本紀錄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305175" y="4248626"/>
              <a:ext cx="723900" cy="400050"/>
            </a:xfrm>
            <a:prstGeom prst="roundRect">
              <a:avLst>
                <a:gd name="adj" fmla="val 21429"/>
              </a:avLst>
            </a:prstGeom>
            <a:solidFill>
              <a:srgbClr val="1B2B3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375850" y="4366736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存檔點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94903" y="3568160"/>
              <a:ext cx="40219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524625" y="2554224"/>
              <a:ext cx="4000500" cy="2342102"/>
            </a:xfrm>
            <a:prstGeom prst="roundRect">
              <a:avLst>
                <a:gd name="adj" fmla="val 650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42400" y="2867596"/>
              <a:ext cx="36476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99459" y="3558635"/>
              <a:ext cx="85064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GitHub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08595" y="3938111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共享與審查的平台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705725" y="4248626"/>
              <a:ext cx="1638300" cy="400050"/>
            </a:xfrm>
            <a:prstGeom prst="roundRect">
              <a:avLst>
                <a:gd name="adj" fmla="val 21429"/>
              </a:avLst>
            </a:prstGeom>
            <a:solidFill>
              <a:srgbClr val="1B2B3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81531" y="4366736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共享資料夾＋審查室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477831" y="336956"/>
            <a:ext cx="10142544" cy="5257648"/>
            <a:chOff x="477831" y="336956"/>
            <a:chExt cx="10142544" cy="5257648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8601054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Issue： Goal是 parent， ticket是 sub-issue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571625" y="1856042"/>
              <a:ext cx="9048750" cy="3738562"/>
            </a:xfrm>
            <a:prstGeom prst="roundRect">
              <a:avLst>
                <a:gd name="adj" fmla="val 356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1581150" y="1865567"/>
              <a:ext cx="9029700" cy="390525"/>
            </a:xfrm>
            <a:prstGeom prst="rect">
              <a:avLst/>
            </a:prstGeom>
            <a:solidFill>
              <a:srgbClr val="0F1720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1581150" y="2256092"/>
              <a:ext cx="9029700" cy="9525"/>
            </a:xfrm>
            <a:custGeom>
              <a:avLst/>
              <a:gdLst/>
              <a:ahLst/>
              <a:cxnLst/>
              <a:rect l="l" t="t" r="r" b="b"/>
              <a:pathLst>
                <a:path w="9029700" h="9525">
                  <a:moveTo>
                    <a:pt x="0" y="0"/>
                  </a:moveTo>
                  <a:lnTo>
                    <a:pt x="90297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39265" y="1980819"/>
              <a:ext cx="10924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GitHub· Issues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716643" y="1980819"/>
              <a:ext cx="8011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Goal / Epic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981200" y="2427542"/>
              <a:ext cx="8229600" cy="1128712"/>
            </a:xfrm>
            <a:prstGeom prst="roundRect">
              <a:avLst>
                <a:gd name="adj" fmla="val 7595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29790" y="2609469"/>
              <a:ext cx="532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Parent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29790" y="2776157"/>
              <a:ext cx="4100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issue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19312" y="2863310"/>
              <a:ext cx="206037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互相喜歡才配對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27885" y="3207639"/>
              <a:ext cx="28083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Goal說明底下 tickets為什麼存在。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81200" y="3680079"/>
              <a:ext cx="8229600" cy="1714500"/>
            </a:xfrm>
            <a:prstGeom prst="roundRect">
              <a:avLst>
                <a:gd name="adj" fmla="val 5000"/>
              </a:avLst>
            </a:prstGeom>
            <a:solidFill>
              <a:srgbClr val="0E1721"/>
            </a:solidFill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89785" y="3826764"/>
              <a:ext cx="9966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Sub-issues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05025" y="4089654"/>
              <a:ext cx="7981950" cy="361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2105025" y="4089654"/>
              <a:ext cx="7981950" cy="9525"/>
            </a:xfrm>
            <a:custGeom>
              <a:avLst/>
              <a:gdLst/>
              <a:ahLst/>
              <a:cxnLst/>
              <a:rect l="l" t="t" r="r" b="b"/>
              <a:pathLst>
                <a:path w="7981950" h="9525">
                  <a:moveTo>
                    <a:pt x="0" y="0"/>
                  </a:moveTo>
                  <a:lnTo>
                    <a:pt x="79819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175510" y="4193476"/>
              <a:ext cx="1794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37485" y="4193476"/>
              <a:ext cx="10334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105025" y="4499229"/>
              <a:ext cx="7981950" cy="361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2105025" y="4499229"/>
              <a:ext cx="7981950" cy="9525"/>
            </a:xfrm>
            <a:custGeom>
              <a:avLst/>
              <a:gdLst/>
              <a:ahLst/>
              <a:cxnLst/>
              <a:rect l="l" t="t" r="r" b="b"/>
              <a:pathLst>
                <a:path w="7981950" h="9525">
                  <a:moveTo>
                    <a:pt x="0" y="0"/>
                  </a:moveTo>
                  <a:lnTo>
                    <a:pt x="79819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75510" y="4603052"/>
              <a:ext cx="223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37485" y="4603052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105025" y="4908804"/>
              <a:ext cx="7981950" cy="361950"/>
            </a:xfrm>
            <a:prstGeom prst="roundRect">
              <a:avLst>
                <a:gd name="adj" fmla="val 15789"/>
              </a:avLst>
            </a:prstGeom>
            <a:solidFill>
              <a:srgbClr val="17283B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2105025" y="4908804"/>
              <a:ext cx="7981950" cy="9525"/>
            </a:xfrm>
            <a:custGeom>
              <a:avLst/>
              <a:gdLst/>
              <a:ahLst/>
              <a:cxnLst/>
              <a:rect l="l" t="t" r="r" b="b"/>
              <a:pathLst>
                <a:path w="7981950" h="9525">
                  <a:moveTo>
                    <a:pt x="0" y="0"/>
                  </a:moveTo>
                  <a:lnTo>
                    <a:pt x="79819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75510" y="5012626"/>
              <a:ext cx="223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37485" y="5012626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76410" y="5012626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本課範例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477831" y="336956"/>
            <a:ext cx="9618669" cy="4869504"/>
            <a:chOff x="477831" y="336956"/>
            <a:chExt cx="9618669" cy="4869504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3139251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Feature branch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2002155" y="2931890"/>
              <a:ext cx="8094345" cy="2274570"/>
              <a:chOff x="2002155" y="2931890"/>
              <a:chExt cx="8094345" cy="2274570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2002155" y="2931890"/>
                <a:ext cx="4582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3BCFF"/>
                    </a:solidFill>
                    <a:latin typeface="Inter"/>
                    <a:ea typeface="Microsoft JhengHei"/>
                    <a:cs typeface="Inter"/>
                  </a:rPr>
                  <a:t>main</a:t>
                </a:r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2857500" y="3391948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85725" cap="rnd">
                <a:solidFill>
                  <a:srgbClr val="49627E"/>
                </a:solidFill>
                <a:round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5048250" y="3391948"/>
                <a:ext cx="4238625" cy="1190625"/>
              </a:xfrm>
              <a:custGeom>
                <a:avLst/>
                <a:gdLst/>
                <a:ahLst/>
                <a:cxnLst/>
                <a:rect l="l" t="t" r="r" b="b"/>
                <a:pathLst>
                  <a:path w="4238625" h="1190625">
                    <a:moveTo>
                      <a:pt x="0" y="0"/>
                    </a:moveTo>
                    <a:lnTo>
                      <a:pt x="0" y="1190625"/>
                    </a:lnTo>
                    <a:lnTo>
                      <a:pt x="4238625" y="1190625"/>
                    </a:lnTo>
                  </a:path>
                </a:pathLst>
              </a:custGeom>
              <a:noFill/>
              <a:ln w="85725" cap="rnd">
                <a:solidFill>
                  <a:srgbClr val="8465A8"/>
                </a:solidFill>
                <a:round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3038475" y="3287173"/>
                <a:ext cx="209550" cy="209550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4933950" y="3277648"/>
                <a:ext cx="228600" cy="228600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181850" y="3287173"/>
                <a:ext cx="209550" cy="209550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9467850" y="3287173"/>
                <a:ext cx="209550" cy="209550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6657975" y="4477798"/>
                <a:ext cx="209550" cy="209550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8705850" y="4477798"/>
                <a:ext cx="209550" cy="209550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5537954" y="4932140"/>
                <a:ext cx="244959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C8A2FF"/>
                    </a:solidFill>
                    <a:latin typeface="Inter"/>
                    <a:ea typeface="Microsoft JhengHei"/>
                    <a:cs typeface="Inter"/>
                  </a:rPr>
                  <a:t>feature/3-mutual-match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462212" y="3842004"/>
                <a:ext cx="218509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AAB7C6"/>
                    </a:solidFill>
                    <a:latin typeface="Inter"/>
                    <a:ea typeface="Microsoft JhengHei"/>
                    <a:cs typeface="Inter"/>
                  </a:rPr>
                  <a:t>從 main 的 commit</a:t>
                </a:r>
                <a:r>
                  <a:rPr lang="zh-CN" sz="1125" b="1" dirty="0">
                    <a:solidFill>
                      <a:srgbClr val="AAB7C6"/>
                    </a:solidFill>
                    <a:latin typeface="Inter"/>
                    <a:ea typeface="Microsoft JhengHei"/>
                    <a:cs typeface="Inter"/>
                  </a:rPr>
                  <a:t>分出一份</a:t>
                </a: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477831" y="336956"/>
            <a:ext cx="10380669" cy="4364679"/>
            <a:chOff x="477831" y="336956"/>
            <a:chExt cx="10380669" cy="4364679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1490405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Commit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44378" y="2769013"/>
              <a:ext cx="36979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B0F2"/>
                  </a:solidFill>
                  <a:latin typeface="Arial"/>
                  <a:ea typeface="Microsoft YaHei"/>
                  <a:cs typeface="Arial"/>
                </a:rPr>
                <a:t>feature/3-mutual-match·按「存一版」留下節點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2095500" y="3053810"/>
              <a:ext cx="8001000" cy="76200"/>
            </a:xfrm>
            <a:prstGeom prst="roundRect">
              <a:avLst>
                <a:gd name="adj" fmla="val 50000"/>
              </a:avLst>
            </a:prstGeom>
            <a:solidFill>
              <a:srgbClr val="4A607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095500" y="2958560"/>
              <a:ext cx="266700" cy="266700"/>
            </a:xfrm>
            <a:prstGeom prst="roundRect">
              <a:avLst>
                <a:gd name="adj" fmla="val 50000"/>
              </a:avLst>
            </a:prstGeom>
            <a:solidFill>
              <a:srgbClr val="83BCFF"/>
            </a:solidFill>
            <a:ln w="47625">
              <a:solidFill>
                <a:srgbClr val="0B111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962650" y="2958560"/>
              <a:ext cx="266700" cy="266700"/>
            </a:xfrm>
            <a:prstGeom prst="roundRect">
              <a:avLst>
                <a:gd name="adj" fmla="val 50000"/>
              </a:avLst>
            </a:prstGeom>
            <a:solidFill>
              <a:srgbClr val="83BCFF"/>
            </a:solidFill>
            <a:ln w="47625">
              <a:solidFill>
                <a:srgbClr val="0B111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829800" y="2958560"/>
              <a:ext cx="266700" cy="266700"/>
            </a:xfrm>
            <a:prstGeom prst="roundRect">
              <a:avLst>
                <a:gd name="adj" fmla="val 50000"/>
              </a:avLst>
            </a:prstGeom>
            <a:solidFill>
              <a:srgbClr val="83BCFF"/>
            </a:solidFill>
            <a:ln w="47625">
              <a:solidFill>
                <a:srgbClr val="0B111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77365" y="348338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3DFED"/>
                  </a:solidFill>
                  <a:latin typeface="Arial"/>
                  <a:ea typeface="Microsoft YaHei"/>
                  <a:cs typeface="Arial"/>
                </a:rPr>
                <a:t>版本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7365" y="3650075"/>
              <a:ext cx="726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3DFED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73877" y="3483388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3DFED"/>
                  </a:solidFill>
                  <a:latin typeface="Arial"/>
                  <a:ea typeface="Microsoft YaHei"/>
                  <a:cs typeface="Arial"/>
                </a:rPr>
                <a:t>版本 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96868" y="3483388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3DFED"/>
                  </a:solidFill>
                  <a:latin typeface="Arial"/>
                  <a:ea typeface="Microsoft YaHei"/>
                  <a:cs typeface="Arial"/>
                </a:rPr>
                <a:t>版本 3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333500" y="4187285"/>
              <a:ext cx="9525000" cy="514350"/>
            </a:xfrm>
            <a:prstGeom prst="roundRect">
              <a:avLst>
                <a:gd name="adj" fmla="val 18519"/>
              </a:avLst>
            </a:prstGeom>
            <a:solidFill>
              <a:srgbClr val="251719"/>
            </a:solidFill>
            <a:ln w="9525">
              <a:solidFill>
                <a:srgbClr val="8A586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99610" y="436254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未存的修改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75910" y="4362545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4BCC0"/>
                  </a:solidFill>
                  <a:latin typeface="Arial"/>
                  <a:ea typeface="Microsoft YaHei"/>
                  <a:cs typeface="Arial"/>
                </a:rPr>
                <a:t>不會自動存，也看不到、回不去。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477831" y="336956"/>
            <a:ext cx="10325424" cy="4471836"/>
            <a:chOff x="477831" y="336956"/>
            <a:chExt cx="10325424" cy="4471836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2479713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Pull Request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428750" y="2641854"/>
              <a:ext cx="9334500" cy="2166938"/>
            </a:xfrm>
            <a:prstGeom prst="roundRect">
              <a:avLst>
                <a:gd name="adj" fmla="val 6154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1438275" y="2651379"/>
              <a:ext cx="9315450" cy="390525"/>
            </a:xfrm>
            <a:prstGeom prst="rect">
              <a:avLst/>
            </a:prstGeom>
            <a:solidFill>
              <a:srgbClr val="0F1720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1438275" y="3041904"/>
              <a:ext cx="9315450" cy="9525"/>
            </a:xfrm>
            <a:custGeom>
              <a:avLst/>
              <a:gdLst/>
              <a:ahLst/>
              <a:cxnLst/>
              <a:rect l="l" t="t" r="r" b="b"/>
              <a:pathLst>
                <a:path w="9315450" h="9525">
                  <a:moveTo>
                    <a:pt x="0" y="0"/>
                  </a:moveTo>
                  <a:lnTo>
                    <a:pt x="93154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96390" y="2766632"/>
              <a:ext cx="4943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GitHub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534430" y="2766632"/>
              <a:ext cx="1268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Pull requests / 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24012" y="3249073"/>
              <a:ext cx="283672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 Open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34490" y="3676269"/>
              <a:ext cx="23652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feature/3-mutual-match→ main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47825" y="3989642"/>
              <a:ext cx="2901887" cy="619125"/>
            </a:xfrm>
            <a:prstGeom prst="roundRect">
              <a:avLst>
                <a:gd name="adj" fmla="val 12308"/>
              </a:avLst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58315" y="4095369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CFDB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58315" y="4352544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差異與範圍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44962" y="3989642"/>
              <a:ext cx="2901982" cy="619125"/>
            </a:xfrm>
            <a:prstGeom prst="roundRect">
              <a:avLst>
                <a:gd name="adj" fmla="val 12308"/>
              </a:avLst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55452" y="4095369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CFDB"/>
                  </a:solidFill>
                  <a:latin typeface="Arial"/>
                  <a:ea typeface="Microsoft YaHei"/>
                  <a:cs typeface="Arial"/>
                </a:rPr>
                <a:t>Discussion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5452" y="4352544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問題與回覆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42193" y="3989642"/>
              <a:ext cx="2901982" cy="619125"/>
            </a:xfrm>
            <a:prstGeom prst="roundRect">
              <a:avLst>
                <a:gd name="adj" fmla="val 12308"/>
              </a:avLst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52683" y="4095369"/>
              <a:ext cx="694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CFDB"/>
                  </a:solidFill>
                  <a:latin typeface="Arial"/>
                  <a:ea typeface="Microsoft YaHei"/>
                  <a:cs typeface="Arial"/>
                </a:rPr>
                <a:t>Evidence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52683" y="4352544"/>
              <a:ext cx="5020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AC驗證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477831" y="336956"/>
            <a:ext cx="9778692" cy="5336229"/>
            <a:chOff x="477831" y="336956"/>
            <a:chExt cx="9778692" cy="5336229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1284299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Merge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002155" y="2741390"/>
              <a:ext cx="8254368" cy="2274570"/>
              <a:chOff x="2002155" y="2741390"/>
              <a:chExt cx="8254368" cy="2274570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2002155" y="2741390"/>
                <a:ext cx="4582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3BCFF"/>
                    </a:solidFill>
                    <a:latin typeface="Inter"/>
                    <a:ea typeface="Microsoft JhengHei"/>
                    <a:cs typeface="Inter"/>
                  </a:rPr>
                  <a:t>main</a:t>
                </a:r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2857500" y="3201448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85725" cap="rnd">
                <a:solidFill>
                  <a:srgbClr val="49627E"/>
                </a:solidFill>
                <a:round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4810125" y="3201448"/>
                <a:ext cx="4048125" cy="1190625"/>
              </a:xfrm>
              <a:custGeom>
                <a:avLst/>
                <a:gdLst/>
                <a:ahLst/>
                <a:cxnLst/>
                <a:rect l="l" t="t" r="r" b="b"/>
                <a:pathLst>
                  <a:path w="4048125" h="1190625">
                    <a:moveTo>
                      <a:pt x="0" y="0"/>
                    </a:moveTo>
                    <a:lnTo>
                      <a:pt x="0" y="1190625"/>
                    </a:lnTo>
                    <a:lnTo>
                      <a:pt x="2714625" y="1190625"/>
                    </a:lnTo>
                    <a:cubicBezTo>
                      <a:pt x="3524250" y="1190625"/>
                      <a:pt x="4048125" y="714375"/>
                      <a:pt x="4048125" y="0"/>
                    </a:cubicBezTo>
                  </a:path>
                </a:pathLst>
              </a:custGeom>
              <a:noFill/>
              <a:ln w="85725" cap="rnd">
                <a:solidFill>
                  <a:srgbClr val="8465A8"/>
                </a:solidFill>
                <a:round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3038475" y="3096673"/>
                <a:ext cx="209550" cy="209550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4695825" y="3087148"/>
                <a:ext cx="228600" cy="228600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6562725" y="3096673"/>
                <a:ext cx="209550" cy="209550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8734425" y="3077623"/>
                <a:ext cx="247650" cy="247650"/>
              </a:xfrm>
              <a:prstGeom prst="ellipse">
                <a:avLst/>
              </a:prstGeom>
              <a:solidFill>
                <a:srgbClr val="83DDA7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9801225" y="3096673"/>
                <a:ext cx="209550" cy="209550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5991225" y="4287298"/>
                <a:ext cx="209550" cy="209550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7419975" y="4287298"/>
                <a:ext cx="209550" cy="209550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871204" y="4741640"/>
                <a:ext cx="244959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C8A2FF"/>
                    </a:solidFill>
                    <a:latin typeface="Inter"/>
                    <a:ea typeface="Microsoft JhengHei"/>
                    <a:cs typeface="Inter"/>
                  </a:rPr>
                  <a:t>feature/3-mutual-match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60227" y="3651504"/>
                <a:ext cx="79629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83DDA7"/>
                    </a:solidFill>
                    <a:latin typeface="Inter"/>
                    <a:ea typeface="Microsoft JhengHei"/>
                    <a:cs typeface="Inter"/>
                  </a:rPr>
                  <a:t>合回 main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082540" y="5459825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審過後合回正本；舊版仍可回復。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37" name="Group 137"/>
          <p:cNvGrpSpPr/>
          <p:nvPr/>
        </p:nvGrpSpPr>
        <p:grpSpPr>
          <a:xfrm>
            <a:off x="477831" y="336956"/>
            <a:ext cx="11602536" cy="6335306"/>
            <a:chOff x="477831" y="336956"/>
            <a:chExt cx="11602536" cy="6335306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3098030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流程對照 GitHub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1541717"/>
              <a:ext cx="11168062" cy="3900488"/>
            </a:xfrm>
            <a:prstGeom prst="roundRect">
              <a:avLst>
                <a:gd name="adj" fmla="val 2442"/>
              </a:avLst>
            </a:prstGeom>
            <a:solidFill>
              <a:srgbClr val="101821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521494" y="1551242"/>
              <a:ext cx="3716274" cy="30956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4237768" y="1551242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21494" y="1860804"/>
              <a:ext cx="3716274" cy="9525"/>
            </a:xfrm>
            <a:custGeom>
              <a:avLst/>
              <a:gdLst/>
              <a:ahLst/>
              <a:cxnLst/>
              <a:rect l="l" t="t" r="r" b="b"/>
              <a:pathLst>
                <a:path w="3716274" h="9525">
                  <a:moveTo>
                    <a:pt x="0" y="0"/>
                  </a:moveTo>
                  <a:lnTo>
                    <a:pt x="3716274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3409" y="1637919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AF2FA"/>
                  </a:solidFill>
                  <a:latin typeface="Arial"/>
                  <a:ea typeface="Microsoft YaHei"/>
                  <a:cs typeface="Arial"/>
                </a:rPr>
                <a:t>概念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237768" y="1551242"/>
              <a:ext cx="3716274" cy="30956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7953946" y="1551242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237768" y="1860804"/>
              <a:ext cx="3716179" cy="9525"/>
            </a:xfrm>
            <a:custGeom>
              <a:avLst/>
              <a:gdLst/>
              <a:ahLst/>
              <a:cxnLst/>
              <a:rect l="l" t="t" r="r" b="b"/>
              <a:pathLst>
                <a:path w="3716179" h="9525">
                  <a:moveTo>
                    <a:pt x="0" y="0"/>
                  </a:moveTo>
                  <a:lnTo>
                    <a:pt x="371617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319683" y="1637919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AF2FA"/>
                  </a:solidFill>
                  <a:latin typeface="Arial"/>
                  <a:ea typeface="Microsoft YaHei"/>
                  <a:cs typeface="Arial"/>
                </a:rPr>
                <a:t>GitHub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953946" y="1551242"/>
              <a:ext cx="3716560" cy="30956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7953946" y="1860804"/>
              <a:ext cx="3716560" cy="9525"/>
            </a:xfrm>
            <a:custGeom>
              <a:avLst/>
              <a:gdLst/>
              <a:ahLst/>
              <a:cxnLst/>
              <a:rect l="l" t="t" r="r" b="b"/>
              <a:pathLst>
                <a:path w="3716560" h="9525">
                  <a:moveTo>
                    <a:pt x="0" y="0"/>
                  </a:moveTo>
                  <a:lnTo>
                    <a:pt x="371656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5862" y="1637919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AF2FA"/>
                  </a:solidFill>
                  <a:latin typeface="Arial"/>
                  <a:ea typeface="Microsoft YaHei"/>
                  <a:cs typeface="Arial"/>
                </a:rPr>
                <a:t>看板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21494" y="1860804"/>
              <a:ext cx="3716274" cy="30956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37768" y="1860804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21494" y="2170366"/>
              <a:ext cx="3716274" cy="9525"/>
            </a:xfrm>
            <a:custGeom>
              <a:avLst/>
              <a:gdLst/>
              <a:ahLst/>
              <a:cxnLst/>
              <a:rect l="l" t="t" r="r" b="b"/>
              <a:pathLst>
                <a:path w="3716274" h="9525">
                  <a:moveTo>
                    <a:pt x="0" y="0"/>
                  </a:moveTo>
                  <a:lnTo>
                    <a:pt x="3716274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409" y="1947482"/>
              <a:ext cx="984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Goal（大票）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37768" y="1860804"/>
              <a:ext cx="3716274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7953946" y="1860804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237768" y="2170366"/>
              <a:ext cx="3716179" cy="9525"/>
            </a:xfrm>
            <a:custGeom>
              <a:avLst/>
              <a:gdLst/>
              <a:ahLst/>
              <a:cxnLst/>
              <a:rect l="l" t="t" r="r" b="b"/>
              <a:pathLst>
                <a:path w="3716179" h="9525">
                  <a:moveTo>
                    <a:pt x="0" y="0"/>
                  </a:moveTo>
                  <a:lnTo>
                    <a:pt x="371617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19683" y="1947482"/>
              <a:ext cx="1567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parent issue（Epic）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953946" y="1860804"/>
              <a:ext cx="3716560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7953946" y="2170366"/>
              <a:ext cx="3716560" cy="9525"/>
            </a:xfrm>
            <a:custGeom>
              <a:avLst/>
              <a:gdLst/>
              <a:ahLst/>
              <a:cxnLst/>
              <a:rect l="l" t="t" r="r" b="b"/>
              <a:pathLst>
                <a:path w="3716560" h="9525">
                  <a:moveTo>
                    <a:pt x="0" y="0"/>
                  </a:moveTo>
                  <a:lnTo>
                    <a:pt x="371656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35862" y="194748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泳道標題，不佔欄位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21494" y="2170366"/>
              <a:ext cx="3716274" cy="30956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4237768" y="2170366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521494" y="2479929"/>
              <a:ext cx="3716274" cy="9525"/>
            </a:xfrm>
            <a:custGeom>
              <a:avLst/>
              <a:gdLst/>
              <a:ahLst/>
              <a:cxnLst/>
              <a:rect l="l" t="t" r="r" b="b"/>
              <a:pathLst>
                <a:path w="3716274" h="9525">
                  <a:moveTo>
                    <a:pt x="0" y="0"/>
                  </a:moveTo>
                  <a:lnTo>
                    <a:pt x="3716274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3409" y="2257044"/>
              <a:ext cx="11618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Ticket（子票）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237768" y="2170366"/>
              <a:ext cx="3716274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7953946" y="2170366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4237768" y="2479929"/>
              <a:ext cx="3716179" cy="9525"/>
            </a:xfrm>
            <a:custGeom>
              <a:avLst/>
              <a:gdLst/>
              <a:ahLst/>
              <a:cxnLst/>
              <a:rect l="l" t="t" r="r" b="b"/>
              <a:pathLst>
                <a:path w="3716179" h="9525">
                  <a:moveTo>
                    <a:pt x="0" y="0"/>
                  </a:moveTo>
                  <a:lnTo>
                    <a:pt x="371617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319683" y="2257044"/>
              <a:ext cx="747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sub-issue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953946" y="2170366"/>
              <a:ext cx="3716560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7953946" y="2479929"/>
              <a:ext cx="3716560" cy="9525"/>
            </a:xfrm>
            <a:custGeom>
              <a:avLst/>
              <a:gdLst/>
              <a:ahLst/>
              <a:cxnLst/>
              <a:rect l="l" t="t" r="r" b="b"/>
              <a:pathLst>
                <a:path w="3716560" h="9525">
                  <a:moveTo>
                    <a:pt x="0" y="0"/>
                  </a:moveTo>
                  <a:lnTo>
                    <a:pt x="371656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35862" y="2257044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卡片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21494" y="2479929"/>
              <a:ext cx="3716274" cy="30956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4237768" y="2479929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521494" y="2789492"/>
              <a:ext cx="3716274" cy="9525"/>
            </a:xfrm>
            <a:custGeom>
              <a:avLst/>
              <a:gdLst/>
              <a:ahLst/>
              <a:cxnLst/>
              <a:rect l="l" t="t" r="r" b="b"/>
              <a:pathLst>
                <a:path w="3716274" h="9525">
                  <a:moveTo>
                    <a:pt x="0" y="0"/>
                  </a:moveTo>
                  <a:lnTo>
                    <a:pt x="3716274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3409" y="2566607"/>
              <a:ext cx="15805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Brainstorming→ Goal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237768" y="2479929"/>
              <a:ext cx="3716274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7953946" y="2479929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4237768" y="2789492"/>
              <a:ext cx="3716179" cy="9525"/>
            </a:xfrm>
            <a:custGeom>
              <a:avLst/>
              <a:gdLst/>
              <a:ahLst/>
              <a:cxnLst/>
              <a:rect l="l" t="t" r="r" b="b"/>
              <a:pathLst>
                <a:path w="3716179" h="9525">
                  <a:moveTo>
                    <a:pt x="0" y="0"/>
                  </a:moveTo>
                  <a:lnTo>
                    <a:pt x="371617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319683" y="2566607"/>
              <a:ext cx="11614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開 parent issue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953946" y="2479929"/>
              <a:ext cx="3716560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7" name="Line 47"/>
            <p:cNvSpPr/>
            <p:nvPr/>
          </p:nvSpPr>
          <p:spPr>
            <a:xfrm>
              <a:off x="7953946" y="2789492"/>
              <a:ext cx="3716560" cy="9525"/>
            </a:xfrm>
            <a:custGeom>
              <a:avLst/>
              <a:gdLst/>
              <a:ahLst/>
              <a:cxnLst/>
              <a:rect l="l" t="t" r="r" b="b"/>
              <a:pathLst>
                <a:path w="3716560" h="9525">
                  <a:moveTo>
                    <a:pt x="0" y="0"/>
                  </a:moveTo>
                  <a:lnTo>
                    <a:pt x="371656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35862" y="2566607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21494" y="2789492"/>
              <a:ext cx="3716274" cy="30956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4237768" y="2789492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521494" y="3099054"/>
              <a:ext cx="3716274" cy="9525"/>
            </a:xfrm>
            <a:custGeom>
              <a:avLst/>
              <a:gdLst/>
              <a:ahLst/>
              <a:cxnLst/>
              <a:rect l="l" t="t" r="r" b="b"/>
              <a:pathLst>
                <a:path w="3716274" h="9525">
                  <a:moveTo>
                    <a:pt x="0" y="0"/>
                  </a:moveTo>
                  <a:lnTo>
                    <a:pt x="3716274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3409" y="2876169"/>
              <a:ext cx="2208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Ticket Refinement / Backlog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237768" y="2789492"/>
              <a:ext cx="3716274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7953946" y="2789492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4237768" y="3099054"/>
              <a:ext cx="3716179" cy="9525"/>
            </a:xfrm>
            <a:custGeom>
              <a:avLst/>
              <a:gdLst/>
              <a:ahLst/>
              <a:cxnLst/>
              <a:rect l="l" t="t" r="r" b="b"/>
              <a:pathLst>
                <a:path w="3716179" h="9525">
                  <a:moveTo>
                    <a:pt x="0" y="0"/>
                  </a:moveTo>
                  <a:lnTo>
                    <a:pt x="371617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319683" y="2876169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開 sub-issue、寫內容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953946" y="2789492"/>
              <a:ext cx="3716560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7953946" y="3099054"/>
              <a:ext cx="3716560" cy="9525"/>
            </a:xfrm>
            <a:custGeom>
              <a:avLst/>
              <a:gdLst/>
              <a:ahLst/>
              <a:cxnLst/>
              <a:rect l="l" t="t" r="r" b="b"/>
              <a:pathLst>
                <a:path w="3716560" h="9525">
                  <a:moveTo>
                    <a:pt x="0" y="0"/>
                  </a:moveTo>
                  <a:lnTo>
                    <a:pt x="371656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035862" y="2876169"/>
              <a:ext cx="5787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21494" y="3099054"/>
              <a:ext cx="3716274" cy="30956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61" name="Line 61"/>
            <p:cNvSpPr/>
            <p:nvPr/>
          </p:nvSpPr>
          <p:spPr>
            <a:xfrm>
              <a:off x="4237768" y="3099054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521494" y="3408616"/>
              <a:ext cx="3716274" cy="9525"/>
            </a:xfrm>
            <a:custGeom>
              <a:avLst/>
              <a:gdLst/>
              <a:ahLst/>
              <a:cxnLst/>
              <a:rect l="l" t="t" r="r" b="b"/>
              <a:pathLst>
                <a:path w="3716274" h="9525">
                  <a:moveTo>
                    <a:pt x="0" y="0"/>
                  </a:moveTo>
                  <a:lnTo>
                    <a:pt x="3716274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3409" y="318573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237768" y="3099054"/>
              <a:ext cx="3716274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7953946" y="3099054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4237768" y="3408616"/>
              <a:ext cx="3716179" cy="9525"/>
            </a:xfrm>
            <a:custGeom>
              <a:avLst/>
              <a:gdLst/>
              <a:ahLst/>
              <a:cxnLst/>
              <a:rect l="l" t="t" r="r" b="b"/>
              <a:pathLst>
                <a:path w="3716179" h="9525">
                  <a:moveTo>
                    <a:pt x="0" y="0"/>
                  </a:moveTo>
                  <a:lnTo>
                    <a:pt x="371617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319683" y="3185732"/>
              <a:ext cx="7550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Ready標記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953946" y="3099054"/>
              <a:ext cx="3716560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9" name="Line 69"/>
            <p:cNvSpPr/>
            <p:nvPr/>
          </p:nvSpPr>
          <p:spPr>
            <a:xfrm>
              <a:off x="7953946" y="3408616"/>
              <a:ext cx="3716560" cy="9525"/>
            </a:xfrm>
            <a:custGeom>
              <a:avLst/>
              <a:gdLst/>
              <a:ahLst/>
              <a:cxnLst/>
              <a:rect l="l" t="t" r="r" b="b"/>
              <a:pathLst>
                <a:path w="3716560" h="9525">
                  <a:moveTo>
                    <a:pt x="0" y="0"/>
                  </a:moveTo>
                  <a:lnTo>
                    <a:pt x="371656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035862" y="3185732"/>
              <a:ext cx="4483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21494" y="3408616"/>
              <a:ext cx="3716274" cy="30956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72" name="Line 72"/>
            <p:cNvSpPr/>
            <p:nvPr/>
          </p:nvSpPr>
          <p:spPr>
            <a:xfrm>
              <a:off x="4237768" y="3408616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521494" y="3718179"/>
              <a:ext cx="3716274" cy="9525"/>
            </a:xfrm>
            <a:custGeom>
              <a:avLst/>
              <a:gdLst/>
              <a:ahLst/>
              <a:cxnLst/>
              <a:rect l="l" t="t" r="r" b="b"/>
              <a:pathLst>
                <a:path w="3716274" h="9525">
                  <a:moveTo>
                    <a:pt x="0" y="0"/>
                  </a:moveTo>
                  <a:lnTo>
                    <a:pt x="3716274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03409" y="3495294"/>
              <a:ext cx="783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Developer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237768" y="3408616"/>
              <a:ext cx="3716274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6" name="Line 76"/>
            <p:cNvSpPr/>
            <p:nvPr/>
          </p:nvSpPr>
          <p:spPr>
            <a:xfrm>
              <a:off x="7953946" y="3408616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4237768" y="3718179"/>
              <a:ext cx="3716179" cy="9525"/>
            </a:xfrm>
            <a:custGeom>
              <a:avLst/>
              <a:gdLst/>
              <a:ahLst/>
              <a:cxnLst/>
              <a:rect l="l" t="t" r="r" b="b"/>
              <a:pathLst>
                <a:path w="3716179" h="9525">
                  <a:moveTo>
                    <a:pt x="0" y="0"/>
                  </a:moveTo>
                  <a:lnTo>
                    <a:pt x="371617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319683" y="3495294"/>
              <a:ext cx="12611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branch／ commit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953946" y="3408616"/>
              <a:ext cx="3716560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0" name="Line 80"/>
            <p:cNvSpPr/>
            <p:nvPr/>
          </p:nvSpPr>
          <p:spPr>
            <a:xfrm>
              <a:off x="7953946" y="3718179"/>
              <a:ext cx="3716560" cy="9525"/>
            </a:xfrm>
            <a:custGeom>
              <a:avLst/>
              <a:gdLst/>
              <a:ahLst/>
              <a:cxnLst/>
              <a:rect l="l" t="t" r="r" b="b"/>
              <a:pathLst>
                <a:path w="3716560" h="9525">
                  <a:moveTo>
                    <a:pt x="0" y="0"/>
                  </a:moveTo>
                  <a:lnTo>
                    <a:pt x="371656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035862" y="3495294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21494" y="3718179"/>
              <a:ext cx="3716274" cy="30956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83" name="Line 83"/>
            <p:cNvSpPr/>
            <p:nvPr/>
          </p:nvSpPr>
          <p:spPr>
            <a:xfrm>
              <a:off x="4237768" y="3718179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4" name="Line 84"/>
            <p:cNvSpPr/>
            <p:nvPr/>
          </p:nvSpPr>
          <p:spPr>
            <a:xfrm>
              <a:off x="521494" y="4027742"/>
              <a:ext cx="3716274" cy="9525"/>
            </a:xfrm>
            <a:custGeom>
              <a:avLst/>
              <a:gdLst/>
              <a:ahLst/>
              <a:cxnLst/>
              <a:rect l="l" t="t" r="r" b="b"/>
              <a:pathLst>
                <a:path w="3716274" h="9525">
                  <a:moveTo>
                    <a:pt x="0" y="0"/>
                  </a:moveTo>
                  <a:lnTo>
                    <a:pt x="3716274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03409" y="3804857"/>
              <a:ext cx="7754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PR Review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4237768" y="3718179"/>
              <a:ext cx="3716274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7" name="Line 87"/>
            <p:cNvSpPr/>
            <p:nvPr/>
          </p:nvSpPr>
          <p:spPr>
            <a:xfrm>
              <a:off x="7953946" y="3718179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8" name="Line 88"/>
            <p:cNvSpPr/>
            <p:nvPr/>
          </p:nvSpPr>
          <p:spPr>
            <a:xfrm>
              <a:off x="4237768" y="4027742"/>
              <a:ext cx="3716179" cy="9525"/>
            </a:xfrm>
            <a:custGeom>
              <a:avLst/>
              <a:gdLst/>
              <a:ahLst/>
              <a:cxnLst/>
              <a:rect l="l" t="t" r="r" b="b"/>
              <a:pathLst>
                <a:path w="3716179" h="9525">
                  <a:moveTo>
                    <a:pt x="0" y="0"/>
                  </a:moveTo>
                  <a:lnTo>
                    <a:pt x="371617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4319683" y="3804857"/>
              <a:ext cx="7397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PR review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7953946" y="3718179"/>
              <a:ext cx="3716560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1" name="Line 91"/>
            <p:cNvSpPr/>
            <p:nvPr/>
          </p:nvSpPr>
          <p:spPr>
            <a:xfrm>
              <a:off x="7953946" y="4027742"/>
              <a:ext cx="3716560" cy="9525"/>
            </a:xfrm>
            <a:custGeom>
              <a:avLst/>
              <a:gdLst/>
              <a:ahLst/>
              <a:cxnLst/>
              <a:rect l="l" t="t" r="r" b="b"/>
              <a:pathLst>
                <a:path w="3716560" h="9525">
                  <a:moveTo>
                    <a:pt x="0" y="0"/>
                  </a:moveTo>
                  <a:lnTo>
                    <a:pt x="371656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035862" y="3804857"/>
              <a:ext cx="525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521494" y="4027742"/>
              <a:ext cx="3716274" cy="30956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94" name="Line 94"/>
            <p:cNvSpPr/>
            <p:nvPr/>
          </p:nvSpPr>
          <p:spPr>
            <a:xfrm>
              <a:off x="4237768" y="4027742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5" name="Line 95"/>
            <p:cNvSpPr/>
            <p:nvPr/>
          </p:nvSpPr>
          <p:spPr>
            <a:xfrm>
              <a:off x="521494" y="4337304"/>
              <a:ext cx="3716274" cy="9525"/>
            </a:xfrm>
            <a:custGeom>
              <a:avLst/>
              <a:gdLst/>
              <a:ahLst/>
              <a:cxnLst/>
              <a:rect l="l" t="t" r="r" b="b"/>
              <a:pathLst>
                <a:path w="3716274" h="9525">
                  <a:moveTo>
                    <a:pt x="0" y="0"/>
                  </a:moveTo>
                  <a:lnTo>
                    <a:pt x="3716274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03409" y="4114419"/>
              <a:ext cx="1363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QA / Verification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4237768" y="4027742"/>
              <a:ext cx="3716274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8" name="Line 98"/>
            <p:cNvSpPr/>
            <p:nvPr/>
          </p:nvSpPr>
          <p:spPr>
            <a:xfrm>
              <a:off x="7953946" y="4027742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9" name="Line 99"/>
            <p:cNvSpPr/>
            <p:nvPr/>
          </p:nvSpPr>
          <p:spPr>
            <a:xfrm>
              <a:off x="4237768" y="4337304"/>
              <a:ext cx="3716179" cy="9525"/>
            </a:xfrm>
            <a:custGeom>
              <a:avLst/>
              <a:gdLst/>
              <a:ahLst/>
              <a:cxnLst/>
              <a:rect l="l" t="t" r="r" b="b"/>
              <a:pathLst>
                <a:path w="3716179" h="9525">
                  <a:moveTo>
                    <a:pt x="0" y="0"/>
                  </a:moveTo>
                  <a:lnTo>
                    <a:pt x="371617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4319683" y="4114419"/>
              <a:ext cx="11384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PR上的證據／ CI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7953946" y="4027742"/>
              <a:ext cx="3716560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2" name="Line 102"/>
            <p:cNvSpPr/>
            <p:nvPr/>
          </p:nvSpPr>
          <p:spPr>
            <a:xfrm>
              <a:off x="7953946" y="4337304"/>
              <a:ext cx="3716560" cy="9525"/>
            </a:xfrm>
            <a:custGeom>
              <a:avLst/>
              <a:gdLst/>
              <a:ahLst/>
              <a:cxnLst/>
              <a:rect l="l" t="t" r="r" b="b"/>
              <a:pathLst>
                <a:path w="3716560" h="9525">
                  <a:moveTo>
                    <a:pt x="0" y="0"/>
                  </a:moveTo>
                  <a:lnTo>
                    <a:pt x="371656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035862" y="4114419"/>
              <a:ext cx="226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521494" y="4337304"/>
              <a:ext cx="3716274" cy="30956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105" name="Line 105"/>
            <p:cNvSpPr/>
            <p:nvPr/>
          </p:nvSpPr>
          <p:spPr>
            <a:xfrm>
              <a:off x="4237768" y="4337304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521494" y="4646866"/>
              <a:ext cx="3716274" cy="9525"/>
            </a:xfrm>
            <a:custGeom>
              <a:avLst/>
              <a:gdLst/>
              <a:ahLst/>
              <a:cxnLst/>
              <a:rect l="l" t="t" r="r" b="b"/>
              <a:pathLst>
                <a:path w="3716274" h="9525">
                  <a:moveTo>
                    <a:pt x="0" y="0"/>
                  </a:moveTo>
                  <a:lnTo>
                    <a:pt x="3716274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03409" y="442398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Product / Goal Check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4237768" y="4337304"/>
              <a:ext cx="3716274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9" name="Line 109"/>
            <p:cNvSpPr/>
            <p:nvPr/>
          </p:nvSpPr>
          <p:spPr>
            <a:xfrm>
              <a:off x="7953946" y="4337304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4237768" y="4646866"/>
              <a:ext cx="3716179" cy="9525"/>
            </a:xfrm>
            <a:custGeom>
              <a:avLst/>
              <a:gdLst/>
              <a:ahLst/>
              <a:cxnLst/>
              <a:rect l="l" t="t" r="r" b="b"/>
              <a:pathLst>
                <a:path w="3716179" h="9525">
                  <a:moveTo>
                    <a:pt x="0" y="0"/>
                  </a:moveTo>
                  <a:lnTo>
                    <a:pt x="371617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4319683" y="4423982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對照 parent Goal；接受後 merge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7953946" y="4337304"/>
              <a:ext cx="3716560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3" name="Line 113"/>
            <p:cNvSpPr/>
            <p:nvPr/>
          </p:nvSpPr>
          <p:spPr>
            <a:xfrm>
              <a:off x="7953946" y="4646866"/>
              <a:ext cx="3716560" cy="9525"/>
            </a:xfrm>
            <a:custGeom>
              <a:avLst/>
              <a:gdLst/>
              <a:ahLst/>
              <a:cxnLst/>
              <a:rect l="l" t="t" r="r" b="b"/>
              <a:pathLst>
                <a:path w="3716560" h="9525">
                  <a:moveTo>
                    <a:pt x="0" y="0"/>
                  </a:moveTo>
                  <a:lnTo>
                    <a:pt x="371656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8035862" y="4423982"/>
              <a:ext cx="1084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521494" y="4646866"/>
              <a:ext cx="3716274" cy="476250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116" name="Line 116"/>
            <p:cNvSpPr/>
            <p:nvPr/>
          </p:nvSpPr>
          <p:spPr>
            <a:xfrm>
              <a:off x="4237768" y="4646866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7" name="Line 117"/>
            <p:cNvSpPr/>
            <p:nvPr/>
          </p:nvSpPr>
          <p:spPr>
            <a:xfrm>
              <a:off x="521494" y="5123116"/>
              <a:ext cx="3716274" cy="9525"/>
            </a:xfrm>
            <a:custGeom>
              <a:avLst/>
              <a:gdLst/>
              <a:ahLst/>
              <a:cxnLst/>
              <a:rect l="l" t="t" r="r" b="b"/>
              <a:pathLst>
                <a:path w="3716274" h="9525">
                  <a:moveTo>
                    <a:pt x="0" y="0"/>
                  </a:moveTo>
                  <a:lnTo>
                    <a:pt x="3716274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03409" y="4733544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退件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4237768" y="4646866"/>
              <a:ext cx="3716274" cy="4762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0" name="Line 120"/>
            <p:cNvSpPr/>
            <p:nvPr/>
          </p:nvSpPr>
          <p:spPr>
            <a:xfrm>
              <a:off x="7953946" y="4646866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21" name="Line 121"/>
            <p:cNvSpPr/>
            <p:nvPr/>
          </p:nvSpPr>
          <p:spPr>
            <a:xfrm>
              <a:off x="4237768" y="5123116"/>
              <a:ext cx="3716179" cy="9525"/>
            </a:xfrm>
            <a:custGeom>
              <a:avLst/>
              <a:gdLst/>
              <a:ahLst/>
              <a:cxnLst/>
              <a:rect l="l" t="t" r="r" b="b"/>
              <a:pathLst>
                <a:path w="3716179" h="9525">
                  <a:moveTo>
                    <a:pt x="0" y="0"/>
                  </a:moveTo>
                  <a:lnTo>
                    <a:pt x="371617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4319683" y="4733544"/>
              <a:ext cx="36994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PR Request changes； QA fail； Goal issue→ Ticket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4319683" y="490023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Refinement / Goal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7953946" y="4646866"/>
              <a:ext cx="3716560" cy="4762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5" name="Line 125"/>
            <p:cNvSpPr/>
            <p:nvPr/>
          </p:nvSpPr>
          <p:spPr>
            <a:xfrm>
              <a:off x="7953946" y="5123116"/>
              <a:ext cx="3716560" cy="9525"/>
            </a:xfrm>
            <a:custGeom>
              <a:avLst/>
              <a:gdLst/>
              <a:ahLst/>
              <a:cxnLst/>
              <a:rect l="l" t="t" r="r" b="b"/>
              <a:pathLst>
                <a:path w="3716560" h="9525">
                  <a:moveTo>
                    <a:pt x="0" y="0"/>
                  </a:moveTo>
                  <a:lnTo>
                    <a:pt x="371656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8035862" y="4733544"/>
              <a:ext cx="40445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Review／ QA→ Dev； Product Check→ Ticket Refinement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8035862" y="4900232"/>
              <a:ext cx="4560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/ Goal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521494" y="5123116"/>
              <a:ext cx="3716274" cy="30956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129" name="Line 129"/>
            <p:cNvSpPr/>
            <p:nvPr/>
          </p:nvSpPr>
          <p:spPr>
            <a:xfrm>
              <a:off x="4237768" y="5123116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30" name="Line 130"/>
            <p:cNvSpPr/>
            <p:nvPr/>
          </p:nvSpPr>
          <p:spPr>
            <a:xfrm>
              <a:off x="521494" y="5432679"/>
              <a:ext cx="3716274" cy="9525"/>
            </a:xfrm>
            <a:custGeom>
              <a:avLst/>
              <a:gdLst/>
              <a:ahLst/>
              <a:cxnLst/>
              <a:rect l="l" t="t" r="r" b="b"/>
              <a:pathLst>
                <a:path w="3716274" h="9525">
                  <a:moveTo>
                    <a:pt x="0" y="0"/>
                  </a:moveTo>
                  <a:lnTo>
                    <a:pt x="3716274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603409" y="5209794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4237768" y="5123116"/>
              <a:ext cx="3716274" cy="3095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3" name="Line 133"/>
            <p:cNvSpPr/>
            <p:nvPr/>
          </p:nvSpPr>
          <p:spPr>
            <a:xfrm>
              <a:off x="7953946" y="5123116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4319683" y="5209794"/>
              <a:ext cx="10541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sub-issue關閉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8035862" y="5209794"/>
              <a:ext cx="3640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3931896" y="6458902"/>
              <a:ext cx="43282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changed≠ committed≠ pushed≠ merged≠ deployed≠ verified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987457" y="2542699"/>
            <a:ext cx="9021044" cy="2077117"/>
            <a:chOff x="987457" y="2542699"/>
            <a:chExt cx="9021044" cy="2077117"/>
          </a:xfrm>
        </p:grpSpPr>
        <p:sp>
          <p:nvSpPr>
            <p:cNvPr id="3" name="TextBox 3"/>
            <p:cNvSpPr txBox="1"/>
            <p:nvPr/>
          </p:nvSpPr>
          <p:spPr>
            <a:xfrm>
              <a:off x="987457" y="2542699"/>
              <a:ext cx="1676918" cy="17556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40" b="1" dirty="0">
                  <a:solidFill>
                    <a:srgbClr val="42556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8417" y="3572066"/>
              <a:ext cx="8960084" cy="780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84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第三段｜把同一條流程交給 Agent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72801" y="4229672"/>
              <a:ext cx="4829861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20" dirty="0">
                  <a:solidFill>
                    <a:srgbClr val="CAD5E2"/>
                  </a:solidFill>
                  <a:latin typeface="Arial"/>
                  <a:ea typeface="Microsoft YaHei"/>
                  <a:cs typeface="Arial"/>
                </a:rPr>
                <a:t>流程不變，角色換成 Agent會長怎樣？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0" name="Group 50"/>
          <p:cNvGrpSpPr/>
          <p:nvPr/>
        </p:nvGrpSpPr>
        <p:grpSpPr>
          <a:xfrm>
            <a:off x="477831" y="336956"/>
            <a:ext cx="11202296" cy="4817117"/>
            <a:chOff x="477831" y="336956"/>
            <a:chExt cx="11202296" cy="4817117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4623212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同一條流程，換成 Agent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2476500" y="2296573"/>
              <a:ext cx="7239000" cy="647700"/>
            </a:xfrm>
            <a:prstGeom prst="roundRect">
              <a:avLst>
                <a:gd name="adj" fmla="val 13235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937188" y="2414683"/>
              <a:ext cx="23176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E3F6E9"/>
                  </a:solidFill>
                  <a:latin typeface="Arial"/>
                  <a:ea typeface="Microsoft YaHei"/>
                  <a:cs typeface="Arial"/>
                </a:rPr>
                <a:t>Goal / Epic｜互相喜歡才配對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779169" y="2669000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parent issue，不是 workflow state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1969" y="3058573"/>
              <a:ext cx="1245965" cy="1181100"/>
            </a:xfrm>
            <a:prstGeom prst="roundRect">
              <a:avLst>
                <a:gd name="adj" fmla="val 8065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6432" y="3192875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Brainstorming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929384" y="3058573"/>
              <a:ext cx="1245965" cy="1181100"/>
            </a:xfrm>
            <a:prstGeom prst="roundRect">
              <a:avLst>
                <a:gd name="adj" fmla="val 8065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64328" y="3192875"/>
              <a:ext cx="13761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Ticket Refinement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97870" y="3359563"/>
              <a:ext cx="7090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/ Backlog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46894" y="3058573"/>
              <a:ext cx="1245965" cy="1181100"/>
            </a:xfrm>
            <a:prstGeom prst="roundRect">
              <a:avLst>
                <a:gd name="adj" fmla="val 8065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45635" y="3192875"/>
              <a:ext cx="4483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64310" y="3058573"/>
              <a:ext cx="1245965" cy="1181100"/>
            </a:xfrm>
            <a:prstGeom prst="roundRect">
              <a:avLst>
                <a:gd name="adj" fmla="val 8065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13531" y="3192875"/>
              <a:ext cx="747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81725" y="3058573"/>
              <a:ext cx="1245965" cy="1181100"/>
            </a:xfrm>
            <a:prstGeom prst="roundRect">
              <a:avLst>
                <a:gd name="adj" fmla="val 8065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34876" y="3192875"/>
              <a:ext cx="7397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 Review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99140" y="3058573"/>
              <a:ext cx="1245965" cy="1181100"/>
            </a:xfrm>
            <a:prstGeom prst="roundRect">
              <a:avLst>
                <a:gd name="adj" fmla="val 8065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72423" y="3192875"/>
              <a:ext cx="12994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 / Verification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016651" y="3058573"/>
              <a:ext cx="1245965" cy="1181100"/>
            </a:xfrm>
            <a:prstGeom prst="roundRect">
              <a:avLst>
                <a:gd name="adj" fmla="val 8065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93351" y="3192875"/>
              <a:ext cx="10924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Product / Goal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5391" y="3359563"/>
              <a:ext cx="4483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Check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434066" y="3058573"/>
              <a:ext cx="1245965" cy="1181100"/>
            </a:xfrm>
            <a:prstGeom prst="roundRect">
              <a:avLst>
                <a:gd name="adj" fmla="val 8065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874978" y="3192875"/>
              <a:ext cx="3640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11969" y="4392073"/>
              <a:ext cx="2727770" cy="762000"/>
            </a:xfrm>
            <a:prstGeom prst="roundRect">
              <a:avLst>
                <a:gd name="adj" fmla="val 10000"/>
              </a:avLst>
            </a:prstGeom>
            <a:solidFill>
              <a:srgbClr val="25191D"/>
            </a:solidFill>
            <a:ln w="9525">
              <a:solidFill>
                <a:srgbClr val="67444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9899" y="4507325"/>
              <a:ext cx="8241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PR Review·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3412" y="4674013"/>
              <a:ext cx="617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Request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3412" y="4840700"/>
              <a:ext cx="617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changes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723454" y="4763548"/>
              <a:ext cx="304800" cy="19050"/>
            </a:xfrm>
            <a:prstGeom prst="rect">
              <a:avLst/>
            </a:prstGeom>
            <a:solidFill>
              <a:srgbClr val="FF928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227928" y="4697825"/>
              <a:ext cx="783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325463" y="4392073"/>
              <a:ext cx="2727770" cy="762000"/>
            </a:xfrm>
            <a:prstGeom prst="roundRect">
              <a:avLst>
                <a:gd name="adj" fmla="val 10000"/>
              </a:avLst>
            </a:prstGeom>
            <a:solidFill>
              <a:srgbClr val="25191D"/>
            </a:solidFill>
            <a:ln w="9525">
              <a:solidFill>
                <a:srgbClr val="67444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53526" y="4507325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QA / Verification·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01761" y="4674013"/>
              <a:ext cx="2873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fail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536853" y="4763548"/>
              <a:ext cx="304800" cy="19050"/>
            </a:xfrm>
            <a:prstGeom prst="rect">
              <a:avLst/>
            </a:prstGeom>
            <a:solidFill>
              <a:srgbClr val="FF928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041423" y="4697825"/>
              <a:ext cx="783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138862" y="4392073"/>
              <a:ext cx="2727770" cy="762000"/>
            </a:xfrm>
            <a:prstGeom prst="roundRect">
              <a:avLst>
                <a:gd name="adj" fmla="val 10000"/>
              </a:avLst>
            </a:prstGeom>
            <a:solidFill>
              <a:srgbClr val="25191D"/>
            </a:solidFill>
            <a:ln w="9525">
              <a:solidFill>
                <a:srgbClr val="67444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74272" y="4507325"/>
              <a:ext cx="11691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Product Check·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81939" y="4674013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implementation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53819" y="4840700"/>
              <a:ext cx="4100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issue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350347" y="4763548"/>
              <a:ext cx="304800" cy="19050"/>
            </a:xfrm>
            <a:prstGeom prst="rect">
              <a:avLst/>
            </a:prstGeom>
            <a:solidFill>
              <a:srgbClr val="FF928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854822" y="4697825"/>
              <a:ext cx="783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952357" y="4392073"/>
              <a:ext cx="2727770" cy="762000"/>
            </a:xfrm>
            <a:prstGeom prst="roundRect">
              <a:avLst>
                <a:gd name="adj" fmla="val 10000"/>
              </a:avLst>
            </a:prstGeom>
            <a:solidFill>
              <a:srgbClr val="25191D"/>
            </a:solidFill>
            <a:ln w="9525">
              <a:solidFill>
                <a:srgbClr val="67444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987766" y="4507325"/>
              <a:ext cx="11691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Product Check·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29938" y="4674013"/>
              <a:ext cx="1084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goal / problem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67314" y="4840700"/>
              <a:ext cx="4100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issue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163746" y="4763548"/>
              <a:ext cx="304800" cy="19050"/>
            </a:xfrm>
            <a:prstGeom prst="rect">
              <a:avLst/>
            </a:prstGeom>
            <a:solidFill>
              <a:srgbClr val="FF928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801158" y="4507325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Ticket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39501" y="4674013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Refinement /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889719" y="4840700"/>
              <a:ext cx="3406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Goal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36" name="Group 136"/>
          <p:cNvGrpSpPr/>
          <p:nvPr/>
        </p:nvGrpSpPr>
        <p:grpSpPr>
          <a:xfrm>
            <a:off x="477831" y="336956"/>
            <a:ext cx="11202200" cy="5177733"/>
            <a:chOff x="477831" y="336956"/>
            <a:chExt cx="11202200" cy="5177733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5839236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誰做什麼、交出什麼、存在哪裡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1981772"/>
              <a:ext cx="11168062" cy="3075718"/>
            </a:xfrm>
            <a:prstGeom prst="roundRect">
              <a:avLst>
                <a:gd name="adj" fmla="val 3097"/>
              </a:avLst>
            </a:prstGeom>
            <a:solidFill>
              <a:srgbClr val="101821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521494" y="1991296"/>
              <a:ext cx="1337786" cy="36090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1859280" y="1991296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21494" y="2352199"/>
              <a:ext cx="1337786" cy="9525"/>
            </a:xfrm>
            <a:custGeom>
              <a:avLst/>
              <a:gdLst/>
              <a:ahLst/>
              <a:cxnLst/>
              <a:rect l="l" t="t" r="r" b="b"/>
              <a:pathLst>
                <a:path w="1337786" h="9525">
                  <a:moveTo>
                    <a:pt x="0" y="0"/>
                  </a:moveTo>
                  <a:lnTo>
                    <a:pt x="133778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12934" y="2097024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EDF5"/>
                  </a:solidFill>
                  <a:latin typeface="Arial"/>
                  <a:ea typeface="Microsoft YaHei"/>
                  <a:cs typeface="Arial"/>
                </a:rPr>
                <a:t>階段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859280" y="1991296"/>
              <a:ext cx="3010186" cy="36090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4869466" y="1991296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859280" y="2352199"/>
              <a:ext cx="3010186" cy="9525"/>
            </a:xfrm>
            <a:custGeom>
              <a:avLst/>
              <a:gdLst/>
              <a:ahLst/>
              <a:cxnLst/>
              <a:rect l="l" t="t" r="r" b="b"/>
              <a:pathLst>
                <a:path w="3010186" h="9525">
                  <a:moveTo>
                    <a:pt x="0" y="0"/>
                  </a:moveTo>
                  <a:lnTo>
                    <a:pt x="301018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50720" y="2097024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EDF5"/>
                  </a:solidFill>
                  <a:latin typeface="Arial"/>
                  <a:ea typeface="Microsoft YaHei"/>
                  <a:cs typeface="Arial"/>
                </a:rPr>
                <a:t>步驟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869466" y="1991296"/>
              <a:ext cx="2341245" cy="36090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7210711" y="1991296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869466" y="2352199"/>
              <a:ext cx="2341245" cy="9525"/>
            </a:xfrm>
            <a:custGeom>
              <a:avLst/>
              <a:gdLst/>
              <a:ahLst/>
              <a:cxnLst/>
              <a:rect l="l" t="t" r="r" b="b"/>
              <a:pathLst>
                <a:path w="2341245" h="9525">
                  <a:moveTo>
                    <a:pt x="0" y="0"/>
                  </a:moveTo>
                  <a:lnTo>
                    <a:pt x="234124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60906" y="2097024"/>
              <a:ext cx="839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EDF5"/>
                  </a:solidFill>
                  <a:latin typeface="Arial"/>
                  <a:ea typeface="Microsoft YaHei"/>
                  <a:cs typeface="Arial"/>
                </a:rPr>
                <a:t>負責 Agent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210711" y="1991296"/>
              <a:ext cx="2341245" cy="36090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9551956" y="1991296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210711" y="2352199"/>
              <a:ext cx="2341245" cy="9525"/>
            </a:xfrm>
            <a:custGeom>
              <a:avLst/>
              <a:gdLst/>
              <a:ahLst/>
              <a:cxnLst/>
              <a:rect l="l" t="t" r="r" b="b"/>
              <a:pathLst>
                <a:path w="2341245" h="9525">
                  <a:moveTo>
                    <a:pt x="0" y="0"/>
                  </a:moveTo>
                  <a:lnTo>
                    <a:pt x="234124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02151" y="2097024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EDF5"/>
                  </a:solidFill>
                  <a:latin typeface="Arial"/>
                  <a:ea typeface="Microsoft YaHei"/>
                  <a:cs typeface="Arial"/>
                </a:rPr>
                <a:t>傳下去的產物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51956" y="1991296"/>
              <a:ext cx="2118550" cy="36090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9551956" y="2352199"/>
              <a:ext cx="2118550" cy="9525"/>
            </a:xfrm>
            <a:custGeom>
              <a:avLst/>
              <a:gdLst/>
              <a:ahLst/>
              <a:cxnLst/>
              <a:rect l="l" t="t" r="r" b="b"/>
              <a:pathLst>
                <a:path w="2118550" h="9525">
                  <a:moveTo>
                    <a:pt x="0" y="0"/>
                  </a:moveTo>
                  <a:lnTo>
                    <a:pt x="21185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43396" y="2097024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EDF5"/>
                  </a:solidFill>
                  <a:latin typeface="Arial"/>
                  <a:ea typeface="Microsoft YaHei"/>
                  <a:cs typeface="Arial"/>
                </a:rPr>
                <a:t>存放位置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21494" y="2352199"/>
              <a:ext cx="1337786" cy="5408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1859280" y="2352199"/>
              <a:ext cx="9525" cy="540830"/>
            </a:xfrm>
            <a:custGeom>
              <a:avLst/>
              <a:gdLst/>
              <a:ahLst/>
              <a:cxnLst/>
              <a:rect l="l" t="t" r="r" b="b"/>
              <a:pathLst>
                <a:path w="9525" h="540830">
                  <a:moveTo>
                    <a:pt x="0" y="0"/>
                  </a:moveTo>
                  <a:lnTo>
                    <a:pt x="0" y="54083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521494" y="2893028"/>
              <a:ext cx="1337786" cy="9525"/>
            </a:xfrm>
            <a:custGeom>
              <a:avLst/>
              <a:gdLst/>
              <a:ahLst/>
              <a:cxnLst/>
              <a:rect l="l" t="t" r="r" b="b"/>
              <a:pathLst>
                <a:path w="1337786" h="9525">
                  <a:moveTo>
                    <a:pt x="0" y="0"/>
                  </a:moveTo>
                  <a:lnTo>
                    <a:pt x="133778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2934" y="2457926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規劃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859280" y="2352199"/>
              <a:ext cx="3010186" cy="5408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4869466" y="2352199"/>
              <a:ext cx="9525" cy="540830"/>
            </a:xfrm>
            <a:custGeom>
              <a:avLst/>
              <a:gdLst/>
              <a:ahLst/>
              <a:cxnLst/>
              <a:rect l="l" t="t" r="r" b="b"/>
              <a:pathLst>
                <a:path w="9525" h="540830">
                  <a:moveTo>
                    <a:pt x="0" y="0"/>
                  </a:moveTo>
                  <a:lnTo>
                    <a:pt x="0" y="54083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859280" y="2893028"/>
              <a:ext cx="3010186" cy="9525"/>
            </a:xfrm>
            <a:custGeom>
              <a:avLst/>
              <a:gdLst/>
              <a:ahLst/>
              <a:cxnLst/>
              <a:rect l="l" t="t" r="r" b="b"/>
              <a:pathLst>
                <a:path w="3010186" h="9525">
                  <a:moveTo>
                    <a:pt x="0" y="0"/>
                  </a:moveTo>
                  <a:lnTo>
                    <a:pt x="301018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50720" y="2457926"/>
              <a:ext cx="31167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Brainstorming→ Goal→ Ticket Refinement /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50720" y="2637949"/>
              <a:ext cx="5787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869466" y="2352199"/>
              <a:ext cx="2341245" cy="5408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7210711" y="2352199"/>
              <a:ext cx="9525" cy="540830"/>
            </a:xfrm>
            <a:custGeom>
              <a:avLst/>
              <a:gdLst/>
              <a:ahLst/>
              <a:cxnLst/>
              <a:rect l="l" t="t" r="r" b="b"/>
              <a:pathLst>
                <a:path w="9525" h="540830">
                  <a:moveTo>
                    <a:pt x="0" y="0"/>
                  </a:moveTo>
                  <a:lnTo>
                    <a:pt x="0" y="54083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4869466" y="2893028"/>
              <a:ext cx="2341245" cy="9525"/>
            </a:xfrm>
            <a:custGeom>
              <a:avLst/>
              <a:gdLst/>
              <a:ahLst/>
              <a:cxnLst/>
              <a:rect l="l" t="t" r="r" b="b"/>
              <a:pathLst>
                <a:path w="2341245" h="9525">
                  <a:moveTo>
                    <a:pt x="0" y="0"/>
                  </a:moveTo>
                  <a:lnTo>
                    <a:pt x="234124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960906" y="2457926"/>
              <a:ext cx="9774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PO/PM Agent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210711" y="2352199"/>
              <a:ext cx="2341245" cy="5408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9551956" y="2352199"/>
              <a:ext cx="9525" cy="540830"/>
            </a:xfrm>
            <a:custGeom>
              <a:avLst/>
              <a:gdLst/>
              <a:ahLst/>
              <a:cxnLst/>
              <a:rect l="l" t="t" r="r" b="b"/>
              <a:pathLst>
                <a:path w="9525" h="540830">
                  <a:moveTo>
                    <a:pt x="0" y="0"/>
                  </a:moveTo>
                  <a:lnTo>
                    <a:pt x="0" y="54083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7210711" y="2893028"/>
              <a:ext cx="2341245" cy="9525"/>
            </a:xfrm>
            <a:custGeom>
              <a:avLst/>
              <a:gdLst/>
              <a:ahLst/>
              <a:cxnLst/>
              <a:rect l="l" t="t" r="r" b="b"/>
              <a:pathLst>
                <a:path w="2341245" h="9525">
                  <a:moveTo>
                    <a:pt x="0" y="0"/>
                  </a:moveTo>
                  <a:lnTo>
                    <a:pt x="234124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02151" y="2457926"/>
              <a:ext cx="22502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想法→ parent Goal→ sub-issues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51956" y="2352199"/>
              <a:ext cx="2118550" cy="5408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9551956" y="2893028"/>
              <a:ext cx="2118550" cy="9525"/>
            </a:xfrm>
            <a:custGeom>
              <a:avLst/>
              <a:gdLst/>
              <a:ahLst/>
              <a:cxnLst/>
              <a:rect l="l" t="t" r="r" b="b"/>
              <a:pathLst>
                <a:path w="2118550" h="9525">
                  <a:moveTo>
                    <a:pt x="0" y="0"/>
                  </a:moveTo>
                  <a:lnTo>
                    <a:pt x="21185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43396" y="2457926"/>
              <a:ext cx="8701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Issue／看板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21494" y="2893028"/>
              <a:ext cx="1337786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1859280" y="2893028"/>
              <a:ext cx="9525" cy="360997"/>
            </a:xfrm>
            <a:custGeom>
              <a:avLst/>
              <a:gdLst/>
              <a:ahLst/>
              <a:cxnLst/>
              <a:rect l="l" t="t" r="r" b="b"/>
              <a:pathLst>
                <a:path w="9525" h="360997">
                  <a:moveTo>
                    <a:pt x="0" y="0"/>
                  </a:moveTo>
                  <a:lnTo>
                    <a:pt x="0" y="360997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521494" y="3254026"/>
              <a:ext cx="1337786" cy="9525"/>
            </a:xfrm>
            <a:custGeom>
              <a:avLst/>
              <a:gdLst/>
              <a:ahLst/>
              <a:cxnLst/>
              <a:rect l="l" t="t" r="r" b="b"/>
              <a:pathLst>
                <a:path w="1337786" h="9525">
                  <a:moveTo>
                    <a:pt x="0" y="0"/>
                  </a:moveTo>
                  <a:lnTo>
                    <a:pt x="133778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2934" y="2998756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開發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859280" y="2893028"/>
              <a:ext cx="3010186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4869466" y="2893028"/>
              <a:ext cx="9525" cy="360997"/>
            </a:xfrm>
            <a:custGeom>
              <a:avLst/>
              <a:gdLst/>
              <a:ahLst/>
              <a:cxnLst/>
              <a:rect l="l" t="t" r="r" b="b"/>
              <a:pathLst>
                <a:path w="9525" h="360997">
                  <a:moveTo>
                    <a:pt x="0" y="0"/>
                  </a:moveTo>
                  <a:lnTo>
                    <a:pt x="0" y="360997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1859280" y="3254026"/>
              <a:ext cx="3010186" cy="9525"/>
            </a:xfrm>
            <a:custGeom>
              <a:avLst/>
              <a:gdLst/>
              <a:ahLst/>
              <a:cxnLst/>
              <a:rect l="l" t="t" r="r" b="b"/>
              <a:pathLst>
                <a:path w="3010186" h="9525">
                  <a:moveTo>
                    <a:pt x="0" y="0"/>
                  </a:moveTo>
                  <a:lnTo>
                    <a:pt x="301018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950720" y="2998756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依票實作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869466" y="2893028"/>
              <a:ext cx="2341245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7210711" y="2893028"/>
              <a:ext cx="9525" cy="360997"/>
            </a:xfrm>
            <a:custGeom>
              <a:avLst/>
              <a:gdLst/>
              <a:ahLst/>
              <a:cxnLst/>
              <a:rect l="l" t="t" r="r" b="b"/>
              <a:pathLst>
                <a:path w="9525" h="360997">
                  <a:moveTo>
                    <a:pt x="0" y="0"/>
                  </a:moveTo>
                  <a:lnTo>
                    <a:pt x="0" y="360997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4869466" y="3254026"/>
              <a:ext cx="2341245" cy="9525"/>
            </a:xfrm>
            <a:custGeom>
              <a:avLst/>
              <a:gdLst/>
              <a:ahLst/>
              <a:cxnLst/>
              <a:rect l="l" t="t" r="r" b="b"/>
              <a:pathLst>
                <a:path w="2341245" h="9525">
                  <a:moveTo>
                    <a:pt x="0" y="0"/>
                  </a:moveTo>
                  <a:lnTo>
                    <a:pt x="234124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960906" y="2998756"/>
              <a:ext cx="1215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Developer Agent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210711" y="2893028"/>
              <a:ext cx="2341245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9551956" y="2893028"/>
              <a:ext cx="9525" cy="360997"/>
            </a:xfrm>
            <a:custGeom>
              <a:avLst/>
              <a:gdLst/>
              <a:ahLst/>
              <a:cxnLst/>
              <a:rect l="l" t="t" r="r" b="b"/>
              <a:pathLst>
                <a:path w="9525" h="360997">
                  <a:moveTo>
                    <a:pt x="0" y="0"/>
                  </a:moveTo>
                  <a:lnTo>
                    <a:pt x="0" y="360997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7210711" y="3254026"/>
              <a:ext cx="2341245" cy="9525"/>
            </a:xfrm>
            <a:custGeom>
              <a:avLst/>
              <a:gdLst/>
              <a:ahLst/>
              <a:cxnLst/>
              <a:rect l="l" t="t" r="r" b="b"/>
              <a:pathLst>
                <a:path w="2341245" h="9525">
                  <a:moveTo>
                    <a:pt x="0" y="0"/>
                  </a:moveTo>
                  <a:lnTo>
                    <a:pt x="234124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02151" y="2998756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PR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551956" y="2893028"/>
              <a:ext cx="2118550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1" name="Line 61"/>
            <p:cNvSpPr/>
            <p:nvPr/>
          </p:nvSpPr>
          <p:spPr>
            <a:xfrm>
              <a:off x="9551956" y="3254026"/>
              <a:ext cx="2118550" cy="9525"/>
            </a:xfrm>
            <a:custGeom>
              <a:avLst/>
              <a:gdLst/>
              <a:ahLst/>
              <a:cxnLst/>
              <a:rect l="l" t="t" r="r" b="b"/>
              <a:pathLst>
                <a:path w="2118550" h="9525">
                  <a:moveTo>
                    <a:pt x="0" y="0"/>
                  </a:moveTo>
                  <a:lnTo>
                    <a:pt x="21185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643396" y="2998756"/>
              <a:ext cx="900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branch／ PR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21494" y="3254026"/>
              <a:ext cx="1337786" cy="5408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4" name="Line 64"/>
            <p:cNvSpPr/>
            <p:nvPr/>
          </p:nvSpPr>
          <p:spPr>
            <a:xfrm>
              <a:off x="1859280" y="3254026"/>
              <a:ext cx="9525" cy="540830"/>
            </a:xfrm>
            <a:custGeom>
              <a:avLst/>
              <a:gdLst/>
              <a:ahLst/>
              <a:cxnLst/>
              <a:rect l="l" t="t" r="r" b="b"/>
              <a:pathLst>
                <a:path w="9525" h="540830">
                  <a:moveTo>
                    <a:pt x="0" y="0"/>
                  </a:moveTo>
                  <a:lnTo>
                    <a:pt x="0" y="54083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521494" y="3794855"/>
              <a:ext cx="1337786" cy="9525"/>
            </a:xfrm>
            <a:custGeom>
              <a:avLst/>
              <a:gdLst/>
              <a:ahLst/>
              <a:cxnLst/>
              <a:rect l="l" t="t" r="r" b="b"/>
              <a:pathLst>
                <a:path w="1337786" h="9525">
                  <a:moveTo>
                    <a:pt x="0" y="0"/>
                  </a:moveTo>
                  <a:lnTo>
                    <a:pt x="133778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12934" y="3359753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審查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859280" y="3254026"/>
              <a:ext cx="3010186" cy="5408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8" name="Line 68"/>
            <p:cNvSpPr/>
            <p:nvPr/>
          </p:nvSpPr>
          <p:spPr>
            <a:xfrm>
              <a:off x="4869466" y="3254026"/>
              <a:ext cx="9525" cy="540830"/>
            </a:xfrm>
            <a:custGeom>
              <a:avLst/>
              <a:gdLst/>
              <a:ahLst/>
              <a:cxnLst/>
              <a:rect l="l" t="t" r="r" b="b"/>
              <a:pathLst>
                <a:path w="9525" h="540830">
                  <a:moveTo>
                    <a:pt x="0" y="0"/>
                  </a:moveTo>
                  <a:lnTo>
                    <a:pt x="0" y="54083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1859280" y="3794855"/>
              <a:ext cx="3010186" cy="9525"/>
            </a:xfrm>
            <a:custGeom>
              <a:avLst/>
              <a:gdLst/>
              <a:ahLst/>
              <a:cxnLst/>
              <a:rect l="l" t="t" r="r" b="b"/>
              <a:pathLst>
                <a:path w="3010186" h="9525">
                  <a:moveTo>
                    <a:pt x="0" y="0"/>
                  </a:moveTo>
                  <a:lnTo>
                    <a:pt x="301018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950720" y="3359753"/>
              <a:ext cx="3454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PR Review： code／ architecture／ regression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950720" y="3539680"/>
              <a:ext cx="13301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／ maintainability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869466" y="3254026"/>
              <a:ext cx="2341245" cy="5408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3" name="Line 73"/>
            <p:cNvSpPr/>
            <p:nvPr/>
          </p:nvSpPr>
          <p:spPr>
            <a:xfrm>
              <a:off x="7210711" y="3254026"/>
              <a:ext cx="9525" cy="540830"/>
            </a:xfrm>
            <a:custGeom>
              <a:avLst/>
              <a:gdLst/>
              <a:ahLst/>
              <a:cxnLst/>
              <a:rect l="l" t="t" r="r" b="b"/>
              <a:pathLst>
                <a:path w="9525" h="540830">
                  <a:moveTo>
                    <a:pt x="0" y="0"/>
                  </a:moveTo>
                  <a:lnTo>
                    <a:pt x="0" y="54083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4869466" y="3794855"/>
              <a:ext cx="2341245" cy="9525"/>
            </a:xfrm>
            <a:custGeom>
              <a:avLst/>
              <a:gdLst/>
              <a:ahLst/>
              <a:cxnLst/>
              <a:rect l="l" t="t" r="r" b="b"/>
              <a:pathLst>
                <a:path w="2341245" h="9525">
                  <a:moveTo>
                    <a:pt x="0" y="0"/>
                  </a:moveTo>
                  <a:lnTo>
                    <a:pt x="234124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960906" y="3359753"/>
              <a:ext cx="12074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PR Review Agent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210711" y="3254026"/>
              <a:ext cx="2341245" cy="5408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7" name="Line 77"/>
            <p:cNvSpPr/>
            <p:nvPr/>
          </p:nvSpPr>
          <p:spPr>
            <a:xfrm>
              <a:off x="9551956" y="3254026"/>
              <a:ext cx="9525" cy="540830"/>
            </a:xfrm>
            <a:custGeom>
              <a:avLst/>
              <a:gdLst/>
              <a:ahLst/>
              <a:cxnLst/>
              <a:rect l="l" t="t" r="r" b="b"/>
              <a:pathLst>
                <a:path w="9525" h="540830">
                  <a:moveTo>
                    <a:pt x="0" y="0"/>
                  </a:moveTo>
                  <a:lnTo>
                    <a:pt x="0" y="54083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7210711" y="3794855"/>
              <a:ext cx="2341245" cy="9525"/>
            </a:xfrm>
            <a:custGeom>
              <a:avLst/>
              <a:gdLst/>
              <a:ahLst/>
              <a:cxnLst/>
              <a:rect l="l" t="t" r="r" b="b"/>
              <a:pathLst>
                <a:path w="2341245" h="9525">
                  <a:moveTo>
                    <a:pt x="0" y="0"/>
                  </a:moveTo>
                  <a:lnTo>
                    <a:pt x="234124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302151" y="3359753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review意見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551956" y="3254026"/>
              <a:ext cx="2118550" cy="5408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1" name="Line 81"/>
            <p:cNvSpPr/>
            <p:nvPr/>
          </p:nvSpPr>
          <p:spPr>
            <a:xfrm>
              <a:off x="9551956" y="3794855"/>
              <a:ext cx="2118550" cy="9525"/>
            </a:xfrm>
            <a:custGeom>
              <a:avLst/>
              <a:gdLst/>
              <a:ahLst/>
              <a:cxnLst/>
              <a:rect l="l" t="t" r="r" b="b"/>
              <a:pathLst>
                <a:path w="2118550" h="9525">
                  <a:moveTo>
                    <a:pt x="0" y="0"/>
                  </a:moveTo>
                  <a:lnTo>
                    <a:pt x="21185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643396" y="3359753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PR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21494" y="3794855"/>
              <a:ext cx="1337786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4" name="Line 84"/>
            <p:cNvSpPr/>
            <p:nvPr/>
          </p:nvSpPr>
          <p:spPr>
            <a:xfrm>
              <a:off x="1859280" y="3794855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5" name="Line 85"/>
            <p:cNvSpPr/>
            <p:nvPr/>
          </p:nvSpPr>
          <p:spPr>
            <a:xfrm>
              <a:off x="521494" y="4155758"/>
              <a:ext cx="1337786" cy="9525"/>
            </a:xfrm>
            <a:custGeom>
              <a:avLst/>
              <a:gdLst/>
              <a:ahLst/>
              <a:cxnLst/>
              <a:rect l="l" t="t" r="r" b="b"/>
              <a:pathLst>
                <a:path w="1337786" h="9525">
                  <a:moveTo>
                    <a:pt x="0" y="0"/>
                  </a:moveTo>
                  <a:lnTo>
                    <a:pt x="133778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12934" y="3900583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驗證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1859280" y="3794855"/>
              <a:ext cx="3010186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8" name="Line 88"/>
            <p:cNvSpPr/>
            <p:nvPr/>
          </p:nvSpPr>
          <p:spPr>
            <a:xfrm>
              <a:off x="4869466" y="3794855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9" name="Line 89"/>
            <p:cNvSpPr/>
            <p:nvPr/>
          </p:nvSpPr>
          <p:spPr>
            <a:xfrm>
              <a:off x="1859280" y="4155758"/>
              <a:ext cx="3010186" cy="9525"/>
            </a:xfrm>
            <a:custGeom>
              <a:avLst/>
              <a:gdLst/>
              <a:ahLst/>
              <a:cxnLst/>
              <a:rect l="l" t="t" r="r" b="b"/>
              <a:pathLst>
                <a:path w="3010186" h="9525">
                  <a:moveTo>
                    <a:pt x="0" y="0"/>
                  </a:moveTo>
                  <a:lnTo>
                    <a:pt x="301018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950720" y="3900583"/>
              <a:ext cx="21275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QA / Verification：依 AC驗證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4869466" y="3794855"/>
              <a:ext cx="2341245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2" name="Line 92"/>
            <p:cNvSpPr/>
            <p:nvPr/>
          </p:nvSpPr>
          <p:spPr>
            <a:xfrm>
              <a:off x="7210711" y="3794855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4869466" y="4155758"/>
              <a:ext cx="2341245" cy="9525"/>
            </a:xfrm>
            <a:custGeom>
              <a:avLst/>
              <a:gdLst/>
              <a:ahLst/>
              <a:cxnLst/>
              <a:rect l="l" t="t" r="r" b="b"/>
              <a:pathLst>
                <a:path w="2341245" h="9525">
                  <a:moveTo>
                    <a:pt x="0" y="0"/>
                  </a:moveTo>
                  <a:lnTo>
                    <a:pt x="234124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4960906" y="3900583"/>
              <a:ext cx="6937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QA Agent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7210711" y="3794855"/>
              <a:ext cx="2341245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6" name="Line 96"/>
            <p:cNvSpPr/>
            <p:nvPr/>
          </p:nvSpPr>
          <p:spPr>
            <a:xfrm>
              <a:off x="9551956" y="3794855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7" name="Line 97"/>
            <p:cNvSpPr/>
            <p:nvPr/>
          </p:nvSpPr>
          <p:spPr>
            <a:xfrm>
              <a:off x="7210711" y="4155758"/>
              <a:ext cx="2341245" cy="9525"/>
            </a:xfrm>
            <a:custGeom>
              <a:avLst/>
              <a:gdLst/>
              <a:ahLst/>
              <a:cxnLst/>
              <a:rect l="l" t="t" r="r" b="b"/>
              <a:pathLst>
                <a:path w="2341245" h="9525">
                  <a:moveTo>
                    <a:pt x="0" y="0"/>
                  </a:moveTo>
                  <a:lnTo>
                    <a:pt x="234124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302151" y="3900583"/>
              <a:ext cx="9851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A／ B／ C證據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9551956" y="3794855"/>
              <a:ext cx="2118550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0" name="Line 100"/>
            <p:cNvSpPr/>
            <p:nvPr/>
          </p:nvSpPr>
          <p:spPr>
            <a:xfrm>
              <a:off x="9551956" y="4155758"/>
              <a:ext cx="2118550" cy="9525"/>
            </a:xfrm>
            <a:custGeom>
              <a:avLst/>
              <a:gdLst/>
              <a:ahLst/>
              <a:cxnLst/>
              <a:rect l="l" t="t" r="r" b="b"/>
              <a:pathLst>
                <a:path w="2118550" h="9525">
                  <a:moveTo>
                    <a:pt x="0" y="0"/>
                  </a:moveTo>
                  <a:lnTo>
                    <a:pt x="21185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9643396" y="3900583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PR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521494" y="4155758"/>
              <a:ext cx="1337786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3" name="Line 103"/>
            <p:cNvSpPr/>
            <p:nvPr/>
          </p:nvSpPr>
          <p:spPr>
            <a:xfrm>
              <a:off x="1859280" y="4155758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4" name="Line 104"/>
            <p:cNvSpPr/>
            <p:nvPr/>
          </p:nvSpPr>
          <p:spPr>
            <a:xfrm>
              <a:off x="521494" y="4516660"/>
              <a:ext cx="1337786" cy="9525"/>
            </a:xfrm>
            <a:custGeom>
              <a:avLst/>
              <a:gdLst/>
              <a:ahLst/>
              <a:cxnLst/>
              <a:rect l="l" t="t" r="r" b="b"/>
              <a:pathLst>
                <a:path w="1337786" h="9525">
                  <a:moveTo>
                    <a:pt x="0" y="0"/>
                  </a:moveTo>
                  <a:lnTo>
                    <a:pt x="133778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12934" y="4261485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接受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1859280" y="4155758"/>
              <a:ext cx="3010186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7" name="Line 107"/>
            <p:cNvSpPr/>
            <p:nvPr/>
          </p:nvSpPr>
          <p:spPr>
            <a:xfrm>
              <a:off x="4869466" y="4155758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8" name="Line 108"/>
            <p:cNvSpPr/>
            <p:nvPr/>
          </p:nvSpPr>
          <p:spPr>
            <a:xfrm>
              <a:off x="1859280" y="4516660"/>
              <a:ext cx="3010186" cy="9525"/>
            </a:xfrm>
            <a:custGeom>
              <a:avLst/>
              <a:gdLst/>
              <a:ahLst/>
              <a:cxnLst/>
              <a:rect l="l" t="t" r="r" b="b"/>
              <a:pathLst>
                <a:path w="3010186" h="9525">
                  <a:moveTo>
                    <a:pt x="0" y="0"/>
                  </a:moveTo>
                  <a:lnTo>
                    <a:pt x="301018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1950720" y="4261485"/>
              <a:ext cx="25263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Product / Goal Check→ Human Gate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4869466" y="4155758"/>
              <a:ext cx="2341245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1" name="Line 111"/>
            <p:cNvSpPr/>
            <p:nvPr/>
          </p:nvSpPr>
          <p:spPr>
            <a:xfrm>
              <a:off x="7210711" y="4155758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2" name="Line 112"/>
            <p:cNvSpPr/>
            <p:nvPr/>
          </p:nvSpPr>
          <p:spPr>
            <a:xfrm>
              <a:off x="4869466" y="4516660"/>
              <a:ext cx="2341245" cy="9525"/>
            </a:xfrm>
            <a:custGeom>
              <a:avLst/>
              <a:gdLst/>
              <a:ahLst/>
              <a:cxnLst/>
              <a:rect l="l" t="t" r="r" b="b"/>
              <a:pathLst>
                <a:path w="2341245" h="9525">
                  <a:moveTo>
                    <a:pt x="0" y="0"/>
                  </a:moveTo>
                  <a:lnTo>
                    <a:pt x="234124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4960906" y="4261485"/>
              <a:ext cx="9774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PO/PM Agent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7210711" y="4155758"/>
              <a:ext cx="2341245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5" name="Line 115"/>
            <p:cNvSpPr/>
            <p:nvPr/>
          </p:nvSpPr>
          <p:spPr>
            <a:xfrm>
              <a:off x="9551956" y="4155758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6" name="Line 116"/>
            <p:cNvSpPr/>
            <p:nvPr/>
          </p:nvSpPr>
          <p:spPr>
            <a:xfrm>
              <a:off x="7210711" y="4516660"/>
              <a:ext cx="2341245" cy="9525"/>
            </a:xfrm>
            <a:custGeom>
              <a:avLst/>
              <a:gdLst/>
              <a:ahLst/>
              <a:cxnLst/>
              <a:rect l="l" t="t" r="r" b="b"/>
              <a:pathLst>
                <a:path w="2341245" h="9525">
                  <a:moveTo>
                    <a:pt x="0" y="0"/>
                  </a:moveTo>
                  <a:lnTo>
                    <a:pt x="234124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7302151" y="4261485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對照 parent Goal的決定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9551956" y="4155758"/>
              <a:ext cx="2118550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9" name="Line 119"/>
            <p:cNvSpPr/>
            <p:nvPr/>
          </p:nvSpPr>
          <p:spPr>
            <a:xfrm>
              <a:off x="9551956" y="4516660"/>
              <a:ext cx="2118550" cy="9525"/>
            </a:xfrm>
            <a:custGeom>
              <a:avLst/>
              <a:gdLst/>
              <a:ahLst/>
              <a:cxnLst/>
              <a:rect l="l" t="t" r="r" b="b"/>
              <a:pathLst>
                <a:path w="2118550" h="9525">
                  <a:moveTo>
                    <a:pt x="0" y="0"/>
                  </a:moveTo>
                  <a:lnTo>
                    <a:pt x="21185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9643396" y="4261485"/>
              <a:ext cx="8701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Issue／看板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521494" y="4516660"/>
              <a:ext cx="1337786" cy="53130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2" name="Line 122"/>
            <p:cNvSpPr/>
            <p:nvPr/>
          </p:nvSpPr>
          <p:spPr>
            <a:xfrm>
              <a:off x="1859280" y="4516660"/>
              <a:ext cx="9525" cy="531305"/>
            </a:xfrm>
            <a:custGeom>
              <a:avLst/>
              <a:gdLst/>
              <a:ahLst/>
              <a:cxnLst/>
              <a:rect l="l" t="t" r="r" b="b"/>
              <a:pathLst>
                <a:path w="9525" h="531305">
                  <a:moveTo>
                    <a:pt x="0" y="0"/>
                  </a:moveTo>
                  <a:lnTo>
                    <a:pt x="0" y="53130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12934" y="4622387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退件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1859280" y="4516660"/>
              <a:ext cx="3010186" cy="53130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5" name="Line 125"/>
            <p:cNvSpPr/>
            <p:nvPr/>
          </p:nvSpPr>
          <p:spPr>
            <a:xfrm>
              <a:off x="4869466" y="4516660"/>
              <a:ext cx="9525" cy="531305"/>
            </a:xfrm>
            <a:custGeom>
              <a:avLst/>
              <a:gdLst/>
              <a:ahLst/>
              <a:cxnLst/>
              <a:rect l="l" t="t" r="r" b="b"/>
              <a:pathLst>
                <a:path w="9525" h="531305">
                  <a:moveTo>
                    <a:pt x="0" y="0"/>
                  </a:moveTo>
                  <a:lnTo>
                    <a:pt x="0" y="53130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1950720" y="4622387"/>
              <a:ext cx="27640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PR／ QA fail→ Developer； Goal issue→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950720" y="4802410"/>
              <a:ext cx="1851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Ticket Refinement / Goal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4869466" y="4516660"/>
              <a:ext cx="2341245" cy="53130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9" name="Line 129"/>
            <p:cNvSpPr/>
            <p:nvPr/>
          </p:nvSpPr>
          <p:spPr>
            <a:xfrm>
              <a:off x="7210711" y="4516660"/>
              <a:ext cx="9525" cy="531305"/>
            </a:xfrm>
            <a:custGeom>
              <a:avLst/>
              <a:gdLst/>
              <a:ahLst/>
              <a:cxnLst/>
              <a:rect l="l" t="t" r="r" b="b"/>
              <a:pathLst>
                <a:path w="9525" h="531305">
                  <a:moveTo>
                    <a:pt x="0" y="0"/>
                  </a:moveTo>
                  <a:lnTo>
                    <a:pt x="0" y="53130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4960906" y="4622387"/>
              <a:ext cx="22886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PR Review／ QA／ PO-PM Agent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7210711" y="4516660"/>
              <a:ext cx="2341245" cy="53130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2" name="Line 132"/>
            <p:cNvSpPr/>
            <p:nvPr/>
          </p:nvSpPr>
          <p:spPr>
            <a:xfrm>
              <a:off x="9551956" y="4516660"/>
              <a:ext cx="9525" cy="531305"/>
            </a:xfrm>
            <a:custGeom>
              <a:avLst/>
              <a:gdLst/>
              <a:ahLst/>
              <a:cxnLst/>
              <a:rect l="l" t="t" r="r" b="b"/>
              <a:pathLst>
                <a:path w="9525" h="531305">
                  <a:moveTo>
                    <a:pt x="0" y="0"/>
                  </a:moveTo>
                  <a:lnTo>
                    <a:pt x="0" y="53130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7302151" y="4622387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review意見／ Goal決定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9643396" y="4622387"/>
              <a:ext cx="12381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PR／ Issue／看板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2435257" y="5270849"/>
              <a:ext cx="73212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概念參考： ChatDev（OpenBMB， arXiv:2307.07924）。產物落在 GitHub，不靠對話傳遞。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477831" y="336956"/>
            <a:ext cx="9999669" cy="6347784"/>
            <a:chOff x="477831" y="336956"/>
            <a:chExt cx="9999669" cy="6347784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2314828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Human Gate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714500" y="2410016"/>
              <a:ext cx="8763000" cy="895350"/>
            </a:xfrm>
            <a:prstGeom prst="roundRect">
              <a:avLst>
                <a:gd name="adj" fmla="val 11702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488424" y="2610993"/>
              <a:ext cx="1215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Agent工作與回報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90254" y="2903887"/>
              <a:ext cx="281149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Issue→ PR→ Review→ QA證據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714500" y="3495866"/>
              <a:ext cx="876300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714500" y="3953066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28575">
              <a:solidFill>
                <a:srgbClr val="F2CF7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62016" y="3676840"/>
              <a:ext cx="1268063" cy="361950"/>
            </a:xfrm>
            <a:prstGeom prst="roundRect">
              <a:avLst>
                <a:gd name="adj" fmla="val 50000"/>
              </a:avLst>
            </a:prstGeom>
            <a:solidFill>
              <a:srgbClr val="292315"/>
            </a:solidFill>
            <a:ln w="9525">
              <a:solidFill>
                <a:srgbClr val="826D3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03176" y="3766375"/>
              <a:ext cx="9856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Human Gate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714500" y="4210240"/>
              <a:ext cx="2119312" cy="476250"/>
            </a:xfrm>
            <a:prstGeom prst="roundRect">
              <a:avLst>
                <a:gd name="adj" fmla="val 18000"/>
              </a:avLst>
            </a:prstGeom>
            <a:solidFill>
              <a:srgbClr val="201D14"/>
            </a:solidFill>
            <a:ln w="9525">
              <a:solidFill>
                <a:srgbClr val="68583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06847" y="4356926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目標與優先序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929062" y="4210240"/>
              <a:ext cx="2119312" cy="476250"/>
            </a:xfrm>
            <a:prstGeom prst="roundRect">
              <a:avLst>
                <a:gd name="adj" fmla="val 18000"/>
              </a:avLst>
            </a:prstGeom>
            <a:solidFill>
              <a:srgbClr val="201D14"/>
            </a:solidFill>
            <a:ln w="9525">
              <a:solidFill>
                <a:srgbClr val="68583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5433" y="4356926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超出範圍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43625" y="4210240"/>
              <a:ext cx="2119312" cy="476250"/>
            </a:xfrm>
            <a:prstGeom prst="roundRect">
              <a:avLst>
                <a:gd name="adj" fmla="val 18000"/>
              </a:avLst>
            </a:prstGeom>
            <a:solidFill>
              <a:srgbClr val="201D14"/>
            </a:solidFill>
            <a:ln w="9525">
              <a:solidFill>
                <a:srgbClr val="68583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19995" y="4356926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接受上線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58188" y="4210240"/>
              <a:ext cx="2119312" cy="476250"/>
            </a:xfrm>
            <a:prstGeom prst="roundRect">
              <a:avLst>
                <a:gd name="adj" fmla="val 18000"/>
              </a:avLst>
            </a:prstGeom>
            <a:solidFill>
              <a:srgbClr val="201D14"/>
            </a:solidFill>
            <a:ln w="9525">
              <a:solidFill>
                <a:srgbClr val="68583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42546" y="4356926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不可逆操作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00588" y="6440900"/>
              <a:ext cx="27908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Agent取代工作；責任仍由人保留。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477831" y="336956"/>
            <a:ext cx="11202010" cy="4626617"/>
            <a:chOff x="477831" y="336956"/>
            <a:chExt cx="11202010" cy="4626617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5014813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這份簡報就是這樣做出來的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2487073"/>
              <a:ext cx="1497330" cy="2476500"/>
            </a:xfrm>
            <a:prstGeom prst="roundRect">
              <a:avLst>
                <a:gd name="adj" fmla="val 699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35794" y="2610898"/>
              <a:ext cx="1249680" cy="1314450"/>
            </a:xfrm>
            <a:prstGeom prst="roundRect">
              <a:avLst>
                <a:gd name="adj" fmla="val 5335"/>
              </a:avLst>
            </a:prstGeom>
            <a:solidFill>
              <a:srgbClr val="0B1119"/>
            </a:solidFill>
            <a:ln w="9525">
              <a:solidFill>
                <a:srgbClr val="2B3A4C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5319" y="2998916"/>
              <a:ext cx="1230660" cy="538414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620554" y="4033933"/>
              <a:ext cx="8493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Issue #30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2459" y="4314920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CEDB"/>
                  </a:solidFill>
                  <a:latin typeface="Arial"/>
                  <a:ea typeface="Microsoft YaHei"/>
                  <a:cs typeface="Arial"/>
                </a:rPr>
                <a:t>提出簡報工作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123599" y="2487073"/>
              <a:ext cx="1497520" cy="2476500"/>
            </a:xfrm>
            <a:prstGeom prst="roundRect">
              <a:avLst>
                <a:gd name="adj" fmla="val 699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47424" y="2610898"/>
              <a:ext cx="1249870" cy="1314450"/>
            </a:xfrm>
            <a:prstGeom prst="roundRect">
              <a:avLst>
                <a:gd name="adj" fmla="val 5335"/>
              </a:avLst>
            </a:prstGeom>
            <a:solidFill>
              <a:srgbClr val="0B1119"/>
            </a:solidFill>
            <a:ln w="9525">
              <a:solidFill>
                <a:srgbClr val="2B3A4C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56949" y="2998883"/>
              <a:ext cx="1230809" cy="538479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2232184" y="4033933"/>
              <a:ext cx="5917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 #37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34089" y="4314920"/>
              <a:ext cx="13685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CEDB"/>
                  </a:solidFill>
                  <a:latin typeface="Arial"/>
                  <a:ea typeface="Microsoft YaHei"/>
                  <a:cs typeface="Arial"/>
                </a:rPr>
                <a:t>Developer Agent：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34089" y="4508278"/>
              <a:ext cx="4483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CEDB"/>
                  </a:solidFill>
                  <a:latin typeface="Arial"/>
                  <a:ea typeface="Microsoft YaHei"/>
                  <a:cs typeface="Arial"/>
                </a:rPr>
                <a:t>Codex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735419" y="2487073"/>
              <a:ext cx="1497520" cy="2476500"/>
            </a:xfrm>
            <a:prstGeom prst="roundRect">
              <a:avLst>
                <a:gd name="adj" fmla="val 699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44004" y="2633758"/>
              <a:ext cx="8861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 Review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44004" y="2831878"/>
              <a:ext cx="13278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Agent（Sonnet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44004" y="3029998"/>
              <a:ext cx="214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45909" y="3112770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CEDB"/>
                  </a:solidFill>
                  <a:latin typeface="Arial"/>
                  <a:ea typeface="Microsoft YaHei"/>
                  <a:cs typeface="Arial"/>
                </a:rPr>
                <a:t>要求修改（Request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45909" y="3306128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CEDB"/>
                  </a:solidFill>
                  <a:latin typeface="Arial"/>
                  <a:ea typeface="Microsoft YaHei"/>
                  <a:cs typeface="Arial"/>
                </a:rPr>
                <a:t>Changes）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47240" y="2487073"/>
              <a:ext cx="1497330" cy="2476500"/>
            </a:xfrm>
            <a:prstGeom prst="roundRect">
              <a:avLst>
                <a:gd name="adj" fmla="val 699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71065" y="2610898"/>
              <a:ext cx="1249680" cy="1314450"/>
            </a:xfrm>
            <a:prstGeom prst="roundRect">
              <a:avLst>
                <a:gd name="adj" fmla="val 5335"/>
              </a:avLst>
            </a:prstGeom>
            <a:solidFill>
              <a:srgbClr val="0B1119"/>
            </a:solidFill>
            <a:ln w="9525">
              <a:solidFill>
                <a:srgbClr val="2B3A4C"/>
              </a:solidFill>
            </a:ln>
          </p:spPr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0590" y="2689713"/>
              <a:ext cx="1230660" cy="115682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5455825" y="4033933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三方審查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57730" y="4314920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CEDB"/>
                  </a:solidFill>
                  <a:latin typeface="Arial"/>
                  <a:ea typeface="Microsoft YaHei"/>
                  <a:cs typeface="Arial"/>
                </a:rPr>
                <a:t>發現 fragments未隱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57730" y="4508278"/>
              <a:ext cx="1291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CEDB"/>
                  </a:solidFill>
                  <a:latin typeface="Arial"/>
                  <a:ea typeface="Microsoft YaHei"/>
                  <a:cs typeface="Arial"/>
                </a:rPr>
                <a:t>藏（regression）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958870" y="2487073"/>
              <a:ext cx="1497520" cy="2476500"/>
            </a:xfrm>
            <a:prstGeom prst="roundRect">
              <a:avLst>
                <a:gd name="adj" fmla="val 699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67455" y="2633758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修正並合併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69360" y="2914745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CEDB"/>
                  </a:solidFill>
                  <a:latin typeface="Arial"/>
                  <a:ea typeface="Microsoft YaHei"/>
                  <a:cs typeface="Arial"/>
                </a:rPr>
                <a:t>修正 fragments顯示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69360" y="3108103"/>
              <a:ext cx="13071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CEDB"/>
                  </a:solidFill>
                  <a:latin typeface="Arial"/>
                  <a:ea typeface="Microsoft YaHei"/>
                  <a:cs typeface="Arial"/>
                </a:rPr>
                <a:t>問題，合併 PR #37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570690" y="2487073"/>
              <a:ext cx="1497520" cy="2476500"/>
            </a:xfrm>
            <a:prstGeom prst="roundRect">
              <a:avLst>
                <a:gd name="adj" fmla="val 6997"/>
              </a:avLst>
            </a:prstGeom>
            <a:solidFill>
              <a:srgbClr val="272315"/>
            </a:solidFill>
            <a:ln w="9525">
              <a:solidFill>
                <a:srgbClr val="8B703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95826" y="3328988"/>
              <a:ext cx="10472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Human Gate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57880" y="3639026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CEDB"/>
                  </a:solidFill>
                  <a:latin typeface="Arial"/>
                  <a:ea typeface="Microsoft YaHei"/>
                  <a:cs typeface="Arial"/>
                </a:rPr>
                <a:t>Owner拒絕接受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45771" y="3925252"/>
              <a:ext cx="13473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「偏離主軸」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182511" y="2487073"/>
              <a:ext cx="1497330" cy="2476500"/>
            </a:xfrm>
            <a:prstGeom prst="roundRect">
              <a:avLst>
                <a:gd name="adj" fmla="val 699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306336" y="2610898"/>
              <a:ext cx="1249680" cy="1314450"/>
            </a:xfrm>
            <a:prstGeom prst="roundRect">
              <a:avLst>
                <a:gd name="adj" fmla="val 5335"/>
              </a:avLst>
            </a:prstGeom>
            <a:solidFill>
              <a:srgbClr val="0B1119"/>
            </a:solidFill>
            <a:ln w="9525">
              <a:solidFill>
                <a:srgbClr val="2B3A4C"/>
              </a:solidFill>
            </a:ln>
          </p:spPr>
        </p:sp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15861" y="2998916"/>
              <a:ext cx="1230660" cy="538414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10291096" y="4033933"/>
              <a:ext cx="1042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v7 SSOT #41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93001" y="4314920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CEDB"/>
                  </a:solidFill>
                  <a:latin typeface="Arial"/>
                  <a:ea typeface="Microsoft YaHei"/>
                  <a:cs typeface="Arial"/>
                </a:rPr>
                <a:t>重寫成這一版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987457" y="2542699"/>
            <a:ext cx="8432170" cy="2077117"/>
            <a:chOff x="987457" y="2542699"/>
            <a:chExt cx="8432170" cy="2077117"/>
          </a:xfrm>
        </p:grpSpPr>
        <p:sp>
          <p:nvSpPr>
            <p:cNvPr id="3" name="TextBox 3"/>
            <p:cNvSpPr txBox="1"/>
            <p:nvPr/>
          </p:nvSpPr>
          <p:spPr>
            <a:xfrm>
              <a:off x="987457" y="2542699"/>
              <a:ext cx="1676918" cy="17556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40" b="1" dirty="0">
                  <a:solidFill>
                    <a:srgbClr val="42556C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8417" y="3572066"/>
              <a:ext cx="8371210" cy="780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84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第四段｜為什麼一隻 Agent不夠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72801" y="4229672"/>
              <a:ext cx="7073189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20" dirty="0">
                  <a:solidFill>
                    <a:srgbClr val="CAD5E2"/>
                  </a:solidFill>
                  <a:latin typeface="Arial"/>
                  <a:ea typeface="Microsoft YaHei"/>
                  <a:cs typeface="Arial"/>
                </a:rPr>
                <a:t>只用一個 Agent、用聊天推進，哪裡會壞？要改成什麼？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96" name="Group 96"/>
          <p:cNvGrpSpPr/>
          <p:nvPr/>
        </p:nvGrpSpPr>
        <p:grpSpPr>
          <a:xfrm>
            <a:off x="477831" y="336956"/>
            <a:ext cx="11202200" cy="4546797"/>
            <a:chOff x="477831" y="336956"/>
            <a:chExt cx="11202200" cy="4546797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3015588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用 AI的四種方式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2612517"/>
              <a:ext cx="11168062" cy="1814036"/>
            </a:xfrm>
            <a:prstGeom prst="roundRect">
              <a:avLst>
                <a:gd name="adj" fmla="val 5251"/>
              </a:avLst>
            </a:prstGeom>
            <a:solidFill>
              <a:srgbClr val="101821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521494" y="2622042"/>
              <a:ext cx="2006822" cy="36090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2528316" y="2622042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21494" y="2982944"/>
              <a:ext cx="2006822" cy="9525"/>
            </a:xfrm>
            <a:custGeom>
              <a:avLst/>
              <a:gdLst/>
              <a:ahLst/>
              <a:cxnLst/>
              <a:rect l="l" t="t" r="r" b="b"/>
              <a:pathLst>
                <a:path w="2006822" h="9525">
                  <a:moveTo>
                    <a:pt x="0" y="0"/>
                  </a:moveTo>
                  <a:lnTo>
                    <a:pt x="2006822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12934" y="2727770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EDF5"/>
                  </a:solidFill>
                  <a:latin typeface="Arial"/>
                  <a:ea typeface="Microsoft YaHei"/>
                  <a:cs typeface="Arial"/>
                </a:rPr>
                <a:t>方式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528316" y="2622042"/>
              <a:ext cx="2285428" cy="36090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4813744" y="2622042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528316" y="2982944"/>
              <a:ext cx="2285428" cy="9525"/>
            </a:xfrm>
            <a:custGeom>
              <a:avLst/>
              <a:gdLst/>
              <a:ahLst/>
              <a:cxnLst/>
              <a:rect l="l" t="t" r="r" b="b"/>
              <a:pathLst>
                <a:path w="2285428" h="9525">
                  <a:moveTo>
                    <a:pt x="0" y="0"/>
                  </a:moveTo>
                  <a:lnTo>
                    <a:pt x="228542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619756" y="2727770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EDF5"/>
                  </a:solidFill>
                  <a:latin typeface="Arial"/>
                  <a:ea typeface="Microsoft YaHei"/>
                  <a:cs typeface="Arial"/>
                </a:rPr>
                <a:t>誰決定步驟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813744" y="2622042"/>
              <a:ext cx="2285428" cy="36090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7099078" y="2622042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813744" y="2982944"/>
              <a:ext cx="2285333" cy="9525"/>
            </a:xfrm>
            <a:custGeom>
              <a:avLst/>
              <a:gdLst/>
              <a:ahLst/>
              <a:cxnLst/>
              <a:rect l="l" t="t" r="r" b="b"/>
              <a:pathLst>
                <a:path w="2285333" h="9525">
                  <a:moveTo>
                    <a:pt x="0" y="0"/>
                  </a:moveTo>
                  <a:lnTo>
                    <a:pt x="2285333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05184" y="2727770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EDF5"/>
                  </a:solidFill>
                  <a:latin typeface="Arial"/>
                  <a:ea typeface="Microsoft YaHei"/>
                  <a:cs typeface="Arial"/>
                </a:rPr>
                <a:t>狀態存在哪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99078" y="2622042"/>
              <a:ext cx="2285428" cy="36090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9384506" y="2622042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099078" y="2982944"/>
              <a:ext cx="2285429" cy="9525"/>
            </a:xfrm>
            <a:custGeom>
              <a:avLst/>
              <a:gdLst/>
              <a:ahLst/>
              <a:cxnLst/>
              <a:rect l="l" t="t" r="r" b="b"/>
              <a:pathLst>
                <a:path w="2285429" h="9525">
                  <a:moveTo>
                    <a:pt x="0" y="0"/>
                  </a:moveTo>
                  <a:lnTo>
                    <a:pt x="228542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90518" y="2727770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EDF5"/>
                  </a:solidFill>
                  <a:latin typeface="Arial"/>
                  <a:ea typeface="Microsoft YaHei"/>
                  <a:cs typeface="Arial"/>
                </a:rPr>
                <a:t>怎麼知道做完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384506" y="2622042"/>
              <a:ext cx="2286000" cy="360902"/>
            </a:xfrm>
            <a:prstGeom prst="rect">
              <a:avLst/>
            </a:prstGeom>
            <a:solidFill>
              <a:srgbClr val="1A2737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9384506" y="2982944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75946" y="2727770"/>
              <a:ext cx="1137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EDF5"/>
                  </a:solidFill>
                  <a:latin typeface="Arial"/>
                  <a:ea typeface="Microsoft YaHei"/>
                  <a:cs typeface="Arial"/>
                </a:rPr>
                <a:t>換 Session之後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21494" y="2982944"/>
              <a:ext cx="2006822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2528316" y="2982944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521494" y="3343846"/>
              <a:ext cx="2006822" cy="9525"/>
            </a:xfrm>
            <a:custGeom>
              <a:avLst/>
              <a:gdLst/>
              <a:ahLst/>
              <a:cxnLst/>
              <a:rect l="l" t="t" r="r" b="b"/>
              <a:pathLst>
                <a:path w="2006822" h="9525">
                  <a:moveTo>
                    <a:pt x="0" y="0"/>
                  </a:moveTo>
                  <a:lnTo>
                    <a:pt x="2006822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2934" y="308867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一問一答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528316" y="2982944"/>
              <a:ext cx="2285428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4813744" y="2982944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2528316" y="3343846"/>
              <a:ext cx="2285428" cy="9525"/>
            </a:xfrm>
            <a:custGeom>
              <a:avLst/>
              <a:gdLst/>
              <a:ahLst/>
              <a:cxnLst/>
              <a:rect l="l" t="t" r="r" b="b"/>
              <a:pathLst>
                <a:path w="2285428" h="9525">
                  <a:moveTo>
                    <a:pt x="0" y="0"/>
                  </a:moveTo>
                  <a:lnTo>
                    <a:pt x="228542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619756" y="308867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人逐步提問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813744" y="2982944"/>
              <a:ext cx="2285428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7099078" y="2982944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4813744" y="3343846"/>
              <a:ext cx="2285333" cy="9525"/>
            </a:xfrm>
            <a:custGeom>
              <a:avLst/>
              <a:gdLst/>
              <a:ahLst/>
              <a:cxnLst/>
              <a:rect l="l" t="t" r="r" b="b"/>
              <a:pathLst>
                <a:path w="2285333" h="9525">
                  <a:moveTo>
                    <a:pt x="0" y="0"/>
                  </a:moveTo>
                  <a:lnTo>
                    <a:pt x="2285333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05184" y="308867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對話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099078" y="2982944"/>
              <a:ext cx="2285428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9384506" y="2982944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099078" y="3343846"/>
              <a:ext cx="2285429" cy="9525"/>
            </a:xfrm>
            <a:custGeom>
              <a:avLst/>
              <a:gdLst/>
              <a:ahLst/>
              <a:cxnLst/>
              <a:rect l="l" t="t" r="r" b="b"/>
              <a:pathLst>
                <a:path w="2285429" h="9525">
                  <a:moveTo>
                    <a:pt x="0" y="0"/>
                  </a:moveTo>
                  <a:lnTo>
                    <a:pt x="228542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90518" y="308867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人看回覆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384506" y="2982944"/>
              <a:ext cx="2286000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9384506" y="3343846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75946" y="308867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新對話重說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21494" y="3343846"/>
              <a:ext cx="2006822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4" name="Line 44"/>
            <p:cNvSpPr/>
            <p:nvPr/>
          </p:nvSpPr>
          <p:spPr>
            <a:xfrm>
              <a:off x="2528316" y="3343846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521494" y="3704749"/>
              <a:ext cx="2006822" cy="9525"/>
            </a:xfrm>
            <a:custGeom>
              <a:avLst/>
              <a:gdLst/>
              <a:ahLst/>
              <a:cxnLst/>
              <a:rect l="l" t="t" r="r" b="b"/>
              <a:pathLst>
                <a:path w="2006822" h="9525">
                  <a:moveTo>
                    <a:pt x="0" y="0"/>
                  </a:moveTo>
                  <a:lnTo>
                    <a:pt x="2006822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2934" y="3449574"/>
              <a:ext cx="13224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Agentic Workflow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528316" y="3343846"/>
              <a:ext cx="2285428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4813744" y="3343846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2528316" y="3704749"/>
              <a:ext cx="2285428" cy="9525"/>
            </a:xfrm>
            <a:custGeom>
              <a:avLst/>
              <a:gdLst/>
              <a:ahLst/>
              <a:cxnLst/>
              <a:rect l="l" t="t" r="r" b="b"/>
              <a:pathLst>
                <a:path w="2285428" h="9525">
                  <a:moveTo>
                    <a:pt x="0" y="0"/>
                  </a:moveTo>
                  <a:lnTo>
                    <a:pt x="228542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619756" y="3449574"/>
              <a:ext cx="6630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固定 SOP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813744" y="3343846"/>
              <a:ext cx="2285428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7099078" y="3343846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4813744" y="3704749"/>
              <a:ext cx="2285333" cy="9525"/>
            </a:xfrm>
            <a:custGeom>
              <a:avLst/>
              <a:gdLst/>
              <a:ahLst/>
              <a:cxnLst/>
              <a:rect l="l" t="t" r="r" b="b"/>
              <a:pathLst>
                <a:path w="2285333" h="9525">
                  <a:moveTo>
                    <a:pt x="0" y="0"/>
                  </a:moveTo>
                  <a:lnTo>
                    <a:pt x="2285333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905184" y="3449574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流程執行記錄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099078" y="3343846"/>
              <a:ext cx="2285428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9384506" y="3343846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099078" y="3704749"/>
              <a:ext cx="2285429" cy="9525"/>
            </a:xfrm>
            <a:custGeom>
              <a:avLst/>
              <a:gdLst/>
              <a:ahLst/>
              <a:cxnLst/>
              <a:rect l="l" t="t" r="r" b="b"/>
              <a:pathLst>
                <a:path w="2285429" h="9525">
                  <a:moveTo>
                    <a:pt x="0" y="0"/>
                  </a:moveTo>
                  <a:lnTo>
                    <a:pt x="228542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90518" y="3449574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流程走完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384506" y="3343846"/>
              <a:ext cx="2286000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0" name="Line 60"/>
            <p:cNvSpPr/>
            <p:nvPr/>
          </p:nvSpPr>
          <p:spPr>
            <a:xfrm>
              <a:off x="9384506" y="3704749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475946" y="3449574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依流程記錄接續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21494" y="3704749"/>
              <a:ext cx="2006822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3" name="Line 63"/>
            <p:cNvSpPr/>
            <p:nvPr/>
          </p:nvSpPr>
          <p:spPr>
            <a:xfrm>
              <a:off x="2528316" y="3704749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521494" y="4065651"/>
              <a:ext cx="2006822" cy="9525"/>
            </a:xfrm>
            <a:custGeom>
              <a:avLst/>
              <a:gdLst/>
              <a:ahLst/>
              <a:cxnLst/>
              <a:rect l="l" t="t" r="r" b="b"/>
              <a:pathLst>
                <a:path w="2006822" h="9525">
                  <a:moveTo>
                    <a:pt x="0" y="0"/>
                  </a:moveTo>
                  <a:lnTo>
                    <a:pt x="2006822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12934" y="3810476"/>
              <a:ext cx="6247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AI Agent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528316" y="3704749"/>
              <a:ext cx="2285428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7" name="Line 67"/>
            <p:cNvSpPr/>
            <p:nvPr/>
          </p:nvSpPr>
          <p:spPr>
            <a:xfrm>
              <a:off x="4813744" y="3704749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2528316" y="4065651"/>
              <a:ext cx="2285428" cy="9525"/>
            </a:xfrm>
            <a:custGeom>
              <a:avLst/>
              <a:gdLst/>
              <a:ahLst/>
              <a:cxnLst/>
              <a:rect l="l" t="t" r="r" b="b"/>
              <a:pathLst>
                <a:path w="2285428" h="9525">
                  <a:moveTo>
                    <a:pt x="0" y="0"/>
                  </a:moveTo>
                  <a:lnTo>
                    <a:pt x="2285428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619756" y="3810476"/>
              <a:ext cx="1061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Agent自行決定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813744" y="3704749"/>
              <a:ext cx="2285428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1" name="Line 71"/>
            <p:cNvSpPr/>
            <p:nvPr/>
          </p:nvSpPr>
          <p:spPr>
            <a:xfrm>
              <a:off x="7099078" y="3704749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4813744" y="4065651"/>
              <a:ext cx="2285333" cy="9525"/>
            </a:xfrm>
            <a:custGeom>
              <a:avLst/>
              <a:gdLst/>
              <a:ahLst/>
              <a:cxnLst/>
              <a:rect l="l" t="t" r="r" b="b"/>
              <a:pathLst>
                <a:path w="2285333" h="9525">
                  <a:moveTo>
                    <a:pt x="0" y="0"/>
                  </a:moveTo>
                  <a:lnTo>
                    <a:pt x="2285333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905184" y="3810476"/>
              <a:ext cx="1084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Agent context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099078" y="3704749"/>
              <a:ext cx="2285428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5" name="Line 75"/>
            <p:cNvSpPr/>
            <p:nvPr/>
          </p:nvSpPr>
          <p:spPr>
            <a:xfrm>
              <a:off x="9384506" y="3704749"/>
              <a:ext cx="9525" cy="360902"/>
            </a:xfrm>
            <a:custGeom>
              <a:avLst/>
              <a:gdLst/>
              <a:ahLst/>
              <a:cxnLst/>
              <a:rect l="l" t="t" r="r" b="b"/>
              <a:pathLst>
                <a:path w="9525" h="360902">
                  <a:moveTo>
                    <a:pt x="0" y="0"/>
                  </a:moveTo>
                  <a:lnTo>
                    <a:pt x="0" y="360902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7099078" y="4065651"/>
              <a:ext cx="2285429" cy="9525"/>
            </a:xfrm>
            <a:custGeom>
              <a:avLst/>
              <a:gdLst/>
              <a:ahLst/>
              <a:cxnLst/>
              <a:rect l="l" t="t" r="r" b="b"/>
              <a:pathLst>
                <a:path w="2285429" h="9525">
                  <a:moveTo>
                    <a:pt x="0" y="0"/>
                  </a:moveTo>
                  <a:lnTo>
                    <a:pt x="2285429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190518" y="3810476"/>
              <a:ext cx="7550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Agent回報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384506" y="3704749"/>
              <a:ext cx="2286000" cy="36090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9" name="Line 79"/>
            <p:cNvSpPr/>
            <p:nvPr/>
          </p:nvSpPr>
          <p:spPr>
            <a:xfrm>
              <a:off x="9384506" y="4065651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475946" y="3810476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3DF"/>
                  </a:solidFill>
                  <a:latin typeface="Arial"/>
                  <a:ea typeface="Microsoft YaHei"/>
                  <a:cs typeface="Arial"/>
                </a:rPr>
                <a:t>依 context保存方式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21494" y="4065651"/>
              <a:ext cx="2006822" cy="351377"/>
            </a:xfrm>
            <a:prstGeom prst="rect">
              <a:avLst/>
            </a:prstGeom>
            <a:solidFill>
              <a:srgbClr val="13241A"/>
            </a:solidFill>
            <a:ln>
              <a:noFill/>
            </a:ln>
          </p:spPr>
        </p:sp>
        <p:sp>
          <p:nvSpPr>
            <p:cNvPr id="82" name="Line 82"/>
            <p:cNvSpPr/>
            <p:nvPr/>
          </p:nvSpPr>
          <p:spPr>
            <a:xfrm>
              <a:off x="2528316" y="4065651"/>
              <a:ext cx="9525" cy="351377"/>
            </a:xfrm>
            <a:custGeom>
              <a:avLst/>
              <a:gdLst/>
              <a:ahLst/>
              <a:cxnLst/>
              <a:rect l="l" t="t" r="r" b="b"/>
              <a:pathLst>
                <a:path w="9525" h="351377">
                  <a:moveTo>
                    <a:pt x="0" y="0"/>
                  </a:moveTo>
                  <a:lnTo>
                    <a:pt x="0" y="351377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12934" y="4171378"/>
              <a:ext cx="1567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1F4E6"/>
                  </a:solidFill>
                  <a:latin typeface="Arial"/>
                  <a:ea typeface="Microsoft YaHei"/>
                  <a:cs typeface="Arial"/>
                </a:rPr>
                <a:t>Work-driven多 Agent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2528316" y="4065651"/>
              <a:ext cx="2285428" cy="351377"/>
            </a:xfrm>
            <a:prstGeom prst="rect">
              <a:avLst/>
            </a:prstGeom>
            <a:solidFill>
              <a:srgbClr val="13241A"/>
            </a:solidFill>
            <a:ln>
              <a:noFill/>
            </a:ln>
          </p:spPr>
        </p:sp>
        <p:sp>
          <p:nvSpPr>
            <p:cNvPr id="85" name="Line 85"/>
            <p:cNvSpPr/>
            <p:nvPr/>
          </p:nvSpPr>
          <p:spPr>
            <a:xfrm>
              <a:off x="4813744" y="4065651"/>
              <a:ext cx="9525" cy="351377"/>
            </a:xfrm>
            <a:custGeom>
              <a:avLst/>
              <a:gdLst/>
              <a:ahLst/>
              <a:cxnLst/>
              <a:rect l="l" t="t" r="r" b="b"/>
              <a:pathLst>
                <a:path w="9525" h="351377">
                  <a:moveTo>
                    <a:pt x="0" y="0"/>
                  </a:moveTo>
                  <a:lnTo>
                    <a:pt x="0" y="351377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2619756" y="417137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1F4E6"/>
                  </a:solidFill>
                  <a:latin typeface="Arial"/>
                  <a:ea typeface="Microsoft YaHei"/>
                  <a:cs typeface="Arial"/>
                </a:rPr>
                <a:t>工作流與角色分工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4813744" y="4065651"/>
              <a:ext cx="2285428" cy="351377"/>
            </a:xfrm>
            <a:prstGeom prst="rect">
              <a:avLst/>
            </a:prstGeom>
            <a:solidFill>
              <a:srgbClr val="13241A"/>
            </a:solidFill>
            <a:ln>
              <a:noFill/>
            </a:ln>
          </p:spPr>
        </p:sp>
        <p:sp>
          <p:nvSpPr>
            <p:cNvPr id="88" name="Line 88"/>
            <p:cNvSpPr/>
            <p:nvPr/>
          </p:nvSpPr>
          <p:spPr>
            <a:xfrm>
              <a:off x="7099078" y="4065651"/>
              <a:ext cx="9525" cy="351377"/>
            </a:xfrm>
            <a:custGeom>
              <a:avLst/>
              <a:gdLst/>
              <a:ahLst/>
              <a:cxnLst/>
              <a:rect l="l" t="t" r="r" b="b"/>
              <a:pathLst>
                <a:path w="9525" h="351377">
                  <a:moveTo>
                    <a:pt x="0" y="0"/>
                  </a:moveTo>
                  <a:lnTo>
                    <a:pt x="0" y="351377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4905184" y="4171378"/>
              <a:ext cx="8011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1F4E6"/>
                  </a:solidFill>
                  <a:latin typeface="Arial"/>
                  <a:ea typeface="Microsoft YaHei"/>
                  <a:cs typeface="Arial"/>
                </a:rPr>
                <a:t>GitHub工件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7099078" y="4065651"/>
              <a:ext cx="2285428" cy="351377"/>
            </a:xfrm>
            <a:prstGeom prst="rect">
              <a:avLst/>
            </a:prstGeom>
            <a:solidFill>
              <a:srgbClr val="13241A"/>
            </a:solidFill>
            <a:ln>
              <a:noFill/>
            </a:ln>
          </p:spPr>
        </p:sp>
        <p:sp>
          <p:nvSpPr>
            <p:cNvPr id="91" name="Line 91"/>
            <p:cNvSpPr/>
            <p:nvPr/>
          </p:nvSpPr>
          <p:spPr>
            <a:xfrm>
              <a:off x="9384506" y="4065651"/>
              <a:ext cx="9525" cy="351377"/>
            </a:xfrm>
            <a:custGeom>
              <a:avLst/>
              <a:gdLst/>
              <a:ahLst/>
              <a:cxnLst/>
              <a:rect l="l" t="t" r="r" b="b"/>
              <a:pathLst>
                <a:path w="9525" h="351377">
                  <a:moveTo>
                    <a:pt x="0" y="0"/>
                  </a:moveTo>
                  <a:lnTo>
                    <a:pt x="0" y="351377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190518" y="4171378"/>
              <a:ext cx="23959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1F4E6"/>
                  </a:solidFill>
                  <a:latin typeface="Arial"/>
                  <a:ea typeface="Microsoft YaHei"/>
                  <a:cs typeface="Arial"/>
                </a:rPr>
                <a:t>PR Review／ QA／ Product Check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9384506" y="4065651"/>
              <a:ext cx="2286000" cy="351377"/>
            </a:xfrm>
            <a:prstGeom prst="rect">
              <a:avLst/>
            </a:prstGeom>
            <a:solidFill>
              <a:srgbClr val="13241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475946" y="41713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1F4E6"/>
                  </a:solidFill>
                  <a:latin typeface="Arial"/>
                  <a:ea typeface="Microsoft YaHei"/>
                  <a:cs typeface="Arial"/>
                </a:rPr>
                <a:t>讀票接手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46417" y="4639913"/>
              <a:ext cx="100991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概念參考：「一般使用 AI的方式／ Agentic Workflow／ AI Agent」分類圖。 Work-driven結合固定流程的可控與 Agent的彈性。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77831" y="336956"/>
            <a:ext cx="11202200" cy="4614234"/>
            <a:chOff x="477831" y="336956"/>
            <a:chExt cx="11202200" cy="4614234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6869765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一個 Agent做全部 vs分給多個 Agent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2545271"/>
              <a:ext cx="11168062" cy="1358170"/>
            </a:xfrm>
            <a:prstGeom prst="roundRect">
              <a:avLst>
                <a:gd name="adj" fmla="val 841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924044" y="2787206"/>
              <a:ext cx="23439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一個 Agent｜同一個 context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31044" y="3116771"/>
              <a:ext cx="10729912" cy="567595"/>
            </a:xfrm>
            <a:prstGeom prst="roundRect">
              <a:avLst>
                <a:gd name="adj" fmla="val 15103"/>
              </a:avLst>
            </a:prstGeom>
            <a:solidFill>
              <a:srgbClr val="201A2C"/>
            </a:solidFill>
            <a:ln w="9525">
              <a:solidFill>
                <a:srgbClr val="5A476D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227385" y="3292030"/>
              <a:ext cx="37372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Brainstorming→寫票→前端→後端→ Review→測試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11969" y="4055840"/>
              <a:ext cx="11168062" cy="476250"/>
            </a:xfrm>
            <a:prstGeom prst="roundRect">
              <a:avLst>
                <a:gd name="adj" fmla="val 18000"/>
              </a:avLst>
            </a:prstGeom>
            <a:solidFill>
              <a:srgbClr val="28191E"/>
            </a:solidFill>
            <a:ln w="9525">
              <a:solidFill>
                <a:srgbClr val="70434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98264" y="4202525"/>
              <a:ext cx="33954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C0B9"/>
                  </a:solidFill>
                  <a:latin typeface="Arial"/>
                  <a:ea typeface="Microsoft YaHei"/>
                  <a:cs typeface="Arial"/>
                </a:rPr>
                <a:t>context越塞越滿→忘了 Goal→自己說做好了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01871" y="4707350"/>
              <a:ext cx="35882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概念參考： Single／ Multiple Agent示意圖。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477831" y="336956"/>
            <a:ext cx="8993734" cy="3931292"/>
            <a:chOff x="477831" y="336956"/>
            <a:chExt cx="8993734" cy="3931292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5633131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Chat-driven vs Work-driven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2720435" y="3182398"/>
              <a:ext cx="400050" cy="476250"/>
            </a:xfrm>
            <a:prstGeom prst="roundRect">
              <a:avLst>
                <a:gd name="adj" fmla="val 21429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817590" y="3329083"/>
              <a:ext cx="205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187160" y="3315748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482435" y="3182398"/>
              <a:ext cx="1241488" cy="476250"/>
            </a:xfrm>
            <a:prstGeom prst="roundRect">
              <a:avLst>
                <a:gd name="adj" fmla="val 1800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505200" y="3329083"/>
              <a:ext cx="11959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 session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90599" y="3315748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085874" y="3182398"/>
              <a:ext cx="1314450" cy="476250"/>
            </a:xfrm>
            <a:prstGeom prst="roundRect">
              <a:avLst>
                <a:gd name="adj" fmla="val 1800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114449" y="3329083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「做到哪了？」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6999" y="3315748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62274" y="3182398"/>
              <a:ext cx="1436370" cy="476250"/>
            </a:xfrm>
            <a:prstGeom prst="roundRect">
              <a:avLst>
                <a:gd name="adj" fmla="val 1800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77323" y="3329083"/>
              <a:ext cx="14062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context越來越長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65319" y="3315748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60594" y="3182398"/>
              <a:ext cx="910971" cy="476250"/>
            </a:xfrm>
            <a:prstGeom prst="roundRect">
              <a:avLst>
                <a:gd name="adj" fmla="val 18000"/>
              </a:avLst>
            </a:prstGeom>
            <a:solidFill>
              <a:srgbClr val="2A191C"/>
            </a:solidFill>
            <a:ln w="9525">
              <a:solidFill>
                <a:srgbClr val="77464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63785" y="3329083"/>
              <a:ext cx="9045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AAA5"/>
                  </a:solidFill>
                  <a:latin typeface="Arial"/>
                  <a:ea typeface="Microsoft YaHei"/>
                  <a:cs typeface="Arial"/>
                </a:rPr>
                <a:t>goal drift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117020" y="3830098"/>
              <a:ext cx="1957959" cy="438150"/>
            </a:xfrm>
            <a:prstGeom prst="roundRect">
              <a:avLst>
                <a:gd name="adj" fmla="val 19565"/>
              </a:avLst>
            </a:prstGeom>
            <a:solidFill>
              <a:srgbClr val="291C2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2656" y="3967258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B5AD"/>
                  </a:solidFill>
                  <a:latin typeface="Arial"/>
                  <a:ea typeface="Microsoft YaHei"/>
                  <a:cs typeface="Arial"/>
                </a:rPr>
                <a:t>開新 Session→又失憶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-84010" y="336956"/>
            <a:ext cx="12360021" cy="4790351"/>
            <a:chOff x="-84010" y="336956"/>
            <a:chExt cx="12360021" cy="4790351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6684270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Work-driven： Agent從看板拉取票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2369153"/>
              <a:ext cx="11167872" cy="400050"/>
            </a:xfrm>
            <a:prstGeom prst="roundRect">
              <a:avLst>
                <a:gd name="adj" fmla="val 21429"/>
              </a:avLst>
            </a:prstGeom>
            <a:solidFill>
              <a:srgbClr val="172B3E"/>
            </a:solidFill>
            <a:ln w="9525">
              <a:solidFill>
                <a:srgbClr val="83BCFF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30079" y="2487263"/>
              <a:ext cx="2431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Epic｜互相喜歡才配對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33006" y="2493931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泳道標題，不是欄位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1969" y="2864453"/>
              <a:ext cx="1530096" cy="628650"/>
            </a:xfrm>
            <a:prstGeom prst="roundRect">
              <a:avLst>
                <a:gd name="adj" fmla="val 136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3750" y="3115437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118265" y="2864453"/>
              <a:ext cx="1530096" cy="628650"/>
            </a:xfrm>
            <a:prstGeom prst="roundRect">
              <a:avLst>
                <a:gd name="adj" fmla="val 13636"/>
              </a:avLst>
            </a:prstGeom>
            <a:solidFill>
              <a:srgbClr val="172B3E"/>
            </a:solidFill>
            <a:ln w="9525">
              <a:solidFill>
                <a:srgbClr val="83BC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648480" y="3115437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724561" y="2864453"/>
              <a:ext cx="1530096" cy="628650"/>
            </a:xfrm>
            <a:prstGeom prst="roundRect">
              <a:avLst>
                <a:gd name="adj" fmla="val 136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343432" y="3115437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0857" y="2864453"/>
              <a:ext cx="1530096" cy="628650"/>
            </a:xfrm>
            <a:prstGeom prst="roundRect">
              <a:avLst>
                <a:gd name="adj" fmla="val 136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20912" y="3115437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937153" y="2864453"/>
              <a:ext cx="1530096" cy="628650"/>
            </a:xfrm>
            <a:prstGeom prst="roundRect">
              <a:avLst>
                <a:gd name="adj" fmla="val 136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84203" y="3115437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43449" y="2864453"/>
              <a:ext cx="1530096" cy="628650"/>
            </a:xfrm>
            <a:prstGeom prst="roundRect">
              <a:avLst>
                <a:gd name="adj" fmla="val 136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39642" y="3115437"/>
              <a:ext cx="1137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149745" y="2864453"/>
              <a:ext cx="1530096" cy="628650"/>
            </a:xfrm>
            <a:prstGeom prst="roundRect">
              <a:avLst>
                <a:gd name="adj" fmla="val 136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24336" y="3115437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118265" y="3588353"/>
              <a:ext cx="1530096" cy="1081659"/>
            </a:xfrm>
            <a:prstGeom prst="roundRect">
              <a:avLst>
                <a:gd name="adj" fmla="val 7925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228755" y="3732181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28755" y="3969353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28755" y="4206430"/>
              <a:ext cx="14145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5D4E2"/>
                  </a:solidFill>
                  <a:latin typeface="Arial"/>
                  <a:ea typeface="Microsoft YaHei"/>
                  <a:cs typeface="Arial"/>
                </a:rPr>
                <a:t>自 Ready拉取· WIP=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28755" y="4386453"/>
              <a:ext cx="726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5D4E2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-84010" y="4883467"/>
              <a:ext cx="123600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工作單位是 ticket： Agent從 Ready拉取（WIP= 1），各站依 AC／ DoD交接 PR、 review與證據。 Product Check等 Human Gate放行；新 Session讀票接手。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987457" y="2542699"/>
            <a:ext cx="11376538" cy="2077117"/>
            <a:chOff x="987457" y="2542699"/>
            <a:chExt cx="11376538" cy="2077117"/>
          </a:xfrm>
        </p:grpSpPr>
        <p:sp>
          <p:nvSpPr>
            <p:cNvPr id="3" name="TextBox 3"/>
            <p:cNvSpPr txBox="1"/>
            <p:nvPr/>
          </p:nvSpPr>
          <p:spPr>
            <a:xfrm>
              <a:off x="987457" y="2542699"/>
              <a:ext cx="1676918" cy="17556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40" b="1" dirty="0">
                  <a:solidFill>
                    <a:srgbClr val="42556C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8417" y="3572066"/>
              <a:ext cx="11315578" cy="780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84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第五段｜讓多個 Agent可靠協作的五個原則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72801" y="4229672"/>
              <a:ext cx="8264957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20" dirty="0">
                  <a:solidFill>
                    <a:srgbClr val="CAD5E2"/>
                  </a:solidFill>
                  <a:latin typeface="Arial"/>
                  <a:ea typeface="Microsoft YaHei"/>
                  <a:cs typeface="Arial"/>
                </a:rPr>
                <a:t>第四段的 work-driven為什麼要這樣設計？每個原則具體怎麼做？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477831" y="336956"/>
            <a:ext cx="8764943" cy="4940942"/>
            <a:chOff x="477831" y="336956"/>
            <a:chExt cx="8764943" cy="4940942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1717121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五個原則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154394" y="2172748"/>
              <a:ext cx="5883212" cy="552450"/>
            </a:xfrm>
            <a:prstGeom prst="roundRect">
              <a:avLst>
                <a:gd name="adj" fmla="val 1551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301079" y="2367058"/>
              <a:ext cx="1815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External task state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63279" y="2367058"/>
              <a:ext cx="29660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GitHub Issue／看板；新 Session讀票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154394" y="2810923"/>
              <a:ext cx="5883212" cy="552450"/>
            </a:xfrm>
            <a:prstGeom prst="roundRect">
              <a:avLst>
                <a:gd name="adj" fmla="val 1551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301079" y="3005233"/>
              <a:ext cx="16590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Bounded execution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3279" y="3005233"/>
              <a:ext cx="33604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AC、 Out-of-scope、 Stop rule、 WIP= 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154394" y="3449098"/>
              <a:ext cx="5883212" cy="552450"/>
            </a:xfrm>
            <a:prstGeom prst="roundRect">
              <a:avLst>
                <a:gd name="adj" fmla="val 1551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301079" y="3643408"/>
              <a:ext cx="14106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Role separation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3279" y="3643408"/>
              <a:ext cx="24928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一個 Agent一個角色、一個目標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154394" y="4087273"/>
              <a:ext cx="5883212" cy="552450"/>
            </a:xfrm>
            <a:prstGeom prst="roundRect">
              <a:avLst>
                <a:gd name="adj" fmla="val 1551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01079" y="4281583"/>
              <a:ext cx="22295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Independent verification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3279" y="4281583"/>
              <a:ext cx="35794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PR Review、 QA與 Developer分開；只認證據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154394" y="4725448"/>
              <a:ext cx="5883212" cy="552450"/>
            </a:xfrm>
            <a:prstGeom prst="roundRect">
              <a:avLst>
                <a:gd name="adj" fmla="val 1551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01079" y="4919758"/>
              <a:ext cx="16130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Goal re-anchoring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63279" y="4919758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票連回 Goal；變更回 Human Gate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477831" y="336956"/>
            <a:ext cx="9704394" cy="4531367"/>
            <a:chOff x="477831" y="336956"/>
            <a:chExt cx="9704394" cy="4531367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4066727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External task state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2009775" y="2582323"/>
              <a:ext cx="3714750" cy="2286000"/>
            </a:xfrm>
            <a:prstGeom prst="roundRect">
              <a:avLst>
                <a:gd name="adj" fmla="val 5833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590925" y="2829973"/>
              <a:ext cx="552450" cy="552450"/>
            </a:xfrm>
            <a:prstGeom prst="roundRect">
              <a:avLst>
                <a:gd name="adj" fmla="val 24138"/>
              </a:avLst>
            </a:prstGeom>
            <a:solidFill>
              <a:srgbClr val="2D263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702534" y="2887123"/>
              <a:ext cx="3292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D4B4FF"/>
                  </a:solidFill>
                  <a:latin typeface="Arial"/>
                  <a:ea typeface="Microsoft YaHei"/>
                  <a:cs typeface="Arial"/>
                </a:rPr>
                <a:t>…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483864" y="3500533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聊天泡泡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38500" y="3805333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狀態藏在對話裡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72538" y="3568160"/>
              <a:ext cx="2469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467475" y="2582323"/>
              <a:ext cx="3714750" cy="2286000"/>
            </a:xfrm>
            <a:prstGeom prst="roundRect">
              <a:avLst>
                <a:gd name="adj" fmla="val 5833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048625" y="2829973"/>
              <a:ext cx="552450" cy="552450"/>
            </a:xfrm>
            <a:prstGeom prst="roundRect">
              <a:avLst>
                <a:gd name="adj" fmla="val 24138"/>
              </a:avLst>
            </a:prstGeom>
            <a:solidFill>
              <a:srgbClr val="26384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79284" y="2858548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95558" y="3500533"/>
              <a:ext cx="8585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Issue卡片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08209" y="3805333"/>
              <a:ext cx="26330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GitHub Issue／看板留下工作狀態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14673" y="4205383"/>
              <a:ext cx="22203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新 Session讀票，不讀聊天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477831" y="336956"/>
            <a:ext cx="10571169" cy="4369442"/>
            <a:chOff x="477831" y="336956"/>
            <a:chExt cx="10571169" cy="4369442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3716347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Bounded execution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143000" y="2744248"/>
              <a:ext cx="9906000" cy="1962150"/>
            </a:xfrm>
            <a:prstGeom prst="roundRect">
              <a:avLst>
                <a:gd name="adj" fmla="val 679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1152525" y="2753773"/>
              <a:ext cx="9886950" cy="533400"/>
            </a:xfrm>
            <a:prstGeom prst="rect">
              <a:avLst/>
            </a:prstGeom>
            <a:solidFill>
              <a:srgbClr val="17253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29690" y="2945225"/>
              <a:ext cx="6247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ISSUE #3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39506" y="2923794"/>
              <a:ext cx="15658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95400" y="3430048"/>
              <a:ext cx="2336006" cy="952500"/>
            </a:xfrm>
            <a:prstGeom prst="roundRect">
              <a:avLst>
                <a:gd name="adj" fmla="val 900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13510" y="3586258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5415" y="3888200"/>
              <a:ext cx="7550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A/B/C情境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717131" y="3430048"/>
              <a:ext cx="2336006" cy="952500"/>
            </a:xfrm>
            <a:prstGeom prst="roundRect">
              <a:avLst>
                <a:gd name="adj" fmla="val 900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35241" y="3586258"/>
              <a:ext cx="12818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Out-of-scope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37146" y="3888200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聊天、推薦、解除配對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38862" y="3430048"/>
              <a:ext cx="2336006" cy="952500"/>
            </a:xfrm>
            <a:prstGeom prst="roundRect">
              <a:avLst>
                <a:gd name="adj" fmla="val 9000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56972" y="3586258"/>
              <a:ext cx="8493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Stop rule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58878" y="3888200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超出核准範圍，先停下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60594" y="3430048"/>
              <a:ext cx="2336006" cy="952500"/>
            </a:xfrm>
            <a:prstGeom prst="roundRect">
              <a:avLst>
                <a:gd name="adj" fmla="val 9000"/>
              </a:avLst>
            </a:prstGeom>
            <a:solidFill>
              <a:srgbClr val="18283A"/>
            </a:solidFill>
            <a:ln w="9525">
              <a:solidFill>
                <a:srgbClr val="536B8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78704" y="3586258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WIP=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80609" y="3888200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一次只做一張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477831" y="336956"/>
            <a:ext cx="11202295" cy="4340867"/>
            <a:chOff x="477831" y="336956"/>
            <a:chExt cx="11202295" cy="4340867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3159862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Role separation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2772823"/>
              <a:ext cx="2699194" cy="1905000"/>
            </a:xfrm>
            <a:prstGeom prst="roundRect">
              <a:avLst>
                <a:gd name="adj" fmla="val 600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1613916" y="2972848"/>
              <a:ext cx="495300" cy="495300"/>
            </a:xfrm>
            <a:prstGeom prst="roundRect">
              <a:avLst>
                <a:gd name="adj" fmla="val 50000"/>
              </a:avLst>
            </a:prstGeom>
            <a:solidFill>
              <a:srgbClr val="263C5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775143" y="3002852"/>
              <a:ext cx="17284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75759" y="3576733"/>
              <a:ext cx="11714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PO/PM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64850" y="3869150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規劃與接受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334988" y="2772823"/>
              <a:ext cx="2699194" cy="1905000"/>
            </a:xfrm>
            <a:prstGeom prst="roundRect">
              <a:avLst>
                <a:gd name="adj" fmla="val 600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436840" y="2972848"/>
              <a:ext cx="495300" cy="495300"/>
            </a:xfrm>
            <a:prstGeom prst="roundRect">
              <a:avLst>
                <a:gd name="adj" fmla="val 50000"/>
              </a:avLst>
            </a:prstGeom>
            <a:solidFill>
              <a:srgbClr val="263C5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98067" y="3002852"/>
              <a:ext cx="17284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36701" y="3576733"/>
              <a:ext cx="895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16123" y="3767233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64450" y="3869150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依票實作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57912" y="2772823"/>
              <a:ext cx="2699194" cy="1905000"/>
            </a:xfrm>
            <a:prstGeom prst="roundRect">
              <a:avLst>
                <a:gd name="adj" fmla="val 600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9860" y="2972848"/>
              <a:ext cx="495300" cy="495300"/>
            </a:xfrm>
            <a:prstGeom prst="roundRect">
              <a:avLst>
                <a:gd name="adj" fmla="val 50000"/>
              </a:avLst>
            </a:prstGeom>
            <a:solidFill>
              <a:srgbClr val="263C5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21086" y="3002852"/>
              <a:ext cx="17284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64321" y="3576733"/>
              <a:ext cx="8861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 Review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9143" y="3767233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87470" y="3869150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獨立審查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980932" y="2772823"/>
              <a:ext cx="2699194" cy="1905000"/>
            </a:xfrm>
            <a:prstGeom prst="roundRect">
              <a:avLst>
                <a:gd name="adj" fmla="val 600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0082784" y="2972848"/>
              <a:ext cx="495300" cy="495300"/>
            </a:xfrm>
            <a:prstGeom prst="roundRect">
              <a:avLst>
                <a:gd name="adj" fmla="val 50000"/>
              </a:avLst>
            </a:prstGeom>
            <a:solidFill>
              <a:srgbClr val="263C5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19858" y="3002852"/>
              <a:ext cx="22115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Q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95579" y="3576733"/>
              <a:ext cx="269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62162" y="3767233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79723" y="3869150"/>
              <a:ext cx="701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依 AC驗證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477831" y="336956"/>
            <a:ext cx="8395468" cy="4283717"/>
            <a:chOff x="477831" y="336956"/>
            <a:chExt cx="8395468" cy="4283717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4994203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Independent verification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670363" y="2982373"/>
              <a:ext cx="1871472" cy="971550"/>
            </a:xfrm>
            <a:prstGeom prst="roundRect">
              <a:avLst>
                <a:gd name="adj" fmla="val 11765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877866" y="3224308"/>
              <a:ext cx="14566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 Agent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152805" y="3548158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「做好了」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785181" y="3310985"/>
              <a:ext cx="2469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275356" y="2829973"/>
              <a:ext cx="2246090" cy="1276350"/>
            </a:xfrm>
            <a:prstGeom prst="roundRect">
              <a:avLst>
                <a:gd name="adj" fmla="val 8955"/>
              </a:avLst>
            </a:prstGeom>
            <a:solidFill>
              <a:srgbClr val="121C28"/>
            </a:solidFill>
            <a:ln w="9525">
              <a:solidFill>
                <a:srgbClr val="42694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82863" y="3071908"/>
              <a:ext cx="830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 Agent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11969" y="3395758"/>
              <a:ext cx="15727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5D5C9"/>
                  </a:solidFill>
                  <a:latin typeface="Arial"/>
                  <a:ea typeface="Microsoft YaHei"/>
                  <a:cs typeface="Arial"/>
                </a:rPr>
                <a:t>核對 #3的 AC與證據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35637" y="3716750"/>
              <a:ext cx="1725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PASS／ FAIL／ NOT RUN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670363" y="4201573"/>
              <a:ext cx="4851082" cy="419100"/>
            </a:xfrm>
            <a:prstGeom prst="rect">
              <a:avLst/>
            </a:prstGeom>
            <a:solidFill>
              <a:srgbClr val="131E2B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3670363" y="4201573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36098" y="4329208"/>
              <a:ext cx="3341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DoD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42244" y="4329208"/>
              <a:ext cx="46310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PR Review、 QA與 Developer分開；只認證據，不認自述。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477831" y="336956"/>
            <a:ext cx="9320803" cy="5098104"/>
            <a:chOff x="477831" y="336956"/>
            <a:chExt cx="9320803" cy="5098104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7261366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Goal re-anchoring：回到 parent Goal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211735" y="2053685"/>
              <a:ext cx="5768626" cy="619125"/>
            </a:xfrm>
            <a:prstGeom prst="roundRect">
              <a:avLst>
                <a:gd name="adj" fmla="val 12308"/>
              </a:avLst>
            </a:prstGeom>
            <a:solidFill>
              <a:srgbClr val="211D14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211735" y="2053685"/>
              <a:ext cx="9525" cy="619125"/>
            </a:xfrm>
            <a:custGeom>
              <a:avLst/>
              <a:gdLst/>
              <a:ahLst/>
              <a:cxnLst/>
              <a:rect l="l" t="t" r="r" b="b"/>
              <a:pathLst>
                <a:path w="9525" h="619125">
                  <a:moveTo>
                    <a:pt x="0" y="0"/>
                  </a:moveTo>
                  <a:lnTo>
                    <a:pt x="0" y="619125"/>
                  </a:lnTo>
                </a:path>
              </a:pathLst>
            </a:custGeom>
            <a:noFill/>
            <a:ln w="38100">
              <a:solidFill>
                <a:srgbClr val="F2CF7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382232" y="2255139"/>
              <a:ext cx="641640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E5A6"/>
                  </a:solidFill>
                  <a:latin typeface="Arial"/>
                  <a:ea typeface="Microsoft YaHei"/>
                  <a:cs typeface="Arial"/>
                </a:rPr>
                <a:t>「功能完全符合 AC，但這根本不是我們現在需要的東西。」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519862" y="2844260"/>
              <a:ext cx="2460403" cy="952500"/>
            </a:xfrm>
            <a:prstGeom prst="roundRect">
              <a:avLst>
                <a:gd name="adj" fmla="val 1000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14756" y="309572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Product / Goal Check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17080" y="3381470"/>
              <a:ext cx="12660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不要繼續 patch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86438" y="3911060"/>
              <a:ext cx="457200" cy="19050"/>
            </a:xfrm>
            <a:prstGeom prst="rect">
              <a:avLst/>
            </a:prstGeom>
            <a:solidFill>
              <a:srgbClr val="F2CF7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211735" y="4044410"/>
              <a:ext cx="2460403" cy="952500"/>
            </a:xfrm>
            <a:prstGeom prst="roundRect">
              <a:avLst>
                <a:gd name="adj" fmla="val 10000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31712" y="4295870"/>
              <a:ext cx="22203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Ticket Refinement / Goal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34880" y="4581620"/>
              <a:ext cx="24140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回到 parent：互相喜歡才配對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39224" y="5191220"/>
              <a:ext cx="63135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1DBE6"/>
                  </a:solidFill>
                  <a:latin typeface="Arial"/>
                  <a:ea typeface="Microsoft YaHei"/>
                  <a:cs typeface="Arial"/>
                </a:rPr>
                <a:t>#3連回 parent Goal；釐清後重排 Backlog，需要改 Goal時交 Human Gate決定。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987457" y="2542699"/>
            <a:ext cx="6047232" cy="2077117"/>
            <a:chOff x="987457" y="2542699"/>
            <a:chExt cx="6047232" cy="2077117"/>
          </a:xfrm>
        </p:grpSpPr>
        <p:sp>
          <p:nvSpPr>
            <p:cNvPr id="3" name="TextBox 3"/>
            <p:cNvSpPr txBox="1"/>
            <p:nvPr/>
          </p:nvSpPr>
          <p:spPr>
            <a:xfrm>
              <a:off x="987457" y="2542699"/>
              <a:ext cx="1676918" cy="17556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40" b="1" dirty="0">
                  <a:solidFill>
                    <a:srgbClr val="42556C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8417" y="3572066"/>
              <a:ext cx="5986272" cy="780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84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第六段｜系統長什麼樣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72801" y="4229672"/>
              <a:ext cx="4815840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20" dirty="0">
                  <a:solidFill>
                    <a:srgbClr val="CAD5E2"/>
                  </a:solidFill>
                  <a:latin typeface="Arial"/>
                  <a:ea typeface="Microsoft YaHei"/>
                  <a:cs typeface="Arial"/>
                </a:rPr>
                <a:t>把前面全部組起來，是一套什麼系統？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5" name="Group 55"/>
          <p:cNvGrpSpPr/>
          <p:nvPr/>
        </p:nvGrpSpPr>
        <p:grpSpPr>
          <a:xfrm>
            <a:off x="477831" y="336956"/>
            <a:ext cx="9799644" cy="5321942"/>
            <a:chOff x="477831" y="336956"/>
            <a:chExt cx="9799644" cy="5321942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1717121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架構六層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005965" y="1859375"/>
              <a:ext cx="4372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交辦↓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714833" y="1859375"/>
              <a:ext cx="4372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↑回報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924050" y="2144173"/>
              <a:ext cx="8343900" cy="514350"/>
            </a:xfrm>
            <a:prstGeom prst="roundRect">
              <a:avLst>
                <a:gd name="adj" fmla="val 14815"/>
              </a:avLst>
            </a:prstGeom>
            <a:noFill/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1924050" y="2144173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0267950" y="2144173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924050" y="2658523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24050" y="2144173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38100">
              <a:solidFill>
                <a:srgbClr val="48617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72640" y="2326100"/>
              <a:ext cx="24017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1｜ Goal／ Governance（Why?）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2965" y="2326100"/>
              <a:ext cx="22886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人：目標、優先序、 Human Gate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73290" y="2326100"/>
              <a:ext cx="25569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Agent： PO/PM Agent整理 Goal與票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24050" y="2734723"/>
              <a:ext cx="8343900" cy="514350"/>
            </a:xfrm>
            <a:prstGeom prst="roundRect">
              <a:avLst>
                <a:gd name="adj" fmla="val 14815"/>
              </a:avLst>
            </a:prstGeom>
            <a:noFill/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1924050" y="2734723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267950" y="2734723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924050" y="3249073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924050" y="2734723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38100">
              <a:solidFill>
                <a:srgbClr val="6B75B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72640" y="2916650"/>
              <a:ext cx="25385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2｜ Planning／ Backlog（What?）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72965" y="2916650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人：選擇與排序工作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73290" y="2916650"/>
              <a:ext cx="1966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Agent：拆解並維護 Backlog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924050" y="3325273"/>
              <a:ext cx="8343900" cy="514350"/>
            </a:xfrm>
            <a:prstGeom prst="roundRect">
              <a:avLst>
                <a:gd name="adj" fmla="val 14815"/>
              </a:avLst>
            </a:prstGeom>
            <a:noFill/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1924050" y="3325273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0267950" y="3325273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924050" y="3839623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924050" y="3325273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38100">
              <a:solidFill>
                <a:srgbClr val="8071B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072640" y="3507200"/>
              <a:ext cx="26754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3｜ Task Graph／ Kanban（State）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72965" y="3507200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人：共享看板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73290" y="3507200"/>
              <a:ext cx="15218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Agent：讀取票與狀態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924050" y="3915823"/>
              <a:ext cx="8343900" cy="514350"/>
            </a:xfrm>
            <a:prstGeom prst="roundRect">
              <a:avLst>
                <a:gd name="adj" fmla="val 14815"/>
              </a:avLst>
            </a:prstGeom>
            <a:noFill/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1924050" y="3915823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267950" y="3915823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924050" y="4430173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924050" y="3915823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38100">
              <a:solidFill>
                <a:srgbClr val="9169A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072640" y="4097750"/>
              <a:ext cx="2530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4｜ Orchestrator（Who next?）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72965" y="4097750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人：決定下一個負責者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73290" y="4097750"/>
              <a:ext cx="1981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Agent：依看板派給下一角色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924050" y="4506373"/>
              <a:ext cx="8343900" cy="514350"/>
            </a:xfrm>
            <a:prstGeom prst="roundRect">
              <a:avLst>
                <a:gd name="adj" fmla="val 14815"/>
              </a:avLst>
            </a:prstGeom>
            <a:noFill/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1924050" y="4506373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10267950" y="4506373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1924050" y="5020723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1924050" y="4506373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38100">
              <a:solidFill>
                <a:srgbClr val="4F8C7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072640" y="4688300"/>
              <a:ext cx="26754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5｜ Execution Runtime（Do work）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72965" y="4688300"/>
              <a:ext cx="1100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人： Developer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73290" y="4688300"/>
              <a:ext cx="18362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Agent： Developer Agent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924050" y="5096923"/>
              <a:ext cx="8343900" cy="514350"/>
            </a:xfrm>
            <a:prstGeom prst="roundRect">
              <a:avLst>
                <a:gd name="adj" fmla="val 14815"/>
              </a:avLst>
            </a:prstGeom>
            <a:noFill/>
            <a:ln>
              <a:noFill/>
            </a:ln>
          </p:spPr>
        </p:sp>
        <p:sp>
          <p:nvSpPr>
            <p:cNvPr id="47" name="Line 47"/>
            <p:cNvSpPr/>
            <p:nvPr/>
          </p:nvSpPr>
          <p:spPr>
            <a:xfrm>
              <a:off x="1924050" y="5096923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10267950" y="5096923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1924050" y="5611273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1924050" y="5096923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38100">
              <a:solidFill>
                <a:srgbClr val="70A77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072640" y="5278850"/>
              <a:ext cx="28284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6｜ PR Review／ QA／ Human（Verify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072640" y="5445538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672965" y="5278850"/>
              <a:ext cx="25263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人： PR Review、 QA、 Human Gate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73290" y="5278850"/>
              <a:ext cx="28406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Agent： PR Review／ QA Agent回報證據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477831" y="336956"/>
            <a:ext cx="11202010" cy="6568764"/>
            <a:chOff x="477831" y="336956"/>
            <a:chExt cx="11202010" cy="6568764"/>
          </a:xfrm>
        </p:grpSpPr>
        <p:sp>
          <p:nvSpPr>
            <p:cNvPr id="3" name="TextBox 3"/>
            <p:cNvSpPr txBox="1"/>
            <p:nvPr/>
          </p:nvSpPr>
          <p:spPr>
            <a:xfrm>
              <a:off x="477831" y="336956"/>
              <a:ext cx="7220145" cy="546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88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Kanban回顧： Agent依序拉取同一張票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11969" y="1792319"/>
              <a:ext cx="11167872" cy="400050"/>
            </a:xfrm>
            <a:prstGeom prst="roundRect">
              <a:avLst>
                <a:gd name="adj" fmla="val 21429"/>
              </a:avLst>
            </a:prstGeom>
            <a:solidFill>
              <a:srgbClr val="172B3E"/>
            </a:solidFill>
            <a:ln w="9525">
              <a:solidFill>
                <a:srgbClr val="83BCFF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30079" y="1910429"/>
              <a:ext cx="2431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Epic｜互相喜歡才配對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99756" y="1917097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泳道標題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1969" y="2287619"/>
              <a:ext cx="1530096" cy="628650"/>
            </a:xfrm>
            <a:prstGeom prst="roundRect">
              <a:avLst>
                <a:gd name="adj" fmla="val 13636"/>
              </a:avLst>
            </a:prstGeom>
            <a:solidFill>
              <a:srgbClr val="172B3E"/>
            </a:solidFill>
            <a:ln w="9525">
              <a:solidFill>
                <a:srgbClr val="83BCF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3750" y="2538603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118265" y="2287619"/>
              <a:ext cx="1530096" cy="628650"/>
            </a:xfrm>
            <a:prstGeom prst="roundRect">
              <a:avLst>
                <a:gd name="adj" fmla="val 136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648480" y="2538603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724561" y="2287619"/>
              <a:ext cx="1530096" cy="628650"/>
            </a:xfrm>
            <a:prstGeom prst="roundRect">
              <a:avLst>
                <a:gd name="adj" fmla="val 136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343432" y="2538603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0857" y="2287619"/>
              <a:ext cx="1530096" cy="628650"/>
            </a:xfrm>
            <a:prstGeom prst="roundRect">
              <a:avLst>
                <a:gd name="adj" fmla="val 136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20912" y="2538603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937153" y="2287619"/>
              <a:ext cx="1530096" cy="628650"/>
            </a:xfrm>
            <a:prstGeom prst="roundRect">
              <a:avLst>
                <a:gd name="adj" fmla="val 136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84203" y="2538603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43449" y="2287619"/>
              <a:ext cx="1530096" cy="628650"/>
            </a:xfrm>
            <a:prstGeom prst="roundRect">
              <a:avLst>
                <a:gd name="adj" fmla="val 136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39642" y="2538603"/>
              <a:ext cx="1137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149745" y="2287619"/>
              <a:ext cx="1530096" cy="628650"/>
            </a:xfrm>
            <a:prstGeom prst="roundRect">
              <a:avLst>
                <a:gd name="adj" fmla="val 136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24336" y="2538603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11969" y="3011519"/>
              <a:ext cx="1530096" cy="901732"/>
            </a:xfrm>
            <a:prstGeom prst="roundRect">
              <a:avLst>
                <a:gd name="adj" fmla="val 9507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2459" y="3155347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2459" y="3392424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2459" y="3629501"/>
              <a:ext cx="11921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5D4E2"/>
                  </a:solidFill>
                  <a:latin typeface="Arial"/>
                  <a:ea typeface="Microsoft YaHei"/>
                  <a:cs typeface="Arial"/>
                </a:rPr>
                <a:t>全程交接· WIP= 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118265" y="4008501"/>
              <a:ext cx="1530096" cy="600075"/>
            </a:xfrm>
            <a:prstGeom prst="roundRect">
              <a:avLst>
                <a:gd name="adj" fmla="val 12698"/>
              </a:avLst>
            </a:prstGeom>
            <a:solidFill>
              <a:srgbClr val="151F2C"/>
            </a:solidFill>
            <a:ln w="9525">
              <a:solidFill>
                <a:srgbClr val="394C6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90655" y="4114228"/>
              <a:ext cx="15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90655" y="4352354"/>
              <a:ext cx="904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118265" y="4703826"/>
              <a:ext cx="1530096" cy="600075"/>
            </a:xfrm>
            <a:prstGeom prst="roundRect">
              <a:avLst>
                <a:gd name="adj" fmla="val 12698"/>
              </a:avLst>
            </a:prstGeom>
            <a:solidFill>
              <a:srgbClr val="151F2C"/>
            </a:solidFill>
            <a:ln w="9525">
              <a:solidFill>
                <a:srgbClr val="394C6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190655" y="4809554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90655" y="5047679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56633" y="6440900"/>
              <a:ext cx="9678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#1、 #2等待； #3依序經 Developer、 PR Review、 QA、 Product / Goal Check Agent， Human Gate放行後完成（WIP= 1）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93035" y="6661880"/>
              <a:ext cx="205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