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4.xml"/>
</Relationships>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5.xml"/>
</Relationships>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6.xml"/>
</Relationships>
</file>

<file path=ppt/notesSlides/_rels/notesSlide4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7.xml"/>
</Relationships>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8.xml"/>
</Relationships>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9.xml"/>
</Relationships>
</file>

<file path=ppt/notesSlides/_rels/notesSlide5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0.xml"/>
</Relationships>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1.xml"/>
</Relationships>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2.xml"/>
</Relationships>
</file>

<file path=ppt/notesSlides/_rels/notesSlide5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3.xml"/>
</Relationships>
</file>

<file path=ppt/notesSlides/_rels/notesSlide5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4.xml"/>
</Relationships>
</file>

<file path=ppt/notesSlides/_rels/notesSlide5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5.xml"/>
</Relationships>
</file>

<file path=ppt/notesSlides/_rels/notesSlide5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6.xml"/>
</Relationships>
</file>

<file path=ppt/notesSlides/_rels/notesSlide5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7.xml"/>
</Relationships>
</file>

<file path=ppt/notesSlides/_rels/notesSlide5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8.xml"/>
</Relationships>
</file>

<file path=ppt/notesSlides/_rels/notesSlide5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9.xml"/>
</Relationships>
</file>

<file path=ppt/notesSlides/_rels/notesSlide6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0.xml"/>
</Relationships>
</file>

<file path=ppt/notesSlides/_rels/notesSlide6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1.xml"/>
</Relationships>
</file>

<file path=ppt/notesSlides/_rels/notesSlide6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2.xml"/>
</Relationships>
</file>

<file path=ppt/notesSlides/_rels/notesSlide6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3.xml"/>
</Relationships>
</file>

<file path=ppt/notesSlides/_rels/notesSlide6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4.xml"/>
</Relationships>
</file>

<file path=ppt/notesSlides/_rels/notesSlide6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5.xml"/>
</Relationships>
</file>

<file path=ppt/notesSlides/_rels/notesSlide6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6.xml"/>
</Relationships>
</file>

<file path=ppt/notesSlides/_rels/notesSlide6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7.xml"/>
</Relationships>
</file>

<file path=ppt/notesSlides/_rels/notesSlide6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8.xml"/>
</Relationships>
</file>

<file path=ppt/notesSlides/_rels/notesSlide6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9.xml"/>
</Relationships>
</file>

<file path=ppt/notesSlides/_rels/notesSlide7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0.xml"/>
</Relationships>
</file>

<file path=ppt/notesSlides/_rels/notesSlide7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1.xml"/>
</Relationships>
</file>

<file path=ppt/notesSlides/_rels/notesSlide7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2.xml"/>
</Relationships>
</file>

<file path=ppt/notesSlides/_rels/notesSlide7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3.xml"/>
</Relationships>
</file>

<file path=ppt/notesSlides/_rels/notesSlide7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4.xml"/>
</Relationships>
</file>

<file path=ppt/notesSlides/_rels/notesSlide7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5.xml"/>
</Relationships>
</file>

<file path=ppt/notesSlides/_rels/notesSlide7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6.xml"/>
</Relationships>
</file>

<file path=ppt/notesSlides/_rels/notesSlide7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7.xml"/>
</Relationships>
</file>

<file path=ppt/notesSlides/_rels/notesSlide7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8.xml"/>
</Relationships>
</file>

<file path=ppt/notesSlides/_rels/notesSlide7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9.xml"/>
</Relationships>
</file>

<file path=ppt/notesSlides/_rels/notesSlide8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0.xml"/>
</Relationships>
</file>

<file path=ppt/notesSlides/_rels/notesSlide8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1.xml"/>
</Relationships>
</file>

<file path=ppt/notesSlides/_rels/notesSlide8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2.xml"/>
</Relationships>
</file>

<file path=ppt/notesSlides/_rels/notesSlide8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3.xml"/>
</Relationships>
</file>

<file path=ppt/notesSlides/_rels/notesSlide8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4.xml"/>
</Relationships>
</file>

<file path=ppt/notesSlides/_rels/notesSlide8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5.xml"/>
</Relationships>
</file>

<file path=ppt/notesSlides/_rels/notesSlide8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6.xml"/>
</Relationships>
</file>

<file path=ppt/notesSlides/_rels/notesSlide8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7.xml"/>
</Relationships>
</file>

<file path=ppt/notesSlides/_rels/notesSlide8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8.xml"/>
</Relationships>
</file>

<file path=ppt/notesSlides/_rels/notesSlide8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9.xml"/>
</Relationships>
</file>

<file path=ppt/notesSlides/_rels/notesSlide9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0.xml"/>
</Relationships>
</file>

<file path=ppt/notesSlides/_rels/notesSlide9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1.xml"/>
</Relationships>
</file>

<file path=ppt/notesSlides/_rels/notesSlide9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2.xml"/>
</Relationships>
</file>

<file path=ppt/notesSlides/_rels/notesSlide9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3.xml"/>
</Relationships>
</file>

<file path=ppt/notesSlides/_rels/notesSlide9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4.xml"/>
</Relationships>
</file>

<file path=ppt/notesSlides/_rels/notesSlide9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5.xml"/>
</Relationships>
</file>

<file path=ppt/notesSlides/_rels/notesSlide9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6.xml"/>
</Relationships>
</file>

<file path=ppt/notesSlides/_rels/notesSlide9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7.xml"/>
</Relationships>
</file>

<file path=ppt/notesSlides/_rels/notesSlide9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8.xml"/>
</Relationships>
</file>

<file path=ppt/notesSlides/_rels/notesSlide9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9.xml"/>
</Relationships>
</file>

<file path=ppt/notesSlides/_rels/notesSlide10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0.xml"/>
</Relationships>
</file>

<file path=ppt/notesSlides/_rels/notesSlide10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1.xml"/>
</Relationships>
</file>

<file path=ppt/notesSlides/_rels/notesSlide10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2.xml"/>
</Relationships>
</file>

<file path=ppt/notesSlides/_rels/notesSlide10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3.xml"/>
</Relationships>
</file>

<file path=ppt/notesSlides/_rels/notesSlide10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4.xml"/>
</Relationships>
</file>

<file path=ppt/notesSlides/_rels/notesSlide10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5.xml"/>
</Relationships>
</file>

<file path=ppt/notesSlides/_rels/notesSlide10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6.xml"/>
</Relationships>
</file>

<file path=ppt/notesSlides/_rels/notesSlide10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01；source ID：P01；章節 C0。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P01。</a:t>
            </a:r>
          </a:p>
          <a:p>
            <a:r>
              <a:rPr lang="zh-CN" dirty="0"/>
              <a:t>• 教學作用： 先有共同案例，後面的工具才有使用情境。</a:t>
            </a:r>
          </a:p>
          <a:p>
            <a:r>
              <a:rPr lang="zh-CN" dirty="0"/>
              <a:t>• 帶入方式： 沿用封面，口頭預告：先看人類怎麼做，再看 Agent 接手。</a:t>
            </a:r>
          </a:p>
          <a:p>
            <a:r>
              <a:rPr lang="zh-CN" dirty="0"/>
              <a:t>• 帶走重點： 這堂課跟著同一個產品走。</a:t>
            </a:r>
          </a:p>
          <a:p>
            <a:r>
              <a:rPr lang="zh-CN" dirty="0"/>
              <a:t>• 圖面／示範： 封面原樣沿用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打造配對交友 App</a:t>
            </a:r>
          </a:p>
          <a:p>
            <a:r>
              <a:rPr lang="zh-CN" dirty="0"/>
              <a:t>講者轉場：我們到底要完成哪種使用者體驗？</a:t>
            </a:r>
          </a:p>
          <a:p>
            <a:endParaRPr lang="zh-CN" dirty="0"/>
          </a:p>
          <a:p>
            <a:r>
              <a:rPr lang="zh-CN" dirty="0"/>
              <a:t>• 2026-10-09 合併後學員可見版本： 此頁明示使用電腦閱讀；手機版仍在開發中。 同一配對 App 作為 running example；首頁提供可見的「請用電腦版閱讀／手機版開發中」。</a:t>
            </a:r>
          </a:p>
          <a:p>
            <a:endParaRPr lang="zh-CN" dirty="0"/>
          </a:p>
          <a:p>
            <a:r>
              <a:rPr lang="zh-CN" dirty="0"/>
              <a:t>• 本輪跨頁橋接：接著看整堂課的路線：這個 App 為什麼需要人類流程與 Agent？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A01；舊 rev11 頁：無；章節 C0。</a:t>
            </a:r>
          </a:p>
          <a:p>
            <a:r>
              <a:rPr lang="zh-CN" dirty="0"/>
              <a:t>• 教學作用：學員將知道軟體工程與 Agent 合作如何在同一小產品中串起來。</a:t>
            </a:r>
          </a:p>
          <a:p>
            <a:r>
              <a:rPr lang="zh-CN" dirty="0"/>
              <a:t>• 帶走重點：小產品不是唯一成果；學會的是交付與驗收方法。</a:t>
            </a:r>
          </a:p>
          <a:p>
            <a:r>
              <a:rPr lang="zh-CN" dirty="0"/>
              <a:t>• 圖面／示範：整門課課程地圖：人類職能、細拆流程、Agent 接手、人類驗收；同一 Matching App 走完全程。</a:t>
            </a:r>
          </a:p>
          <a:p>
            <a:r>
              <a:rPr lang="zh-CN" dirty="0"/>
              <a:t>• 主畫面訊息：先懂人類如何合作交付，再將可交辦工作交給 Agent；人依證據決定接受或退回。</a:t>
            </a:r>
          </a:p>
          <a:p>
            <a:r>
              <a:rPr lang="zh-CN" dirty="0"/>
              <a:t>講者轉場：接著看這個案例要做出什麼使用者體驗。</a:t>
            </a:r>
          </a:p>
          <a:p>
            <a:r>
              <a:rPr lang="zh-CN" dirty="0"/>
              <a:t>• 規格來源：Issue comment 5 §1</a:t>
            </a:r>
          </a:p>
          <a:p>
            <a:endParaRPr lang="zh-CN" dirty="0"/>
          </a:p>
          <a:p>
            <a:r>
              <a:rPr lang="zh-CN" dirty="0"/>
              <a:t>• 本輪整門課主軸修正：整份教材沿人類職能與流程、細拆交付、Agent 代勞、人類驗收整門課前進。 四張輕量課程地圖卡，所有章節都對回這條主線；不先教名詞清單。</a:t>
            </a:r>
          </a:p>
          <a:p>
            <a:r>
              <a:rPr lang="zh-CN" dirty="0"/>
              <a:t>• 本次開場需求：Advance Organizer / Whole Picture。不是替教材定死四階段；目前的八章只是一份可依教學需求調整的內容大綱。</a:t>
            </a:r>
          </a:p>
          <a:p>
            <a:r>
              <a:rPr lang="zh-CN" dirty="0"/>
              <a:t>• 重要敘事鏈：先理解人如何解決問題與分工 → 工作票／版本／實作／驗收如何接力 → Agent 如何接手 → 人如何按證據驗收。Matching App、三張 Ticket 及 A/B 證據維持同一世界線。</a:t>
            </a:r>
          </a:p>
          <a:p>
            <a:r>
              <a:rPr lang="zh-CN" dirty="0"/>
              <a:t>• 學員帶走：知道為什麼要學每一章、下一章承接上章什麼；此頁不先教熟練 Git/AC/QA 等細節。</a:t>
            </a:r>
          </a:p>
          <a:p>
            <a:r>
              <a:rPr lang="zh-CN" dirty="0"/>
              <a:t>• 設計驗收：八張可辨讀的章節問句卡（第八張附錄標為參考），頁序來自章節 manifest；每張卡可跳到該章；章封面能返回 Whole Picture。</a:t>
            </a:r>
          </a:p>
          <a:p>
            <a:endParaRPr lang="zh-CN" dirty="0"/>
          </a:p>
          <a:p>
            <a:r>
              <a:rPr lang="zh-CN" dirty="0"/>
              <a:t>• 2026-10-10 G4 主畫面重做： 用 Matching App 看全課八個章節；從人類職責、票與版本、測試，到 Agent 接手和人的接受。 八個章節各保留可點擊標題和一行課程定位，刪第三行重複目的。附錄是選讀。 畫面放大一項決策／流程。原有細節可由本講者筆記及 source/rev11 查閱。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審查修正：每章的目標以白話行動描述，避免第一張 Outline 就用未教過的縮寫考學員。 仍保留八章 Whole Picture，但 C1/C2 副標先講可以做的事，章內才教 Git／AC／AT 的正式名稱。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02；source ID：P02；章節 C0。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P02。</a:t>
            </a:r>
          </a:p>
          <a:p>
            <a:r>
              <a:rPr lang="zh-CN" dirty="0"/>
              <a:t>• 教學作用： 先知道使用者的問題。</a:t>
            </a:r>
          </a:p>
          <a:p>
            <a:r>
              <a:rPr lang="zh-CN" dirty="0"/>
              <a:t>• 帶入方式： 沿用卡片與 Like／Pass 示意，以單向喜歡的困境帶入。</a:t>
            </a:r>
          </a:p>
          <a:p>
            <a:r>
              <a:rPr lang="zh-CN" dirty="0"/>
              <a:t>• 帶走重點： 使用者要確認彼此喜歡。</a:t>
            </a:r>
          </a:p>
          <a:p>
            <a:r>
              <a:rPr lang="zh-CN" dirty="0"/>
              <a:t>• 圖面／示範： 沿用手機示意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看見對方的卡片</a:t>
            </a:r>
          </a:p>
          <a:p>
            <a:r>
              <a:rPr lang="zh-CN" dirty="0"/>
              <a:t>• 表達 Like／Pass</a:t>
            </a:r>
          </a:p>
          <a:p>
            <a:r>
              <a:rPr lang="zh-CN" dirty="0"/>
              <a:t>• 避免單向喜歡的尷尬與時間浪費</a:t>
            </a:r>
          </a:p>
          <a:p>
            <a:r>
              <a:rPr lang="zh-CN" dirty="0"/>
              <a:t>講者轉場：這次先做哪些功能？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03；source ID：P03；章節 C0。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P03。</a:t>
            </a:r>
          </a:p>
          <a:p>
            <a:r>
              <a:rPr lang="zh-CN" dirty="0"/>
              <a:t>• 教學作用： 固定範圍，避免案例越講越大。</a:t>
            </a:r>
          </a:p>
          <a:p>
            <a:r>
              <a:rPr lang="zh-CN" dirty="0"/>
              <a:t>• 帶入方式： 順著 #1→#3→#2 指出輸入、判斷與呈現。</a:t>
            </a:r>
          </a:p>
          <a:p>
            <a:r>
              <a:rPr lang="zh-CN" dirty="0"/>
              <a:t>• 帶走重點： 三張票與既定不做範圍。</a:t>
            </a:r>
          </a:p>
          <a:p>
            <a:r>
              <a:rPr lang="zh-CN" dirty="0"/>
              <a:t>• 圖面／示範： 沿用三段產品示意，不改功能範圍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#1：表達喜好</a:t>
            </a:r>
          </a:p>
          <a:p>
            <a:r>
              <a:rPr lang="zh-CN" dirty="0"/>
              <a:t>• #3：雙向才配對</a:t>
            </a:r>
          </a:p>
          <a:p>
            <a:r>
              <a:rPr lang="zh-CN" dirty="0"/>
              <a:t>• #2：看見配對結果；聊天／推薦／解除配對不在本輪</a:t>
            </a:r>
          </a:p>
          <a:p>
            <a:r>
              <a:rPr lang="zh-CN" dirty="0"/>
              <a:t>講者轉場：如果全由人類做，要找哪些角色？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04；source ID：P04；章節 C0。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P04。</a:t>
            </a:r>
          </a:p>
          <a:p>
            <a:r>
              <a:rPr lang="zh-CN" dirty="0"/>
              <a:t>• 教學作用： 先交代合作全貌，才下鑽工具與站點。</a:t>
            </a:r>
          </a:p>
          <a:p>
            <a:r>
              <a:rPr lang="zh-CN" dirty="0"/>
              <a:t>• 帶入方式： 沿用章封面，說明接著看「誰交什麼、誰收什麼」。</a:t>
            </a:r>
          </a:p>
          <a:p>
            <a:r>
              <a:rPr lang="zh-CN" dirty="0"/>
              <a:t>• 帶走重點： 人類團隊的全貌入口。</a:t>
            </a:r>
          </a:p>
          <a:p>
            <a:r>
              <a:rPr lang="zh-CN" dirty="0"/>
              <a:t>• 圖面／示範： 沿用章封面；副標與頂端大章節導覽一致，不顯示舊版編號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角色、流程、一張全貌圖</a:t>
            </a:r>
          </a:p>
          <a:p>
            <a:r>
              <a:rPr lang="zh-CN" dirty="0"/>
              <a:t>講者轉場：每個角色負責什麼？</a:t>
            </a:r>
          </a:p>
          <a:p>
            <a:endParaRPr lang="zh-CN" dirty="0"/>
          </a:p>
          <a:p>
            <a:r>
              <a:rPr lang="zh-CN" dirty="0"/>
              <a:t>• 本輪四階段主軸修正：先理解職能為什麼存在：同一工作從問題開始，沿責任與交付物走到接受。 章封面上顯示第一階段，緊接第 6 頁四卡全貌與第 7 頁交付檢核。</a:t>
            </a:r>
          </a:p>
          <a:p>
            <a:endParaRPr lang="zh-CN" dirty="0"/>
          </a:p>
          <a:p>
            <a:r>
              <a:rPr lang="zh-CN" dirty="0"/>
              <a:t>• 2026-10-10 初學者教學修正：人類怎麼接手一張票，哪些工作要交、誰接受？</a:t>
            </a:r>
          </a:p>
          <a:p>
            <a:endParaRPr lang="zh-CN" dirty="0"/>
          </a:p>
          <a:p>
            <a:r>
              <a:rPr lang="zh-CN" dirty="0"/>
              <a:t>• 2026-10-10 G4 主畫面重做： 用 #1／#3／#2 同一個 App 介紹需求、實作與人的審查接受。 一條三站路徑：釐清需求 → 設計與實作 → 審查與接受，學員能指出誰交付、誰接受；說明保留 Notes。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05；source ID：P05；章節 C0。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P05。</a:t>
            </a:r>
          </a:p>
          <a:p>
            <a:r>
              <a:rPr lang="zh-CN" dirty="0"/>
              <a:t>• 教學作用： 先看到需求→設計交給 Dev→三張票的實作與核對→需求方接受的全貌，才有職能學習的理由。</a:t>
            </a:r>
          </a:p>
          <a:p>
            <a:r>
              <a:rPr lang="zh-CN" dirty="0"/>
              <a:t>• 帶入方式： 以 #1／#2／#3 的共同案例，讓學生看見 UI／UX 的設計是 Dev 的輸入，而不等於 #1／#2 已經實作完成。</a:t>
            </a:r>
          </a:p>
          <a:p>
            <a:r>
              <a:rPr lang="zh-CN" dirty="0"/>
              <a:t>• 帶走重點： 每站只保留一個工作問題、一份交接物，並用箭頭連到下一站；詳細輸入／交付範例在後續流程及講者筆記。</a:t>
            </a:r>
          </a:p>
          <a:p>
            <a:r>
              <a:rPr lang="zh-CN" dirty="0"/>
              <a:t>• 圖面／示範： 四個輕量區塊：問題／輸入（給 Dev 的設計）／交付（Dev 實作 #1–#3 並交核對證據）／接受；Reviewer、QA 下頁細拆。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問題：需求方／PO 形成目標與 AC</a:t>
            </a:r>
          </a:p>
          <a:p>
            <a:r>
              <a:rPr lang="zh-CN" dirty="0"/>
              <a:t>• 輸入：UI／UX 設計 #1／#2 並交給 Dev</a:t>
            </a:r>
          </a:p>
          <a:p>
            <a:r>
              <a:rPr lang="zh-CN" dirty="0"/>
              <a:t>• 交付：Dev 實作 #1／#2／#3，經審查、驗證後留證據</a:t>
            </a:r>
          </a:p>
          <a:p>
            <a:r>
              <a:rPr lang="zh-CN" dirty="0"/>
              <a:t>• 接受：需求方依目標與證據接受或退回</a:t>
            </a:r>
          </a:p>
          <a:p>
            <a:r>
              <a:rPr lang="zh-CN" dirty="0"/>
              <a:t>講者轉場：工作如何出去、帶著證據回來？</a:t>
            </a:r>
          </a:p>
          <a:p>
            <a:endParaRPr lang="zh-CN" dirty="0"/>
          </a:p>
          <a:p>
            <a:r>
              <a:rPr lang="zh-CN" dirty="0"/>
              <a:t>• 本輪四階段主軸修正：工作沿問題、輸入、交付、接受四站前進；PO、UI／UX、Dev、Reviewer、QA、需求方都有對應位置。 四張小卡連成一條人類流程，職能名稱、核心行動、Matching 實例各一行；不再用三張密集職能表。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A02；舊 rev11 頁：無；章節 C0。</a:t>
            </a:r>
          </a:p>
          <a:p>
            <a:r>
              <a:rPr lang="zh-CN" dirty="0"/>
              <a:t>• 教學作用：職能代表責任，不代表人數、Agent 數或看板欄位。</a:t>
            </a:r>
          </a:p>
          <a:p>
            <a:r>
              <a:rPr lang="zh-CN" dirty="0"/>
              <a:t>• 帶走重點：角色是責任；同一個人可以承擔多種責任。</a:t>
            </a:r>
          </a:p>
          <a:p>
            <a:r>
              <a:rPr lang="zh-CN" dirty="0"/>
              <a:t>• 圖面／示範：四張簡短接力卡：Dev 交版本 → Reviewer 查改動 → QA 驗行為與原始證據 → 需求方接受／退回。</a:t>
            </a:r>
          </a:p>
          <a:p>
            <a:r>
              <a:rPr lang="zh-CN" dirty="0"/>
              <a:t>• 主畫面訊息：Reviewer 看差異，QA 驗行為，需求方根據證據接受、退回或暫停。</a:t>
            </a:r>
          </a:p>
          <a:p>
            <a:r>
              <a:rPr lang="zh-CN" dirty="0"/>
              <a:t>講者轉場：請先完成本章 Exit Check；之後再進入下一章。原轉場：知道團隊需要哪些責任後，先從使用者問題形成目標。</a:t>
            </a:r>
          </a:p>
          <a:p>
            <a:r>
              <a:rPr lang="zh-CN" dirty="0"/>
              <a:t>• 規格來源：Issue comments 1–2, 5 §3</a:t>
            </a:r>
          </a:p>
          <a:p>
            <a:endParaRPr lang="zh-CN" dirty="0"/>
          </a:p>
          <a:p>
            <a:r>
              <a:rPr lang="zh-CN" dirty="0"/>
              <a:t>• 本輪四階段主軸修正：Dev 交版本，Reviewer 看改動，QA 驗行為，需求方核對證據後接受或退回。 四張短卡串接同一張 #3：交付 → 審查 → 驗證 → 接受，與第 6 頁保持同一模型。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A18；章節 C0；原有內容全部保留。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帶走重點：能辨認職能、交付物與需求方的接受責任。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Q1：沿著問題 → 輸入 → 交付 → 接受，說出做 Matching App 的職能和交接物。</a:t>
            </a:r>
          </a:p>
          <a:p>
            <a:r>
              <a:rPr lang="zh-CN" dirty="0"/>
              <a:t>• 參考答案：PO 交 Goal／AC → UI／UX 交設計 → Dev 交三張票的版本 → Reviewer 交意見、QA 交證據 → 需求方接受／退回。</a:t>
            </a:r>
          </a:p>
          <a:p>
            <a:r>
              <a:rPr lang="zh-CN" dirty="0"/>
              <a:t>• Q2：Reviewer、QA 和需求方各自要回答什麼？</a:t>
            </a:r>
          </a:p>
          <a:p>
            <a:r>
              <a:rPr lang="zh-CN" dirty="0"/>
              <a:t>• 參考答案：Reviewer 看修改是否合理且未超出範圍；QA 對照 AC 與證據；需求方作接受、退回或暫停決定。</a:t>
            </a:r>
          </a:p>
          <a:p>
            <a:r>
              <a:rPr lang="zh-CN" dirty="0"/>
              <a:t>• Q3：需要六種工作責任，就一定要六個人嗎？</a:t>
            </a:r>
          </a:p>
          <a:p>
            <a:r>
              <a:rPr lang="zh-CN" dirty="0"/>
              <a:t>• 參考答案：不一定。職能代表責任，不代表人數；同一個人可以承擔多項工作，仍應分清審查與接受責任。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2026-10-09 Editorial Review 修正： 能分辨工作責任、人數與接受責任，不在 Agent 正式介紹前預設知道 Agent 數。</a:t>
            </a:r>
          </a:p>
          <a:p>
            <a:endParaRPr lang="zh-CN" dirty="0"/>
          </a:p>
          <a:p>
            <a:r>
              <a:rPr lang="zh-CN" dirty="0"/>
              <a:t>• 本輪跨頁橋接：剛才分清職能；下一章看 PO 如何把配對問題變成可交辦的工作票。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沿著問題 → 輸入 → 交付 → 接受，說出做 Matching App 的職能和交接物。</a:t>
            </a:r>
          </a:p>
          <a:p>
            <a:r>
              <a:rPr lang="zh-CN" dirty="0"/>
              <a:t>自己先回答，再揭露參考答案PO 交 Goal／AC → UI／UX 交設計 → Dev 交三張票的版本 → Reviewer 交意見、QA 交證據 → 需求方接受／退回。</a:t>
            </a:r>
          </a:p>
          <a:p>
            <a:endParaRPr lang="zh-CN" dirty="0"/>
          </a:p>
          <a:p>
            <a:r>
              <a:rPr lang="zh-CN" dirty="0"/>
              <a:t>Q2 Reviewer、QA 和需求方各自要回答什麼？</a:t>
            </a:r>
          </a:p>
          <a:p>
            <a:r>
              <a:rPr lang="zh-CN" dirty="0"/>
              <a:t>自己先回答，再揭露參考答案Reviewer 看修改是否合理且未超出範圍；QA 對照 AC 與證據；需求方作接受、退回或暫停決定。</a:t>
            </a:r>
          </a:p>
          <a:p>
            <a:endParaRPr lang="zh-CN" dirty="0"/>
          </a:p>
          <a:p>
            <a:r>
              <a:rPr lang="zh-CN" dirty="0"/>
              <a:t>Q3 需要六種工作責任，就一定要六個人嗎？</a:t>
            </a:r>
          </a:p>
          <a:p>
            <a:r>
              <a:rPr lang="zh-CN" dirty="0"/>
              <a:t>自己先回答，再揭露參考答案不一定。職能代表責任，不代表人數；同一個人可以承擔多項工作，仍應分清審查與接受責任。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16；source ID：P14；章節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P14。</a:t>
            </a:r>
          </a:p>
          <a:p>
            <a:r>
              <a:rPr lang="zh-CN" dirty="0"/>
              <a:t>• 教學作用： 工具不會替團隊決定需求。</a:t>
            </a:r>
          </a:p>
          <a:p>
            <a:r>
              <a:rPr lang="zh-CN" dirty="0"/>
              <a:t>• 帶入方式： 沿用章封面，預告跟著 #3 走三小節。</a:t>
            </a:r>
          </a:p>
          <a:p>
            <a:r>
              <a:rPr lang="zh-CN" dirty="0"/>
              <a:t>• 帶走重點： 從釐清、驗證到放行的完整旅程。</a:t>
            </a:r>
          </a:p>
          <a:p>
            <a:r>
              <a:rPr lang="zh-CN" dirty="0"/>
              <a:t>• 圖面／示範： 沿用章封面，三小節作講者引導，不硬加三張封面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釐清到 Ready</a:t>
            </a:r>
          </a:p>
          <a:p>
            <a:r>
              <a:rPr lang="zh-CN" dirty="0"/>
              <a:t>• 實作到驗證</a:t>
            </a:r>
          </a:p>
          <a:p>
            <a:r>
              <a:rPr lang="zh-CN" dirty="0"/>
              <a:t>• 放行到整體結果</a:t>
            </a:r>
          </a:p>
          <a:p>
            <a:r>
              <a:rPr lang="zh-CN" dirty="0"/>
              <a:t>講者轉場：先從使用者問題形成 Goal。</a:t>
            </a:r>
          </a:p>
          <a:p>
            <a:endParaRPr lang="zh-CN" dirty="0"/>
          </a:p>
          <a:p>
            <a:r>
              <a:rPr lang="zh-CN" dirty="0"/>
              <a:t>• 2026-10-10 初學者教學修正：從人類職責接到 Idea→Goal→Ticket→AC／AT→Ready，學員能寫出可交辦、可驗的 #3 票。</a:t>
            </a:r>
          </a:p>
          <a:p>
            <a:endParaRPr lang="zh-CN" dirty="0"/>
          </a:p>
          <a:p>
            <a:r>
              <a:rPr lang="zh-CN" dirty="0"/>
              <a:t>• 2026-10-10 G4 主畫面重做： PO 將配對問題變成 Goal、Ticket、AC／AT，檢查能否進 Ready。 三站：Goal → #1/#3/#2 → AC/AT→Ready；畫面少於原三個長段落。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17；source ID：P15；章節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P15。</a:t>
            </a:r>
          </a:p>
          <a:p>
            <a:r>
              <a:rPr lang="zh-CN" dirty="0"/>
              <a:t>• 教學作用： 先問問題，不從功能清單直接開工。</a:t>
            </a:r>
          </a:p>
          <a:p>
            <a:r>
              <a:rPr lang="zh-CN" dirty="0"/>
              <a:t>• 帶入方式： 保留為誰／問題／方案與本輪不選的內容。</a:t>
            </a:r>
          </a:p>
          <a:p>
            <a:r>
              <a:rPr lang="zh-CN" dirty="0"/>
              <a:t>• 帶走重點： 問題與使用者結果形成共同 Goal。</a:t>
            </a:r>
          </a:p>
          <a:p>
            <a:r>
              <a:rPr lang="zh-CN" dirty="0"/>
              <a:t>• 圖面／示範： 沿用問題到 Goal 圖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為誰？</a:t>
            </a:r>
          </a:p>
          <a:p>
            <a:r>
              <a:rPr lang="zh-CN" dirty="0"/>
              <a:t>• 單向喜歡不能算配對</a:t>
            </a:r>
          </a:p>
          <a:p>
            <a:r>
              <a:rPr lang="zh-CN" dirty="0"/>
              <a:t>• 先用雙向 Like 解決，這輪不做聊天與推薦</a:t>
            </a:r>
          </a:p>
          <a:p>
            <a:r>
              <a:rPr lang="zh-CN" dirty="0"/>
              <a:t>講者轉場：怎樣的 Goal 才能判斷有沒有進展？</a:t>
            </a:r>
          </a:p>
          <a:p>
            <a:endParaRPr lang="zh-CN" dirty="0"/>
          </a:p>
          <a:p>
            <a:r>
              <a:rPr lang="zh-CN" dirty="0"/>
              <a:t>• 2026-10-09 Editorial Review 修正： 從使用者問題形成 outcome Goal；雙向 Like 只作候選做法，不先當成已確認方案。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18；source ID：P16；章節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P16。</a:t>
            </a:r>
          </a:p>
          <a:p>
            <a:r>
              <a:rPr lang="zh-CN" dirty="0"/>
              <a:t>• 教學作用： 功能做完不等於產品結果達成。</a:t>
            </a:r>
          </a:p>
          <a:p>
            <a:r>
              <a:rPr lang="zh-CN" dirty="0"/>
              <a:t>• 帶入方式： 沿用好／壞 Goal、兩週 10 對與錯配率示例，強調這是上線後訊號。</a:t>
            </a:r>
          </a:p>
          <a:p>
            <a:r>
              <a:rPr lang="zh-CN" dirty="0"/>
              <a:t>• 帶走重點： 結果、護欄、範圍與觀察時機。</a:t>
            </a:r>
          </a:p>
          <a:p>
            <a:r>
              <a:rPr lang="zh-CN" dirty="0"/>
              <a:t>• 圖面／示範： 沿用 Goal 票面；既定教學數字不擅自改動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Goal 是使用者結果</a:t>
            </a:r>
          </a:p>
          <a:p>
            <a:r>
              <a:rPr lang="zh-CN" dirty="0"/>
              <a:t>• 成功訊號在上線後觀察</a:t>
            </a:r>
          </a:p>
          <a:p>
            <a:r>
              <a:rPr lang="zh-CN" dirty="0"/>
              <a:t>• 本輪不做範圍要明確</a:t>
            </a:r>
          </a:p>
          <a:p>
            <a:r>
              <a:rPr lang="zh-CN" dirty="0"/>
              <a:t>講者轉場：這個 Goal 如何拆成能交付的票？</a:t>
            </a:r>
          </a:p>
          <a:p>
            <a:endParaRPr lang="zh-CN" dirty="0"/>
          </a:p>
          <a:p>
            <a:r>
              <a:rPr lang="zh-CN" dirty="0"/>
              <a:t>• 2026-10-09 Editorial Review 修正： 以教學用 Goal 與可觀察訊號討論成效，監測錯配需有實際資料來源。</a:t>
            </a:r>
          </a:p>
          <a:p>
            <a:endParaRPr lang="zh-CN" dirty="0"/>
          </a:p>
          <a:p>
            <a:r>
              <a:rPr lang="zh-CN" dirty="0"/>
              <a:t>• 2026-10-10 初學者教學修正：以教學用上線成功訊號示範 Goal；錯配需實際監測或回報資料才可判斷，不能先說觀測為零。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19；source ID：P17, N08；章節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P17；承接 N08。</a:t>
            </a:r>
          </a:p>
          <a:p>
            <a:r>
              <a:rPr lang="zh-CN" dirty="0"/>
              <a:t>• 原標題： Goal 拆成三張實作子票：#3 雙向喜歡才配對先於 #2。本草稿採用此標題。</a:t>
            </a:r>
          </a:p>
          <a:p>
            <a:r>
              <a:rPr lang="zh-CN" dirty="0"/>
              <a:t>• 教學作用： 只展示拆完結果，聽眾學不到拆法。</a:t>
            </a:r>
          </a:p>
          <a:p>
            <a:r>
              <a:rPr lang="zh-CN" dirty="0"/>
              <a:t>• 帶入方式： 保留三張票與資料流；各票標出責任與產物，另指 #3 可用測試資料先驗。</a:t>
            </a:r>
          </a:p>
          <a:p>
            <a:r>
              <a:rPr lang="zh-CN" dirty="0"/>
              <a:t>• 帶走重點： 可交付、可驗收、依賴清楚；MECE 作遺漏重疊檢查。</a:t>
            </a:r>
          </a:p>
          <a:p>
            <a:r>
              <a:rPr lang="zh-CN" dirty="0"/>
              <a:t>• 圖面／示範： 沿用三票圖，資料流與開發順序分列；MECE 完整提醒放講者筆記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#1 輸入喜好／#3 判斷配對／#2 呈現結果</a:t>
            </a:r>
          </a:p>
          <a:p>
            <a:r>
              <a:rPr lang="zh-CN" dirty="0"/>
              <a:t>• 資料流 #1→#3→#2</a:t>
            </a:r>
          </a:p>
          <a:p>
            <a:r>
              <a:rPr lang="zh-CN" dirty="0"/>
              <a:t>• 開發順序可先 #3，用測試資料驗核心規則</a:t>
            </a:r>
          </a:p>
          <a:p>
            <a:r>
              <a:rPr lang="zh-CN" dirty="0"/>
              <a:t>講者轉場：配對規則能用假資料先驗；接下來看 #3 的父子票與共同 Goal 怎麼記錄。</a:t>
            </a:r>
          </a:p>
          <a:p>
            <a:endParaRPr lang="zh-CN" dirty="0"/>
          </a:p>
          <a:p>
            <a:r>
              <a:rPr lang="zh-CN" dirty="0"/>
              <a:t>• 本輪跨頁橋接：三張票的依賴已經畫出；#3 可以先用假資料測規則，怎麼做？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A04；舊 rev11 頁：無；章節 C2。</a:t>
            </a:r>
          </a:p>
          <a:p>
            <a:r>
              <a:rPr lang="zh-CN" dirty="0"/>
              <a:t>• 教學作用：規則層可先驗；通過不代表 UI 或產品串接已通過。</a:t>
            </a:r>
          </a:p>
          <a:p>
            <a:r>
              <a:rPr lang="zh-CN" dirty="0"/>
              <a:t>• 帶走重點：實際 UI 尚未完成時，規則仍可用隔離測試資料驗證。</a:t>
            </a:r>
          </a:p>
          <a:p>
            <a:r>
              <a:rPr lang="zh-CN" dirty="0"/>
              <a:t>• 圖面／示範：顯示輸入資料 → 配對判斷 → 記錄結果，對回 #1 輸入、#3 規則、#2 呈現。</a:t>
            </a:r>
          </a:p>
          <a:p>
            <a:r>
              <a:rPr lang="zh-CN" dirty="0"/>
              <a:t>• 主畫面訊息：固定假帳號與狀態，直接執行 #3 規則並核對配對紀錄。</a:t>
            </a:r>
          </a:p>
          <a:p>
            <a:r>
              <a:rPr lang="zh-CN" dirty="0"/>
              <a:t>講者轉場：看過規則輸入與資料流後，接著整理三張票和先後依賴。</a:t>
            </a:r>
          </a:p>
          <a:p>
            <a:r>
              <a:rPr lang="zh-CN" dirty="0"/>
              <a:t>• 規格來源：Issue comments 4 §4.2, 5 A04</a:t>
            </a:r>
          </a:p>
          <a:p>
            <a:endParaRPr lang="zh-CN" dirty="0"/>
          </a:p>
          <a:p>
            <a:r>
              <a:rPr lang="zh-CN" dirty="0"/>
              <a:t>• 本輪跨頁橋接：已示範規則可以先測；接著把同一 #3 與 #1／#2 放回共同 Goal 的工作票。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13；source ID：P09。 章節 C2。</a:t>
            </a:r>
          </a:p>
          <a:p>
            <a:r>
              <a:rPr lang="zh-CN" dirty="0"/>
              <a:t>• 教學作用：回到整理好的工作：parent 與子票如何記錄不同層級。</a:t>
            </a:r>
          </a:p>
          <a:p>
            <a:r>
              <a:rPr lang="zh-CN" dirty="0"/>
              <a:t>• 帶入方式：用 parent→子票階層圖說共同 Goal 與各自可交付的票，避免把 issue 與 PR 混在一起。</a:t>
            </a:r>
          </a:p>
          <a:p>
            <a:r>
              <a:rPr lang="zh-CN" dirty="0"/>
              <a:t>• 帶走重點：工作票尚未開始；現在在 Backlog 選擇下一張。</a:t>
            </a:r>
          </a:p>
          <a:p>
            <a:r>
              <a:rPr lang="zh-CN" dirty="0"/>
              <a:t>• 圖面／示範：原 issue 階層圖。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Parent 記 Goal，子票描述可交付工作。</a:t>
            </a:r>
          </a:p>
          <a:p>
            <a:r>
              <a:rPr lang="zh-CN" dirty="0"/>
              <a:t>講者轉場：這些工作票尚未開始；看板如何標記待辦並選出下一張？</a:t>
            </a:r>
          </a:p>
          <a:p>
            <a:endParaRPr lang="zh-CN" dirty="0"/>
          </a:p>
          <a:p>
            <a:r>
              <a:rPr lang="zh-CN" dirty="0"/>
              <a:t>• 2026-10-09 Editorial Review 修正： 本課選用 GitHub parent/sub-issue 來整理需求，並非所有 issue 一定是此層級。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20；source ID：P19。 章節 C2。</a:t>
            </a:r>
          </a:p>
          <a:p>
            <a:r>
              <a:rPr lang="zh-CN" dirty="0"/>
              <a:t>• 教學作用：讓學員看見三張工作票在看板上的起始狀態與本課選票。</a:t>
            </a:r>
          </a:p>
          <a:p>
            <a:r>
              <a:rPr lang="zh-CN" dirty="0"/>
              <a:t>• 帶入方式：保留原看板，顯示三票 Backlog、#3 為先選工作但尚未開工；先白話解釋 Backlog 與 Ready，再標出本課交付 WIP 上限 1、目前 0/1。</a:t>
            </a:r>
          </a:p>
          <a:p>
            <a:r>
              <a:rPr lang="zh-CN" dirty="0"/>
              <a:t>• 帶走重點：看板記錄工作位置；#3 接下來仍需澄清規則，尚未計入 WIP。</a:t>
            </a:r>
          </a:p>
          <a:p>
            <a:r>
              <a:rPr lang="zh-CN" dirty="0"/>
              <a:t>• 圖面／示範：原看板圖，強調 Backlog→拉票。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三張票先列入待辦；本課先選 #3。</a:t>
            </a:r>
          </a:p>
          <a:p>
            <a:r>
              <a:rPr lang="zh-CN" dirty="0"/>
              <a:t>講者轉場：票選出來後，大家對「支援配對」是否仍有不同理解？</a:t>
            </a:r>
          </a:p>
          <a:p>
            <a:endParaRPr lang="zh-CN" dirty="0"/>
          </a:p>
          <a:p>
            <a:r>
              <a:rPr lang="zh-CN" dirty="0"/>
              <a:t>• 2026-10-09 合併後學員可見版本： 本課 WIP 政策以 Dev～Product Check 為已開始的計數區間，Ready 不計。 用本課 WIP 政策和 0/1 說明，並非所有團隊唯一算法。</a:t>
            </a:r>
          </a:p>
          <a:p>
            <a:endParaRPr lang="zh-CN" dirty="0"/>
          </a:p>
          <a:p>
            <a:r>
              <a:rPr lang="zh-CN" dirty="0"/>
              <a:t>• 2026-10-09 Editorial Review 修正： 本課 WIP 從 Dev～Product Check 計入，Ready 不計，屬教學政策。</a:t>
            </a:r>
          </a:p>
          <a:p>
            <a:endParaRPr lang="zh-CN" dirty="0"/>
          </a:p>
          <a:p>
            <a:r>
              <a:rPr lang="zh-CN" dirty="0"/>
              <a:t>• 2026-10-09 Evidence Review 精確界線：Backlog 可含退回待釐清票；已開工退回仍計 WIP。 本課 Backlog 是未釐清或退回待辦；未開工不計，已開工的票即使退回也計 WIP。</a:t>
            </a:r>
          </a:p>
          <a:p>
            <a:endParaRPr lang="zh-CN" dirty="0"/>
          </a:p>
          <a:p>
            <a:r>
              <a:rPr lang="zh-CN" dirty="0"/>
              <a:t>• 2026-10-09 Editorial 收斂： 三張票目前都未開始；看板顯示 Backlog，WIP 0/1。退回與 Blocked 等情況到 WIP 專頁再講。 七欄看板保留三張待辦與 WIP 0/1；主畫面只解釋 Backlog／Ready，例外情況留 Notes。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審查修正：三張工作票仍在 Backlog，先選 #3 整理 AC/AT，過 Ready 檢查後才開始，WIP 0/1。 Backlog 三票加「尚未開工」；避免「先做 #3」使人以為已進 Dev。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23；source ID：N09；章節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N09。</a:t>
            </a:r>
          </a:p>
          <a:p>
            <a:r>
              <a:rPr lang="zh-CN" dirty="0"/>
              <a:t>• 教學作用： 需求文件寫了，不等於大家理解相同；模糊詞藏著未確認的假設。</a:t>
            </a:r>
          </a:p>
          <a:p>
            <a:r>
              <a:rPr lang="zh-CN" dirty="0"/>
              <a:t>• 帶入方式： 有人以為一方 Like 就配對，有人認為要雙向，有人沒想到重複 Like。</a:t>
            </a:r>
          </a:p>
          <a:p>
            <a:r>
              <a:rPr lang="zh-CN" dirty="0"/>
              <a:t>• 帶走重點： 先展示歧義，再用「小安 Like 小晴，小晴尚未 Like，現在應不應配對？」逼出明確答案。</a:t>
            </a:r>
          </a:p>
          <a:p>
            <a:r>
              <a:rPr lang="zh-CN" dirty="0"/>
              <a:t>• 圖面／示範： 三位真人各說一句理解；再給具體前提「小安 Like 小晴，小晴未 Like」請判定。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單方 Like 就算？</a:t>
            </a:r>
          </a:p>
          <a:p>
            <a:r>
              <a:rPr lang="zh-CN" dirty="0"/>
              <a:t>• 一定要雙方都 Like？</a:t>
            </a:r>
          </a:p>
          <a:p>
            <a:r>
              <a:rPr lang="zh-CN" dirty="0"/>
              <a:t>• 已配對再 Like 又怎樣？</a:t>
            </a:r>
          </a:p>
          <a:p>
            <a:r>
              <a:rPr lang="zh-CN" dirty="0"/>
              <a:t>講者轉場：要怎樣寫，才不會再各自猜正常是什麼？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24；source ID：E10, N10；章節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E10；承接 N10。</a:t>
            </a:r>
          </a:p>
          <a:p>
            <a:r>
              <a:rPr lang="zh-CN" dirty="0"/>
              <a:t>• 教學作用： 「配對正常」沒有判斷依據；過長的操作劇本又會淹沒規則。</a:t>
            </a:r>
          </a:p>
          <a:p>
            <a:r>
              <a:rPr lang="zh-CN" dirty="0"/>
              <a:t>• 帶入方式： 先比較模糊與具體範例，再示範把冗長步驟編修成保留必要前提與結果的範例。</a:t>
            </a:r>
          </a:p>
          <a:p>
            <a:r>
              <a:rPr lang="zh-CN" dirty="0"/>
              <a:t>• 帶走重點： BRIEF：Business language、Real data、Intention revealing、Essential、Focused；具體資料不等於真實客戶資料。承接 N10 的歧義問題，本頁教編修。</a:t>
            </a:r>
          </a:p>
          <a:p>
            <a:r>
              <a:rPr lang="zh-CN" dirty="0"/>
              <a:t>• 圖面／示範： 左邊壞例子／冗長點擊劇本，右邊同一規則的精確版本；BRIEF 名稱最後出場。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壞例子：Like 後應正常</a:t>
            </a:r>
          </a:p>
          <a:p>
            <a:r>
              <a:rPr lang="zh-CN" dirty="0"/>
              <a:t>• 好例子：已配對，再 Like，仍只有原配對</a:t>
            </a:r>
          </a:p>
          <a:p>
            <a:r>
              <a:rPr lang="zh-CN" dirty="0"/>
              <a:t>• 只留會影響判斷的條件；用具體資料與業務語言</a:t>
            </a:r>
          </a:p>
          <a:p>
            <a:r>
              <a:rPr lang="zh-CN" dirty="0"/>
              <a:t>講者轉場：一個人寫清楚，是否就足夠？</a:t>
            </a:r>
          </a:p>
          <a:p>
            <a:endParaRPr lang="zh-CN" dirty="0"/>
          </a:p>
          <a:p>
            <a:r>
              <a:rPr lang="zh-CN" dirty="0"/>
              <a:t>• 2026-10-09 Editorial Review 修正： 以業務語言、資料、前提、事件與結果表達可核對範例，不要求記未知縮寫。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25；source ID：N11；章節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N11。</a:t>
            </a:r>
          </a:p>
          <a:p>
            <a:r>
              <a:rPr lang="zh-CN" dirty="0"/>
              <a:t>• 教學作用： 一個人寫出清楚範例，仍可能漏掉他沒想到的規則、例外與假設；到了 QA 才發現，常要回頭修改。</a:t>
            </a:r>
          </a:p>
          <a:p>
            <a:r>
              <a:rPr lang="zh-CN" dirty="0"/>
              <a:t>• 帶入方式： PO 說雙向 Like；Dev 問已配對再操作怎麼處理；QA 問單向與重複情境怎麼驗。大家先對照既有需求，未定事項留下問題。</a:t>
            </a:r>
          </a:p>
          <a:p>
            <a:r>
              <a:rPr lang="zh-CN" dirty="0"/>
              <a:t>• 帶走重點： 不同觀點補出不同問題；先達成具體共識再進 Ready。</a:t>
            </a:r>
          </a:p>
          <a:p>
            <a:r>
              <a:rPr lang="zh-CN" dirty="0"/>
              <a:t>• 圖面／示範： 三人共同看 #3，逐一揭露不同觀點；不預設每個問題都變成新需求。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PO：業務想要什麼結果？</a:t>
            </a:r>
          </a:p>
          <a:p>
            <a:r>
              <a:rPr lang="zh-CN" dirty="0"/>
              <a:t>• Dev：規則與依賴有沒有矛盾？</a:t>
            </a:r>
          </a:p>
          <a:p>
            <a:r>
              <a:rPr lang="zh-CN" dirty="0"/>
              <a:t>• QA：反向、重複情境怎麼判定？</a:t>
            </a:r>
          </a:p>
          <a:p>
            <a:r>
              <a:rPr lang="zh-CN" dirty="0"/>
              <a:t>講者轉場：用什麼方法把討論整理起來？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26；source ID：N12；章節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N12。</a:t>
            </a:r>
          </a:p>
          <a:p>
            <a:r>
              <a:rPr lang="zh-CN" dirty="0"/>
              <a:t>• 教學作用： 自由討論容易把規則、例子與未解問題混在一起，也不容易知道是否已可開工。</a:t>
            </a:r>
          </a:p>
          <a:p>
            <a:r>
              <a:rPr lang="zh-CN" dirty="0"/>
              <a:t>• 帶入方式： 黃卡 #3；藍卡雙向才配對、不重複；綠卡單向、雙向、重複 Like；紅卡尚未確認的問題。</a:t>
            </a:r>
          </a:p>
          <a:p>
            <a:r>
              <a:rPr lang="zh-CN" dirty="0"/>
              <a:t>• 帶走重點： 用四色 Example Mapping 演一次討論；把確認的規則與範例帶回票面。Assignee 說誰推進；若 Blocked，寫阻礙、負責人、解除條件與下一步。</a:t>
            </a:r>
          </a:p>
          <a:p>
            <a:r>
              <a:rPr lang="zh-CN" dirty="0"/>
              <a:t>• 圖面／示範： 一張 story 下掛規則、例子，疑問另放紅卡；最後示範帶回票面，附負責人與問題處置。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黃：本次 #3 工作</a:t>
            </a:r>
          </a:p>
          <a:p>
            <a:r>
              <a:rPr lang="zh-CN" dirty="0"/>
              <a:t>• 藍：雙向才配對；綠：單向／雙向／重複的例子</a:t>
            </a:r>
          </a:p>
          <a:p>
            <a:r>
              <a:rPr lang="zh-CN" dirty="0"/>
              <a:t>• 紅：未確認事項，決定是否阻擋 Ready</a:t>
            </a:r>
          </a:p>
          <a:p>
            <a:r>
              <a:rPr lang="zh-CN" dirty="0"/>
              <a:t>講者轉場：怎樣知道例子已經夠用？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27；source ID：E06；章節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E06。</a:t>
            </a:r>
          </a:p>
          <a:p>
            <a:r>
              <a:rPr lang="zh-CN" dirty="0"/>
              <a:t>• 教學作用： 一直增加數量，仍可能沒解決分歧或漏掉需要檢查的風險。</a:t>
            </a:r>
          </a:p>
          <a:p>
            <a:r>
              <a:rPr lang="zh-CN" dirty="0"/>
              <a:t>• 帶入方式： 先用單向、雙向、重複 Like 消除規則疑問，再問是否有未解紅卡、漏掉的重要條件組合與風險。</a:t>
            </a:r>
          </a:p>
          <a:p>
            <a:r>
              <a:rPr lang="zh-CN" dirty="0"/>
              <a:t>• 帶走重點： 共同理解用的例子與驗證用測試情境之別；依風險與代表性展開。點名等價分割、邊界值、決策表、Use Case；決策表於 N15 實作，整合路徑於 N17，其他完整技法附錄補充。AI 展開更多不代表已窮舉。</a:t>
            </a:r>
          </a:p>
          <a:p>
            <a:r>
              <a:rPr lang="zh-CN" dirty="0"/>
              <a:t>• 圖面／示範： 左側用少數能區分單向、雙向與重複結果的例子形成共識，右側依風險展開測試；給 #3 四種組合與重複狀態的預告。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先消除理解分歧</a:t>
            </a:r>
          </a:p>
          <a:p>
            <a:r>
              <a:rPr lang="zh-CN" dirty="0"/>
              <a:t>• 再檢查重要組合、反向與重複情境</a:t>
            </a:r>
          </a:p>
          <a:p>
            <a:r>
              <a:rPr lang="zh-CN" dirty="0"/>
              <a:t>• 未解問題有處置，不用例子數量宣告完成</a:t>
            </a:r>
          </a:p>
          <a:p>
            <a:r>
              <a:rPr lang="zh-CN" dirty="0"/>
              <a:t>講者轉場：共識要怎麼轉成接受與驗證的約定？</a:t>
            </a:r>
          </a:p>
          <a:p>
            <a:endParaRPr lang="zh-CN" dirty="0"/>
          </a:p>
          <a:p>
            <a:r>
              <a:rPr lang="zh-CN" dirty="0"/>
              <a:t>• 2026-10-09 Editorial Review 修正： 先共同理解，再依風險設計測試；進階術語僅留講者補充。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28；source ID：N13；章節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N13。</a:t>
            </a:r>
          </a:p>
          <a:p>
            <a:r>
              <a:rPr lang="zh-CN" dirty="0"/>
              <a:t>• 教學作用： 只有需求共識，還不足以避免 Dev 說做完、QA 或 PO 卻不接受。</a:t>
            </a:r>
          </a:p>
          <a:p>
            <a:r>
              <a:rPr lang="zh-CN" dirty="0"/>
              <a:t>• 帶入方式： AC：同一對不重複配對；AT：已配對→再次 Like→仍為原配對；DoD：對照團隊既定的共用完成要求。</a:t>
            </a:r>
          </a:p>
          <a:p>
            <a:r>
              <a:rPr lang="zh-CN" dirty="0"/>
              <a:t>• 帶走重點： 同一例子串 AC、AT、DoD；AT 可用 Given–When–Then，示範前提、事件與結果。</a:t>
            </a:r>
          </a:p>
          <a:p>
            <a:r>
              <a:rPr lang="zh-CN" dirty="0"/>
              <a:t>• 圖面／示範： 同一規則向下串成一條 GWT，旁邊標出團隊共用 DoD；不是三份無關定義。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AC：同一對不重複配對</a:t>
            </a:r>
          </a:p>
          <a:p>
            <a:r>
              <a:rPr lang="zh-CN" dirty="0"/>
              <a:t>• AT：Given 已配對／When 再 Like／Then 仍是原配對</a:t>
            </a:r>
          </a:p>
          <a:p>
            <a:r>
              <a:rPr lang="zh-CN" dirty="0"/>
              <a:t>• DoD：本課共用的審查、範圍、回歸與上線檢查要求</a:t>
            </a:r>
          </a:p>
          <a:p>
            <a:r>
              <a:rPr lang="zh-CN" dirty="0"/>
              <a:t>講者轉場：把這些整理回票，就得到什麼樣的交付？</a:t>
            </a:r>
          </a:p>
          <a:p>
            <a:endParaRPr lang="zh-CN" dirty="0"/>
          </a:p>
          <a:p>
            <a:r>
              <a:rPr lang="zh-CN" dirty="0"/>
              <a:t>• 2026-10-09 Editorial 收斂： 同一條規則示範 AC、AT、DoD 的差異；PR 尚未正式介紹，這裡用「修改有人審查」說明共用要求。 三欄分別回答要做到什麼、怎麼驗、交付還缺什麼，名詞的細節下放備註。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22；source ID：P20。 章節 C2。</a:t>
            </a:r>
          </a:p>
          <a:p>
            <a:r>
              <a:rPr lang="zh-CN" dirty="0"/>
              <a:t>• 教學作用：把已形成的共同理解落回工作票，白話說明工作票整理如何讓內容可接手。</a:t>
            </a:r>
          </a:p>
          <a:p>
            <a:r>
              <a:rPr lang="zh-CN" dirty="0"/>
              <a:t>• 帶入方式：使用同一張 #3 票面；把規則、範例、驗收條件與待決問題映回欄位，不再重新問同一句需求是否有歧義。</a:t>
            </a:r>
          </a:p>
          <a:p>
            <a:r>
              <a:rPr lang="zh-CN" dirty="0"/>
              <a:t>• 帶走重點：共識要能進入可接手的工作紀錄。</a:t>
            </a:r>
          </a:p>
          <a:p>
            <a:r>
              <a:rPr lang="zh-CN" dirty="0"/>
              <a:t>• 圖面／示範：原票面與待辦狀態圖；本課交付 WIP 上限 1、目前 0/1（全未開始）。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已釐清的規則與驗收方式要回到票面。</a:t>
            </a:r>
          </a:p>
          <a:p>
            <a:r>
              <a:rPr lang="zh-CN" dirty="0"/>
              <a:t>講者轉場：現在打開票面，檢查接手者拿到哪些可執行資訊。</a:t>
            </a:r>
          </a:p>
          <a:p>
            <a:endParaRPr lang="zh-CN" dirty="0"/>
          </a:p>
          <a:p>
            <a:r>
              <a:rPr lang="zh-CN" dirty="0"/>
              <a:t>• 2026-10-09 Editorial 收斂： 工作票 #3 留在 Backlog，整理三條 AC：單向不配對、雙向建立一筆、重複不增筆。 七欄空看板改成 #3 Backlog 的簡短狀態列，三張大卡只放單向、雙向、重複三條 AC；完整票面留 P23／Notes。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29；source ID：P18；章節 C2。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P18。</a:t>
            </a:r>
          </a:p>
          <a:p>
            <a:r>
              <a:rPr lang="zh-CN" dirty="0"/>
              <a:t>• 教學作用： 把前面的討論收斂成下一站能執行的交付。</a:t>
            </a:r>
          </a:p>
          <a:p>
            <a:r>
              <a:rPr lang="zh-CN" dirty="0"/>
              <a:t>• 帶入方式： 沿用好壞票對照，逐項指認前面產出的 Why／Scope／AC／Evidence。</a:t>
            </a:r>
          </a:p>
          <a:p>
            <a:r>
              <a:rPr lang="zh-CN" dirty="0"/>
              <a:t>• 帶走重點： 好票是共同理解的紀錄。</a:t>
            </a:r>
          </a:p>
          <a:p>
            <a:r>
              <a:rPr lang="zh-CN" dirty="0"/>
              <a:t>• 圖面／示範： 原票面完整沿用，移到範例與 AC／AT 後；避免重讀全部欄位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Why 與 Goal linkage</a:t>
            </a:r>
          </a:p>
          <a:p>
            <a:r>
              <a:rPr lang="zh-CN" dirty="0"/>
              <a:t>• Scope／AC／Out of Scope</a:t>
            </a:r>
          </a:p>
          <a:p>
            <a:r>
              <a:rPr lang="zh-CN" dirty="0"/>
              <a:t>• Required Evidence</a:t>
            </a:r>
          </a:p>
          <a:p>
            <a:r>
              <a:rPr lang="zh-CN" dirty="0"/>
              <a:t>講者轉場：這樣就能進 Ready 了嗎？</a:t>
            </a:r>
          </a:p>
          <a:p>
            <a:endParaRPr lang="zh-CN" dirty="0"/>
          </a:p>
          <a:p>
            <a:r>
              <a:rPr lang="zh-CN" dirty="0"/>
              <a:t>• 2026-10-10 初學者教學修正：好票要讓接手者看到 Goal、Scope、AC（怎樣算對）、AT（怎樣驗）與執行後的 Evidence；DoD 是共用完工要求。</a:t>
            </a:r>
          </a:p>
          <a:p>
            <a:endParaRPr lang="zh-CN" dirty="0"/>
          </a:p>
          <a:p>
            <a:r>
              <a:rPr lang="zh-CN" dirty="0"/>
              <a:t>• 2026-10-10 實際畫面修正：沿同一張 #3 票，把 Goal／Scope、三條 AC 與一項 AT 放大成三張可讀卡；Evidence 明確標 NOT RUN，執行後才填版本與結果。 三欄：做什麼／怎樣算對／怎樣驗，底下區分 AT 與共用 DoD；完整票面與欄位細節保留講者材料。</a:t>
            </a:r>
          </a:p>
          <a:p>
            <a:endParaRPr lang="zh-CN" dirty="0"/>
          </a:p>
          <a:p>
            <a:r>
              <a:rPr lang="zh-CN" dirty="0"/>
              <a:t>• 2026-10-10 G4 主畫面重做： 一張票要有可觀察的 AC 和可執行的 AT；還未執行就沒有 PASS。 頁面主角為已配對1筆→再Like→仍1筆的 AT 流程，AC 三條簡列；Evidence 明確 NOT RUN，DoD 另有一行。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30；source ID：P21。 章節 C2。</a:t>
            </a:r>
          </a:p>
          <a:p>
            <a:r>
              <a:rPr lang="zh-CN" dirty="0"/>
              <a:t>• 教學作用：說明 Ready 的意義：已具備可開始工作的範圍、規則和驗收條件。</a:t>
            </a:r>
          </a:p>
          <a:p>
            <a:r>
              <a:rPr lang="zh-CN" dirty="0"/>
              <a:t>• 帶入方式：沿用 Ready 票與看板，不暗示同一個流程適用所有團隊。</a:t>
            </a:r>
          </a:p>
          <a:p>
            <a:r>
              <a:rPr lang="zh-CN" dirty="0"/>
              <a:t>• 帶走重點：Ready 是本票可開始的狀態，不代表已完成；下一步選擇工作節奏。</a:t>
            </a:r>
          </a:p>
          <a:p>
            <a:r>
              <a:rPr lang="zh-CN" dirty="0"/>
              <a:t>• 圖面／示範：原 Ready 卡與看板；本課交付 WIP 上限 1、目前 0/1（Ready 尚未開工）。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Ready 表示這張票具備開始工作的條件。</a:t>
            </a:r>
          </a:p>
          <a:p>
            <a:r>
              <a:rPr lang="zh-CN" dirty="0"/>
              <a:t>講者轉場：票已整理到 Ready；先分清責任、工作票、狀態與成果，再看它們如何串成完整流程。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本輪跨頁橋接：票已 Ready；哪些是職能、哪些是票與看板狀態？分清再看總流程。</a:t>
            </a:r>
          </a:p>
          <a:p>
            <a:endParaRPr lang="zh-CN" dirty="0"/>
          </a:p>
          <a:p>
            <a:r>
              <a:rPr lang="zh-CN" dirty="0"/>
              <a:t>• 2026-10-10 初學者教學修正：Ready 前讓 PO／Dev 等確認：做得到嗎、驗得出嗎、缺資料嗎。Backlog Refinement 持續進行；Dev／Review／QA 遇新疑問可回票面再釐清。</a:t>
            </a:r>
          </a:p>
          <a:p>
            <a:endParaRPr lang="zh-CN" dirty="0"/>
          </a:p>
          <a:p>
            <a:r>
              <a:rPr lang="zh-CN" dirty="0"/>
              <a:t>• 2026-10-10 實際畫面修正：從 Backlog 到 Ready 前，PO／Dev 用做得到、驗得出、缺資料三問確認；未開始的 Ready 票 WIP 0/1。 三張 Ready 問題卡＋#3 Backlog→Ready 狀態條；Dev／Review／QA 發現需求不清，帶回工作票重新細化；P26 再看完整七欄。</a:t>
            </a:r>
          </a:p>
          <a:p>
            <a:endParaRPr lang="zh-CN" dirty="0"/>
          </a:p>
          <a:p>
            <a:r>
              <a:rPr lang="zh-CN" dirty="0"/>
              <a:t>• 2026-10-10 G4 主畫面重做： 確認 #3 有資料且能實作、AC/AT 可驗、未決問題有人處理，才能進 Ready；未開始 WIP 0/1。 Backlog → Ready 方向配三個可回答的檢查；Refinement 回票面並不另加看板欄位。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A03；舊 rev11 頁：無；章節 C0。</a:t>
            </a:r>
          </a:p>
          <a:p>
            <a:r>
              <a:rPr lang="zh-CN" dirty="0"/>
              <a:t>• 教學作用：四種東西分清楚，才看得懂之後的流程圖。</a:t>
            </a:r>
          </a:p>
          <a:p>
            <a:r>
              <a:rPr lang="zh-CN" dirty="0"/>
              <a:t>• 帶走重點：不能把職能名稱當工作票或看板狀態。</a:t>
            </a:r>
          </a:p>
          <a:p>
            <a:r>
              <a:rPr lang="zh-CN" dirty="0"/>
              <a:t>• 圖面／示範：四格對照，使用同一 #3 例子。</a:t>
            </a:r>
          </a:p>
          <a:p>
            <a:r>
              <a:rPr lang="zh-CN" dirty="0"/>
              <a:t>• 主畫面訊息：QA 是責任、#3 是工作、驗證中是狀態、測試紀錄是成果。</a:t>
            </a:r>
          </a:p>
          <a:p>
            <a:r>
              <a:rPr lang="zh-CN" dirty="0"/>
              <a:t>講者轉場：四者分清後，把人類交付的完整關卡展開。</a:t>
            </a:r>
          </a:p>
          <a:p>
            <a:r>
              <a:rPr lang="zh-CN" dirty="0"/>
              <a:t>• 規格來源：Issue comment 5 §3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07；source ID：P06。 章節 C0。</a:t>
            </a:r>
          </a:p>
          <a:p>
            <a:r>
              <a:rPr lang="zh-CN" dirty="0"/>
              <a:t>• 教學作用：接起前半段的人類交付全貌，轉入需求先於版本協作的重排。</a:t>
            </a:r>
          </a:p>
          <a:p>
            <a:r>
              <a:rPr lang="zh-CN" dirty="0"/>
              <a:t>• 帶入方式：保留完整原圖。頁內按鈕第一步只看 #3 前進；第二步顯示 #3 退回 Dev 與 Refinement；第三步展開 #1、#2 的完整三票。</a:t>
            </a:r>
          </a:p>
          <a:p>
            <a:r>
              <a:rPr lang="zh-CN" dirty="0"/>
              <a:t>• 帶走重點：責任、票、狀態和交付物各有位置；需求整理在版本協作前。</a:t>
            </a:r>
          </a:p>
          <a:p>
            <a:r>
              <a:rPr lang="zh-CN" dirty="0"/>
              <a:t>• 圖面／示範：使用來源 P06 三票流程圖與原退回箭頭，不以新圖取代；完成第三步與列印時保留完整圖。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先整理需求與驗收條件，再進入版本協作。</a:t>
            </a:r>
          </a:p>
          <a:p>
            <a:r>
              <a:rPr lang="zh-CN" dirty="0"/>
              <a:t>講者轉場：需求與 Ready 條件已整理好；接著看工作如何被拉取，以及同時進行的工作怎麼算。</a:t>
            </a:r>
          </a:p>
          <a:p>
            <a:endParaRPr lang="zh-CN" dirty="0"/>
          </a:p>
          <a:p>
            <a:r>
              <a:rPr lang="zh-CN" dirty="0"/>
              <a:t>• 2026-10-09 合併後學員可見版本： 本課看板七欄；Refinement 是 Backlog 期間活動，Human Gate 是欄外決策。 以七個 canonical states 呈現完整動線；Refinement 不單列狀態。</a:t>
            </a:r>
          </a:p>
          <a:p>
            <a:endParaRPr lang="zh-CN" dirty="0"/>
          </a:p>
          <a:p>
            <a:r>
              <a:rPr lang="zh-CN" dirty="0"/>
              <a:t>• 本輪跨頁橋接：完整路線已經看過；現在只聚焦看板怎麼拉票、哪些工作算進 WIP。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21；source ID：P28。 章節 C2。</a:t>
            </a:r>
          </a:p>
          <a:p>
            <a:r>
              <a:rPr lang="zh-CN" dirty="0"/>
              <a:t>• 教學作用：在進入完整 WIP 定義前，用熟悉的節奏差異引出「要數什麼」。</a:t>
            </a:r>
          </a:p>
          <a:p>
            <a:r>
              <a:rPr lang="zh-CN" dirty="0"/>
              <a:t>• 帶入方式：沿用 Sprint/Kanban 比較圖；加一行白話：「已開始、尚未完成的票數」。若顯示固定政策，標成「本課交付 WIP 上限：1」。</a:t>
            </a:r>
          </a:p>
          <a:p>
            <a:r>
              <a:rPr lang="zh-CN" dirty="0"/>
              <a:t>• 帶走重點：本課交付 WIP 上限 1 是教學政策；目前 WIP 另行計數，此時尚未開工為 0/1。</a:t>
            </a:r>
          </a:p>
          <a:p>
            <a:r>
              <a:rPr lang="zh-CN" dirty="0"/>
              <a:t>• 圖面／示範：原節奏比較圖＋「目前 WIP」定義、「本課交付上限 1」及目前 0/1 三個分開標籤。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不同拉票節奏都需要看目前開始但未完成的工作。</a:t>
            </a:r>
          </a:p>
          <a:p>
            <a:r>
              <a:rPr lang="zh-CN" dirty="0"/>
              <a:t>講者轉場：看過拉票節奏後，先定義目前 WIP 在哪一段怎麼算，再比較上限。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審查修正：Sprint 固定節奏、Kanban 持續拉票，各有安排方法。User Story 歷史是補充名詞。 主畫面保留 Sprint／Kanban 比較，User Story 的長篇歷史留講者筆記。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A05；舊 rev11 頁：無；章節 C2。</a:t>
            </a:r>
          </a:p>
          <a:p>
            <a:r>
              <a:rPr lang="zh-CN" dirty="0"/>
              <a:t>• 教學作用：上限 2、目前 1 不必再開票；上限 1 目前 2 是超限；同時可見目前值 2／上限 2 的正確例子。等待驗收、Blocked 與退回修正仍算進目前數量。</a:t>
            </a:r>
          </a:p>
          <a:p>
            <a:r>
              <a:rPr lang="zh-CN" dirty="0"/>
              <a:t>• 帶走重點：本課交付 WIP 上限 1 是教學政策，不是目前數量，也不是普遍定律。</a:t>
            </a:r>
          </a:p>
          <a:p>
            <a:r>
              <a:rPr lang="zh-CN" dirty="0"/>
              <a:t>• 圖面／示範：以開始→Done 交付區間計 #1/#2/#3；明示 #1 在 Dev＋#2 在 QA＝目前 2／上限 2；另比上限 1 時 #3 在 Dev＝1/1。等待驗收、Blocked、退回修正仍計入。</a:t>
            </a:r>
          </a:p>
          <a:p>
            <a:r>
              <a:rPr lang="zh-CN" dirty="0"/>
              <a:t>• 主畫面訊息：目前 WIP 是開始但尚未完成的票數；上限是允許的最大數量。</a:t>
            </a:r>
          </a:p>
          <a:p>
            <a:r>
              <a:rPr lang="zh-CN" dirty="0"/>
              <a:t>講者轉場：把數量定義清楚後，比較上限 1 與大於 1 的取捨。</a:t>
            </a:r>
          </a:p>
          <a:p>
            <a:r>
              <a:rPr lang="zh-CN" dirty="0"/>
              <a:t>• 規格來源：Issue comment 4 §5; comment 5 A05; comment 8 §3.3</a:t>
            </a:r>
          </a:p>
          <a:p>
            <a:endParaRPr lang="zh-CN" dirty="0"/>
          </a:p>
          <a:p>
            <a:r>
              <a:rPr lang="zh-CN" dirty="0"/>
              <a:t>• 2026-10-09 Evidence Review 精確界線：本課 WIP 是已開始至 Done 的未完成工作數；退回也仍計入。 強調 WIP 是生命週期計數，不由票的當前欄位單獨決定。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審查修正：WIP 算開始且未完成的工作數；未開始 0/1、已開始 1/1；上限改 2 的情境是 2/2；等待／Blocked／退回修正仍計入。 三個大數字情境展示目前值／政策上限，底下一條提醒 blocked 與 done 的數法；完整細則留 Notes。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29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A06；舊 rev11 頁：無；章節 C2。</a:t>
            </a:r>
          </a:p>
          <a:p>
            <a:r>
              <a:rPr lang="zh-CN" dirty="0"/>
              <a:t>• 教學作用：WIP 少不保證最佳產出；提高上限也不會自動增加產能。</a:t>
            </a:r>
          </a:p>
          <a:p>
            <a:r>
              <a:rPr lang="zh-CN" dirty="0"/>
              <a:t>• 帶走重點：上限 1 可降低多工與追蹤負擔，但等待時其他工作可能閒置；上限 2 可並行獨立票，也增加依賴、切換與下游驗收負擔。</a:t>
            </a:r>
          </a:p>
          <a:p>
            <a:r>
              <a:rPr lang="zh-CN" dirty="0"/>
              <a:t>• 圖面／示範：同一看板標示上限 1／2 的政策、實際好處、代價與並行前提；#1/#2 只有依賴獨立、資源隔離且測試審查接得住才並行。</a:t>
            </a:r>
          </a:p>
          <a:p>
            <a:r>
              <a:rPr lang="zh-CN" dirty="0"/>
              <a:t>• 主畫面訊息：不要為填滿上限而開工；等待和 Blocked 票仍占 WIP。</a:t>
            </a:r>
          </a:p>
          <a:p>
            <a:r>
              <a:rPr lang="zh-CN" dirty="0"/>
              <a:t>講者轉場：請先完成本章 Exit Check；之後再進入下一章。原轉場：工作已整理成票；接下來看如何留下修改歷史、共享並送審。</a:t>
            </a:r>
          </a:p>
          <a:p>
            <a:r>
              <a:rPr lang="zh-CN" dirty="0"/>
              <a:t>• 規格來源：Issue comment 4 §5; comment 5 A06; comment 8 §3.3</a:t>
            </a:r>
          </a:p>
          <a:p>
            <a:endParaRPr lang="zh-CN" dirty="0"/>
          </a:p>
          <a:p>
            <a:r>
              <a:rPr lang="zh-CN" dirty="0"/>
              <a:t>• 2026-10-11 第一次全課 G3/G4 審查修正：WIP 上限 1 和 2 各有利弊，設定屬團隊政策，不等於進度或產能。 標題明示比較的是上限 1 與 2，和畫面兩欄一致。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A19；章節 C2；原有內容全部保留。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帶走重點：能把模糊要求寫成有邊界、有 AC、有證據的可交辦 Ticket。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Q1：只有一句「支援配對」，你會先問什麼？</a:t>
            </a:r>
          </a:p>
          <a:p>
            <a:r>
              <a:rPr lang="zh-CN" dirty="0"/>
              <a:t>• 參考答案：先釐清誰需要、Goal 是什麼；用單向、雙向、重複 Like 的具體情境確認共同理解。</a:t>
            </a:r>
          </a:p>
          <a:p>
            <a:r>
              <a:rPr lang="zh-CN" dirty="0"/>
              <a:t>• Q2：遷移練習｜課程作業提交：老師已確認「文字非空才能提交、空白不得送」，但自動評分未決。你會怎麼寫第一張 Ticket？</a:t>
            </a:r>
          </a:p>
          <a:p>
            <a:r>
              <a:rPr lang="zh-CN" dirty="0"/>
              <a:t>• 參考答案：範圍：文字提交；AC：非空新增一筆、空白不能提交；評分先列待確認，不擅自加入 AC 或宣布不做；驗證：兩種前提的預期／實際提交紀錄。</a:t>
            </a:r>
          </a:p>
          <a:p>
            <a:r>
              <a:rPr lang="zh-CN" dirty="0"/>
              <a:t>• Q3：#3 在 Ready 尚未開始時，WIP 是 0/1 還是 1/1？</a:t>
            </a:r>
          </a:p>
          <a:p>
            <a:r>
              <a:rPr lang="zh-CN" dirty="0"/>
              <a:t>• 參考答案：0/1。Ready 代表可開工，尚未開始；進入 Dev 才計入進行中的 WIP。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本輪跨頁橋接：已能整理工作票；多人同時改 #1／#3／#2 時，版本怎樣保持一致？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只有一句「支援配對」，你會先問什麼？</a:t>
            </a:r>
          </a:p>
          <a:p>
            <a:r>
              <a:rPr lang="zh-CN" dirty="0"/>
              <a:t>自己先回答，再揭露參考答案先釐清誰需要、Goal 是什麼；用單向、雙向、重複 Like 的具體情境確認共同理解。</a:t>
            </a:r>
          </a:p>
          <a:p>
            <a:endParaRPr lang="zh-CN" dirty="0"/>
          </a:p>
          <a:p>
            <a:r>
              <a:rPr lang="zh-CN" dirty="0"/>
              <a:t>Q2 遷移練習｜課程作業提交：老師已確認「文字非空才能提交、空白不得送」，但自動評分未決。你會怎麼寫第一張 Ticket？</a:t>
            </a:r>
          </a:p>
          <a:p>
            <a:r>
              <a:rPr lang="zh-CN" dirty="0"/>
              <a:t>自己先回答，再揭露參考答案範圍：文字提交；AC：非空新增一筆、空白不能提交；評分先列待確認，不擅自加入 AC 或宣布不做；驗證：兩種前提的預期／實際提交紀錄。</a:t>
            </a:r>
          </a:p>
          <a:p>
            <a:endParaRPr lang="zh-CN" dirty="0"/>
          </a:p>
          <a:p>
            <a:r>
              <a:rPr lang="zh-CN" dirty="0"/>
              <a:t>Q3 #3 在 Ready 尚未開始時，WIP 是 0/1 還是 1/1？</a:t>
            </a:r>
          </a:p>
          <a:p>
            <a:r>
              <a:rPr lang="zh-CN" dirty="0"/>
              <a:t>自己先回答，再揭露參考答案0/1。Ready 代表可開工，尚未開始；進入 Dev 才計入進行中的 WIP。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08；source ID：P07；章節 C1。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P07。</a:t>
            </a:r>
          </a:p>
          <a:p>
            <a:r>
              <a:rPr lang="zh-CN" dirty="0"/>
              <a:t>• 教學作用： 要先知道工具準備回答哪些協作問題。</a:t>
            </a:r>
          </a:p>
          <a:p>
            <a:r>
              <a:rPr lang="zh-CN" dirty="0"/>
              <a:t>• 帶入方式： 沿用章封面，下一頁立即進沒有版控的反例。</a:t>
            </a:r>
          </a:p>
          <a:p>
            <a:r>
              <a:rPr lang="zh-CN" dirty="0"/>
              <a:t>• 帶走重點： 版本與協作章入口。</a:t>
            </a:r>
          </a:p>
          <a:p>
            <a:r>
              <a:rPr lang="zh-CN" dirty="0"/>
              <a:t>• 圖面／示範： 沿用章封面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存檔點、分支、送審、合併</a:t>
            </a:r>
          </a:p>
          <a:p>
            <a:r>
              <a:rPr lang="zh-CN" dirty="0"/>
              <a:t>講者轉場：如果沒有這些，三個人如何交回修改？</a:t>
            </a:r>
          </a:p>
          <a:p>
            <a:endParaRPr lang="zh-CN" dirty="0"/>
          </a:p>
          <a:p>
            <a:r>
              <a:rPr lang="zh-CN" dirty="0"/>
              <a:t>• 2026-10-10 初學者教學修正：從已整理的 #3 Ticket 進入版本控制，了解 commit／branch／PR 如何協作與審查。</a:t>
            </a:r>
          </a:p>
          <a:p>
            <a:endParaRPr lang="zh-CN" dirty="0"/>
          </a:p>
          <a:p>
            <a:r>
              <a:rPr lang="zh-CN" dirty="0"/>
              <a:t>• 2026-10-10 G4 主畫面重做： Commit 留版本、Branch 分開改、PR 讓別人看改動。 三站版本協作圖，只有每站短名稱與交出什麼，完整流程在後續章節。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09；source ID：N02；章節 C1。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N02。</a:t>
            </a:r>
          </a:p>
          <a:p>
            <a:r>
              <a:rPr lang="zh-CN" dirty="0"/>
              <a:t>• 教學作用： 先讓聽眾遇見沒有版本管理的困境。</a:t>
            </a:r>
          </a:p>
          <a:p>
            <a:r>
              <a:rPr lang="zh-CN" dirty="0"/>
              <a:t>• 帶入方式： final、final_final、日期版各有一份；覆蓋後找不回來；不知道對方從哪一版改、該整合到哪裡。</a:t>
            </a:r>
          </a:p>
          <a:p>
            <a:r>
              <a:rPr lang="zh-CN" dirty="0"/>
              <a:t>• 帶走重點： 三個連續問題：版本怎麼找回？各自修改怎麼合？這次成果基於什麼需求、差異在哪、怎麼審？</a:t>
            </a:r>
          </a:p>
          <a:p>
            <a:r>
              <a:rPr lang="zh-CN" dirty="0"/>
              <a:t>• 圖面／示範： 三張票旁各放 final／final_final／日期版檔案，沿覆蓋與交回順序暴露三個問題。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找版本：哪份是最新、能否回復？</a:t>
            </a:r>
          </a:p>
          <a:p>
            <a:r>
              <a:rPr lang="zh-CN" dirty="0"/>
              <a:t>• 接修改：各自從哪版開始、會不會覆蓋？</a:t>
            </a:r>
          </a:p>
          <a:p>
            <a:r>
              <a:rPr lang="zh-CN" dirty="0"/>
              <a:t>• 審成果：原需求、差異、證據在哪？</a:t>
            </a:r>
          </a:p>
          <a:p>
            <a:r>
              <a:rPr lang="zh-CN" dirty="0"/>
              <a:t>講者轉場：Git 與協作平台各解哪一部分？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10；source ID：P08, N03；章節 C1。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P08；承接 N03。</a:t>
            </a:r>
          </a:p>
          <a:p>
            <a:r>
              <a:rPr lang="zh-CN" dirty="0"/>
              <a:t>• 原標題： Git 與 GitHub。本草稿採用此標題。</a:t>
            </a:r>
          </a:p>
          <a:p>
            <a:r>
              <a:rPr lang="zh-CN" dirty="0"/>
              <a:t>• 教學作用： 檔名與日期無法清楚表達版本間關係。</a:t>
            </a:r>
          </a:p>
          <a:p>
            <a:r>
              <a:rPr lang="zh-CN" dirty="0"/>
              <a:t>• 帶入方式： 保留 Git／GitHub 兩區；加入 #3 初版→修正版的小型歷史，指一次差異。</a:t>
            </a:r>
          </a:p>
          <a:p>
            <a:r>
              <a:rPr lang="zh-CN" dirty="0"/>
              <a:t>• 帶走重點： Git 管版本；GitHub 提供共享與協作位置。</a:t>
            </a:r>
          </a:p>
          <a:p>
            <a:r>
              <a:rPr lang="zh-CN" dirty="0"/>
              <a:t>• 圖面／示範： 沿用雙區圖；用三個歷史節點承接 N03，不另做重複定義頁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Git：記錄、比較、找回版本</a:t>
            </a:r>
          </a:p>
          <a:p>
            <a:r>
              <a:rPr lang="zh-CN" dirty="0"/>
              <a:t>• GitHub：分享變更與協作</a:t>
            </a:r>
          </a:p>
          <a:p>
            <a:r>
              <a:rPr lang="zh-CN" dirty="0"/>
              <a:t>• 同一份 #3 能追溯修正前後</a:t>
            </a:r>
          </a:p>
          <a:p>
            <a:r>
              <a:rPr lang="zh-CN" dirty="0"/>
              <a:t>講者轉場：要怎麼留下其中一版？</a:t>
            </a:r>
          </a:p>
          <a:p>
            <a:endParaRPr lang="zh-CN" dirty="0"/>
          </a:p>
          <a:p>
            <a:r>
              <a:rPr lang="zh-CN" dirty="0"/>
              <a:t>• 2026-10-09 Editorial Review 修正： Git 保留版本歷史，GitHub 託管協作與 PR；共享資料夾只是有限度的比喻。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11；source ID：P11, N05；章節 C1。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P11；承接 N05。</a:t>
            </a:r>
          </a:p>
          <a:p>
            <a:r>
              <a:rPr lang="zh-CN" dirty="0"/>
              <a:t>• 原標題： Commit：替修改留下一個存檔點。本草稿採用此標題。</a:t>
            </a:r>
          </a:p>
          <a:p>
            <a:r>
              <a:rPr lang="zh-CN" dirty="0"/>
              <a:t>• 教學作用： 本地保存不等於協作者已取得。</a:t>
            </a:r>
          </a:p>
          <a:p>
            <a:r>
              <a:rPr lang="zh-CN" dirty="0"/>
              <a:t>• 帶入方式： 沿用三個版本節點，以 #3 初版／修正／補測說明 commit，再指向遠端分支。</a:t>
            </a:r>
          </a:p>
          <a:p>
            <a:r>
              <a:rPr lang="zh-CN" dirty="0"/>
              <a:t>• 帶走重點： Commit、push 與 merge 不是同一件事。</a:t>
            </a:r>
          </a:p>
          <a:p>
            <a:r>
              <a:rPr lang="zh-CN" dirty="0"/>
              <a:t>• 圖面／示範： 沿用存檔節點；新增遠端分享箭頭。校正「未存一定回不去」的絕對措辭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Commit：記錄本地版本</a:t>
            </a:r>
          </a:p>
          <a:p>
            <a:r>
              <a:rPr lang="zh-CN" dirty="0"/>
              <a:t>• Push：分享更新至遠端</a:t>
            </a:r>
          </a:p>
          <a:p>
            <a:r>
              <a:rPr lang="zh-CN" dirty="0"/>
              <a:t>• 尚未 commit 的修改不在這次提交歷史</a:t>
            </a:r>
          </a:p>
          <a:p>
            <a:r>
              <a:rPr lang="zh-CN" dirty="0"/>
              <a:t>講者轉場：三個人都要改時，要在哪裡工作？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12；source ID：P10, N04。 章節 C1。</a:t>
            </a:r>
          </a:p>
          <a:p>
            <a:r>
              <a:rPr lang="zh-CN" dirty="0"/>
              <a:t>• 教學作用：將工作分支接到已學過的票和共享版本。</a:t>
            </a:r>
          </a:p>
          <a:p>
            <a:r>
              <a:rPr lang="zh-CN" dirty="0"/>
              <a:t>• 帶入方式：沿用分支路線；本課只有 #3 在推進，#1/#2 尚未開工。</a:t>
            </a:r>
          </a:p>
          <a:p>
            <a:r>
              <a:rPr lang="zh-CN" dirty="0"/>
              <a:t>• 帶走重點：分支是修改路線；不是自動代表同時做多張票。</a:t>
            </a:r>
          </a:p>
          <a:p>
            <a:r>
              <a:rPr lang="zh-CN" dirty="0"/>
              <a:t>• 圖面／示範：原分支圖。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工作分支連回共同版本與指定需求票。</a:t>
            </a:r>
          </a:p>
          <a:p>
            <a:r>
              <a:rPr lang="zh-CN" dirty="0"/>
              <a:t>講者轉場：分支準備好後，送 PR 讓人核對需求、差異和證據。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14；source ID：P12, N06；章節 C1。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P12；承接 N06。</a:t>
            </a:r>
          </a:p>
          <a:p>
            <a:r>
              <a:rPr lang="zh-CN" dirty="0"/>
              <a:t>• 原標題： Pull Request；候選標題標明這是 #3 開工後流程的概念預演。</a:t>
            </a:r>
          </a:p>
          <a:p>
            <a:r>
              <a:rPr lang="zh-CN" dirty="0"/>
              <a:t>• 教學作用： 讓初學者先看 PR 如何把需求、差異與證據交給別人核對；此時 #3 主線尚未開工。</a:t>
            </a:r>
          </a:p>
          <a:p>
            <a:r>
              <a:rPr lang="zh-CN" dirty="0"/>
              <a:t>• 帶入方式： 沿用 PR 卡；連到 #3 Issue、diff、自測紀錄，展示一則詢問重複配對的留言，並在標題標出「概念預演 1/2」。</a:t>
            </a:r>
          </a:p>
          <a:p>
            <a:r>
              <a:rPr lang="zh-CN" dirty="0"/>
              <a:t>• 帶走重點： 預演 #3 已在 Dev 完成自測後，PR 如何承載交付與討論。</a:t>
            </a:r>
          </a:p>
          <a:p>
            <a:r>
              <a:rPr lang="zh-CN" dirty="0"/>
              <a:t>• 圖面／示範： 保留 Review／Discussion／Evidence 原區塊，帶入同一張票；預演不改變目前 WIP 0/1。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對應哪張票？</a:t>
            </a:r>
          </a:p>
          <a:p>
            <a:r>
              <a:rPr lang="zh-CN" dirty="0"/>
              <a:t>• 這次改了哪些地方？</a:t>
            </a:r>
          </a:p>
          <a:p>
            <a:r>
              <a:rPr lang="zh-CN" dirty="0"/>
              <a:t>• 用什麼結果支持這次改動？</a:t>
            </a:r>
          </a:p>
          <a:p>
            <a:r>
              <a:rPr lang="zh-CN" dirty="0"/>
              <a:t>講者轉場：概念預演第二步：#3 通過檢查後，如何整合回共同版本？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15；source ID：P13, N07；章節 C1。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P13；承接 N07。</a:t>
            </a:r>
          </a:p>
          <a:p>
            <a:r>
              <a:rPr lang="zh-CN" dirty="0"/>
              <a:t>• 原標題： Merge；候選標題標明這是 #3 開工後流程的概念預演。</a:t>
            </a:r>
          </a:p>
          <a:p>
            <a:r>
              <a:rPr lang="zh-CN" dirty="0"/>
              <a:t>• 教學作用： 接續預演 PR 後的整合；不表示 #3 已在主線開工。</a:t>
            </a:r>
          </a:p>
          <a:p>
            <a:r>
              <a:rPr lang="zh-CN" dirty="0"/>
              <a:t>• 帶入方式： 沿用 #3→main 的 merge 圖，追加 #2 更新後讀配對結果的節點；在標題標出「概念預演 2/2」。</a:t>
            </a:r>
          </a:p>
          <a:p>
            <a:r>
              <a:rPr lang="zh-CN" dirty="0"/>
              <a:t>• 帶走重點： Merge 不等於部署，整合後仍要驗行為。</a:t>
            </a:r>
          </a:p>
          <a:p>
            <a:r>
              <a:rPr lang="zh-CN" dirty="0"/>
              <a:t>• 圖面／示範： 保留原 main／分支；不展開 rebase 或策略大全，並清楚標示這是流程預演。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#3 經既定檢查與放行合入 main</a:t>
            </a:r>
          </a:p>
          <a:p>
            <a:r>
              <a:rPr lang="zh-CN" dirty="0"/>
              <a:t>• #2 更新共同版本再接結果</a:t>
            </a:r>
          </a:p>
          <a:p>
            <a:r>
              <a:rPr lang="zh-CN" dirty="0"/>
              <a:t>• 衝突需要判斷；沒有文字衝突也不保證行為正確</a:t>
            </a:r>
          </a:p>
          <a:p>
            <a:r>
              <a:rPr lang="zh-CN" dirty="0"/>
              <a:t>講者轉場：請先完成本章 Exit Check；之後再進入下一章。原轉場：概念預演結束，回到主線：#3 現在從 Ready 進 Dev，開始實作。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A20；章節 C1；原有內容全部保留。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帶走重點：能找到指定版本，分清 branch、commit、PR、merge 的用途。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Q1：PR #3 指定已審查的 commit abc123；另有 app_final。要重現那次改動，該選哪個版本？</a:t>
            </a:r>
          </a:p>
          <a:p>
            <a:r>
              <a:rPr lang="zh-CN" dirty="0"/>
              <a:t>• 參考答案：選 PR 指定的 commit abc123，核對對應測試紀錄；檔名 app_final 不能證明版本。檔案指紋與 commit 的差別留待後續實測章節教。</a:t>
            </a:r>
          </a:p>
          <a:p>
            <a:r>
              <a:rPr lang="zh-CN" dirty="0"/>
              <a:t>• Q2：Commit、Branch、PR 分別幫我們做什麼？</a:t>
            </a:r>
          </a:p>
          <a:p>
            <a:r>
              <a:rPr lang="zh-CN" dirty="0"/>
              <a:t>• 參考答案：Commit 留存一版、Branch 隔離修改路線、PR 讓協作者審查差異與相關證據。</a:t>
            </a:r>
          </a:p>
          <a:p>
            <a:r>
              <a:rPr lang="zh-CN" dirty="0"/>
              <a:t>• Q3：PR 通過或 Merge，是否代表產品已上線、Goal 已達成？</a:t>
            </a:r>
          </a:p>
          <a:p>
            <a:r>
              <a:rPr lang="zh-CN" dirty="0"/>
              <a:t>• 參考答案：不代表。Merge 是整合版本；部署與上線後是否達成 Goal，要另外確認。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本輪跨頁橋接：版本與 PR 已經理解；接著讓 #3 從 Ready 正式開始實作，對照剛才的預演。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PR #3 指定已審查的 commit abc123；另有 app_final。要重現那次改動，該選哪個版本？</a:t>
            </a:r>
          </a:p>
          <a:p>
            <a:r>
              <a:rPr lang="zh-CN" dirty="0"/>
              <a:t>自己先回答，再揭露參考答案選 PR 指定的 commit abc123，核對對應測試紀錄；檔名 app_final 不能證明版本。檔案指紋與 commit 的差別留待後續實測章節教。</a:t>
            </a:r>
          </a:p>
          <a:p>
            <a:endParaRPr lang="zh-CN" dirty="0"/>
          </a:p>
          <a:p>
            <a:r>
              <a:rPr lang="zh-CN" dirty="0"/>
              <a:t>Q2 Commit、Branch、PR 分別幫我們做什麼？</a:t>
            </a:r>
          </a:p>
          <a:p>
            <a:r>
              <a:rPr lang="zh-CN" dirty="0"/>
              <a:t>自己先回答，再揭露參考答案Commit 留存一版、Branch 隔離修改路線、PR 讓協作者審查差異與相關證據。</a:t>
            </a:r>
          </a:p>
          <a:p>
            <a:endParaRPr lang="zh-CN" dirty="0"/>
          </a:p>
          <a:p>
            <a:r>
              <a:rPr lang="zh-CN" dirty="0"/>
              <a:t>Q3 PR 通過或 Merge，是否代表產品已上線、Goal 已達成？</a:t>
            </a:r>
          </a:p>
          <a:p>
            <a:r>
              <a:rPr lang="zh-CN" dirty="0"/>
              <a:t>自己先回答，再揭露參考答案不代表。Merge 是整合版本；部署與上線後是否達成 Goal，要另外確認。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39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31；source ID：P22；章節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P22。</a:t>
            </a:r>
          </a:p>
          <a:p>
            <a:r>
              <a:rPr lang="zh-CN" dirty="0"/>
              <a:t>• 原標題： Developer；本頁回到 #3 尚未開工的主線。</a:t>
            </a:r>
          </a:p>
          <a:p>
            <a:r>
              <a:rPr lang="zh-CN" dirty="0"/>
              <a:t>• 教學作用： 在明確回到主線後，開始把需求落成可檢查的改動。</a:t>
            </a:r>
          </a:p>
          <a:p>
            <a:r>
              <a:rPr lang="zh-CN" dirty="0"/>
              <a:t>• 帶入方式： 明示 #3 現在由 Ready 進 Dev（WIP 0/1→1/1）；沿用 Ready→branch→commit→PR，連到下一頁的測試迴圈。</a:t>
            </a:r>
          </a:p>
          <a:p>
            <a:r>
              <a:rPr lang="zh-CN" dirty="0"/>
              <a:t>• 帶走重點： Dev 交付變更與自測，不自行宣布完成整套驗收。</a:t>
            </a:r>
          </a:p>
          <a:p>
            <a:r>
              <a:rPr lang="zh-CN" dirty="0"/>
              <a:t>• 圖面／示範： 沿用看板＋PR，校正 branch 不是泛稱完整副本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在 #3 工作分支實作</a:t>
            </a:r>
          </a:p>
          <a:p>
            <a:r>
              <a:rPr lang="zh-CN" dirty="0"/>
              <a:t>• 回到主線：#3 現在開始 Dev 實作</a:t>
            </a:r>
          </a:p>
          <a:p>
            <a:r>
              <a:rPr lang="zh-CN" dirty="0"/>
              <a:t>• 每次修改留下版本</a:t>
            </a:r>
          </a:p>
          <a:p>
            <a:r>
              <a:rPr lang="zh-CN" dirty="0"/>
              <a:t>• 送審 PR 附範圍與自測證據</a:t>
            </a:r>
          </a:p>
          <a:p>
            <a:r>
              <a:rPr lang="zh-CN" dirty="0"/>
              <a:t>講者轉場：Dev 都測過了，其他站還要檢查什麼？</a:t>
            </a:r>
          </a:p>
          <a:p>
            <a:endParaRPr lang="zh-CN" dirty="0"/>
          </a:p>
          <a:p>
            <a:r>
              <a:rPr lang="zh-CN" dirty="0"/>
              <a:t>• 2026-10-10 初學者教學修正：第 3 章先看 Dev 實作，再看 Review／QA，最後核對 Version A/B 的預期／實際與未測。</a:t>
            </a:r>
          </a:p>
          <a:p>
            <a:endParaRPr lang="zh-CN" dirty="0"/>
          </a:p>
          <a:p>
            <a:r>
              <a:rPr lang="zh-CN" dirty="0"/>
              <a:t>• 2026-10-10 G4 主畫面重做： #3 從 Ready 開始 Dev，接著 Review／QA 檢查並留下證據。 三站 Dev→Review→QA 與 WIP 1/1 短標記，不在開場解說全部測試細節。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32；source ID：X03；章節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X03。</a:t>
            </a:r>
          </a:p>
          <a:p>
            <a:r>
              <a:rPr lang="zh-CN" dirty="0"/>
              <a:t>• 教學作用： 把所有 test 當最後一站，會混淆開發回饋與獨立驗收。</a:t>
            </a:r>
          </a:p>
          <a:p>
            <a:r>
              <a:rPr lang="zh-CN" dirty="0"/>
              <a:t>• 帶入方式： Dev 反覆測試／修正 #3；PR 更新觸發設定好的 checks；Reviewer 查範圍與改動；QA 對照 AC 獨立驗行為。</a:t>
            </a:r>
          </a:p>
          <a:p>
            <a:r>
              <a:rPr lang="zh-CN" dirty="0"/>
              <a:t>• 帶走重點： Dev↔test 是回饋迴圈；CI 是執行方式，PR 是交付載體，Review／QA 的責任不同。草稿 PR 可以提早開，本課送審路徑是教學安排；TDD 完整方法留附錄。</a:t>
            </a:r>
          </a:p>
          <a:p>
            <a:r>
              <a:rPr lang="zh-CN" dirty="0"/>
              <a:t>• 圖面／示範： Dev↔test 小迴圈→PR；Review 與 QA 各列檢查對象；不要畫成唯一固定的所有團隊流程。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Dev：邊改邊測，快速修正</a:t>
            </a:r>
          </a:p>
          <a:p>
            <a:r>
              <a:rPr lang="zh-CN" dirty="0"/>
              <a:t>• CI：依設定重複執行 checks</a:t>
            </a:r>
          </a:p>
          <a:p>
            <a:r>
              <a:rPr lang="zh-CN" dirty="0"/>
              <a:t>• Reviewer 查改動；QA 對 AC 驗行為</a:t>
            </a:r>
          </a:p>
          <a:p>
            <a:r>
              <a:rPr lang="zh-CN" dirty="0"/>
              <a:t>講者轉場：先看 Review 怎樣退回超出範圍的改動。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審查修正：Dev 自測、PR/CI、Reviewer/QA 目的各不同，實務可依團隊設定交錯觸發。 原三組流程卡保留；可見提示它是常見協作分工，非嚴格固定順序。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33；source ID：P23；章節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P23。</a:t>
            </a:r>
          </a:p>
          <a:p>
            <a:r>
              <a:rPr lang="zh-CN" dirty="0"/>
              <a:t>• 教學作用： 做得出來也可能不該接受。</a:t>
            </a:r>
          </a:p>
          <a:p>
            <a:r>
              <a:rPr lang="zh-CN" dirty="0"/>
              <a:t>• 帶入方式： 原樣保留多做聊天室→Request changes→移除→重新送審。</a:t>
            </a:r>
          </a:p>
          <a:p>
            <a:r>
              <a:rPr lang="zh-CN" dirty="0"/>
              <a:t>• 帶走重點： Review 檢查改動、範圍、風險與維護性。</a:t>
            </a:r>
          </a:p>
          <a:p>
            <a:r>
              <a:rPr lang="zh-CN" dirty="0"/>
              <a:t>• 圖面／示範： 沿用留言與退回 Dev 路徑，完整保留案例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這張票沒有聊天</a:t>
            </a:r>
          </a:p>
          <a:p>
            <a:r>
              <a:rPr lang="zh-CN" dirty="0"/>
              <a:t>• 超出範圍就退回</a:t>
            </a:r>
          </a:p>
          <a:p>
            <a:r>
              <a:rPr lang="zh-CN" dirty="0"/>
              <a:t>• 修正後重新送審</a:t>
            </a:r>
          </a:p>
          <a:p>
            <a:r>
              <a:rPr lang="zh-CN" dirty="0"/>
              <a:t>講者轉場：改動審過後，行為要怎麼驗？</a:t>
            </a:r>
          </a:p>
          <a:p>
            <a:endParaRPr lang="zh-CN" dirty="0"/>
          </a:p>
          <a:p>
            <a:r>
              <a:rPr lang="zh-CN" dirty="0"/>
              <a:t>• 2026-10-09 合併後學員可見版本： Review 示意多做聊天室後退回 Dev；Reviewer 看差異，QA 依 AC 驗行為。 標示 PR Review 是模擬情境，不與下一頁真實 A/B 規則實測混淆。</a:t>
            </a:r>
          </a:p>
          <a:p>
            <a:endParaRPr lang="zh-CN" dirty="0"/>
          </a:p>
          <a:p>
            <a:r>
              <a:rPr lang="zh-CN" dirty="0"/>
              <a:t>• 2026-10-09 Editorial Review 修正： 示意 PR 審查的是範圍，Reviewer 與 QA 分工清楚；下一頁才是真實規則層 A/B 實測。</a:t>
            </a:r>
          </a:p>
          <a:p>
            <a:endParaRPr lang="zh-CN" dirty="0"/>
          </a:p>
          <a:p>
            <a:r>
              <a:rPr lang="zh-CN" dirty="0"/>
              <a:t>• 2026-10-09 Editorial 收斂： PR Review 模擬一個越界改動：Reviewer 發現聊天室→Dev 刪除→重送 Review→再交 QA。 學員按下一步顯示三階段，只顯示當下的 PR 訊息；跟後頁真實規則層 A/B 回放分開。</a:t>
            </a:r>
          </a:p>
          <a:p>
            <a:endParaRPr lang="zh-CN" dirty="0"/>
          </a:p>
          <a:p>
            <a:r>
              <a:rPr lang="zh-CN" dirty="0"/>
              <a:t>• 本輪跨頁橋接：Reviewer 已處理範圍問題；QA 接著檢查單向 Like 行為，會找到不同的缺失。</a:t>
            </a:r>
          </a:p>
          <a:p>
            <a:endParaRPr lang="zh-CN" dirty="0"/>
          </a:p>
          <a:p>
            <a:r>
              <a:rPr lang="zh-CN" dirty="0"/>
              <a:t>• 2026-10-10 順序修正：Reviewer 看改動範圍，QA 查實際行為；下一頁先把 QA 的預期說清楚。</a:t>
            </a:r>
          </a:p>
          <a:p>
            <a:endParaRPr lang="zh-CN" dirty="0"/>
          </a:p>
          <a:p>
            <a:r>
              <a:rPr lang="zh-CN" dirty="0"/>
              <a:t>• 2026-10-10 獨立 Reviewer 第二輪修正：PR Review 三階段示意仍保留；畫面提示 P42 學黑箱、P43 決策表、P44 才看真實 A/B。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34；source ID：N14；章節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N14。</a:t>
            </a:r>
          </a:p>
          <a:p>
            <a:r>
              <a:rPr lang="zh-CN" dirty="0"/>
              <a:t>• 教學作用： 開發者自稱完成、Review 通過，都還不能替代對外部行為的確認。</a:t>
            </a:r>
          </a:p>
          <a:p>
            <a:r>
              <a:rPr lang="zh-CN" dirty="0"/>
              <a:t>• 帶入方式： #3 雙向 Like 應配對、單向不得配對、再次 Like 不得重複。</a:t>
            </a:r>
          </a:p>
          <a:p>
            <a:r>
              <a:rPr lang="zh-CN" dirty="0"/>
              <a:t>• 帶走重點： 事先約定輸入／操作與可觀察結果；包含應有、禁止、重複情境。畫面結果不能直接證明所有內部資料正確。</a:t>
            </a:r>
          </a:p>
          <a:p>
            <a:r>
              <a:rPr lang="zh-CN" dirty="0"/>
              <a:t>• 圖面／示範： 黑箱左邊輸入／操作，右邊可觀察結果；以 #3 三條既定規則示範。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應該發生：雙向 Like 後配對</a:t>
            </a:r>
          </a:p>
          <a:p>
            <a:r>
              <a:rPr lang="zh-CN" dirty="0"/>
              <a:t>• 不得發生：單向 Like 就配對</a:t>
            </a:r>
          </a:p>
          <a:p>
            <a:r>
              <a:rPr lang="zh-CN" dirty="0"/>
              <a:t>• 重複操作：不能再增加配對</a:t>
            </a:r>
          </a:p>
          <a:p>
            <a:r>
              <a:rPr lang="zh-CN" dirty="0"/>
              <a:t>講者轉場：如何系統地找出還沒驗到的組合？</a:t>
            </a:r>
          </a:p>
          <a:p>
            <a:endParaRPr lang="zh-CN" dirty="0"/>
          </a:p>
          <a:p>
            <a:r>
              <a:rPr lang="zh-CN" dirty="0"/>
              <a:t>• 本輪跨頁橋接：已有三條可觀察的結果；把雙方 Like 的所有初始組合列出，避免只測成功案例。</a:t>
            </a:r>
          </a:p>
          <a:p>
            <a:endParaRPr lang="zh-CN" dirty="0"/>
          </a:p>
          <a:p>
            <a:r>
              <a:rPr lang="zh-CN" dirty="0"/>
              <a:t>• 2026-10-10 順序修正：先確定三條規則的可觀察結果；下一頁展開完整 Like 組合。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35；source ID：N15；章節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N15。</a:t>
            </a:r>
          </a:p>
          <a:p>
            <a:r>
              <a:rPr lang="zh-CN" dirty="0"/>
              <a:t>• 教學作用： 憑直覺只挑成功例子，容易漏掉禁止情境與條件組合。</a:t>
            </a:r>
          </a:p>
          <a:p>
            <a:r>
              <a:rPr lang="zh-CN" dirty="0"/>
              <a:t>• 帶入方式： 在起初未配對的前提下，雙方 Like 是／否四種組合，僅雙是建立配對。</a:t>
            </a:r>
          </a:p>
          <a:p>
            <a:r>
              <a:rPr lang="zh-CN" dirty="0"/>
              <a:t>• 帶走重點： 先展示漏測如何發生，再展開決策表。已有配對的重複操作另列情境。</a:t>
            </a:r>
          </a:p>
          <a:p>
            <a:r>
              <a:rPr lang="zh-CN" dirty="0"/>
              <a:t>• 圖面／示範： 四列決策表；預期結果由既定規則決定，別把所有狀態都塞成這四列。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起初尚未配對</a:t>
            </a:r>
          </a:p>
          <a:p>
            <a:r>
              <a:rPr lang="zh-CN" dirty="0"/>
              <a:t>• 雙方 Like 的四種組合，只有雙是建立配對</a:t>
            </a:r>
          </a:p>
          <a:p>
            <a:r>
              <a:rPr lang="zh-CN" dirty="0"/>
              <a:t>• 已有配對再 Like，是另一個初始狀態</a:t>
            </a:r>
          </a:p>
          <a:p>
            <a:r>
              <a:rPr lang="zh-CN" dirty="0"/>
              <a:t>講者轉場：QA 執行後，會留下什麼結果？</a:t>
            </a:r>
          </a:p>
          <a:p>
            <a:endParaRPr lang="zh-CN" dirty="0"/>
          </a:p>
          <a:p>
            <a:r>
              <a:rPr lang="zh-CN" dirty="0"/>
              <a:t>• 2026-10-09 Evidence Review 精確界線：決策表是四種預期行為的測試設計，不能冒充四個已跑案例。 列出四格規則預期，標示實測結果只在後續工具紀錄核對。</a:t>
            </a:r>
          </a:p>
          <a:p>
            <a:endParaRPr lang="zh-CN" dirty="0"/>
          </a:p>
          <a:p>
            <a:r>
              <a:rPr lang="zh-CN" dirty="0"/>
              <a:t>• 本輪跨頁橋接：表格是預期結果，尚未全部實測；接著打開實際 A／B 執行紀錄比較。</a:t>
            </a:r>
          </a:p>
          <a:p>
            <a:endParaRPr lang="zh-CN" dirty="0"/>
          </a:p>
          <a:p>
            <a:r>
              <a:rPr lang="zh-CN" dirty="0"/>
              <a:t>• 2026-10-10 順序修正：決策表只列預期，不代表已經執行；下一頁看 QA 如何用它抓到 Version A 錯配。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06；source ID：N01。 章節 C0。</a:t>
            </a:r>
          </a:p>
          <a:p>
            <a:r>
              <a:rPr lang="zh-CN" dirty="0"/>
              <a:t>• 教學作用：在學完工作票、版本、Review 與驗收後，示範 QA 如何依 #3 約定退回單向錯配，Dev 修正後重跑同案。</a:t>
            </a:r>
          </a:p>
          <a:p>
            <a:r>
              <a:rPr lang="zh-CN" dirty="0"/>
              <a:t>• 帶入方式：承接 PR Review，#3 AC 規定單向 Like 不配對；Version A 實際產生 M01，QA 依 AC 退回 Dev，修正後由 Version B 重跑同一情境。</a:t>
            </a:r>
          </a:p>
          <a:p>
            <a:r>
              <a:rPr lang="zh-CN" dirty="0"/>
              <a:t>• 帶走重點：Version A 單向實際 1 筆／FAIL → QA 退回 → Dev 補反向 Like 條件 → Version B 同案實際 0 筆／PASS。</a:t>
            </a:r>
          </a:p>
          <a:p>
            <a:r>
              <a:rPr lang="zh-CN" dirty="0"/>
              <a:t>• 圖面／示範：三步橫向卡；可直接開 Version A FAIL 與 Version B 同案 PASS 原始 JSON。只證明規則層，不推論 UI／產品已驗。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需求、成果、證據和接受決定是同一張票的一段交付。</a:t>
            </a:r>
          </a:p>
          <a:p>
            <a:r>
              <a:rPr lang="zh-CN" dirty="0"/>
              <a:t>講者轉場：修正後如何驗？先把輸入、操作、預期、實際分開，再用黑箱方式核對 #3 規則。</a:t>
            </a:r>
          </a:p>
          <a:p>
            <a:endParaRPr lang="zh-CN" dirty="0"/>
          </a:p>
          <a:p>
            <a:r>
              <a:rPr lang="zh-CN" dirty="0"/>
              <a:t>• 本輪跨頁橋接：QA 看見 A 版失敗並修成 B 版；接著學會在不讀程式碼時設計同樣的驗收。</a:t>
            </a:r>
          </a:p>
          <a:p>
            <a:endParaRPr lang="zh-CN" dirty="0"/>
          </a:p>
          <a:p>
            <a:r>
              <a:rPr lang="zh-CN" dirty="0"/>
              <a:t>• 2026-10-10 順序修正：已看 QA A FAIL→退回→B PASS；下一頁以真實紀錄分清其他已測／未測情境。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A07；舊 rev11 頁：無；章節 C3。</a:t>
            </a:r>
          </a:p>
          <a:p>
            <a:r>
              <a:rPr lang="zh-CN" dirty="0"/>
              <a:t>• 教學作用：這是可執行規則層示範，不代表 UI 或完整產品已驗。</a:t>
            </a:r>
          </a:p>
          <a:p>
            <a:r>
              <a:rPr lang="zh-CN" dirty="0"/>
              <a:t>• 帶走重點：FAIL/PASS/NOT RUN 都連回原始執行證據；NOT RUN 不代表已證實 bug。</a:t>
            </a:r>
          </a:p>
          <a:p>
            <a:r>
              <a:rPr lang="zh-CN" dirty="0"/>
              <a:t>• 圖面／示範：顯示 run_case.py 入口、開始狀態、操作步驟、預期與實際筆數；Version A／B 原始 JSON 與完整檔案指紋由連結追溯，不塞進主畫面。</a:t>
            </a:r>
          </a:p>
          <a:p>
            <a:r>
              <a:rPr lang="zh-CN" dirty="0"/>
              <a:t>• 主畫面訊息：重置假資料，從可見入口執行，核對紀錄與筆數；版本證據可點開追溯。</a:t>
            </a:r>
          </a:p>
          <a:p>
            <a:r>
              <a:rPr lang="zh-CN" dirty="0"/>
              <a:t>講者轉場：看完實際輸入輸出，再比較要求、預期與候選版本證據。</a:t>
            </a:r>
          </a:p>
          <a:p>
            <a:r>
              <a:rPr lang="zh-CN" dirty="0"/>
              <a:t>• 規格來源：Issue comments 1 §4, 5 A07, 8 §4.2</a:t>
            </a:r>
          </a:p>
          <a:p>
            <a:endParaRPr lang="zh-CN" dirty="0"/>
          </a:p>
          <a:p>
            <a:r>
              <a:rPr lang="zh-CN" dirty="0"/>
              <a:t>• 2026-10-09 Evidence Review 精確界線：本課真實工具只實測安→晴單向、雙向、重複；另外兩列尚未提供獨立實測。 示範 table 並區別未提供證據與確定 NOT RUN，UI 仍 NOT RUN。</a:t>
            </a:r>
          </a:p>
          <a:p>
            <a:endParaRPr lang="zh-CN" dirty="0"/>
          </a:p>
          <a:p>
            <a:r>
              <a:rPr lang="zh-CN" dirty="0"/>
              <a:t>• 2026-10-09 Editorial 收斂： B-pre 當下的真實實測範圍：A 單向 FAIL、B 單向及雙向 PASS、B 重複 Like NOT RUN。 四列預期與實際對照；明說重複尚未測、其他條件／UI 沒有執行證據；命令下放 Evidence。</a:t>
            </a:r>
          </a:p>
          <a:p>
            <a:endParaRPr lang="zh-CN" dirty="0"/>
          </a:p>
          <a:p>
            <a:r>
              <a:rPr lang="zh-CN" dirty="0"/>
              <a:t>• 本輪跨頁橋接：B-pre 已驗單向與雙向，但「已配對再 Like」未測；下一頁補驗同一 B 版。</a:t>
            </a:r>
          </a:p>
          <a:p>
            <a:endParaRPr lang="zh-CN" dirty="0"/>
          </a:p>
          <a:p>
            <a:r>
              <a:rPr lang="zh-CN" dirty="0"/>
              <a:t>• 2026-10-10 初學者教學修正：P44 已先學如何依 AC 找到 Version A 錯誤；此頁看 Version B 補驗前（B-pre）的真實已測與未測。</a:t>
            </a:r>
          </a:p>
          <a:p>
            <a:endParaRPr lang="zh-CN" dirty="0"/>
          </a:p>
          <a:p>
            <a:r>
              <a:rPr lang="zh-CN" dirty="0"/>
              <a:t>• 2026-10-10 實際畫面修正：Version B 補驗前（B-pre）單向、雙向有規則層結果，重複 Like NOT RUN；另有反向、雙方未 Like、UI／整合未測。 主畫面使用中文並附一次原始來源標籤，頁尾簡短聲明未測範圍；證據連結維持原路徑。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36；source ID：P24；章節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P24。</a:t>
            </a:r>
          </a:p>
          <a:p>
            <a:r>
              <a:rPr lang="zh-CN" dirty="0"/>
              <a:t>• 教學作用： Review 通過仍需核對實際行為。</a:t>
            </a:r>
          </a:p>
          <a:p>
            <a:r>
              <a:rPr lang="zh-CN" dirty="0"/>
              <a:t>• 帶入方式：保留真實 B-pre 單向／雙向 PASS，並明示 B-post 補驗重複 Like；不宣稱畫面已顯示 Match。</a:t>
            </a:r>
          </a:p>
          <a:p>
            <a:r>
              <a:rPr lang="zh-CN" dirty="0"/>
              <a:t>• 帶走重點： QA 依 AC 驗證；CI 是已設定的執行檢查方式。</a:t>
            </a:r>
          </a:p>
          <a:p>
            <a:r>
              <a:rPr lang="zh-CN" dirty="0"/>
              <a:t>• 圖面／示範：依 B-pre 與 B-post 的實際 JSON 分列單向、雙向及重複情境；前兩項不宣稱在 B-post 重跑，CI 只按本課設定說明。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時間快轉至 B-post 補驗完成</a:t>
            </a:r>
          </a:p>
          <a:p>
            <a:r>
              <a:rPr lang="zh-CN" dirty="0"/>
              <a:t>• B-pre 單向／雙向 PASS；B-post 重複情境 PASS</a:t>
            </a:r>
          </a:p>
          <a:p>
            <a:r>
              <a:rPr lang="zh-CN" dirty="0"/>
              <a:t>• UI／產品串接仍 NOT RUN</a:t>
            </a:r>
          </a:p>
          <a:p>
            <a:r>
              <a:rPr lang="zh-CN" dirty="0"/>
              <a:t>講者轉場：驗證紀錄要多具體，才足以相信這個 PASS？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2026-10-09 Evidence Review 精確界線：B-pre 與 B-post 是同一份 B 程式（相同 hash）。本表沿用 B-pre 兩個 JSON；B-post 完整套件另有三情境實跑。 B-post 新增 duplicate 單例 JSON；B-post test-green 完整套件也記錄三情境 PASS，不要寫成從未重跑。</a:t>
            </a:r>
          </a:p>
          <a:p>
            <a:endParaRPr lang="zh-CN" dirty="0"/>
          </a:p>
          <a:p>
            <a:r>
              <a:rPr lang="zh-CN" dirty="0"/>
              <a:t>• 2026-10-09 Editorial 收斂： Version B 候選不變：B-pre 單向／雙向 PASS、重複 NOT RUN；B-post 補驗重複 PASS。 兩張時間對照卡，箭頭指向補驗後；完整套件重播紀錄保留在 Evidence／Notes，不在主畫面混用兩輪結果。</a:t>
            </a:r>
          </a:p>
          <a:p>
            <a:endParaRPr lang="zh-CN" dirty="0"/>
          </a:p>
          <a:p>
            <a:r>
              <a:rPr lang="zh-CN" dirty="0"/>
              <a:t>• 本輪跨頁橋接：現在重複 Like 也有 B-post 證據；下一頁核對是否真的使用同一份程式。</a:t>
            </a:r>
          </a:p>
          <a:p>
            <a:endParaRPr lang="zh-CN" dirty="0"/>
          </a:p>
          <a:p>
            <a:r>
              <a:rPr lang="zh-CN" dirty="0"/>
              <a:t>• 2026-10-10 初學者教學修正：同一 Version B 的補驗後紀錄（B-post）新增重複 Like 測試 PASS，UI／其他未測仍 NOT RUN。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原始素材與來源：原 storyboard 仍保存在 Git 歷史；當前沿用同一舊 rev11 頁面 ID 與引用，未宣稱新增實測。</a:t>
            </a:r>
          </a:p>
          <a:p>
            <a:r>
              <a:rPr lang="zh-CN" dirty="0"/>
              <a:t>• 前頁已知：現在重複 Like 也有 B-post 證據；下一頁核對是否真的使用同一份程式。</a:t>
            </a:r>
          </a:p>
          <a:p>
            <a:r>
              <a:rPr lang="zh-CN" dirty="0"/>
              <a:t>• 此頁新增：B-pre 與 B-post 檔案指紋相同，新增的是重複 Like 的實測證據，並未換掉 Version B 程式。</a:t>
            </a:r>
          </a:p>
          <a:p>
            <a:r>
              <a:rPr lang="zh-CN" dirty="0"/>
              <a:t>• 學員主畫面：兩個時間點並列同一 B hash：B-pre duplicate NOT RUN → B-post duplicate PASS；核對版本與證據的操作，UI／整合仍 NOT RUN。</a:t>
            </a:r>
          </a:p>
          <a:p>
            <a:r>
              <a:rPr lang="zh-CN" dirty="0"/>
              <a:t>• 講者轉場：版本與證據都能追溯後，再問這張工作票是否仍推進產品 Goal。</a:t>
            </a:r>
          </a:p>
          <a:p>
            <a:r>
              <a:rPr lang="zh-CN" dirty="0"/>
              <a:t>• 歷史背景（講者補充）：- 對應：舊 rev11 頁 37；source ID：N16；章節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N16。</a:t>
            </a:r>
          </a:p>
          <a:p>
            <a:r>
              <a:rPr lang="zh-CN" dirty="0"/>
              <a:t>• 教學作用： 沒有版本、前提、預期與實際結果，就不能核對這次判定是否可信。</a:t>
            </a:r>
          </a:p>
          <a:p>
            <a:r>
              <a:rPr lang="zh-CN" dirty="0"/>
              <a:t>• 帶入方式：真實 Version A 單向 Like 多出 M01（FAIL）；Version B 重跑同一單向情境為 0 筆（PASS）。</a:t>
            </a:r>
          </a:p>
          <a:p>
            <a:r>
              <a:rPr lang="zh-CN" dirty="0"/>
              <a:t>• 帶走重點：這項事實只證明 #3 規則層；UI／產品串接仍 NOT RUN。詳盡的版本、環境、資料、操作、預期、實際與原始輸出可由證據連結核對。</a:t>
            </a:r>
          </a:p>
          <a:p>
            <a:r>
              <a:rPr lang="zh-CN" dirty="0"/>
              <a:t>• 圖面／示範：一份真實驗證紀錄：同一單向 Like，Version A FAIL、Version B PASS；附檔案指紋白話定義與兩個原始輸出連結。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單向 Like：A 預期 0 筆，實際 1 筆 M01 → FAIL</a:t>
            </a:r>
          </a:p>
          <a:p>
            <a:r>
              <a:rPr lang="zh-CN" dirty="0"/>
              <a:t>• 同案重跑：B 預期／實際 0 筆 → PASS</a:t>
            </a:r>
          </a:p>
          <a:p>
            <a:r>
              <a:rPr lang="zh-CN" dirty="0"/>
              <a:t>• 檔案指紋：確認測的是同一份程式；不一定是 Git commit</a:t>
            </a:r>
          </a:p>
          <a:p>
            <a:r>
              <a:rPr lang="zh-CN" dirty="0"/>
              <a:t>講者轉場：功能驗對了，是否也在推進 Goal？</a:t>
            </a:r>
          </a:p>
          <a:p>
            <a:endParaRPr lang="zh-CN" dirty="0"/>
          </a:p>
          <a:p>
            <a:r>
              <a:rPr lang="zh-CN" dirty="0"/>
              <a:t>• 2026-10-10 初學者教學修正：核對 Version B 補驗前後使用同一程式指紋；增加的是測試證據。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審查修正：B-pre 到 B-post 使用同 Version B；畫面只顯示短指紋，要查完整 SHA 應開原始 Evidence。 同 B 版短 hash 對照＋原始記錄入口，避免短指紋冒充完整 hash 比對。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38；source ID：P25；章節 C3。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P25。</a:t>
            </a:r>
          </a:p>
          <a:p>
            <a:r>
              <a:rPr lang="zh-CN" dirty="0"/>
              <a:t>• 教學作用： 功能符合 AC，仍可能不是目前最值得做的事。</a:t>
            </a:r>
          </a:p>
          <a:p>
            <a:r>
              <a:rPr lang="zh-CN" dirty="0"/>
              <a:t>• 帶入方式： 保留三個判斷問題與實作／目標問題不同退回路徑，改清楚放行銜接。</a:t>
            </a:r>
          </a:p>
          <a:p>
            <a:r>
              <a:rPr lang="zh-CN" dirty="0"/>
              <a:t>• 帶走重點： 接受對 Goal 有幫助的成果，再送人工 Gate 決定。</a:t>
            </a:r>
          </a:p>
          <a:p>
            <a:r>
              <a:rPr lang="zh-CN" dirty="0"/>
              <a:t>• 圖面／示範： 沿用看板與退回路徑，校正直接 merge 的連接；不改原成功訊號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Product Check：這張票仍推進 Goal 嗎？</a:t>
            </a:r>
          </a:p>
          <a:p>
            <a:r>
              <a:rPr lang="zh-CN" dirty="0"/>
              <a:t>• 可核對的 #3 規則：互相喜歡才能建立配對</a:t>
            </a:r>
          </a:p>
          <a:p>
            <a:r>
              <a:rPr lang="zh-CN" dirty="0"/>
              <a:t>講者轉場：請先完成本章 Exit Check；之後再進入下一章。原轉場：驗收通過，是否就能給所有人用？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2026-10-09 Editorial 收斂： Product Check 判斷這張票仍否推進共同 Goal；需求有變退 Backlog、實作不符 AC 退 Dev、接受後另經 Human Gate。 集中呈現單一判斷與三條分流；完整看板、上線後成效數字與補充文件留相關章節或 Notes。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49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A21；章節 C3；原有內容全部保留。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帶走重點：能用 AC、候選版本和預期／實際結果判斷 PASS、FAIL、NOT RUN。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Q1：Version A 只有小安 Like 小晴，預期／實際各幾筆？</a:t>
            </a:r>
          </a:p>
          <a:p>
            <a:r>
              <a:rPr lang="zh-CN" dirty="0"/>
              <a:t>• 參考答案：預期 0 筆，實際 1 筆 M01，所以是 FAIL；Version B 同案重跑實際 0 筆才 PASS。</a:t>
            </a:r>
          </a:p>
          <a:p>
            <a:r>
              <a:rPr lang="zh-CN" dirty="0"/>
              <a:t>• Q2：新案例預期 1 筆、實際 0 筆；另一個案例已確認尚未執行。各標什麼？</a:t>
            </a:r>
          </a:p>
          <a:p>
            <a:r>
              <a:rPr lang="zh-CN" dirty="0"/>
              <a:t>• 參考答案：第一個是 FAIL，第二個是 NOT RUN；若只缺紀錄、不能確認是否曾執行，應先要求補證據，不自行判定 NOT RUN 或 PASS。</a:t>
            </a:r>
          </a:p>
          <a:p>
            <a:r>
              <a:rPr lang="zh-CN" dirty="0"/>
              <a:t>• Q3：Reviewer、QA、Product Check 的核對重點有何不同？</a:t>
            </a:r>
          </a:p>
          <a:p>
            <a:r>
              <a:rPr lang="zh-CN" dirty="0"/>
              <a:t>• 參考答案：Reviewer 看修改範圍與品質，QA 驗行為與 AC，Product Check 判斷這張票是否仍推進 Goal。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本輪跨頁橋接：已分辨規則層 PASS、FAIL、NOT RUN；下一章問：環境變了，是否能放行？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Version A 只有小安 Like 小晴，預期／實際各幾筆？</a:t>
            </a:r>
          </a:p>
          <a:p>
            <a:r>
              <a:rPr lang="zh-CN" dirty="0"/>
              <a:t>自己先回答，再揭露參考答案預期 0 筆，實際 1 筆 M01，所以是 FAIL；Version B 同案重跑實際 0 筆才 PASS。</a:t>
            </a:r>
          </a:p>
          <a:p>
            <a:endParaRPr lang="zh-CN" dirty="0"/>
          </a:p>
          <a:p>
            <a:r>
              <a:rPr lang="zh-CN" dirty="0"/>
              <a:t>Q2 新案例預期 1 筆、實際 0 筆；另一個案例已確認尚未執行。各標什麼？</a:t>
            </a:r>
          </a:p>
          <a:p>
            <a:r>
              <a:rPr lang="zh-CN" dirty="0"/>
              <a:t>自己先回答，再揭露參考答案第一個是 FAIL，第二個是 NOT RUN；若只缺紀錄、不能確認是否曾執行，應先要求補證據，不自行判定 NOT RUN 或 PASS。</a:t>
            </a:r>
          </a:p>
          <a:p>
            <a:endParaRPr lang="zh-CN" dirty="0"/>
          </a:p>
          <a:p>
            <a:r>
              <a:rPr lang="zh-CN" dirty="0"/>
              <a:t>Q3 Reviewer、QA、Product Check 的核對重點有何不同？</a:t>
            </a:r>
          </a:p>
          <a:p>
            <a:r>
              <a:rPr lang="zh-CN" dirty="0"/>
              <a:t>自己先回答，再揭露參考答案Reviewer 看修改範圍與品質，QA 驗行為與 AC，Product Check 判斷這張票是否仍推進 Goal。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39；source ID：N19；章節 C4。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N19。</a:t>
            </a:r>
          </a:p>
          <a:p>
            <a:r>
              <a:rPr lang="zh-CN" dirty="0"/>
              <a:t>• 教學作用： 已測情境通過仍有剩餘不確定性；相同程式在不同環境犯錯，影響不同。</a:t>
            </a:r>
          </a:p>
          <a:p>
            <a:r>
              <a:rPr lang="zh-CN" dirty="0"/>
              <a:t>• 帶入方式： 假資料環境 vs 真實使用者資料；同樣配對錯誤，影響對象與後續處理不同。</a:t>
            </a:r>
          </a:p>
          <a:p>
            <a:r>
              <a:rPr lang="zh-CN" dirty="0"/>
              <a:t>• 帶走重點： 先讓聽眾比較影響，再引入風險、曝光範圍、可逆性。不能由「使用者少」直接推論可隨意犯錯。</a:t>
            </a:r>
          </a:p>
          <a:p>
            <a:r>
              <a:rPr lang="zh-CN" dirty="0"/>
              <a:t>• 圖面／示範： 相同 #3、相同驗證結果，分成假資料與真實資料兩個環境；不新增產品功能。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假資料錯配：可重建測試資料</a:t>
            </a:r>
          </a:p>
          <a:p>
            <a:r>
              <a:rPr lang="zh-CN" dirty="0"/>
              <a:t>• 真實資料錯配：可能影響使用者與既有資料</a:t>
            </a:r>
          </a:p>
          <a:p>
            <a:r>
              <a:rPr lang="zh-CN" dirty="0"/>
              <a:t>• 影響範圍、可逆性不同，放行判斷也不同</a:t>
            </a:r>
          </a:p>
          <a:p>
            <a:r>
              <a:rPr lang="zh-CN" dirty="0"/>
              <a:t>講者轉場：放行前還要問哪幾個問題？</a:t>
            </a:r>
          </a:p>
          <a:p>
            <a:endParaRPr lang="zh-CN" dirty="0"/>
          </a:p>
          <a:p>
            <a:r>
              <a:rPr lang="zh-CN" dirty="0"/>
              <a:t>• 2026-10-10 初學者教學修正：本章從 QA 證據走到真實發布風險、人的核准以及單票 Done／Goal 的差別。</a:t>
            </a:r>
          </a:p>
          <a:p>
            <a:endParaRPr lang="zh-CN" dirty="0"/>
          </a:p>
          <a:p>
            <a:r>
              <a:rPr lang="zh-CN" dirty="0"/>
              <a:t>• 2026-10-10 G4 主畫面重做： 規則測過不等於可以發布；人要評估真實使用者的風險，區分 Done 與 Goal。 三站風險辨認→人的放行決策→Done/Goal；假資料與真實使用者環境差異保留小型提示。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40；source ID：N20；章節 C4。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N20。</a:t>
            </a:r>
          </a:p>
          <a:p>
            <a:r>
              <a:rPr lang="zh-CN" dirty="0"/>
              <a:t>• 教學作用： 只有測試結果，仍不足以決定如何暴露變更及承受失敗。</a:t>
            </a:r>
          </a:p>
          <a:p>
            <a:r>
              <a:rPr lang="zh-CN" dirty="0"/>
              <a:t>• 帶入方式： #3：如何降低錯誤機率、有哪些結果證據、誰會受影響、如何限制影響並停止／復原。</a:t>
            </a:r>
          </a:p>
          <a:p>
            <a:r>
              <a:rPr lang="zh-CN" dirty="0"/>
              <a:t>• 帶走重點： 本頁先演真人放行：誰根據哪些證據決定放行／暫停，決議記在 Issue／PR，通過後才 merge／release。 用四個問題帶出四支柱；先用既有案例，再補術語。若舉 canary，交代觀察、停止條件與恢復能力，不能只說「先給一點人用」。</a:t>
            </a:r>
          </a:p>
          <a:p>
            <a:r>
              <a:rPr lang="zh-CN" dirty="0"/>
              <a:t>• 圖面／示範： 用 #3 的證據包與四個問題，示範真人放行；不把風險圖的低風險自動上線套成本課規則。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如何降低錯誤機率、驗證這次結果？</a:t>
            </a:r>
          </a:p>
          <a:p>
            <a:r>
              <a:rPr lang="zh-CN" dirty="0"/>
              <a:t>• 誰可能受影響、怎樣限制與處理衝擊？</a:t>
            </a:r>
          </a:p>
          <a:p>
            <a:r>
              <a:rPr lang="zh-CN" dirty="0"/>
              <a:t>• 人記錄放行／暫停理由，通過後才 merge／release</a:t>
            </a:r>
          </a:p>
          <a:p>
            <a:r>
              <a:rPr lang="zh-CN" dirty="0"/>
              <a:t>講者轉場：依這個決定完成整合與上線後，票才到哪裡？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41；source ID：P26；章節 C4。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P26。</a:t>
            </a:r>
          </a:p>
          <a:p>
            <a:r>
              <a:rPr lang="zh-CN" dirty="0"/>
              <a:t>• 原標題： Done。本草稿採用此標題。</a:t>
            </a:r>
          </a:p>
          <a:p>
            <a:r>
              <a:rPr lang="zh-CN" dirty="0"/>
              <a:t>• 教學作用： 單票完成與產品結果需要分開。</a:t>
            </a:r>
          </a:p>
          <a:p>
            <a:r>
              <a:rPr lang="zh-CN" dirty="0"/>
              <a:t>• 帶入方式： 保留 #3 Done、#1／#2 等待、共用 DoD；補上先依 Gate 決議再整合／上線。</a:t>
            </a:r>
          </a:p>
          <a:p>
            <a:r>
              <a:rPr lang="zh-CN" dirty="0"/>
              <a:t>• 帶走重點： Done 是本課約定的單票狀態，不是 Goal 成效。</a:t>
            </a:r>
          </a:p>
          <a:p>
            <a:r>
              <a:rPr lang="zh-CN" dirty="0"/>
              <a:t>• 圖面／示範： 保留原看板與 DoD；標明本課設定，不改成普遍規定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依 Gate 放行後 merge／上線／檢查</a:t>
            </a:r>
          </a:p>
          <a:p>
            <a:r>
              <a:rPr lang="zh-CN" dirty="0"/>
              <a:t>• 本課 DoD 全部滿足才關票</a:t>
            </a:r>
          </a:p>
          <a:p>
            <a:r>
              <a:rPr lang="zh-CN" dirty="0"/>
              <a:t>• #3 Done，#1／#2 尚未完成</a:t>
            </a:r>
          </a:p>
          <a:p>
            <a:r>
              <a:rPr lang="zh-CN" dirty="0"/>
              <a:t>講者轉場：等其他兩票也完成，還需要驗什麼？</a:t>
            </a:r>
          </a:p>
          <a:p>
            <a:endParaRPr lang="zh-CN" dirty="0"/>
          </a:p>
          <a:p>
            <a:r>
              <a:rPr lang="zh-CN" dirty="0"/>
              <a:t>• 2026-10-09 合併後學員可見版本： Done 為條件式教學推演：只在串接、放行及上線檢查完成後成立；本次 demo 只有規則層實測。 Closed 標明假設；UI／完整產品／真實發布仍 NOT RUN。</a:t>
            </a:r>
          </a:p>
          <a:p>
            <a:endParaRPr lang="zh-CN" dirty="0"/>
          </a:p>
          <a:p>
            <a:r>
              <a:rPr lang="zh-CN" dirty="0"/>
              <a:t>• 2026-10-09 Evidence Review 精確界線：條件式 #3 Done 只要求本票規則獨立驗證與人的放行；完整 UI 端到端必待其他票。 若 #3 自身交付完成才假設 Done；#1/#2 尚 Ready，產品串接 NOT RUN。</a:t>
            </a:r>
          </a:p>
          <a:p>
            <a:endParaRPr lang="zh-CN" dirty="0"/>
          </a:p>
          <a:p>
            <a:r>
              <a:rPr lang="zh-CN" dirty="0"/>
              <a:t>• 2026-10-09 Editorial 收斂： 流程推演：假設 #3 達成 Review／QA、人的放行、發布與 DoD 才能 Done；#1／#2 仍 Ready，整體使用者路徑與 Goal 沒完成。 Goal→#1 Ready→#3 Done（假設）→#2 Ready 的三站圖；在畫面保留真實 UI／部署 NOT RUN。詳細 DoD 在 Notes。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42；source ID：N17；章節 C4。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N17。</a:t>
            </a:r>
          </a:p>
          <a:p>
            <a:r>
              <a:rPr lang="zh-CN" dirty="0"/>
              <a:t>• 教學作用： 各票分別成立，不代表接起來的資料與行為一致。</a:t>
            </a:r>
          </a:p>
          <a:p>
            <a:r>
              <a:rPr lang="zh-CN" dirty="0"/>
              <a:t>• 帶入方式： #1 按 Like→#3 形成配對→#2 雙方在列表找到彼此。</a:t>
            </a:r>
          </a:p>
          <a:p>
            <a:r>
              <a:rPr lang="zh-CN" dirty="0"/>
              <a:t>• 帶走重點： 從使用者目標走一次完整路徑，找出交接或整合失配；回扣 branch／merge 只完成程式整合的一部分。</a:t>
            </a:r>
          </a:p>
          <a:p>
            <a:r>
              <a:rPr lang="zh-CN" dirty="0"/>
              <a:t>• 圖面／示範： 完整產品路徑；明示時間快轉至 #1／#2 完成並整合後，對照剛才只有 #3 完成的狀態。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時間快轉：#1／#2 完成並整合後</a:t>
            </a:r>
          </a:p>
          <a:p>
            <a:r>
              <a:rPr lang="zh-CN" dirty="0"/>
              <a:t>• #1：A／B 表達 Like</a:t>
            </a:r>
          </a:p>
          <a:p>
            <a:r>
              <a:rPr lang="zh-CN" dirty="0"/>
              <a:t>• #3：雙向才建立配對</a:t>
            </a:r>
          </a:p>
          <a:p>
            <a:r>
              <a:rPr lang="zh-CN" dirty="0"/>
              <a:t>• #2：雙方能在列表找到彼此</a:t>
            </a:r>
          </a:p>
          <a:p>
            <a:r>
              <a:rPr lang="zh-CN" dirty="0"/>
              <a:t>講者轉場：請先完成本章 Exit Check；之後再進入下一章。原轉場：人類流程學完了；現在把同樣的工作交給 Agent。</a:t>
            </a:r>
          </a:p>
          <a:p>
            <a:endParaRPr lang="zh-CN" dirty="0"/>
          </a:p>
          <a:p>
            <a:r>
              <a:rPr lang="zh-CN" dirty="0"/>
              <a:t>• 2026-10-09 合併後學員可見版本： 假設 #1／#2 已完成並整合，示範使用者路徑；UI 串接仍 NOT RUN。 明示「教學假設」，不把使用者路徑圖當成真正的 UI 測試。</a:t>
            </a:r>
          </a:p>
          <a:p>
            <a:endParaRPr lang="zh-CN" dirty="0"/>
          </a:p>
          <a:p>
            <a:r>
              <a:rPr lang="zh-CN" dirty="0"/>
              <a:t>• 2026-10-09 Evidence Review 精確界線：完整 #1→#3→#2 路徑需三票完成才整合驗證，現在是教學假設。 保留 UI／串接 NOT RUN；單票 Done 不等於整體 Goal 達成。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A22；章節 C4；原有內容全部保留。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帶走重點：能區分單票驗收、人的放行、整體 Goal 成效。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Q1：在教材推演中，若 #3 的工作票已 Done，就代表配對 App 的 Goal 達成嗎？</a:t>
            </a:r>
          </a:p>
          <a:p>
            <a:r>
              <a:rPr lang="zh-CN" dirty="0"/>
              <a:t>• 參考答案：不代表。這是假設 #3 本身已完成的示意，不是實際部署證據；#1／#2 與完整使用者路徑仍待整合，上線後也須觀察 Goal 訊號。</a:t>
            </a:r>
          </a:p>
          <a:p>
            <a:r>
              <a:rPr lang="zh-CN" dirty="0"/>
              <a:t>• Q2：在 Product Check 之後，誰決定能否 Merge／Release？</a:t>
            </a:r>
          </a:p>
          <a:p>
            <a:r>
              <a:rPr lang="zh-CN" dirty="0"/>
              <a:t>• 參考答案：依本課約定是人作 Human Gate 放行或暫停；Gate 是決策點，不是多一個看板欄位。</a:t>
            </a:r>
          </a:p>
          <a:p>
            <a:r>
              <a:rPr lang="zh-CN" dirty="0"/>
              <a:t>• Q3：上線前核對什麼，上線後量什麼？</a:t>
            </a:r>
          </a:p>
          <a:p>
            <a:r>
              <a:rPr lang="zh-CN" dirty="0"/>
              <a:t>• 參考答案：上線前依 AC、版本、證據與風險決定接受／放行；上線後再觀察真正的 Goal 成效。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本輪跨頁橋接：已學人的放行與單票 Done；接著看 Agent 能承接哪些原本由人執行的工作。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在教材推演中，若 #3 的工作票已 Done，就代表配對 App 的 Goal 達成嗎？</a:t>
            </a:r>
          </a:p>
          <a:p>
            <a:r>
              <a:rPr lang="zh-CN" dirty="0"/>
              <a:t>自己先回答，再揭露參考答案不代表。這是假設 #3 本身已完成的示意，不是實際部署證據；#1／#2 與完整使用者路徑仍待整合，上線後也須觀察 Goal 訊號。</a:t>
            </a:r>
          </a:p>
          <a:p>
            <a:endParaRPr lang="zh-CN" dirty="0"/>
          </a:p>
          <a:p>
            <a:r>
              <a:rPr lang="zh-CN" dirty="0"/>
              <a:t>Q2 在 Product Check 之後，誰決定能否 Merge／Release？</a:t>
            </a:r>
          </a:p>
          <a:p>
            <a:r>
              <a:rPr lang="zh-CN" dirty="0"/>
              <a:t>自己先回答，再揭露參考答案依本課約定是人作 Human Gate 放行或暫停；Gate 是決策點，不是多一個看板欄位。</a:t>
            </a:r>
          </a:p>
          <a:p>
            <a:endParaRPr lang="zh-CN" dirty="0"/>
          </a:p>
          <a:p>
            <a:r>
              <a:rPr lang="zh-CN" dirty="0"/>
              <a:t>Q3 上線前核對什麼，上線後量什麼？</a:t>
            </a:r>
          </a:p>
          <a:p>
            <a:r>
              <a:rPr lang="zh-CN" dirty="0"/>
              <a:t>自己先回答，再揭露參考答案上線前依 AC、版本、證據與風險決定接受／放行；上線後再觀察真正的 Goal 成效。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43；source ID：P29。 章節 C5。</a:t>
            </a:r>
          </a:p>
          <a:p>
            <a:r>
              <a:rPr lang="zh-CN" dirty="0"/>
              <a:t>• 教學作用：以 Agent 章封面承接人類流程和交付驗收，打開新的教學問題。</a:t>
            </a:r>
          </a:p>
          <a:p>
            <a:r>
              <a:rPr lang="zh-CN" dirty="0"/>
              <a:t>• 帶入方式：保留章封面；先回顧同一 #3 人類交付，提問現在若交給 Agent，什麼行動算真的發生？</a:t>
            </a:r>
          </a:p>
          <a:p>
            <a:r>
              <a:rPr lang="zh-CN" dirty="0"/>
              <a:t>• 帶走重點：Agent 章從同一票開始；尚未切換成必備多 Agent 系統。</a:t>
            </a:r>
          </a:p>
          <a:p>
            <a:r>
              <a:rPr lang="zh-CN" dirty="0"/>
              <a:t>• 圖面／示範：沿用章封面與導覽。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同一張 #3，現在看 Agent 如何接手。</a:t>
            </a:r>
          </a:p>
          <a:p>
            <a:r>
              <a:rPr lang="zh-CN" dirty="0"/>
              <a:t>講者轉場：進入 Agent 章前，先把「Agent」的意思和工作循環說清楚。</a:t>
            </a:r>
          </a:p>
          <a:p>
            <a:endParaRPr lang="zh-CN" dirty="0"/>
          </a:p>
          <a:p>
            <a:r>
              <a:rPr lang="zh-CN" dirty="0"/>
              <a:t>• 本輪跨頁橋接：前面教人類如何交付 #3；接著定義 Agent 如何用工具把一張票推進。</a:t>
            </a:r>
          </a:p>
          <a:p>
            <a:endParaRPr lang="zh-CN" dirty="0"/>
          </a:p>
          <a:p>
            <a:r>
              <a:rPr lang="zh-CN" dirty="0"/>
              <a:t>• 2026-10-10 初學者教學修正：人類流程已教過；這章看 Agent 怎麼拿資訊、用工具、交接，接著才談多 Agent。</a:t>
            </a:r>
          </a:p>
          <a:p>
            <a:endParaRPr lang="zh-CN" dirty="0"/>
          </a:p>
          <a:p>
            <a:r>
              <a:rPr lang="zh-CN" dirty="0"/>
              <a:t>• 2026-10-10 G4 主畫面重做： Agent 依工具與拿到的材料推進工作；交付仍需版本、證據與人類核對。 三站 Agent用工具→Context/Session→交接；詳細術語於後頁解釋。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A08；舊 rev11 頁：無；章節 C5。</a:t>
            </a:r>
          </a:p>
          <a:p>
            <a:r>
              <a:rPr lang="zh-CN" dirty="0"/>
              <a:t>• 教學作用：Agent 是依目標判斷下一步、使用工具並讀取回傳的 AI 模型工作循環。</a:t>
            </a:r>
          </a:p>
          <a:p>
            <a:r>
              <a:rPr lang="zh-CN" dirty="0"/>
              <a:t>• 帶走重點：工具結果不符時回到判斷；授權範圍需要工具權限與停點支持，不是 Agent 天生不越界。</a:t>
            </a:r>
          </a:p>
          <a:p>
            <a:r>
              <a:rPr lang="zh-CN" dirty="0"/>
              <a:t>• 圖面／示範：人給目標→判斷→工具→觀察→回到判斷／調整／詢問／停止，以 #3 單向 FAIL 為例。</a:t>
            </a:r>
          </a:p>
          <a:p>
            <a:r>
              <a:rPr lang="zh-CN" dirty="0"/>
              <a:t>• 主畫面訊息：Agent 在給定目標和授權範圍內，判斷下一步、使用工具、觀察結果並繼續、調整、詢問或停止。</a:t>
            </a:r>
          </a:p>
          <a:p>
            <a:r>
              <a:rPr lang="zh-CN" dirty="0"/>
              <a:t>講者轉場：先比較人逐步提問與 Agent 受託推進，再看一次真實工具紀錄。</a:t>
            </a:r>
          </a:p>
          <a:p>
            <a:r>
              <a:rPr lang="zh-CN" dirty="0"/>
              <a:t>• 規格來源：Issue comment 5 A08; comment 8 §2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44；source ID：P30。 章節 C5。</a:t>
            </a:r>
          </a:p>
          <a:p>
            <a:r>
              <a:rPr lang="zh-CN" dirty="0"/>
              <a:t>• 教學作用：分清 Agent 的操作方式與聊天介面，說明需要看工具行動和回傳。</a:t>
            </a:r>
          </a:p>
          <a:p>
            <a:r>
              <a:rPr lang="zh-CN" dirty="0"/>
              <a:t>• 帶入方式：保留逐步提問與 Agent 工作循環對照，加入工具讀檔/改檔/測試的可見輸出提示。</a:t>
            </a:r>
          </a:p>
          <a:p>
            <a:r>
              <a:rPr lang="zh-CN" dirty="0"/>
              <a:t>• 帶走重點：Agent 的循環是依目標判斷、用工具、看結果並調整；這不等於一定成功。</a:t>
            </a:r>
          </a:p>
          <a:p>
            <a:r>
              <a:rPr lang="zh-CN" dirty="0"/>
              <a:t>• 圖面／示範：原雙區對照圖；不改聊天介面也能承載 Agent 的已合併修正。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聊天是介面；工具輸出才能說明行動實際執行。</a:t>
            </a:r>
          </a:p>
          <a:p>
            <a:r>
              <a:rPr lang="zh-CN" dirty="0"/>
              <a:t>講者轉場：看同一個 Agent 如何讀 #3、修改並真正執行一次測試。</a:t>
            </a:r>
          </a:p>
          <a:p>
            <a:endParaRPr lang="zh-CN" dirty="0"/>
          </a:p>
          <a:p>
            <a:r>
              <a:rPr lang="zh-CN" dirty="0"/>
              <a:t>• 2026-10-09 Editorial Review 修正： 手動逐輪追問與能持續使用工具的 Agent 工作方式並非由聊天介面決定。</a:t>
            </a:r>
          </a:p>
          <a:p>
            <a:endParaRPr lang="zh-CN" dirty="0"/>
          </a:p>
          <a:p>
            <a:r>
              <a:rPr lang="zh-CN" dirty="0"/>
              <a:t>• 本輪跨頁橋接：同一張 #3 現在改由 Agent 執行；為了看清步驟，下一頁重演先前的 A 版失敗。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A09；舊 rev11 頁：無；章節 C5。</a:t>
            </a:r>
          </a:p>
          <a:p>
            <a:r>
              <a:rPr lang="zh-CN" dirty="0"/>
              <a:t>• 教學作用：呈現 2026-10-08 新教學重演的事前交辦、事前計畫、讀檔和實際失敗；不回填成先前 Agent 對話。</a:t>
            </a:r>
          </a:p>
          <a:p>
            <a:r>
              <a:rPr lang="zh-CN" dirty="0"/>
              <a:t>• 帶走重點：交辦、執行前計畫、已執行動作和工具結果是不同紀錄。</a:t>
            </a:r>
          </a:p>
          <a:p>
            <a:r>
              <a:rPr lang="zh-CN" dirty="0"/>
              <a:t>• 圖面／示範：三段依序呈現交辦、執行前計畫與 Version A 單向 FAIL；完整命令、SHA、輸出與 replay 材料留在講者筆記。</a:t>
            </a:r>
          </a:p>
          <a:p>
            <a:r>
              <a:rPr lang="zh-CN" dirty="0"/>
              <a:t>• 主畫面訊息：先把範圍和停點寫清楚，記下計畫；之後才讀票、執行案例、按實際結果決定下一步。</a:t>
            </a:r>
          </a:p>
          <a:p>
            <a:r>
              <a:rPr lang="zh-CN" dirty="0"/>
              <a:t>講者轉場：把失敗輸出交給同一個 Agent，接著看它如何修正和重測。</a:t>
            </a:r>
          </a:p>
          <a:p>
            <a:r>
              <a:rPr lang="zh-CN" dirty="0"/>
              <a:t>• 規格來源：Issue comments [4 §4.2](https://github.com/world4jason/Agent-101-deck/issues/48#issuecomment-6039187588), [5 A09](https://github.com/world4jason/Agent-101-deck/issues/48#issuecomment-6039188518), [8 §4](https://github.com/world4jason/Agent-101-deck/issues/48#issuecomment-6052541648)</a:t>
            </a:r>
          </a:p>
          <a:p>
            <a:endParaRPr lang="zh-CN" dirty="0"/>
          </a:p>
          <a:p>
            <a:r>
              <a:rPr lang="zh-CN" dirty="0"/>
              <a:t>• 本輪跨頁橋接：重演已看到 A 單向 FAIL；下一頁只修此缺失，回到 Version B 的 B-pre 時點。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59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A10；舊 rev11 頁：無；章節 C5。</a:t>
            </a:r>
          </a:p>
          <a:p>
            <a:r>
              <a:rPr lang="zh-CN" dirty="0"/>
              <a:t>• 教學作用：新重演的暫存候選由同一單向案例重跑驗證，並以 hash 與 byte compare 證明等同保留的 Version B；Version B 其他情境由獨立快照支持。</a:t>
            </a:r>
          </a:p>
          <a:p>
            <a:r>
              <a:rPr lang="zh-CN" dirty="0"/>
              <a:t>• 帶走重點：自測有用；需求方仍依原 AC、實際版本與證據做獨立接受決定。</a:t>
            </a:r>
          </a:p>
          <a:p>
            <a:r>
              <a:rPr lang="zh-CN" dirty="0"/>
              <a:t>• 圖面／示範：列出 B-pre 同一 Version B 的單向／雙向 PASS、重複 Like 與 UI／整合 NOT RUN；完整 hash、diff、byte 比對與 raw JSON 留在講者筆記。B-post 同一 B artifact 的重複 Like PASS 留在後續頁與證據材料，不混進 B-pre。</a:t>
            </a:r>
          </a:p>
          <a:p>
            <a:r>
              <a:rPr lang="zh-CN" dirty="0"/>
              <a:t>• 主畫面訊息：分清新重演的單向重測與 B-pre 快照；重複 Like 仍 NOT RUN。後續 B-post 在同一 B artifact 補驗後 PASS。</a:t>
            </a:r>
          </a:p>
          <a:p>
            <a:r>
              <a:rPr lang="zh-CN" dirty="0"/>
              <a:t>講者轉場：將本輪需求、程式與工具結果作為下一頁 Context 材料。</a:t>
            </a:r>
          </a:p>
          <a:p>
            <a:r>
              <a:rPr lang="zh-CN" dirty="0"/>
              <a:t>• 規格來源：Issue comments [4 §4.2](https://github.com/world4jason/Agent-101-deck/issues/48#issuecomment-6039187588), [5 A10](https://github.com/world4jason/Agent-101-deck/issues/48#issuecomment-6039188518), [8 §4.2](https://github.com/world4jason/Agent-101-deck/issues/48#issuecomment-6052541648)</a:t>
            </a:r>
          </a:p>
          <a:p>
            <a:endParaRPr lang="zh-CN" dirty="0"/>
          </a:p>
          <a:p>
            <a:r>
              <a:rPr lang="zh-CN" dirty="0"/>
              <a:t>• 本輪跨頁橋接：B-pre 交付寫明已測與未測；Agent 如何知道本輪真的讀到哪些材料？</a:t>
            </a:r>
          </a:p>
          <a:p>
            <a:endParaRPr lang="zh-CN" dirty="0"/>
          </a:p>
          <a:p>
            <a:r>
              <a:rPr lang="zh-CN" dirty="0"/>
              <a:t>• 2026-10-11 第一次全課 G3/G4 審查修正：Version B 補驗前，單向與雙向 PASS、重複 Like NOT RUN；此頁是 Agent 工作重演，不代表 UI 驗收。 去掉重複的 Version B 字樣，下一頁再解釋 Context。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A11；舊 rev11 頁：無；章節 C5。</a:t>
            </a:r>
          </a:p>
          <a:p>
            <a:r>
              <a:rPr lang="zh-CN" dirty="0"/>
              <a:t>• 教學作用：這一輪已讀到什麼，是可回查的工作狀態，不是帳號/磁碟裡所有內容。</a:t>
            </a:r>
          </a:p>
          <a:p>
            <a:r>
              <a:rPr lang="zh-CN" dirty="0"/>
              <a:t>• 帶走重點：取得資訊不保證正確理解、使用或驗證。</a:t>
            </a:r>
          </a:p>
          <a:p>
            <a:r>
              <a:rPr lang="zh-CN" dirty="0"/>
              <a:t>• 圖面／示範：用同一張工作桌／會議桌比喻；桌面列本輪已讀的 #3 工單、程式與工具輸出；桌邊放專案中已存在但本輪尚未開啟的 `exercise.md`，並標出重複情境與 UI 尚未測。</a:t>
            </a:r>
          </a:p>
          <a:p>
            <a:r>
              <a:rPr lang="zh-CN" dirty="0"/>
              <a:t>• 主畫面訊息：Context 是這輪實際取得的需求、檔案與工具輸出；存在的資料不代表已讀取。</a:t>
            </a:r>
          </a:p>
          <a:p>
            <a:r>
              <a:rPr lang="zh-CN" dirty="0"/>
              <a:t>講者轉場：改開另一段對話時，這些材料是否會一起帶過去？</a:t>
            </a:r>
          </a:p>
          <a:p>
            <a:r>
              <a:rPr lang="zh-CN" dirty="0"/>
              <a:t>• 規格來源：Issue comment 7 §3 A11; comment 8 §3</a:t>
            </a:r>
          </a:p>
          <a:p>
            <a:endParaRPr lang="zh-CN" dirty="0"/>
          </a:p>
          <a:p>
            <a:r>
              <a:rPr lang="zh-CN" dirty="0"/>
              <a:t>• 本輪跨頁橋接：一輪能用的材料有限；如果另開 session，怎樣接續同一張 #3？</a:t>
            </a:r>
          </a:p>
          <a:p>
            <a:endParaRPr lang="zh-CN" dirty="0"/>
          </a:p>
          <a:p>
            <a:r>
              <a:rPr lang="zh-CN" dirty="0"/>
              <a:t>• 2026-10-10 實際畫面修正：Agent 是依任務使用工具推進工作的 AI；Context 是它這輪取得、可以用的資料。材料存在不代表已被模型讀到。 一句白話 Agent／Context 對照，接著比較本輪已取得的材料與尚未讀的文件。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47；source ID：P33。 章節 C5。</a:t>
            </a:r>
          </a:p>
          <a:p>
            <a:r>
              <a:rPr lang="zh-CN" dirty="0"/>
              <a:t>• 教學作用：區分恢復原工作對話與另開工作對話，不把介面視窗直接當成 Session。</a:t>
            </a:r>
          </a:p>
          <a:p>
            <a:r>
              <a:rPr lang="zh-CN" dirty="0"/>
              <a:t>• 帶入方式：同一張 #3 會議桌／工作桌，左右兩路：回到原 session；或新開後讀共同工作紀錄。兩路旁都標「核對版本、已做與未測」。</a:t>
            </a:r>
          </a:p>
          <a:p>
            <a:r>
              <a:rPr lang="zh-CN" dirty="0"/>
              <a:t>• 帶走重點：新對話不保證完整繼承前文，也不一定全無共用背景。</a:t>
            </a:r>
          </a:p>
          <a:p>
            <a:r>
              <a:rPr lang="zh-CN" dirty="0"/>
              <a:t>• 圖面／示範：同一比喻桌面；顯示原對話入口與新對話＋工作票入口。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接續原對話與另開對話是不同路徑；都要確認最新工作狀態。</a:t>
            </a:r>
          </a:p>
          <a:p>
            <a:r>
              <a:rPr lang="zh-CN" dirty="0"/>
              <a:t>講者轉場：即使留在原對話，長工作也可能整理上下文；接著看 compact 的風險和回查方式。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46；source ID：P32。 章節 C5。</a:t>
            </a:r>
          </a:p>
          <a:p>
            <a:r>
              <a:rPr lang="zh-CN" dirty="0"/>
              <a:t>• 教學作用：說明長對話可以持續，但精簡可能改變當次可用材料的細節。</a:t>
            </a:r>
          </a:p>
          <a:p>
            <a:r>
              <a:rPr lang="zh-CN" dirty="0"/>
              <a:t>• 帶入方式：會議桌比喻：桌面保留原 #3 工作票，醒目圈出「單向不配對、雙向才配對、重複不增筆」；早期對話以較短表示留在一旁。</a:t>
            </a:r>
          </a:p>
          <a:p>
            <a:r>
              <a:rPr lang="zh-CN" dirty="0"/>
              <a:t>• 帶走重點：Compact 可能簡化細節，不等於每次都漏、刪專案檔案或必須換 session。</a:t>
            </a:r>
          </a:p>
          <a:p>
            <a:r>
              <a:rPr lang="zh-CN" dirty="0"/>
              <a:t>• 圖面／示範：與前頁相同的桌面；#3 正本與可能漏掉規則的摘要並列。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重要規則能從共同工作票回查；摘要不是唯一正本。</a:t>
            </a:r>
          </a:p>
          <a:p>
            <a:r>
              <a:rPr lang="zh-CN" dirty="0"/>
              <a:t>講者轉場：同一帳號的新對話可能取得背景記憶；背景熟悉不代表最新進度已核對。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A16；舊 rev11 頁：無；章節 C5。</a:t>
            </a:r>
          </a:p>
          <a:p>
            <a:r>
              <a:rPr lang="zh-CN" dirty="0"/>
              <a:t>• 教學作用：記憶可能很具體，仍要查正式工作狀態。</a:t>
            </a:r>
          </a:p>
          <a:p>
            <a:r>
              <a:rPr lang="zh-CN" dirty="0"/>
              <a:t>• 帶走重點：不把 Memory 說成只能記大概，也不說新對話必定從零開始。</a:t>
            </a:r>
          </a:p>
          <a:p>
            <a:r>
              <a:rPr lang="zh-CN" dirty="0"/>
              <a:t>• 圖面／示範：同一張工作桌/會議桌：背景「在做配對 App」對比最新狀態「版本、重複情境、合併授權」。</a:t>
            </a:r>
          </a:p>
          <a:p>
            <a:r>
              <a:rPr lang="zh-CN" dirty="0"/>
              <a:t>• 主畫面訊息：產品可能帶入跨對話記憶；熟悉背景不代表已核對版本、未測事項和授權。</a:t>
            </a:r>
          </a:p>
          <a:p>
            <a:r>
              <a:rPr lang="zh-CN" dirty="0"/>
              <a:t>講者轉場：那電腦上的 Agent 要接續原工作對話，還是另開再取資料？</a:t>
            </a:r>
          </a:p>
          <a:p>
            <a:r>
              <a:rPr lang="zh-CN" dirty="0"/>
              <a:t>• 規格來源：Issue comment 7 §3 A16</a:t>
            </a:r>
          </a:p>
          <a:p>
            <a:endParaRPr lang="zh-CN" dirty="0"/>
          </a:p>
          <a:p>
            <a:r>
              <a:rPr lang="zh-CN" dirty="0"/>
              <a:t>• 本輪跨頁橋接：背景記得住，也不保證工作狀態正確；用 #3 的 B-pre 補驗演練一次完整交接。</a:t>
            </a:r>
          </a:p>
          <a:p>
            <a:endParaRPr lang="zh-CN" dirty="0"/>
          </a:p>
          <a:p>
            <a:r>
              <a:rPr lang="zh-CN" dirty="0"/>
              <a:t>• 2026-10-10 資訊增益調整：本頁教「背景資訊和有版本的任務證據該如何取捨」，沿用 B-pre 未測案例。下一頁才示範人退回 Agent 補驗；三頁形成 Context → Session → 來源判斷 → 補驗閉環。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A17；舊 rev11 頁：無；章節 C5。</a:t>
            </a:r>
          </a:p>
          <a:p>
            <a:r>
              <a:rPr lang="zh-CN" dirty="0"/>
              <a:t>• 教學作用：恢復對話不會把工作檔案、分支或資料回復到舊狀態。</a:t>
            </a:r>
          </a:p>
          <a:p>
            <a:r>
              <a:rPr lang="zh-CN" dirty="0"/>
              <a:t>• 帶走重點：讀票 → 核對版本 → 確認未測事項；產品能力依工具與設定。</a:t>
            </a:r>
          </a:p>
          <a:p>
            <a:r>
              <a:rPr lang="zh-CN" dirty="0"/>
              <a:t>• 圖面／示範：主畫面用產品操作描述接續選項；精確 CLI 指令與來源只入講者筆記。</a:t>
            </a:r>
          </a:p>
          <a:p>
            <a:r>
              <a:rPr lang="zh-CN" dirty="0"/>
              <a:t>• 主畫面訊息：Codex 選既有對話／搜尋；Claude 接續目前目錄最近對話或選既有 session；回到後讀票、核對版本與未測項目。</a:t>
            </a:r>
          </a:p>
          <a:p>
            <a:r>
              <a:rPr lang="zh-CN" dirty="0"/>
              <a:t>講者轉場：資料接得上後，接回角色與獨立核對的責任。</a:t>
            </a:r>
          </a:p>
          <a:p>
            <a:r>
              <a:rPr lang="zh-CN" dirty="0"/>
              <a:t>• 規格來源：Issue comment 7 §3 A17; parent verified official sources 2026-10-08</a:t>
            </a:r>
          </a:p>
          <a:p>
            <a:r>
              <a:rPr lang="zh-CN" dirty="0"/>
              <a:t>• 講者筆記：截至 2026-10-08，Codex CLI 可用 `codex resume` 開啟選擇器、`codex resume --last` 接續最近工作，或 `codex resume &lt;SESSION_ID&gt;` 指定 session；本機 `codex resume --help` 已核對。Claude Code 可用 `claude --continue` 或 `claude --resume &lt;session-id&gt;`。展示前先確認工具版本與登入狀態；恢復 session 不會回滾專案檔案或分支。兩條路都先讀票、核對版本、確認未測事項。來源：[Codex CLI](https://learn.chatgpt.com/docs/codex/cli)、[Claude Code sessions](https://code.claude.com/docs/en/sessions)、[Claude Code how it works](https://code.claude.com/docs/en/how-claude-code-works)。</a:t>
            </a:r>
          </a:p>
          <a:p>
            <a:endParaRPr lang="zh-CN" dirty="0"/>
          </a:p>
          <a:p>
            <a:r>
              <a:rPr lang="zh-CN" dirty="0"/>
              <a:t>• 2026-10-09 G3 Blind Beginner Review 修正： 單一 Agent 接續工作先核對狀態；用 B-pre 的未測缺口示範人依 AC 退回、同一 B 版補驗 B-post、人再核對。 維持 Codex／Claude 接續比較，將冗長下方敘述改成四個短實例：Agent 交付 → 人退回 → Agent 同版補驗 → 人核對；其他組合與 UI 仍未測。</a:t>
            </a:r>
          </a:p>
          <a:p>
            <a:endParaRPr lang="zh-CN" dirty="0"/>
          </a:p>
          <a:p>
            <a:r>
              <a:rPr lang="zh-CN" dirty="0"/>
              <a:t>• 本輪跨頁橋接：單 Agent 的交接與人類補驗已走完；若讓同一角色產出又評分，會出現什麼問題？</a:t>
            </a:r>
          </a:p>
          <a:p>
            <a:endParaRPr lang="zh-CN" dirty="0"/>
          </a:p>
          <a:p>
            <a:r>
              <a:rPr lang="zh-CN" dirty="0"/>
              <a:t>• 2026-10-11 G4 projector review：Agent 第一次交件時，B 補驗前的重複 Like 仍 NOT RUN；人依 AC 退回，Agent 用同一 B 版補驗，最後由人檢查版本與證據，UI 未測所以不發布。 保留四站，但各站只顯示角色／動作／一項證據：Agent 交件 → 人退回 → Agent 補驗 → 人核對。CLI Session 細節保存在收合區與 Notes。 原始文件、完整證據與英文技術名稱仍留講者筆記及原 Evidence，未增造測試結果。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45；source ID：P31。 章節 C5。</a:t>
            </a:r>
          </a:p>
          <a:p>
            <a:r>
              <a:rPr lang="zh-CN" dirty="0"/>
              <a:t>• 教學作用：在上下文與 Session 之後回到責任：同一個 Agent 能做多種工作，但不能用自述代替接受。</a:t>
            </a:r>
          </a:p>
          <a:p>
            <a:r>
              <a:rPr lang="zh-CN" dirty="0"/>
              <a:t>• 帶入方式：同一個 #3 對話列出規劃、實作、自測；另一側由人依原始 AC、交付版本和證據核對。</a:t>
            </a:r>
          </a:p>
          <a:p>
            <a:r>
              <a:rPr lang="zh-CN" dirty="0"/>
              <a:t>• 帶走重點：角色代表責任，不代表每項責任都要多開一個 Agent。自測仍提供有用結果。</a:t>
            </a:r>
          </a:p>
          <a:p>
            <a:r>
              <a:rPr lang="zh-CN" dirty="0"/>
              <a:t>• 圖面／示範：單一工作對話的責任帶＋人的接受判斷。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單 Agent 可完成一輪；人依原始要求獨立決定是否接受。</a:t>
            </a:r>
          </a:p>
          <a:p>
            <a:r>
              <a:rPr lang="zh-CN" dirty="0"/>
              <a:t>講者轉場：若把責任拆到多個 chat，需求、版本與測試狀態由誰帶過去？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48；source ID：X01。 章節 C5。</a:t>
            </a:r>
          </a:p>
          <a:p>
            <a:r>
              <a:rPr lang="zh-CN" dirty="0"/>
              <a:t>• 教學作用：承接單對話的責任風險，展示分開聊天仍需人搬運工作材料。</a:t>
            </a:r>
          </a:p>
          <a:p>
            <a:r>
              <a:rPr lang="zh-CN" dirty="0"/>
              <a:t>• 帶入方式：沿用三個 chat 的 #3 案例，突出需求由人交給 Dev、結果再交 QA；版本與未測事項若漏掉，QA 無法判斷。</a:t>
            </a:r>
          </a:p>
          <a:p>
            <a:r>
              <a:rPr lang="zh-CN" dirty="0"/>
              <a:t>• 帶走重點：增加 chat 數量不會自動產生交接紀錄或獨立核對。</a:t>
            </a:r>
          </a:p>
          <a:p>
            <a:r>
              <a:rPr lang="zh-CN" dirty="0"/>
              <a:t>• 圖面／示範：三個 chat＋中間人的工作包。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分角色可分開上下文；人仍需維護交接、狀態和下一步。</a:t>
            </a:r>
          </a:p>
          <a:p>
            <a:r>
              <a:rPr lang="zh-CN" dirty="0"/>
              <a:t>講者轉場：把分工延伸到多個 Agent，會增加哪些能力與協作成本？</a:t>
            </a:r>
          </a:p>
          <a:p>
            <a:endParaRPr lang="zh-CN" dirty="0"/>
          </a:p>
          <a:p>
            <a:r>
              <a:rPr lang="zh-CN" dirty="0"/>
              <a:t>• 本輪跨頁橋接：拆成多個 chat 後仍由人搬材料；換成多 Agent 又需要哪些共同工作紀錄？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50；source ID：P35；章節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P35。</a:t>
            </a:r>
          </a:p>
          <a:p>
            <a:r>
              <a:rPr lang="zh-CN" dirty="0"/>
              <a:t>• 教學作用： 增加分工同時增加協作需求。</a:t>
            </a:r>
          </a:p>
          <a:p>
            <a:r>
              <a:rPr lang="zh-CN" dirty="0"/>
              <a:t>• 帶入方式： 沿用章封面，作同一大章的小節。</a:t>
            </a:r>
          </a:p>
          <a:p>
            <a:r>
              <a:rPr lang="zh-CN" dirty="0"/>
              <a:t>• 帶走重點： 從分角色 chat 進到 Agent 協作。</a:t>
            </a:r>
          </a:p>
          <a:p>
            <a:r>
              <a:rPr lang="zh-CN" dirty="0"/>
              <a:t>• 圖面／示範： 沿用章封面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多 Agent：分工與新的協作成本</a:t>
            </a:r>
          </a:p>
          <a:p>
            <a:r>
              <a:rPr lang="zh-CN" dirty="0"/>
              <a:t>講者轉場：一位 Agent 要交什麼給下一位？</a:t>
            </a:r>
          </a:p>
          <a:p>
            <a:endParaRPr lang="zh-CN" dirty="0"/>
          </a:p>
          <a:p>
            <a:r>
              <a:rPr lang="zh-CN" dirty="0"/>
              <a:t>• 2026-10-10 子段落導入：原封面改成一 Agent 與多 Agent 接力 #3→#2 的對照，帶出交接契約。原始舊頁和引用可由 Git 歷史回看。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51；source ID：P37；章節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P37。</a:t>
            </a:r>
          </a:p>
          <a:p>
            <a:r>
              <a:rPr lang="zh-CN" dirty="0"/>
              <a:t>• 教學作用： 不同工作需要不同輸入，但要對回同一目標。</a:t>
            </a:r>
          </a:p>
          <a:p>
            <a:r>
              <a:rPr lang="zh-CN" dirty="0"/>
              <a:t>• 帶入方式： 保留 Agent A 的 #3 交接卡與 Agent B 的 #2 列表任務。</a:t>
            </a:r>
          </a:p>
          <a:p>
            <a:r>
              <a:rPr lang="zh-CN" dirty="0"/>
              <a:t>• 帶走重點： 產物、格式、例子、未決事項必須明確。</a:t>
            </a:r>
          </a:p>
          <a:p>
            <a:r>
              <a:rPr lang="zh-CN" dirty="0"/>
              <a:t>• 圖面／示範： 完整沿用交接卡，不改配對資料格式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共同 Goal</a:t>
            </a:r>
          </a:p>
          <a:p>
            <a:r>
              <a:rPr lang="zh-CN" dirty="0"/>
              <a:t>• A 交格式與範例</a:t>
            </a:r>
          </a:p>
          <a:p>
            <a:r>
              <a:rPr lang="zh-CN" dirty="0"/>
              <a:t>• B 讀交接卡與連結繼續工作</a:t>
            </a:r>
          </a:p>
          <a:p>
            <a:r>
              <a:rPr lang="zh-CN" dirty="0"/>
              <a:t>講者轉場：這次交接如果漏了一條規則呢？</a:t>
            </a:r>
          </a:p>
          <a:p>
            <a:endParaRPr lang="zh-CN" dirty="0"/>
          </a:p>
          <a:p>
            <a:r>
              <a:rPr lang="zh-CN" dirty="0"/>
              <a:t>• 2026-10-09 Editorial Review 修正： 模型分配是可以依任務、成本與驗證結果調整的例子，沒有固定 routing 法則。</a:t>
            </a:r>
          </a:p>
          <a:p>
            <a:endParaRPr lang="zh-CN" dirty="0"/>
          </a:p>
          <a:p>
            <a:r>
              <a:rPr lang="zh-CN" dirty="0"/>
              <a:t>• 2026-10-11 G4 projector review：兩 Agent 分工的難點在交接契約；Agent A 的 #3 配對規則結果，要交 Issue/PR 連結、配對格式及已測／未測，Agent B 才能用在 #2 列表。 交接卡置中放大，兩側僅是 A 產出與 B 消費；箭頭表示依賴，格式 M01、雙方使用者、測試狀態均可辨認。 原始文件、完整證據與英文技術名稱仍留講者筆記及原 Evidence，未增造測試結果。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69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52；source ID：P38；章節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P38。</a:t>
            </a:r>
          </a:p>
          <a:p>
            <a:r>
              <a:rPr lang="zh-CN" dirty="0"/>
              <a:t>• 教學作用： 分工不保證彼此理解一致。</a:t>
            </a:r>
          </a:p>
          <a:p>
            <a:r>
              <a:rPr lang="zh-CN" dirty="0"/>
              <a:t>• 帶入方式： 保留不重複配對規則被漏、兩種實作衝突。</a:t>
            </a:r>
          </a:p>
          <a:p>
            <a:r>
              <a:rPr lang="zh-CN" dirty="0"/>
              <a:t>• 帶走重點： 共同來源與核對不能只靠摘要。</a:t>
            </a:r>
          </a:p>
          <a:p>
            <a:r>
              <a:rPr lang="zh-CN" dirty="0"/>
              <a:t>• 圖面／示範： 沿用原兩種失敗例子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漏規則→錯實作</a:t>
            </a:r>
          </a:p>
          <a:p>
            <a:r>
              <a:rPr lang="zh-CN" dirty="0"/>
              <a:t>• 不同理解→整合衝突</a:t>
            </a:r>
          </a:p>
          <a:p>
            <a:r>
              <a:rPr lang="zh-CN" dirty="0"/>
              <a:t>• 對照原票與行為證據</a:t>
            </a:r>
          </a:p>
          <a:p>
            <a:r>
              <a:rPr lang="zh-CN" dirty="0"/>
              <a:t>講者轉場：知道彼此做到哪裡，也是問題。</a:t>
            </a:r>
          </a:p>
          <a:p>
            <a:endParaRPr lang="zh-CN" dirty="0"/>
          </a:p>
          <a:p>
            <a:r>
              <a:rPr lang="zh-CN" dirty="0"/>
              <a:t>• 2026-10-09 Evidence Review 精確界線：配對 App 的協作失真是研究風險改寫的教學示意，非來源原案例。 明示研究與教學例子之間的界線。</a:t>
            </a:r>
          </a:p>
          <a:p>
            <a:endParaRPr lang="zh-CN" dirty="0"/>
          </a:p>
          <a:p>
            <a:r>
              <a:rPr lang="zh-CN" dirty="0"/>
              <a:t>• 2026-10-11 G4 單一失誤示例： 一張 #3 工作票規定已配對再 Like 仍一筆；若交接摘要漏掉該 AC，下一位可能再建立一筆錯誤配對。 只顯示工作票 AC → 摘要缺漏 → 可能重複建配對的一條風險流程；原本的兩套衝突實作細節保留在 Storyboard／Notes。 此處情境非真實多 Agent 系統的事故紀錄，符合教學推演範圍。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53；source ID：P39；章節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P39。</a:t>
            </a:r>
          </a:p>
          <a:p>
            <a:r>
              <a:rPr lang="zh-CN" dirty="0"/>
              <a:t>• 教學作用： 看不到工作狀態，就可能重做或漏接。</a:t>
            </a:r>
          </a:p>
          <a:p>
            <a:r>
              <a:rPr lang="zh-CN" dirty="0"/>
              <a:t>• 帶入方式： 沿用配對規則做兩次與不知重複 Like 是否已測的例子。</a:t>
            </a:r>
          </a:p>
          <a:p>
            <a:r>
              <a:rPr lang="zh-CN" dirty="0"/>
              <a:t>• 帶走重點： 外部工作狀態支援協作。</a:t>
            </a:r>
          </a:p>
          <a:p>
            <a:r>
              <a:rPr lang="zh-CN" dirty="0"/>
              <a:t>• 圖面／示範： 保留原來源層級，不把社群經驗當量化定律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重做同一規則</a:t>
            </a:r>
          </a:p>
          <a:p>
            <a:r>
              <a:rPr lang="zh-CN" dirty="0"/>
              <a:t>• 看不到測試進度</a:t>
            </a:r>
          </a:p>
          <a:p>
            <a:r>
              <a:rPr lang="zh-CN" dirty="0"/>
              <a:t>• 缺少可查的共同狀態</a:t>
            </a:r>
          </a:p>
          <a:p>
            <a:r>
              <a:rPr lang="zh-CN" dirty="0"/>
              <a:t>講者轉場：每次小偏差累積後又會怎樣？</a:t>
            </a:r>
          </a:p>
          <a:p>
            <a:endParaRPr lang="zh-CN" dirty="0"/>
          </a:p>
          <a:p>
            <a:r>
              <a:rPr lang="zh-CN" dirty="0"/>
              <a:t>• 2026-10-09 Evidence Review 精確界線：重工／資訊孤島的配對情境是風險示意，不代表研究測過本課案例。 來源僅支持風險，非 A/B Matching 實測。</a:t>
            </a:r>
          </a:p>
          <a:p>
            <a:endParaRPr lang="zh-CN" dirty="0"/>
          </a:p>
          <a:p>
            <a:r>
              <a:rPr lang="zh-CN" dirty="0"/>
              <a:t>• 2026-10-11 G4 單一失誤示例： Version B 補驗前紀錄已記單向／雙向 PASS、重複 Like NOT RUN；如果交接卡沒有傳未測狀態，接手者可能重做或漏測。 現有測試紀錄 → 交接漏未測清單 → 接手者不知是否要測的一條風險流程；測試結果仍需回溯 Evidence。 此處情境非真實多 Agent 系統的事故紀錄，符合教學推演範圍。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54；source ID：P40；章節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P40。</a:t>
            </a:r>
          </a:p>
          <a:p>
            <a:r>
              <a:rPr lang="zh-CN" dirty="0"/>
              <a:t>• 教學作用： 每輪局部修正可能逐步偏離原目標。</a:t>
            </a:r>
          </a:p>
          <a:p>
            <a:r>
              <a:rPr lang="zh-CN" dirty="0"/>
              <a:t>• 帶入方式： 保留原目標→交接偏誤→迭代→偏離的風險示意。</a:t>
            </a:r>
          </a:p>
          <a:p>
            <a:r>
              <a:rPr lang="zh-CN" dirty="0"/>
              <a:t>• 帶走重點： 需要反覆對回 Goal；不是已量測的必然結果。</a:t>
            </a:r>
          </a:p>
          <a:p>
            <a:r>
              <a:rPr lang="zh-CN" dirty="0"/>
              <a:t>• 圖面／示範： 原圖與來源註記保留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小偏差累積</a:t>
            </a:r>
          </a:p>
          <a:p>
            <a:r>
              <a:rPr lang="zh-CN" dirty="0"/>
              <a:t>• 需要 re-anchor</a:t>
            </a:r>
          </a:p>
          <a:p>
            <a:r>
              <a:rPr lang="zh-CN" dirty="0"/>
              <a:t>• 這是風險示意，不是量化結果</a:t>
            </a:r>
          </a:p>
          <a:p>
            <a:r>
              <a:rPr lang="zh-CN" dirty="0"/>
              <a:t>講者轉場：用廚房想一下，管理者要做的事是什麼？</a:t>
            </a:r>
          </a:p>
          <a:p>
            <a:endParaRPr lang="zh-CN" dirty="0"/>
          </a:p>
          <a:p>
            <a:r>
              <a:rPr lang="zh-CN" dirty="0"/>
              <a:t>• 2026-10-09 Editorial Review 修正： 目標漂移是本課的風險名稱；展示情境示意，不冒充研究量化結果。</a:t>
            </a:r>
          </a:p>
          <a:p>
            <a:endParaRPr lang="zh-CN" dirty="0"/>
          </a:p>
          <a:p>
            <a:r>
              <a:rPr lang="zh-CN" dirty="0"/>
              <a:t>• 本輪跨頁橋接：已看見規則漏交、進度不明、目標偏移；下一頁把這三種風險變成工作流程。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原始素材與來源：原 storyboard 仍保存在 Git 歷史；當前沿用同一舊 rev11 頁面 ID 與引用，未宣稱新增實測。</a:t>
            </a:r>
          </a:p>
          <a:p>
            <a:r>
              <a:rPr lang="zh-CN" dirty="0"/>
              <a:t>• 前頁已知：已看見規則漏交、進度不明、目標偏移；下一頁把這三種風險變成工作流程。</a:t>
            </a:r>
          </a:p>
          <a:p>
            <a:r>
              <a:rPr lang="zh-CN" dirty="0"/>
              <a:t>• 此頁新增：將前面三種具體失誤轉換成下一輪可執行的三個接點：查 AC、更新版本與測試狀態、由人對回 Goal。</a:t>
            </a:r>
          </a:p>
          <a:p>
            <a:r>
              <a:rPr lang="zh-CN" dirty="0"/>
              <a:t>• 學員主畫面：沿同一 Matching #3 案例使用三站流程圖：確認規則 → 可查證進度 → 人檢查方向；廚房比喻保存在舊版來源筆記，這頁不切換案例。</a:t>
            </a:r>
          </a:p>
          <a:p>
            <a:r>
              <a:rPr lang="zh-CN" dirty="0"/>
              <a:t>• 講者轉場：三個接點已整理成流程；接著分辨是誰核准這條路線、由幾個 Agent 執行。</a:t>
            </a:r>
          </a:p>
          <a:p>
            <a:r>
              <a:rPr lang="zh-CN" dirty="0"/>
              <a:t>• 歷史背景（講者補充）：- 對應：舊 rev11 頁 55；source ID：E08；章節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E08。</a:t>
            </a:r>
          </a:p>
          <a:p>
            <a:r>
              <a:rPr lang="zh-CN" dirty="0"/>
              <a:t>• 教學作用： 多幾位幫手不會自動產生可靠交付，人的協調責任反而可能增加。</a:t>
            </a:r>
          </a:p>
          <a:p>
            <a:r>
              <a:rPr lang="zh-CN" dirty="0"/>
              <a:t>• 帶入方式： 一人全包→多人進廚房找不到工具→主廚分工作站、交接與出菜檢查→制度可重複使用；立刻映回 #3 的角色與交接。</a:t>
            </a:r>
          </a:p>
          <a:p>
            <a:r>
              <a:rPr lang="zh-CN" dirty="0"/>
              <a:t>• 帶走重點： 廚房比喻連接分工、workflow、共同狀態、品質關卡；不是越多 Agent 越高級，也不把未核實的十幾個專案人物故事當事實。</a:t>
            </a:r>
          </a:p>
          <a:p>
            <a:r>
              <a:rPr lang="zh-CN" dirty="0"/>
              <a:t>• 圖面／示範： 三個廚房情境，底下映回單一 chat／多角色協作／有流程的分工；連鎖只作制度可複用的延伸比喻，不增加人物成效宣稱。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一人全包：每件事自己盯</a:t>
            </a:r>
          </a:p>
          <a:p>
            <a:r>
              <a:rPr lang="zh-CN" dirty="0"/>
              <a:t>• 多人幫忙：需要工作站、材料與交接</a:t>
            </a:r>
          </a:p>
          <a:p>
            <a:r>
              <a:rPr lang="zh-CN" dirty="0"/>
              <a:t>• 主廚：安排流程、核對出菜，制度才能重複使用</a:t>
            </a:r>
          </a:p>
          <a:p>
            <a:r>
              <a:rPr lang="zh-CN" dirty="0"/>
              <a:t>講者轉場：回到 Agent：誰決定下一步、與有幾個執行者，是兩件事。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56；source ID：P36, X02。 章節 C5。</a:t>
            </a:r>
          </a:p>
          <a:p>
            <a:r>
              <a:rPr lang="zh-CN" dirty="0"/>
              <a:t>• 教學作用：在 Workflow 與執行者兩軸後，重訪同一個 A06 案例，拆開 Agent 數量與票級 WIP。</a:t>
            </a:r>
          </a:p>
          <a:p>
            <a:r>
              <a:rPr lang="zh-CN" dirty="0"/>
              <a:t>• 帶入方式：第二步沿用 A06 情境：1 Agent 未完成 #1 又開始 #2，票級 WIP=2；多 Agent 接力一張 #3，WIP=1；多 Agent 分別推 #1/#2，只有明示上限改為 2、依賴獨立、介面／資料已定、資源隔離且驗收接得住才可並行。等待驗收仍計入。</a:t>
            </a:r>
          </a:p>
          <a:p>
            <a:r>
              <a:rPr lang="zh-CN" dirty="0"/>
              <a:t>• 帶走重點：多 Agent 不必然增加票數；多張在製需要明確政策、依賴和下游能力。</a:t>
            </a:r>
          </a:p>
          <a:p>
            <a:r>
              <a:rPr lang="zh-CN" dirty="0"/>
              <a:t>• 圖面／示範：頁內按鈕從原兩軸圖切換成四張比較卡；保留返回原圖控制，非新頁或新規則。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Workflow、Agent 數量、WIP 是不同維度。</a:t>
            </a:r>
          </a:p>
          <a:p>
            <a:r>
              <a:rPr lang="zh-CN" dirty="0"/>
              <a:t>講者轉場：執行者數量、工作票 WIP 和推進流程分清後，再看不同工作是否要採不同模型設定。</a:t>
            </a:r>
          </a:p>
          <a:p>
            <a:endParaRPr lang="zh-CN" dirty="0"/>
          </a:p>
          <a:p>
            <a:r>
              <a:rPr lang="zh-CN" dirty="0"/>
              <a:t>• 本輪跨頁橋接：Workflow／執行者／WIP 是不同尺度；下一頁再比較同一 Agent 可以採哪些模型設定。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49；source ID：P34。 章節 C5。</a:t>
            </a:r>
          </a:p>
          <a:p>
            <a:r>
              <a:rPr lang="zh-CN" dirty="0"/>
              <a:t>• 教學作用：補上單 Agent 可按階段選模型／effort 的例子，並接回工程原則。</a:t>
            </a:r>
          </a:p>
          <a:p>
            <a:r>
              <a:rPr lang="zh-CN" dirty="0"/>
              <a:t>• 帶入方式：保留文字修改、測試資料、規則判斷三項任務；展示設定選擇與執行者數量分離。</a:t>
            </a:r>
          </a:p>
          <a:p>
            <a:r>
              <a:rPr lang="zh-CN" dirty="0"/>
              <a:t>• 帶走重點：設定有速度、成本與品質取捨；需要實際結果驗證。</a:t>
            </a:r>
          </a:p>
          <a:p>
            <a:r>
              <a:rPr lang="zh-CN" dirty="0"/>
              <a:t>• 圖面／示範：原三任務比較圖。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一個 Agent 可以依工作切換模型設定；這不等於增加 Agent。</a:t>
            </a:r>
          </a:p>
          <a:p>
            <a:r>
              <a:rPr lang="zh-CN" dirty="0"/>
              <a:t>講者轉場：模型設定和 Agent 數量分開後，回到五個協作原則。</a:t>
            </a:r>
          </a:p>
          <a:p>
            <a:endParaRPr lang="zh-CN" dirty="0"/>
          </a:p>
          <a:p>
            <a:r>
              <a:rPr lang="zh-CN" dirty="0"/>
              <a:t>• 2026-10-09 Editorial Review 修正： 推理 effort 是產品／模型相關設定，不保證對應固定時間或品質。</a:t>
            </a:r>
          </a:p>
          <a:p>
            <a:endParaRPr lang="zh-CN" dirty="0"/>
          </a:p>
          <a:p>
            <a:r>
              <a:rPr lang="zh-CN" dirty="0"/>
              <a:t>• 本輪跨頁橋接：模型與 effort 只影響執行選擇；前面看到的交接風險仍須共同規範處理。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審查修正：model 是選 AI 模型；effort 是可能有的推理強度設定。教學只比使用同一設定的時間／成本與實測取捨，並無固定選模規則。 簡單、中等、困難工作和同一 model/effort 的比較標成假設；結語提醒按時間、成本、實測判斷。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57；source ID：P41；章節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P41。</a:t>
            </a:r>
          </a:p>
          <a:p>
            <a:r>
              <a:rPr lang="zh-CN" dirty="0"/>
              <a:t>• 教學作用： 把剛才看到的問題轉成可操作的做法。</a:t>
            </a:r>
          </a:p>
          <a:p>
            <a:r>
              <a:rPr lang="zh-CN" dirty="0"/>
              <a:t>• 帶入方式： 沿用章封面，作 Agent 大章的解法小節。</a:t>
            </a:r>
          </a:p>
          <a:p>
            <a:r>
              <a:rPr lang="zh-CN" dirty="0"/>
              <a:t>• 帶走重點： 五原則的導入。</a:t>
            </a:r>
          </a:p>
          <a:p>
            <a:r>
              <a:rPr lang="zh-CN" dirty="0"/>
              <a:t>• 圖面／示範： 沿用章封面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五個原則，回應剛才的協作問題</a:t>
            </a:r>
          </a:p>
          <a:p>
            <a:r>
              <a:rPr lang="zh-CN" dirty="0"/>
              <a:t>講者轉場：每條原則在解哪個具體問題？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本輪跨頁橋接：現在把 P69–71 的實際交接問題，逐項對照可執行的五條合作做法。</a:t>
            </a:r>
          </a:p>
          <a:p>
            <a:endParaRPr lang="zh-CN" dirty="0"/>
          </a:p>
          <a:p>
            <a:r>
              <a:rPr lang="zh-CN" dirty="0"/>
              <a:t>• 2026-10-10 初學者教學修正：比較人主導問答釐清和有人工核准點的 Agent 工作流程；兩種可搭配，接受與發布都由人決定。</a:t>
            </a:r>
          </a:p>
          <a:p>
            <a:endParaRPr lang="zh-CN" dirty="0"/>
          </a:p>
          <a:p>
            <a:r>
              <a:rPr lang="zh-CN" dirty="0"/>
              <a:t>• 2026-10-10 G4 主畫面重做： Grill Me 在需求不清時用 AI 逐題追問、本人確認；Superpowers 需人工核准設計，安排計畫／Agent 實作／Review。 兩條工作路線比較，讓學員辨認何時由人逐題決策、何時採結構化 Agent 工作流；接受與發布都需人核對。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58；source ID：P42；章節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P42。</a:t>
            </a:r>
          </a:p>
          <a:p>
            <a:r>
              <a:rPr lang="zh-CN" dirty="0"/>
              <a:t>• 教學作用： 不能只記名詞，要能對回失敗例子。</a:t>
            </a:r>
          </a:p>
          <a:p>
            <a:r>
              <a:rPr lang="zh-CN" dirty="0"/>
              <a:t>• 帶入方式： 保留原五組問題／解法對照，將過時章碼改為問題名稱。</a:t>
            </a:r>
          </a:p>
          <a:p>
            <a:r>
              <a:rPr lang="zh-CN" dirty="0"/>
              <a:t>• 帶走重點： 狀態、邊界、角色、驗證、Goal 的分工。</a:t>
            </a:r>
          </a:p>
          <a:p>
            <a:r>
              <a:rPr lang="zh-CN" dirty="0"/>
              <a:t>• 圖面／示範： 保留五組原則並更新導覽引用；改為依條件獨立核對，不限定另一個 Agent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狀態留下來</a:t>
            </a:r>
          </a:p>
          <a:p>
            <a:r>
              <a:rPr lang="zh-CN" dirty="0"/>
              <a:t>• 範圍與角色分清楚</a:t>
            </a:r>
          </a:p>
          <a:p>
            <a:r>
              <a:rPr lang="zh-CN" dirty="0"/>
              <a:t>• 獨立驗證並回查 Goal</a:t>
            </a:r>
          </a:p>
          <a:p>
            <a:r>
              <a:rPr lang="zh-CN" dirty="0"/>
              <a:t>講者轉場：狀態應該放哪裡？</a:t>
            </a:r>
          </a:p>
          <a:p>
            <a:endParaRPr lang="zh-CN" dirty="0"/>
          </a:p>
          <a:p>
            <a:r>
              <a:rPr lang="zh-CN" dirty="0"/>
              <a:t>• 2026-10-09 Editorial Review 修正： 五個原則是本課綜合歸納，而非引用來源共同提出的正式五分類。</a:t>
            </a:r>
          </a:p>
          <a:p>
            <a:endParaRPr lang="zh-CN" dirty="0"/>
          </a:p>
          <a:p>
            <a:r>
              <a:rPr lang="zh-CN" dirty="0"/>
              <a:t>• 2026-10-11 G4 projector review：把前段已遇到的五種 Agent 協作風險，對成五個可執行的動作：票面狀態、核准範圍、職責、獨立查證、回對 Goal。 一張五列雙欄問題→做法的表格，移走五組英文標籤及重複文字；後續 P77–P81 才分別解釋原則。 原始文件、完整證據與英文技術名稱仍留講者筆記及原 Evidence，未增造測試結果。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審查修正：五種交接問題與後續 P77–81 五個做法一一對應。 摘要頁直接列 P77 狀態／P78 停點／P79 職責／P80 驗證／P81 Goal 的導航。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59；source ID：P43；章節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P43。</a:t>
            </a:r>
          </a:p>
          <a:p>
            <a:r>
              <a:rPr lang="zh-CN" dirty="0"/>
              <a:t>• 原標題： External task state。本草稿採用此標題。</a:t>
            </a:r>
          </a:p>
          <a:p>
            <a:r>
              <a:rPr lang="zh-CN" dirty="0"/>
              <a:t>• 教學作用： 只靠聊天，新接手者容易漏掉目前狀態。</a:t>
            </a:r>
          </a:p>
          <a:p>
            <a:r>
              <a:rPr lang="zh-CN" dirty="0"/>
              <a:t>• 帶入方式： 保留 Chat-driven／Work-driven，回指前半段教過的 Issue／看板。</a:t>
            </a:r>
          </a:p>
          <a:p>
            <a:r>
              <a:rPr lang="zh-CN" dirty="0"/>
              <a:t>• 帶走重點： 新 session 讀共同紀錄，必要時仍可查相關討論。</a:t>
            </a:r>
          </a:p>
          <a:p>
            <a:r>
              <a:rPr lang="zh-CN" dirty="0"/>
              <a:t>• 圖面／示範： 保留對照，將「不讀聊天」改成「不只依賴聊天」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票上有需求與狀態</a:t>
            </a:r>
          </a:p>
          <a:p>
            <a:r>
              <a:rPr lang="zh-CN" dirty="0"/>
              <a:t>• 連到版本與證據</a:t>
            </a:r>
          </a:p>
          <a:p>
            <a:r>
              <a:rPr lang="zh-CN" dirty="0"/>
              <a:t>• 新 session 先讀共同紀錄</a:t>
            </a:r>
          </a:p>
          <a:p>
            <a:r>
              <a:rPr lang="zh-CN" dirty="0"/>
              <a:t>講者轉場：工作還需要哪些邊界？</a:t>
            </a:r>
          </a:p>
          <a:p>
            <a:endParaRPr lang="zh-CN" dirty="0"/>
          </a:p>
          <a:p>
            <a:r>
              <a:rPr lang="zh-CN" dirty="0"/>
              <a:t>• 2026-10-09 Editorial Review 修正： 問題在於工作狀態只存在聊天紀錄，並非 Chat 無法搭配共同狀態。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60；source ID：P44；章節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P44。</a:t>
            </a:r>
          </a:p>
          <a:p>
            <a:r>
              <a:rPr lang="zh-CN" dirty="0"/>
              <a:t>• 教學作用： 持續工作也需要範圍與停止條件。</a:t>
            </a:r>
          </a:p>
          <a:p>
            <a:r>
              <a:rPr lang="zh-CN" dirty="0"/>
              <a:t>• 帶入方式： 沿用 #3 AC、Out of scope、Stop rule、WIP＝1。</a:t>
            </a:r>
          </a:p>
          <a:p>
            <a:r>
              <a:rPr lang="zh-CN" dirty="0"/>
              <a:t>• 帶走重點： 有界執行，不擅自加功能。</a:t>
            </a:r>
          </a:p>
          <a:p>
            <a:r>
              <a:rPr lang="zh-CN" dirty="0"/>
              <a:t>• 圖面／示範： 沿用原票面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只做 #3 已確認範圍</a:t>
            </a:r>
          </a:p>
          <a:p>
            <a:r>
              <a:rPr lang="zh-CN" dirty="0"/>
              <a:t>• 超出核准範圍先停</a:t>
            </a:r>
          </a:p>
          <a:p>
            <a:r>
              <a:rPr lang="zh-CN" dirty="0"/>
              <a:t>• 本例一次一張票</a:t>
            </a:r>
          </a:p>
          <a:p>
            <a:r>
              <a:rPr lang="zh-CN" dirty="0"/>
              <a:t>講者轉場：誰來負責不同判斷？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79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61；source ID：P45；章節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P45。</a:t>
            </a:r>
          </a:p>
          <a:p>
            <a:r>
              <a:rPr lang="zh-CN" dirty="0"/>
              <a:t>• 教學作用： 產出、檢查與放行的責任不能混在一起。</a:t>
            </a:r>
          </a:p>
          <a:p>
            <a:r>
              <a:rPr lang="zh-CN" dirty="0"/>
              <a:t>• 帶入方式： 保留四個 Agent 角色，標清 PO／PM Agent 提接受建議，人的 Gate 不被代替。</a:t>
            </a:r>
          </a:p>
          <a:p>
            <a:r>
              <a:rPr lang="zh-CN" dirty="0"/>
              <a:t>• 帶走重點： Agent 分工與人的決策權分開。</a:t>
            </a:r>
          </a:p>
          <a:p>
            <a:r>
              <a:rPr lang="zh-CN" dirty="0"/>
              <a:t>• 圖面／示範： 沿用角色卡；明示角色是責任，不代表每個職能都需要一個 Agent；人的 Gate 不被代替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角色代表責任，不代表每個職能都需要一個 Agent</a:t>
            </a:r>
          </a:p>
          <a:p>
            <a:r>
              <a:rPr lang="zh-CN" dirty="0"/>
              <a:t>• PO／PM Agent：整理與接受建議</a:t>
            </a:r>
          </a:p>
          <a:p>
            <a:r>
              <a:rPr lang="zh-CN" dirty="0"/>
              <a:t>• Dev：依票實作</a:t>
            </a:r>
          </a:p>
          <a:p>
            <a:r>
              <a:rPr lang="zh-CN" dirty="0"/>
              <a:t>• Reviewer／QA：審查與驗證；人保留放行</a:t>
            </a:r>
          </a:p>
          <a:p>
            <a:r>
              <a:rPr lang="zh-CN" dirty="0"/>
              <a:t>講者轉場：角色分開後，驗證依據是什麼？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62；source ID：P46；章節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P46。</a:t>
            </a:r>
          </a:p>
          <a:p>
            <a:r>
              <a:rPr lang="zh-CN" dirty="0"/>
              <a:t>• 教學作用： 換一個角色不等於可以只收它的結論。</a:t>
            </a:r>
          </a:p>
          <a:p>
            <a:r>
              <a:rPr lang="zh-CN" dirty="0"/>
              <a:t>• 帶入方式： 沿用 Dev 說做好→QA 核對 AC／證據，回指前面人類驗收案例。</a:t>
            </a:r>
          </a:p>
          <a:p>
            <a:r>
              <a:rPr lang="zh-CN" dirty="0"/>
              <a:t>• 帶走重點： 只認可核對的結果，不把自述當證據。</a:t>
            </a:r>
          </a:p>
          <a:p>
            <a:r>
              <a:rPr lang="zh-CN" dirty="0"/>
              <a:t>• 圖面／示範： 保留獨立核對圖；明示可由人依 AC、版本與證據核對，不只接受產出者自述；回顧 N14–N16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核對責任與產出分開，可由人驗證</a:t>
            </a:r>
          </a:p>
          <a:p>
            <a:r>
              <a:rPr lang="zh-CN" dirty="0"/>
              <a:t>• 對照 AC</a:t>
            </a:r>
          </a:p>
          <a:p>
            <a:r>
              <a:rPr lang="zh-CN" dirty="0"/>
              <a:t>• 核對版本與證據</a:t>
            </a:r>
          </a:p>
          <a:p>
            <a:r>
              <a:rPr lang="zh-CN" dirty="0"/>
              <a:t>• PASS／FAIL／NOT RUN 有理由</a:t>
            </a:r>
          </a:p>
          <a:p>
            <a:r>
              <a:rPr lang="zh-CN" dirty="0"/>
              <a:t>講者轉場：驗對了行為，是否仍在解對的問題？</a:t>
            </a:r>
          </a:p>
          <a:p>
            <a:endParaRPr lang="zh-CN" dirty="0"/>
          </a:p>
          <a:p>
            <a:r>
              <a:rPr lang="zh-CN" dirty="0"/>
              <a:t>• 2026-10-09 Editorial Review 修正： 驗證是否獨立，看預期是否來自 AC、artifact 是否可核對，而非換一個 Agent 即成立。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63；source ID：P47；章節 C5。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P47。</a:t>
            </a:r>
          </a:p>
          <a:p>
            <a:r>
              <a:rPr lang="zh-CN" dirty="0"/>
              <a:t>• 教學作用： 功能符合 AC 仍可能偏離當前產品目標。</a:t>
            </a:r>
          </a:p>
          <a:p>
            <a:r>
              <a:rPr lang="zh-CN" dirty="0"/>
              <a:t>• 帶入方式： 保留不繼續 patch、退回 Refinement／Goal 的對照。</a:t>
            </a:r>
          </a:p>
          <a:p>
            <a:r>
              <a:rPr lang="zh-CN" dirty="0"/>
              <a:t>• 帶走重點： 改目標或優先序有明確決策。</a:t>
            </a:r>
          </a:p>
          <a:p>
            <a:r>
              <a:rPr lang="zh-CN" dirty="0"/>
              <a:t>• 圖面／示範： 沿用原頁與 Human Gate 邊界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對回 parent Goal</a:t>
            </a:r>
          </a:p>
          <a:p>
            <a:r>
              <a:rPr lang="zh-CN" dirty="0"/>
              <a:t>• 辨別實作問題或目標問題</a:t>
            </a:r>
          </a:p>
          <a:p>
            <a:r>
              <a:rPr lang="zh-CN" dirty="0"/>
              <a:t>• 必要時重排 Backlog</a:t>
            </a:r>
          </a:p>
          <a:p>
            <a:r>
              <a:rPr lang="zh-CN" dirty="0"/>
              <a:t>講者轉場：請先完成本章 Exit Check；之後再進入下一章。原轉場：把這些原則放回整個流程看一次。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A23；章節 C5；原有內容全部保留。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帶走重點：能分辨 Agent、Workflow、Session、WIP，判斷何時需要多 Agent。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Q1：比較情境：已核准把 WIP 上限調為 2；同一個 Agent 開始 #1／#2，均未完成。Agent 數和 WIP 各多少？</a:t>
            </a:r>
          </a:p>
          <a:p>
            <a:r>
              <a:rPr lang="zh-CN" dirty="0"/>
              <a:t>• 參考答案：Agent 1 位、WIP 2 張。因已明示調整上限，此情境不違反上限；Agent 數量與 WIP 是兩種獨立尺度。</a:t>
            </a:r>
          </a:p>
          <a:p>
            <a:r>
              <a:rPr lang="zh-CN" dirty="0"/>
              <a:t>• Q2：QA 不通過退回 Dev，是人事先約定的流程，還是 Agent 可自行更改？是否需要增加 Agent？</a:t>
            </a:r>
          </a:p>
          <a:p>
            <a:r>
              <a:rPr lang="zh-CN" dirty="0"/>
              <a:t>• 參考答案：由人核准的 Workflow／看板規則決定退回路徑，可由系統或獲授權者執行；工作者人數不因此增加，多 Agent 另看隔離、專責或並行效益。</a:t>
            </a:r>
          </a:p>
          <a:p>
            <a:r>
              <a:rPr lang="zh-CN" dirty="0"/>
              <a:t>• Q3：換 Session 或 Compact 後，要優先核對哪幾項？</a:t>
            </a:r>
          </a:p>
          <a:p>
            <a:r>
              <a:rPr lang="zh-CN" dirty="0"/>
              <a:t>• 參考答案：共同 Ticket／AC、候選版本、已測／未測與授權狀態；Memory 不是最新工作狀態的證據。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本輪跨頁橋接：已懂多 Agent 的協作規則；下一章實際把 #3 交給 Agent，再由人驗收。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比較情境：已核准把 WIP 上限調為 2；同一個 Agent 開始 #1／#2，均未完成。Agent 數和 WIP 各多少？</a:t>
            </a:r>
          </a:p>
          <a:p>
            <a:r>
              <a:rPr lang="zh-CN" dirty="0"/>
              <a:t>自己先回答，再揭露參考答案Agent 1 位、WIP 2 張。因已明示調整上限，此情境不違反上限；Agent 數量與 WIP 是兩種獨立尺度。</a:t>
            </a:r>
          </a:p>
          <a:p>
            <a:endParaRPr lang="zh-CN" dirty="0"/>
          </a:p>
          <a:p>
            <a:r>
              <a:rPr lang="zh-CN" dirty="0"/>
              <a:t>Q2 QA 不通過退回 Dev，是人事先約定的流程，還是 Agent 可自行更改？是否需要增加 Agent？</a:t>
            </a:r>
          </a:p>
          <a:p>
            <a:r>
              <a:rPr lang="zh-CN" dirty="0"/>
              <a:t>自己先回答，再揭露參考答案由人核准的 Workflow／看板規則決定退回路徑，可由系統或獲授權者執行；工作者人數不因此增加，多 Agent 另看隔離、專責或並行效益。</a:t>
            </a:r>
          </a:p>
          <a:p>
            <a:endParaRPr lang="zh-CN" dirty="0"/>
          </a:p>
          <a:p>
            <a:r>
              <a:rPr lang="zh-CN" dirty="0"/>
              <a:t>Q3 換 Session 或 Compact 後，要優先核對哪幾項？</a:t>
            </a:r>
          </a:p>
          <a:p>
            <a:r>
              <a:rPr lang="zh-CN" dirty="0"/>
              <a:t>自己先回答，再揭露參考答案共同 Ticket／AC、候選版本、已測／未測與授權狀態；Memory 不是最新工作狀態的證據。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64；source ID：P48；章節 C6。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P48。</a:t>
            </a:r>
          </a:p>
          <a:p>
            <a:r>
              <a:rPr lang="zh-CN" dirty="0"/>
              <a:t>• 教學作用： 把 Agent 問題與解法接回已學過的流程。</a:t>
            </a:r>
          </a:p>
          <a:p>
            <a:r>
              <a:rPr lang="zh-CN" dirty="0"/>
              <a:t>• 帶入方式： 沿用章封面，提醒同票、同規則、接手者不同。</a:t>
            </a:r>
          </a:p>
          <a:p>
            <a:r>
              <a:rPr lang="zh-CN" dirty="0"/>
              <a:t>• 帶走重點： 開始具體人類／Agent 對照。</a:t>
            </a:r>
          </a:p>
          <a:p>
            <a:r>
              <a:rPr lang="zh-CN" dirty="0"/>
              <a:t>• 圖面／示範： 沿用章封面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同一套需求、版本、證據與關卡</a:t>
            </a:r>
          </a:p>
          <a:p>
            <a:r>
              <a:rPr lang="zh-CN" dirty="0"/>
              <a:t>講者轉場：先從想法整理開始比較。</a:t>
            </a:r>
          </a:p>
          <a:p>
            <a:endParaRPr lang="zh-CN" dirty="0"/>
          </a:p>
          <a:p>
            <a:r>
              <a:rPr lang="zh-CN" dirty="0"/>
              <a:t>• 本輪四階段主軸修正：回到人類合作工作流：改變執行者，不改變職能責任或人的最後決策。 第四階段章封面，提醒學員將 Matching App 的人類交付流程與 Agent 結果對照。</a:t>
            </a:r>
          </a:p>
          <a:p>
            <a:endParaRPr lang="zh-CN" dirty="0"/>
          </a:p>
          <a:p>
            <a:r>
              <a:rPr lang="zh-CN" dirty="0"/>
              <a:t>• 2026-10-10 初學者教學修正：Agent 已能接手職能；本章練具體交辦、依證據退回補驗、人依授權接受或放行。</a:t>
            </a:r>
          </a:p>
          <a:p>
            <a:endParaRPr lang="zh-CN" dirty="0"/>
          </a:p>
          <a:p>
            <a:r>
              <a:rPr lang="zh-CN" dirty="0"/>
              <a:t>• 2026-10-10 G4 主畫面重做： 人接收 Agent 交件，確認範圍、版本與結果，再決定接受／補驗。 三站交辦→證據核對→接受或退回，保持 Human Gate 人類決策。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67；source ID：P49。 章節 C6。</a:t>
            </a:r>
          </a:p>
          <a:p>
            <a:r>
              <a:rPr lang="zh-CN" dirty="0"/>
              <a:t>• 教學作用：在 Agent 交付章入口先重申人的方向權與接受責任。</a:t>
            </a:r>
          </a:p>
          <a:p>
            <a:r>
              <a:rPr lang="zh-CN" dirty="0"/>
              <a:t>• 帶入方式：四張責任對照：需求與設計（PO／UI／UX）、實作交付（Dev）、審查驗證（Reviewer／QA）、接受放行（需求方）。前三類可由 Agent 協助，接受與放行仍由人決定。</a:t>
            </a:r>
          </a:p>
          <a:p>
            <a:r>
              <a:rPr lang="zh-CN" dirty="0"/>
              <a:t>• 帶走重點：Agent 可協助需求與 UI／UX、實作與核對；人仍確認 Goal／AC／設計與發布決策。</a:t>
            </a:r>
          </a:p>
          <a:p>
            <a:r>
              <a:rPr lang="zh-CN" dirty="0"/>
              <a:t>• 圖面／示範：四卡沿用開場的人類交付職能，將可委託的規劃、設計、開發、審查映射到 Agent。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Agent 可協助 PO／UI／UX、Dev、Reviewer／QA；人仍保有需求確認、接受與放行的決定權。</a:t>
            </a:r>
          </a:p>
          <a:p>
            <a:r>
              <a:rPr lang="zh-CN" dirty="0"/>
              <a:t>講者轉場：先看在需求整理階段，Agent 可以如何協助但不替人定方向。</a:t>
            </a:r>
          </a:p>
          <a:p>
            <a:endParaRPr lang="zh-CN" dirty="0"/>
          </a:p>
          <a:p>
            <a:r>
              <a:rPr lang="zh-CN" dirty="0"/>
              <a:t>• 本輪四階段主軸修正：人類原本的 PO／PM、Dev、Reviewer／QA 職能可以由 Agent 協助執行；Goal／AC 與接受、放行仍由人控制。 四卡職能映射：需求規劃 → 實作交付 → 審查驗證 → 人類接受，與第 6–7 頁相呼應。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65；source ID：P50；章節 C6。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P50。</a:t>
            </a:r>
          </a:p>
          <a:p>
            <a:r>
              <a:rPr lang="zh-CN" dirty="0"/>
              <a:t>• 教學作用： Agent 可以協助整理，但方向要有人的背景與意圖。</a:t>
            </a:r>
          </a:p>
          <a:p>
            <a:r>
              <a:rPr lang="zh-CN" dirty="0"/>
              <a:t>• 帶入方式： 保留傳統／Agent 對照與人提供背景、目標、優先序。</a:t>
            </a:r>
          </a:p>
          <a:p>
            <a:r>
              <a:rPr lang="zh-CN" dirty="0"/>
              <a:t>• 帶走重點： Agent 整理 Goal 與票面；人確認方向。</a:t>
            </a:r>
          </a:p>
          <a:p>
            <a:r>
              <a:rPr lang="zh-CN" dirty="0"/>
              <a:t>• 圖面／示範： 沿用原對照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人提供背景與目標</a:t>
            </a:r>
          </a:p>
          <a:p>
            <a:r>
              <a:rPr lang="zh-CN" dirty="0"/>
              <a:t>• Agent 整理問題與範圍</a:t>
            </a:r>
          </a:p>
          <a:p>
            <a:r>
              <a:rPr lang="zh-CN" dirty="0"/>
              <a:t>• 決議可對回原意圖</a:t>
            </a:r>
          </a:p>
          <a:p>
            <a:r>
              <a:rPr lang="zh-CN" dirty="0"/>
              <a:t>講者轉場：Refinement 裡的 Example Mapping 又怎麼用 AI？</a:t>
            </a:r>
          </a:p>
          <a:p>
            <a:endParaRPr lang="zh-CN" dirty="0"/>
          </a:p>
          <a:p>
            <a:r>
              <a:rPr lang="zh-CN" dirty="0"/>
              <a:t>• 2026-10-09 Editorial Review 修正： 同一個 Agent 可以協助規劃等職能，不把 PM 與 PO 當成兩隻 Agent 的硬性配置。</a:t>
            </a:r>
          </a:p>
          <a:p>
            <a:endParaRPr lang="zh-CN" dirty="0"/>
          </a:p>
          <a:p>
            <a:r>
              <a:rPr lang="zh-CN" dirty="0"/>
              <a:t>• 2026-10-11 G4 projector review：人先說清 Matching #3 要解決的事，Agent 才整理工作票 Scope／AC／AT，方向和優先順序由人再次確認。 人定方向 → Agent 整理票 → 人確認才交 Dev 的三站流程，保留 Goal 成果，取消傳統／Agent 的並列長篇逐字稿。 原始文件、完整證據與英文技術名稱仍留講者筆記及原 Evidence，未增造測試結果。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66；source ID：E02。 章節 C6。</a:t>
            </a:r>
          </a:p>
          <a:p>
            <a:r>
              <a:rPr lang="zh-CN" dirty="0"/>
              <a:t>• 教學作用：示範 AI 在 Example Mapping 的協助位置，保留人對需求的決定權。</a:t>
            </a:r>
          </a:p>
          <a:p>
            <a:r>
              <a:rPr lang="zh-CN" dirty="0"/>
              <a:t>• 帶入方式：左側為已確認的 #3 規則和例子；右側為 AI 提出的候選和疑問，未確認內容留待決區。</a:t>
            </a:r>
          </a:p>
          <a:p>
            <a:r>
              <a:rPr lang="zh-CN" dirty="0"/>
              <a:t>• 帶走重點：AI 可以提候選、轉寫與抓漏；只有人確認後才進 AC。</a:t>
            </a:r>
          </a:p>
          <a:p>
            <a:r>
              <a:rPr lang="zh-CN" dirty="0"/>
              <a:t>• 圖面／示範：同一場 Example Mapping 的前後兩欄。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AI 協助整理與提問，未確認的推測不會自動成為需求。</a:t>
            </a:r>
          </a:p>
          <a:p>
            <a:r>
              <a:rPr lang="zh-CN" dirty="0"/>
              <a:t>講者轉場：把已確認的工作變成一次有範圍、有停止點的單 Agent 委託。</a:t>
            </a:r>
          </a:p>
          <a:p>
            <a:endParaRPr lang="zh-CN" dirty="0"/>
          </a:p>
          <a:p>
            <a:r>
              <a:rPr lang="zh-CN" dirty="0"/>
              <a:t>• 2026-10-09 Editorial Review 修正： Given–When–Then（GWT）縮寫初見就提供白話。</a:t>
            </a:r>
          </a:p>
          <a:p>
            <a:endParaRPr lang="zh-CN" dirty="0"/>
          </a:p>
          <a:p>
            <a:r>
              <a:rPr lang="zh-CN" dirty="0"/>
              <a:t>• 2026-10-11 G4 projector review：Example Mapping 中 AI 可提單向 Like 情境，人依規則判預期 0 筆，再讓 AI 將共識寫成 Given–When–Then；取消 Like 是待決事項，不自行加到 AC。 AI 提例子 → 人確定預期 → AI 記成 AT 的三站；未確認的取消 Like 獨立放在待決列，避免同時讀三段完整會議記錄。 原始文件、完整證據與英文技術名稱仍留講者筆記及原 Evidence，未增造測試結果。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A12；舊 rev11 頁：無；章節 C6。</a:t>
            </a:r>
          </a:p>
          <a:p>
            <a:r>
              <a:rPr lang="zh-CN" dirty="0"/>
              <a:t>• 教學作用：工作交給一個 Agent 時，也能使用完整職能流程。</a:t>
            </a:r>
          </a:p>
          <a:p>
            <a:r>
              <a:rPr lang="zh-CN" dirty="0"/>
              <a:t>• 帶走重點：遇到版本不一致、入口不可用或新需求要停下並回報。</a:t>
            </a:r>
          </a:p>
          <a:p>
            <a:r>
              <a:rPr lang="zh-CN" dirty="0"/>
              <a:t>• 圖面／示範：展示一段可直接使用的 #3 委託模板；未授權 merge/release 明寫停止點。</a:t>
            </a:r>
          </a:p>
          <a:p>
            <a:r>
              <a:rPr lang="zh-CN" dirty="0"/>
              <a:t>• 主畫面訊息：一次可用委託包含票與版本、範圍/AC、工具、交付證據與停止條件。</a:t>
            </a:r>
          </a:p>
          <a:p>
            <a:r>
              <a:rPr lang="zh-CN" dirty="0"/>
              <a:t>講者轉場：用這張票和交付包做一次人的驗收判斷。</a:t>
            </a:r>
          </a:p>
          <a:p>
            <a:r>
              <a:rPr lang="zh-CN" dirty="0"/>
              <a:t>• 規格來源：Issue comment 5 A12; comment 8 §4.2</a:t>
            </a:r>
          </a:p>
          <a:p>
            <a:endParaRPr lang="zh-CN" dirty="0"/>
          </a:p>
          <a:p>
            <a:r>
              <a:rPr lang="zh-CN" dirty="0"/>
              <a:t>• 2026-10-09 Editorial Review 修正： 非工程背景學員先練交辦與判斷，命令與路徑按需揭露，工具本身不設為必要先備。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69；source ID：N18；章節 C6。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N18。</a:t>
            </a:r>
          </a:p>
          <a:p>
            <a:r>
              <a:rPr lang="zh-CN" dirty="0"/>
              <a:t>• 教學作用： 多 Agent 分工後，完成摘要可能很漂亮，但缺少關鍵證據或偏離原 Goal。</a:t>
            </a:r>
          </a:p>
          <a:p>
            <a:r>
              <a:rPr lang="zh-CN" dirty="0"/>
              <a:t>• 帶入方式： #3 交付包：原需求、版本、驗證結果、未解問題；人逐項對照後接受或退回並說明原因。</a:t>
            </a:r>
          </a:p>
          <a:p>
            <a:r>
              <a:rPr lang="zh-CN" dirty="0"/>
              <a:t>• 帶走重點： 把前面的驗收方法搬到 Agent 協作；不要求所有 PR 一律人工逐行重審，也不只信任 Agent 自評。</a:t>
            </a:r>
          </a:p>
          <a:p>
            <a:r>
              <a:rPr lang="zh-CN" dirty="0"/>
              <a:t>• 圖面／示範： 展示同一張 #3 的交付包與人的判定理由；不以 Agent 的 PASS 摘要取代前面學的驗收。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原需求與交付版本是否對得上？</a:t>
            </a:r>
          </a:p>
          <a:p>
            <a:r>
              <a:rPr lang="zh-CN" dirty="0"/>
              <a:t>• 每條 AC 有沒有實際結果與證據？</a:t>
            </a:r>
          </a:p>
          <a:p>
            <a:r>
              <a:rPr lang="zh-CN" dirty="0"/>
              <a:t>• 還有哪些未解問題，現在接受、退回或暫停？</a:t>
            </a:r>
          </a:p>
          <a:p>
            <a:r>
              <a:rPr lang="zh-CN" dirty="0"/>
              <a:t>講者轉場：若交付包缺少重複情境證據，學員要怎樣明確要求補驗？</a:t>
            </a:r>
          </a:p>
          <a:p>
            <a:endParaRPr lang="zh-CN" dirty="0"/>
          </a:p>
          <a:p>
            <a:r>
              <a:rPr lang="zh-CN" dirty="0"/>
              <a:t>• 2026-10-09 G3 Blind Beginner Review 修正： Agent 自述 PASS 不代表全過：B-pre 交付包包含原 AC、同一候選版本、已驗預期／實際與明列的 NOT RUN。 兩欄先展示真正的 B-pre 交付包，再由人按 AC 逐項對照決定；原始 B-pre 證據可從講者筆記開啟。</a:t>
            </a:r>
          </a:p>
          <a:p>
            <a:endParaRPr lang="zh-CN" dirty="0"/>
          </a:p>
          <a:p>
            <a:r>
              <a:rPr lang="zh-CN" dirty="0"/>
              <a:t>• 2026-10-11 G4 projector review：Agent 宣稱 #3 PASS，人的驗收需回到 Goal/AC、Version B、預期／實際證據與未測清單；補驗前重複 Like NOT RUN 應退回，UI 等也未完成。 放大 Agent 的宣稱，四項證據檢查改成簡短欄位，下方用補驗前 NOT RUN → 退回的具體決定作視覺主角。 原始文件、完整證據與英文技術名稱仍留講者筆記及原 Evidence，未增造測試結果。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89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A13；舊 rev11 頁：無；章節 C6。</a:t>
            </a:r>
          </a:p>
          <a:p>
            <a:r>
              <a:rPr lang="zh-CN" dirty="0"/>
              <a:t>• 教學作用：缺少證據代表未驗，不等於已證實行為錯誤。</a:t>
            </a:r>
          </a:p>
          <a:p>
            <a:r>
              <a:rPr lang="zh-CN" dirty="0"/>
              <a:t>• 帶走重點：補驗期間同一票仍在 WIP；版本未變，更新證據即可。</a:t>
            </a:r>
          </a:p>
          <a:p>
            <a:r>
              <a:rPr lang="zh-CN" dirty="0"/>
              <a:t>• 圖面／示範：先顯示 B-pre 缺口與作答提示；學員自行寫下補驗要求後，才揭露參考要求、B-post 實際結果與原始紀錄。精確命令可由 exercise.md 另行查看；主畫面不放 CLI。</a:t>
            </a:r>
          </a:p>
          <a:p>
            <a:r>
              <a:rPr lang="zh-CN" dirty="0"/>
              <a:t>• 主畫面訊息：先展示 B-pre 的已知／未測狀態，讓學員寫出同一 B 版的白話補驗要求，再揭露 B-post 實際結果；精確命令放在連結的練習材料中。</a:t>
            </a:r>
          </a:p>
          <a:p>
            <a:r>
              <a:rPr lang="zh-CN" dirty="0"/>
              <a:t>講者轉場：時間倒回 B-pre 的未補驗時點；讓接手者先核對票、版本、未測事項，再回到 B-post 主線。</a:t>
            </a:r>
          </a:p>
          <a:p>
            <a:r>
              <a:rPr lang="zh-CN" dirty="0"/>
              <a:t>• 規格來源：Issue comments 5 A13, 8 §4.3</a:t>
            </a:r>
          </a:p>
          <a:p>
            <a:endParaRPr lang="zh-CN" dirty="0"/>
          </a:p>
          <a:p>
            <a:r>
              <a:rPr lang="zh-CN" dirty="0"/>
              <a:t>• 2026-10-11 第一次全課 G3/G4 審查修正：人先針對重複 Like 的 NOT RUN 自己寫補驗指令，才揭露原始紀錄與參考答案；PASS 僅為該規則層測試。 揭露後顯示重複 Like 規則層 PASS 與 UI／整合 NOT RUN，不宣稱整體產品通過。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A14；舊 rev11 頁：無；章節 C6。</a:t>
            </a:r>
          </a:p>
          <a:p>
            <a:r>
              <a:rPr lang="zh-CN" dirty="0"/>
              <a:t>• 教學作用：換 session 不改測試結果、不使票離開 WIP，也不授權合併。</a:t>
            </a:r>
          </a:p>
          <a:p>
            <a:r>
              <a:rPr lang="zh-CN" dirty="0"/>
              <a:t>• 帶走重點：學員先寫下一句接手指令，再回到補驗已完成主線，核對更新證據並接 Human Gate。</a:t>
            </a:r>
          </a:p>
          <a:p>
            <a:r>
              <a:rPr lang="zh-CN" dirty="0"/>
              <a:t>• 圖面／示範：顯示填妥交接卡，包含 ticket、候選 artifact SHA-256、已驗／未驗、停點與可點開的 B-pre/B-post 材料；不虛構 Git commit。這是 A13 補驗前的歷史狀態。</a:t>
            </a:r>
          </a:p>
          <a:p>
            <a:r>
              <a:rPr lang="zh-CN" dirty="0"/>
              <a:t>• 主畫面訊息：讀原票、核對版本、確認未測，再寫出下一步具體操作。</a:t>
            </a:r>
          </a:p>
          <a:p>
            <a:r>
              <a:rPr lang="zh-CN" dirty="0"/>
              <a:t>講者轉場：回到補驗完成的版本和證據，判斷是否可放行。</a:t>
            </a:r>
          </a:p>
          <a:p>
            <a:r>
              <a:rPr lang="zh-CN" dirty="0"/>
              <a:t>• 規格來源：Issue comments 5 A14, 7 §4, 8 §4.3</a:t>
            </a:r>
          </a:p>
          <a:p>
            <a:endParaRPr lang="zh-CN" dirty="0"/>
          </a:p>
          <a:p>
            <a:r>
              <a:rPr lang="zh-CN" dirty="0"/>
              <a:t>• 2026-10-09 Editorial Review 修正： 先對照版本與缺少的證據寫交接，再回到已補驗主線；指紋僅作版本辨認。</a:t>
            </a:r>
          </a:p>
          <a:p>
            <a:endParaRPr lang="zh-CN" dirty="0"/>
          </a:p>
          <a:p>
            <a:r>
              <a:rPr lang="zh-CN" dirty="0"/>
              <a:t>• 2026-10-09 G3 Blind Beginner Review 修正： 只補驗 duplicate PASS 並未關閉其他條件組合；僅晴→安、雙方都未 Like 和 UI／整合仍 NOT RUN，接受／發布權仍由人判斷。 原交接卡＋隱藏參考指令／結果保留；新增未測清單與受限接受範圍的提醒，不提前揭露答案。</a:t>
            </a:r>
          </a:p>
          <a:p>
            <a:endParaRPr lang="zh-CN" dirty="0"/>
          </a:p>
          <a:p>
            <a:r>
              <a:rPr lang="zh-CN" dirty="0"/>
              <a:t>• 本輪跨頁橋接：同一 B-pre 交接與 B-post 補驗已核對；接著決定由誰看 Review／QA、誰能放行。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審查修正：新 session 先讀交接卡，補驗結果要明寫重複 Like 規則層 PASS，UI／整合仍 NOT RUN；人決定後續接受。 原收合互動不變，揭露後把局部 PASS 和未測並列，避免認成整體完成。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68；source ID：P51；章節 C6。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P51。</a:t>
            </a:r>
          </a:p>
          <a:p>
            <a:r>
              <a:rPr lang="zh-CN" dirty="0"/>
              <a:t>• 教學作用： PR 審查節奏可不同，但最後放行不能被默認跳過。</a:t>
            </a:r>
          </a:p>
          <a:p>
            <a:r>
              <a:rPr lang="zh-CN" dirty="0"/>
              <a:t>• 帶入方式： 保留人工審查與 Agent Review／QA 兩路，合流到 Product Check／Human Gate。</a:t>
            </a:r>
          </a:p>
          <a:p>
            <a:r>
              <a:rPr lang="zh-CN" dirty="0"/>
              <a:t>• 帶走重點： 審查節奏與最後放行是不同決策。</a:t>
            </a:r>
          </a:p>
          <a:p>
            <a:r>
              <a:rPr lang="zh-CN" dirty="0"/>
              <a:t>• 圖面／示範： 沿用兩路合流與上線前後成效對照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Review／QA 可採不同節奏</a:t>
            </a:r>
          </a:p>
          <a:p>
            <a:r>
              <a:rPr lang="zh-CN" dirty="0"/>
              <a:t>• 兩路都回 Product Check</a:t>
            </a:r>
          </a:p>
          <a:p>
            <a:r>
              <a:rPr lang="zh-CN" dirty="0"/>
              <a:t>• 固定 Human Gate 後才 merge／上線</a:t>
            </a:r>
          </a:p>
          <a:p>
            <a:r>
              <a:rPr lang="zh-CN" dirty="0"/>
              <a:t>講者轉場：若跳過人的放行判斷，問題可能在整合後才被發現。</a:t>
            </a:r>
          </a:p>
          <a:p>
            <a:endParaRPr lang="zh-CN" dirty="0"/>
          </a:p>
          <a:p>
            <a:r>
              <a:rPr lang="zh-CN" dirty="0"/>
              <a:t>• 2026-10-09 合併後學員可見版本： PR 審查由風險／授權／規範決定人或 Agent 的工作配置，而非單純快慢。 兩種示範配置仍在 Product Check 收斂，Human Gate 由人決定。</a:t>
            </a:r>
          </a:p>
          <a:p>
            <a:endParaRPr lang="zh-CN" dirty="0"/>
          </a:p>
          <a:p>
            <a:r>
              <a:rPr lang="zh-CN" dirty="0"/>
              <a:t>• 2026-10-09 G3 再審修正： 人或 Agent 參與 Review／QA 的配置取決風險與政策；Human Gate 尚須逐項核對 NOT RUN，才可能放行。 條件式兩路示意保留，PR 入口明示僅晴→安、雙方未 Like、UI／串接 NOT RUN，尚未放行；箭頭只在補驗足夠後才可能 Merge／上線。</a:t>
            </a:r>
          </a:p>
          <a:p>
            <a:endParaRPr lang="zh-CN" dirty="0"/>
          </a:p>
          <a:p>
            <a:r>
              <a:rPr lang="zh-CN" dirty="0"/>
              <a:t>• 2026-10-09 Editorial 收斂： PR Review／QA 的參與配置可以有人／Agent 兩路，匯流 Product Check，Human Gate 仍由人判斷。尚有未測情境，不自動發布。 保留上下兩種配置匯流圖，移除上線前後大型時間線；留一條清楚的 NOT RUN 提醒，Goal 觀測另頁教。</a:t>
            </a:r>
          </a:p>
          <a:p>
            <a:endParaRPr lang="zh-CN" dirty="0"/>
          </a:p>
          <a:p>
            <a:r>
              <a:rPr lang="zh-CN" dirty="0"/>
              <a:t>• 本輪跨頁橋接：Review／QA 可以分工，Human Gate 仍由人決定；若略過核准會發生什麼風險？</a:t>
            </a:r>
          </a:p>
          <a:p>
            <a:endParaRPr lang="zh-CN" dirty="0"/>
          </a:p>
          <a:p>
            <a:r>
              <a:rPr lang="zh-CN" dirty="0"/>
              <a:t>• 2026-10-10 獨立 Reviewer 第二輪修正：兩種審查配置合流後明示：反向單向、雙方未 Like、UI 未測；人決定需要補驗／暫停／後續授權。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原始素材與來源：原 storyboard 仍保存在 Git 歷史；當前沿用同一舊 rev11 頁面 ID 與引用，未宣稱新增實測。</a:t>
            </a:r>
          </a:p>
          <a:p>
            <a:r>
              <a:rPr lang="zh-CN" dirty="0"/>
              <a:t>• 前頁已知：Review／QA 可以分工，Human Gate 仍由人決定；若略過核准會發生什麼風險？</a:t>
            </a:r>
          </a:p>
          <a:p>
            <a:r>
              <a:rPr lang="zh-CN" dirty="0"/>
              <a:t>• 此頁新增：以 #3 B-post 的真實已測／未測資料，推演跳過 Human Gate 的放行風險；不冒充真實部署事故。</a:t>
            </a:r>
          </a:p>
          <a:p>
            <a:r>
              <a:rPr lang="zh-CN" dirty="0"/>
              <a:t>• 學員主畫面：一條教學假設流程：B-post 規則層 PASS、UI／整合 NOT RUN → 若直接發布，仍無法確認使用者路徑 → 人應核對版本、AC、未測與授權。真實教材發布復盤保存在講者筆記。</a:t>
            </a:r>
          </a:p>
          <a:p>
            <a:r>
              <a:rPr lang="zh-CN" dirty="0"/>
              <a:t>• 講者轉場：已看到未核准放行的風險；下一頁把 Gate、退回路徑與七欄看板接回一張圖。</a:t>
            </a:r>
          </a:p>
          <a:p>
            <a:r>
              <a:rPr lang="zh-CN" dirty="0"/>
              <a:t>• 歷史背景（講者補充）：- 對應：舊 rev11 頁 70；source ID：P52；章節 C6。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P52。</a:t>
            </a:r>
          </a:p>
          <a:p>
            <a:r>
              <a:rPr lang="zh-CN" dirty="0"/>
              <a:t>• 教學作用： 用真實失誤說明關卡不是形式。</a:t>
            </a:r>
          </a:p>
          <a:p>
            <a:r>
              <a:rPr lang="zh-CN" dirty="0"/>
              <a:t>• 帶入方式： 保留 v7 首版 PR #43 的記錄，區分簡報實際事件與 App 教學案例。</a:t>
            </a:r>
          </a:p>
          <a:p>
            <a:r>
              <a:rPr lang="zh-CN" dirty="0"/>
              <a:t>• 帶走重點： AC 驗收與上線後成效不能混在一起。</a:t>
            </a:r>
          </a:p>
          <a:p>
            <a:r>
              <a:rPr lang="zh-CN" dirty="0"/>
              <a:t>• 圖面／示範： 原事件、引用與敘述保留，不杜撰新事故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未經 Gate 先發布</a:t>
            </a:r>
          </a:p>
          <a:p>
            <a:r>
              <a:rPr lang="zh-CN" dirty="0"/>
              <a:t>• Owner 上線後才指出問題</a:t>
            </a:r>
          </a:p>
          <a:p>
            <a:r>
              <a:rPr lang="zh-CN" dirty="0"/>
              <a:t>• 修正上線前驗收／上線後成效的混淆</a:t>
            </a:r>
          </a:p>
          <a:p>
            <a:r>
              <a:rPr lang="zh-CN" dirty="0"/>
              <a:t>講者轉場：最後把所有責任與紀錄串回看板。</a:t>
            </a:r>
          </a:p>
          <a:p>
            <a:endParaRPr lang="zh-CN" dirty="0"/>
          </a:p>
          <a:p>
            <a:r>
              <a:rPr lang="zh-CN" dirty="0"/>
              <a:t>• 2026-10-09 Editorial Review 修正： 用可理解的真實教材發布案例示範未放行的後果，內部 PR 編號留在 Notes。</a:t>
            </a:r>
          </a:p>
          <a:p>
            <a:endParaRPr lang="zh-CN" dirty="0"/>
          </a:p>
          <a:p>
            <a:r>
              <a:rPr lang="zh-CN" dirty="0"/>
              <a:t>• 2026-10-09 Evidence Review 精確界線：真實教材的發布事件用於復盤；放行關卡可能降低風險但不保證必然抓錯。 真實來源保留在 Notes；主畫面不冒充 Gate 百分之百有效。</a:t>
            </a:r>
          </a:p>
          <a:p>
            <a:endParaRPr lang="zh-CN" dirty="0"/>
          </a:p>
          <a:p>
            <a:r>
              <a:rPr lang="zh-CN" dirty="0"/>
              <a:t>• 2026-10-10 獨立 Reviewer 第二輪修正：三站：目前可證→若直接發布（假設）→人核對 Goal／AC／候選、未測及授權。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71；source ID：P27。 章節 C6。</a:t>
            </a:r>
          </a:p>
          <a:p>
            <a:r>
              <a:rPr lang="zh-CN" dirty="0"/>
              <a:t>• 教學作用：主線收束需求、版本、交付、驗收和人的 Gate。</a:t>
            </a:r>
          </a:p>
          <a:p>
            <a:r>
              <a:rPr lang="zh-CN" dirty="0"/>
              <a:t>• 帶入方式：沿用看板總回顧與退回線，保留 Review、QA、Product Check、人類放行的責任區分。</a:t>
            </a:r>
          </a:p>
          <a:p>
            <a:r>
              <a:rPr lang="zh-CN" dirty="0"/>
              <a:t>• 帶走重點：工作票有自己的完成條件；全產品與 Goal 仍需整體判斷。</a:t>
            </a:r>
          </a:p>
          <a:p>
            <a:r>
              <a:rPr lang="zh-CN" dirty="0"/>
              <a:t>• 圖面／示範：原總覽圖，不刪站點。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票沿看板前進；GitHub 留下版本與交付證據。</a:t>
            </a:r>
          </a:p>
          <a:p>
            <a:r>
              <a:rPr lang="zh-CN" dirty="0"/>
              <a:t>講者轉場：把同一套交付方法轉用到自己的第一張小工作票。</a:t>
            </a:r>
          </a:p>
          <a:p>
            <a:endParaRPr lang="zh-CN" dirty="0"/>
          </a:p>
          <a:p>
            <a:r>
              <a:rPr lang="zh-CN" dirty="0"/>
              <a:t>• 2026-10-09 合併後學員可見版本： 七個狀態欄與欄外 Human Gate；Review／QA 退回 Dev，Product Check 退回 Backlog。 保留原 return routes；Human Gate 另以說明註記，不能多算一欄。</a:t>
            </a:r>
          </a:p>
          <a:p>
            <a:endParaRPr lang="zh-CN" dirty="0"/>
          </a:p>
          <a:p>
            <a:r>
              <a:rPr lang="zh-CN" dirty="0"/>
              <a:t>• 2026-10-09 G3 Blind Beginner Review 修正： 總回顧維持七欄，看板欄外 Human Gate；放行後尚須 Merge／上線檢查與共用 DoD 才可 Done。 Done 卡片寫明 DoD 與上線檢查後關票，原人類決策與紅黃退回箭頭保留。</a:t>
            </a:r>
          </a:p>
          <a:p>
            <a:endParaRPr lang="zh-CN" dirty="0"/>
          </a:p>
          <a:p>
            <a:r>
              <a:rPr lang="zh-CN" dirty="0"/>
              <a:t>• 2026-10-09 Editorial 收斂： 七欄看板總回顧：Review／QA 退 Dev；Product Check 需求問題退 Backlog、實作問題退 Dev；Human Gate 在欄外決定放行。 保留七欄與兩條 Product Check 退回箭頭；縮短 Goal 標籤和 Gate 註記，回顧時靠線路讀動作。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審查修正：Human Gate 是七欄外的人類核准／暫停決定；工作等待時留 Product Check，並未進 Done。 將欄外註記與 Done 的 Merge／Release／DoD 條件寫清，不再誤看成第八欄。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對應：新增頁 A15；舊 rev11 頁：無；章節 C6。</a:t>
            </a:r>
          </a:p>
          <a:p>
            <a:r>
              <a:rPr lang="zh-CN" dirty="0"/>
              <a:t>• 教學作用：能寫下可判斷的工作和驗收，不只輸出提示詞。</a:t>
            </a:r>
          </a:p>
          <a:p>
            <a:r>
              <a:rPr lang="zh-CN" dirty="0"/>
              <a:t>• 帶走重點：真人回答與卡點尚待符合受眾的形成性測試。</a:t>
            </a:r>
          </a:p>
          <a:p>
            <a:r>
              <a:rPr lang="zh-CN" dirty="0"/>
              <a:t>• 圖面／示範：學員填一張短票，配同儕或講師判準；不要求當場完成另一個產品。</a:t>
            </a:r>
          </a:p>
          <a:p>
            <a:r>
              <a:rPr lang="zh-CN" dirty="0"/>
              <a:t>• 主畫面訊息：轉用框架到自己選的小工具：用途、第一項交付、成功/禁止情境與核對方式。</a:t>
            </a:r>
          </a:p>
          <a:p>
            <a:r>
              <a:rPr lang="zh-CN" dirty="0"/>
              <a:t>講者轉場：請先完成本章 Exit Check；之後再進入下一章。原轉場：主線到此結束；需要方法細節時轉附錄。</a:t>
            </a:r>
          </a:p>
          <a:p>
            <a:r>
              <a:rPr lang="zh-CN" dirty="0"/>
              <a:t>• 規格來源：Issue comments 5 A15, 8 §5</a:t>
            </a:r>
          </a:p>
          <a:p>
            <a:endParaRPr lang="zh-CN" dirty="0"/>
          </a:p>
          <a:p>
            <a:r>
              <a:rPr lang="zh-CN" dirty="0"/>
              <a:t>• 2026-10-09 Editorial Review 修正： 把第一張票轉到活動報名、課程、行銷或行政等熟悉工作，不限小工具。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A24；章節 C6；原有內容全部保留。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帶走重點：能交辦一張票、辨認缺證據並要求補驗與接續。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Q1：拿上一頁自己寫的 Ticket，寫一段可交給 Agent 的交辦與停止條件。</a:t>
            </a:r>
          </a:p>
          <a:p>
            <a:r>
              <a:rPr lang="zh-CN" dirty="0"/>
              <a:t>• 參考答案：例如：「請先讀［票］，只做［範圍］，按［AC］交回版本、預期／實際及未測事項；缺資料或超出範圍先停下詢問，不得自行發布。」</a:t>
            </a:r>
          </a:p>
          <a:p>
            <a:r>
              <a:rPr lang="zh-CN" dirty="0"/>
              <a:t>• Q2：回到 B-pre 補驗前：Agent 說 B 版完成，但重複 Like 仍 NOT RUN，怎麼回覆？</a:t>
            </a:r>
          </a:p>
          <a:p>
            <a:r>
              <a:rPr lang="zh-CN" dirty="0"/>
              <a:t>• 參考答案：要求在相同 B artifact 與假資料重播重複 Like，交出操作前後筆數及原始結果；暫不接受。</a:t>
            </a:r>
          </a:p>
          <a:p>
            <a:r>
              <a:rPr lang="zh-CN" dirty="0"/>
              <a:t>• Q3：上一頁的 Ticket 還沒執行。交給新 Agent 時，版本、進度、未測、下一步與停止條件怎麼寫？</a:t>
            </a:r>
          </a:p>
          <a:p>
            <a:r>
              <a:rPr lang="zh-CN" dirty="0"/>
              <a:t>• 參考答案：候選版本＝無；已做＝票面整理；未測＝全部 AC；下一步＝首次交辦；停止＝資料不足先問、未核准不發布。已有實作才填真實版本與結果。</a:t>
            </a:r>
          </a:p>
          <a:p>
            <a:endParaRPr lang="zh-CN" dirty="0"/>
          </a:p>
          <a:p>
            <a:r>
              <a:rPr lang="zh-CN" dirty="0"/>
              <a:t>講者轉場：請學員先獨立回答並核對自己的答案，再往下一章前進。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• 2026-10-09 Editorial 收斂： 交辦、補驗、交接自評；新 Ticket 尚未執行也可照實寫無候選版本、無測試結果，不編造工作進度。 三題先回答後揭露參考；Q3 加入尚未執行的情境，參考答案明列無候選／全未測，符合證據規範。</a:t>
            </a:r>
          </a:p>
          <a:p>
            <a:endParaRPr lang="zh-CN" dirty="0"/>
          </a:p>
          <a:p>
            <a:r>
              <a:rPr lang="zh-CN" dirty="0"/>
              <a:t>• 本輪跨頁橋接：已能交辦與驗收；後面是可選的技術方法，不要求沿固定順序學完。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拿上一頁自己寫的 Ticket，寫一段可交給 Agent 的交辦與停止條件。</a:t>
            </a:r>
          </a:p>
          <a:p>
            <a:r>
              <a:rPr lang="zh-CN" dirty="0"/>
              <a:t>自己先回答，再揭露參考答案例如：「請先讀［票］，只做［範圍］，按［AC］交回版本、預期／實際及未測事項；缺資料或超出範圍先停下詢問，不得自行發布。」</a:t>
            </a:r>
          </a:p>
          <a:p>
            <a:endParaRPr lang="zh-CN" dirty="0"/>
          </a:p>
          <a:p>
            <a:r>
              <a:rPr lang="zh-CN" dirty="0"/>
              <a:t>Q2 回到 Version B 補驗前：Agent 說 B 版完成，但重複 Like 仍 NOT RUN，怎麼回覆？</a:t>
            </a:r>
          </a:p>
          <a:p>
            <a:r>
              <a:rPr lang="zh-CN" dirty="0"/>
              <a:t>自己先回答，再揭露參考答案要求在相同 B artifact 與假資料重播重複 Like，交出操作前後筆數及原始結果；暫不接受。</a:t>
            </a:r>
          </a:p>
          <a:p>
            <a:endParaRPr lang="zh-CN" dirty="0"/>
          </a:p>
          <a:p>
            <a:r>
              <a:rPr lang="zh-CN" dirty="0"/>
              <a:t>Q3 上一頁的 Ticket 還沒執行。交給新 Agent 時，版本、進度、未測、下一步與停止條件怎麼寫？</a:t>
            </a:r>
          </a:p>
          <a:p>
            <a:r>
              <a:rPr lang="zh-CN" dirty="0"/>
              <a:t>自己先回答，再揭露參考答案候選版本＝無；已做＝票面整理；未測＝全部 AC；下一步＝首次交辦；停止＝資料不足先問、未核准不發布。已有實作才填真實版本與結果。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72；source ID：P53；章節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調整 · P53。</a:t>
            </a:r>
          </a:p>
          <a:p>
            <a:r>
              <a:rPr lang="zh-CN" dirty="0"/>
              <a:t>• 原標題： 架構六層與 Kanban 回顧。本草稿採用此標題。</a:t>
            </a:r>
          </a:p>
          <a:p>
            <a:r>
              <a:rPr lang="zh-CN" dirty="0"/>
              <a:t>• 教學作用： 方法深度保留，但不打斷主線。</a:t>
            </a:r>
          </a:p>
          <a:p>
            <a:r>
              <a:rPr lang="zh-CN" dirty="0"/>
              <a:t>• 帶入方式： 原附錄封面延用，標題擴及新加入的內容。</a:t>
            </a:r>
          </a:p>
          <a:p>
            <a:r>
              <a:rPr lang="zh-CN" dirty="0"/>
              <a:t>• 帶走重點： 需要時依問題查附錄。</a:t>
            </a:r>
          </a:p>
          <a:p>
            <a:r>
              <a:rPr lang="zh-CN" dirty="0"/>
              <a:t>• 圖面／示範： 只提案改附錄封面標題；P54／55 完整保留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格式與測試方法</a:t>
            </a:r>
          </a:p>
          <a:p>
            <a:r>
              <a:rPr lang="zh-CN" dirty="0"/>
              <a:t>• 需求共識與演練</a:t>
            </a:r>
          </a:p>
          <a:p>
            <a:r>
              <a:rPr lang="zh-CN" dirty="0"/>
              <a:t>• 架構、看板與復原</a:t>
            </a:r>
          </a:p>
          <a:p>
            <a:r>
              <a:rPr lang="zh-CN" dirty="0"/>
              <a:t>講者轉場：先比較不同表達格式。</a:t>
            </a:r>
          </a:p>
          <a:p>
            <a:endParaRPr lang="zh-CN" dirty="0"/>
          </a:p>
          <a:p>
            <a:r>
              <a:rPr lang="zh-CN" dirty="0"/>
              <a:t>• 本輪跨頁橋接：想用方法加強現有的 #3？從格式怎麼寫開始，按需查閱後續工具。</a:t>
            </a:r>
          </a:p>
          <a:p>
            <a:endParaRPr lang="zh-CN" dirty="0"/>
          </a:p>
          <a:p>
            <a:r>
              <a:rPr lang="zh-CN" dirty="0"/>
              <a:t>• 2026-10-10 初學者教學修正：附錄按問題選讀：格式／測試／練習、Blocked／事故、架構／看板，不需一次學完。</a:t>
            </a:r>
          </a:p>
          <a:p>
            <a:endParaRPr lang="zh-CN" dirty="0"/>
          </a:p>
          <a:p>
            <a:r>
              <a:rPr lang="zh-CN" dirty="0"/>
              <a:t>• 講者備註（附錄查閱）： P97–102：規格、測試、演練與共識；P103–104：Blocked 與事故；P105–106：架構及看板總覽。這些是選讀材料，不要求學員依序全部背完。</a:t>
            </a:r>
          </a:p>
          <a:p>
            <a:endParaRPr lang="zh-CN" dirty="0"/>
          </a:p>
          <a:p>
            <a:r>
              <a:rPr lang="zh-CN" dirty="0"/>
              <a:t>• 2026-10-10 G4 主畫面重做： 主線學完後，附錄按需要查測試、阻礙與架構。 三個可選查閱項目，不使用強制線性箭頭；詳細頁碼放講者 Notes。 畫面放大一項決策／流程。原有細節可由本講者筆記及 source/rev11 查閱。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73；source ID：E01；章節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E01。</a:t>
            </a:r>
          </a:p>
          <a:p>
            <a:r>
              <a:rPr lang="zh-CN" dirty="0"/>
              <a:t>• 教學作用： 同一種格式不一定適合所有規則。</a:t>
            </a:r>
          </a:p>
          <a:p>
            <a:r>
              <a:rPr lang="zh-CN" dirty="0"/>
              <a:t>• 帶入方式： 用 #3 同一規則比較三種寫法及容易漏掉的資訊。</a:t>
            </a:r>
          </a:p>
          <a:p>
            <a:r>
              <a:rPr lang="zh-CN" dirty="0"/>
              <a:t>• 帶走重點： Rule based／GWT／Table 的取捨，不要求每條規則寫三份。</a:t>
            </a:r>
          </a:p>
          <a:p>
            <a:r>
              <a:rPr lang="zh-CN" dirty="0"/>
              <a:t>• 圖面／示範： 同一 #3 規則三種寫法並排，指出各自顯露與隱藏的資訊。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規則：簡潔表達要求</a:t>
            </a:r>
          </a:p>
          <a:p>
            <a:r>
              <a:rPr lang="zh-CN" dirty="0"/>
              <a:t>• GWT：前提、事件與結果</a:t>
            </a:r>
          </a:p>
          <a:p>
            <a:r>
              <a:rPr lang="zh-CN" dirty="0"/>
              <a:t>• 表格：條件組合與輸入輸出</a:t>
            </a:r>
          </a:p>
          <a:p>
            <a:r>
              <a:rPr lang="zh-CN" dirty="0"/>
              <a:t>講者轉場：格式選好，還要檢查測試是否真的有效。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審查修正：同一條配對規則可用條列、Given–When–Then（前提、操作、預期）及表格呈現，不需要三份並行文件。 GWT 首次對學員回顧時直接白話說前提／操作／預期。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98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74；source ID：E03；章節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E03。</a:t>
            </a:r>
          </a:p>
          <a:p>
            <a:r>
              <a:rPr lang="zh-CN" dirty="0"/>
              <a:t>• 教學作用： 測試可能同義反覆或複製實作的錯誤。</a:t>
            </a:r>
          </a:p>
          <a:p>
            <a:r>
              <a:rPr lang="zh-CN" dirty="0"/>
              <a:t>• 帶入方式： 讓錯誤的單向配對通過無效測試，再展示有獨立預期的測試會失敗。</a:t>
            </a:r>
          </a:p>
          <a:p>
            <a:r>
              <a:rPr lang="zh-CN" dirty="0"/>
              <a:t>• 帶走重點： tautological tests 的辨識與修正；不把刪掉紅測試當修復。</a:t>
            </a:r>
          </a:p>
          <a:p>
            <a:r>
              <a:rPr lang="zh-CN" dirty="0"/>
              <a:t>• 圖面／示範： 無效 assertion／有用行為測試前後對照；僅示意不寫新實作。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拿結果和自己比，不能驗配對規則</a:t>
            </a:r>
          </a:p>
          <a:p>
            <a:r>
              <a:rPr lang="zh-CN" dirty="0"/>
              <a:t>• 複製同一套錯誤邏輯，可能一起通過</a:t>
            </a:r>
          </a:p>
          <a:p>
            <a:r>
              <a:rPr lang="zh-CN" dirty="0"/>
              <a:t>• 用獨立預期讓錯誤行為真的失敗</a:t>
            </a:r>
          </a:p>
          <a:p>
            <a:r>
              <a:rPr lang="zh-CN" dirty="0"/>
              <a:t>講者轉場：如何在開發時就確認測試能抓到缺失？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99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75；source ID：E04；章節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E04。</a:t>
            </a:r>
          </a:p>
          <a:p>
            <a:r>
              <a:rPr lang="zh-CN" dirty="0"/>
              <a:t>• 教學作用： 只有實作完成後的綠燈，無法顯示測試是否抓得到預期缺失。</a:t>
            </a:r>
          </a:p>
          <a:p>
            <a:r>
              <a:rPr lang="zh-CN" dirty="0"/>
              <a:t>• 帶入方式： #3 依已確認規則先寫測試，因缺少行為而失敗→實作通過→整理仍通過。</a:t>
            </a:r>
          </a:p>
          <a:p>
            <a:r>
              <a:rPr lang="zh-CN" dirty="0"/>
              <a:t>• 帶走重點： TDD：Red／Green／Refactor；不改低 AC，不自創範圍。</a:t>
            </a:r>
          </a:p>
          <a:p>
            <a:r>
              <a:rPr lang="zh-CN" dirty="0"/>
              <a:t>• 圖面／示範： #3 單向不配對的 red→green→refactor，不把環境錯誤當預期紅燈。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先按已確認規則寫測試</a:t>
            </a:r>
          </a:p>
          <a:p>
            <a:r>
              <a:rPr lang="zh-CN" dirty="0"/>
              <a:t>• 缺少行為而紅，實作後綠</a:t>
            </a:r>
          </a:p>
          <a:p>
            <a:r>
              <a:rPr lang="zh-CN" dirty="0"/>
              <a:t>• 整理程式，測試維持通過</a:t>
            </a:r>
          </a:p>
          <a:p>
            <a:r>
              <a:rPr lang="zh-CN" dirty="0"/>
              <a:t>講者轉場：測試之前的共同理解又從哪裡來？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100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76；source ID：E05；章節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E05。</a:t>
            </a:r>
          </a:p>
          <a:p>
            <a:r>
              <a:rPr lang="zh-CN" dirty="0"/>
              <a:t>• 教學作用： 共識、規格與測試各自演變會脫節。</a:t>
            </a:r>
          </a:p>
          <a:p>
            <a:r>
              <a:rPr lang="zh-CN" dirty="0"/>
              <a:t>• 帶入方式： 同一 #3 範例走探索、精確描述、接自動化，再回饋。</a:t>
            </a:r>
          </a:p>
          <a:p>
            <a:r>
              <a:rPr lang="zh-CN" dirty="0"/>
              <a:t>• 帶走重點： BDD Discovery／Formulation／Automation，迭代而非硬性瀑布；Gherkin 文字不會自行執行。</a:t>
            </a:r>
          </a:p>
          <a:p>
            <a:r>
              <a:rPr lang="zh-CN" dirty="0"/>
              <a:t>• 圖面／示範： 同一範例走三種活動，箭頭可回饋，不畫成只能單向的階段。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Discovery：找假設與情境</a:t>
            </a:r>
          </a:p>
          <a:p>
            <a:r>
              <a:rPr lang="zh-CN" dirty="0"/>
              <a:t>• Formulation：寫成可理解、可驗證描述</a:t>
            </a:r>
          </a:p>
          <a:p>
            <a:r>
              <a:rPr lang="zh-CN" dirty="0"/>
              <a:t>• Automation：接上執行並持續維護</a:t>
            </a:r>
          </a:p>
          <a:p>
            <a:r>
              <a:rPr lang="zh-CN" dirty="0"/>
              <a:t>講者轉場：自己做一次，看看能否找出分歧。</a:t>
            </a:r>
          </a:p>
          <a:p>
            <a:endParaRPr lang="zh-CN" dirty="0"/>
          </a:p>
          <a:p>
            <a:r>
              <a:rPr lang="zh-CN" dirty="0"/>
              <a:t>• 本輪跨頁橋接：BDD 已把規則接到測試；下一頁試著自己找出這條配對規則的歧義。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101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77；source ID：E07；章節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E07。</a:t>
            </a:r>
          </a:p>
          <a:p>
            <a:r>
              <a:rPr lang="zh-CN" dirty="0"/>
              <a:t>• 教學作用： 看懂示範不等於會自己找出假設。</a:t>
            </a:r>
          </a:p>
          <a:p>
            <a:r>
              <a:rPr lang="zh-CN" dirty="0"/>
              <a:t>• 帶入方式： 先各自解讀 #3，再共同整理規則、範例、問題，比較前後差異。</a:t>
            </a:r>
          </a:p>
          <a:p>
            <a:r>
              <a:rPr lang="zh-CN" dirty="0"/>
              <a:t>• 帶走重點： 需求模擬／Example Mapping 演練，時長尚未指定。</a:t>
            </a:r>
          </a:p>
          <a:p>
            <a:r>
              <a:rPr lang="zh-CN" dirty="0"/>
              <a:t>• 圖面／示範： 給同一需求與固定資料；輸出四類卡與待決事項，不比誰產出最多例子。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各自解讀一句配對需求</a:t>
            </a:r>
          </a:p>
          <a:p>
            <a:r>
              <a:rPr lang="zh-CN" dirty="0"/>
              <a:t>• 共同整理規則、例子、問題</a:t>
            </a:r>
          </a:p>
          <a:p>
            <a:r>
              <a:rPr lang="zh-CN" dirty="0"/>
              <a:t>• 比對討論前後，指出尚未解答的疑問</a:t>
            </a:r>
          </a:p>
          <a:p>
            <a:r>
              <a:rPr lang="zh-CN" dirty="0"/>
              <a:t>講者轉場：帶著討論結果，再檢查票是否可執行。</a:t>
            </a:r>
          </a:p>
          <a:p>
            <a:endParaRPr lang="zh-CN" dirty="0"/>
          </a:p>
          <a:p>
            <a:r>
              <a:rPr lang="zh-CN" dirty="0"/>
              <a:t>• 本輪跨頁橋接：演練中討論出的共識，下一頁要留成新接手者也能查證的規格與範例。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102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79；source ID：E11；章節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E11。</a:t>
            </a:r>
          </a:p>
          <a:p>
            <a:r>
              <a:rPr lang="zh-CN" dirty="0"/>
              <a:t>• 教學作用： 共同理解只存在人的腦中，文件可能留下未驗證假設。</a:t>
            </a:r>
          </a:p>
          <a:p>
            <a:r>
              <a:rPr lang="zh-CN" dirty="0"/>
              <a:t>• 帶入方式： 追蹤 #3 的規則、例子、測試與更新，展示維持同一意圖。</a:t>
            </a:r>
          </a:p>
          <a:p>
            <a:r>
              <a:rPr lang="zh-CN" dirty="0"/>
              <a:t>• 帶走重點： Specification by Example 的協作探索、可核對的範例與規格維護；不宣稱徹底消除資訊不對稱。</a:t>
            </a:r>
          </a:p>
          <a:p>
            <a:r>
              <a:rPr lang="zh-CN" dirty="0"/>
              <a:t>• 圖面／示範： 追蹤 #3 的一條規則在討論、票面與測試中的對應。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共同探索規則</a:t>
            </a:r>
          </a:p>
          <a:p>
            <a:r>
              <a:rPr lang="zh-CN" dirty="0"/>
              <a:t>• 用可核對範例保存共同理解</a:t>
            </a:r>
          </a:p>
          <a:p>
            <a:r>
              <a:rPr lang="zh-CN" dirty="0"/>
              <a:t>• 驗證與規格一起維護，避免各自漂移</a:t>
            </a:r>
          </a:p>
          <a:p>
            <a:r>
              <a:rPr lang="zh-CN" dirty="0"/>
              <a:t>講者轉場：即使如此，上線後仍可能發現問題。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103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78；source ID：E09；章節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E09。</a:t>
            </a:r>
          </a:p>
          <a:p>
            <a:r>
              <a:rPr lang="zh-CN" dirty="0"/>
              <a:t>• 教學作用： 模板填完但無負責人、未決依賴與下一步，仍不能執行。</a:t>
            </a:r>
          </a:p>
          <a:p>
            <a:r>
              <a:rPr lang="zh-CN" dirty="0"/>
              <a:t>• 帶入方式： #3 票面展示 Assignee、Blocked 原因、誰解除、解除條件與下一步。</a:t>
            </a:r>
          </a:p>
          <a:p>
            <a:r>
              <a:rPr lang="zh-CN" dirty="0"/>
              <a:t>• 帶走重點： 資訊透明、邊界清晰、可被執行；主線 N12 只示範必要欄位，此頁作完整模板附錄。</a:t>
            </a:r>
          </a:p>
          <a:p>
            <a:r>
              <a:rPr lang="zh-CN" dirty="0"/>
              <a:t>• 圖面／示範： #3 原票面加上負責人與阻礙處置示意；不自訂新工作流欄位。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Assignee：誰負責推進？</a:t>
            </a:r>
          </a:p>
          <a:p>
            <a:r>
              <a:rPr lang="zh-CN" dirty="0"/>
              <a:t>• Blocked：卡在什麼、由誰解除？</a:t>
            </a:r>
          </a:p>
          <a:p>
            <a:r>
              <a:rPr lang="zh-CN" dirty="0"/>
              <a:t>• 解除條件與下一步：何時能繼續？</a:t>
            </a:r>
          </a:p>
          <a:p>
            <a:r>
              <a:rPr lang="zh-CN" dirty="0"/>
              <a:t>講者轉場：共識如何長期留在可用的規格裡？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104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80；source ID：N21；章節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新增 · N21。</a:t>
            </a:r>
          </a:p>
          <a:p>
            <a:r>
              <a:rPr lang="zh-CN" dirty="0"/>
              <a:t>• 教學作用： 放行不是最後一步；必須能發現問題、停止擴散並處理已發生的影響。</a:t>
            </a:r>
          </a:p>
          <a:p>
            <a:r>
              <a:rPr lang="zh-CN" dirty="0"/>
              <a:t>• 帶入方式： 偵測錯誤→停止擴大→關閉或退回版本→查受影響配對資料→修復與重新驗證。</a:t>
            </a:r>
          </a:p>
          <a:p>
            <a:r>
              <a:rPr lang="zh-CN" dirty="0"/>
              <a:t>• 帶走重點： 監控、停止、回復及資料處理的關係；連回前面 Git 可追溯版本。</a:t>
            </a:r>
          </a:p>
          <a:p>
            <a:r>
              <a:rPr lang="zh-CN" dirty="0"/>
              <a:t>• 圖面／示範： 錯配→偵測→停止→回復→資料處理→重驗的示意；不宣稱 App 已具備所有機制。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先停止擴大影響</a:t>
            </a:r>
          </a:p>
          <a:p>
            <a:r>
              <a:rPr lang="zh-CN" dirty="0"/>
              <a:t>• 按能力關閉／回復，再查受影響資料</a:t>
            </a:r>
          </a:p>
          <a:p>
            <a:r>
              <a:rPr lang="zh-CN" dirty="0"/>
              <a:t>• 修復並重新驗證；回復程式不自動回復所有後果</a:t>
            </a:r>
          </a:p>
          <a:p>
            <a:r>
              <a:rPr lang="zh-CN" dirty="0"/>
              <a:t>講者轉場：最後從架構看這些責任放在哪裡。</a:t>
            </a:r>
          </a:p>
          <a:p>
            <a:endParaRPr lang="zh-CN" dirty="0"/>
          </a:p>
          <a:p>
            <a:r>
              <a:rPr lang="zh-CN" dirty="0"/>
              <a:t>• 本輪跨頁橋接：事故處理需要跨責任與版本；附錄再用架構圖整理誰安排工作、誰核對。</a:t>
            </a:r>
          </a:p>
          <a:p>
            <a:endParaRPr lang="zh-CN" dirty="0"/>
          </a:p>
          <a:p>
            <a:r>
              <a:rPr lang="zh-CN" dirty="0"/>
              <a:t>• 2026-10-10 獨立 Reviewer 第二輪修正：先註明假設前提，再列發現與停止、回復與資料處理、修正重驗；不宣稱 Matching App 已部署。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105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81；source ID：P54；章節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P54。</a:t>
            </a:r>
          </a:p>
          <a:p>
            <a:r>
              <a:rPr lang="zh-CN" dirty="0"/>
              <a:t>• 教學作用： 需要架構視角時，看流程如何被承載。</a:t>
            </a:r>
          </a:p>
          <a:p>
            <a:r>
              <a:rPr lang="zh-CN" dirty="0"/>
              <a:t>• 帶入方式： 沿用六層逐一對照同一張票。</a:t>
            </a:r>
          </a:p>
          <a:p>
            <a:r>
              <a:rPr lang="zh-CN" dirty="0"/>
              <a:t>• 帶走重點： Goal／Planning／Kanban／Orchestrator／Runtime／Review。</a:t>
            </a:r>
          </a:p>
          <a:p>
            <a:r>
              <a:rPr lang="zh-CN" dirty="0"/>
              <a:t>• 圖面／示範： 沿用六層圖，留附錄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同一張 #3 在六層的交付</a:t>
            </a:r>
          </a:p>
          <a:p>
            <a:r>
              <a:rPr lang="zh-CN" dirty="0"/>
              <a:t>• 證據與人工核准仍保留</a:t>
            </a:r>
          </a:p>
          <a:p>
            <a:r>
              <a:rPr lang="zh-CN" dirty="0"/>
              <a:t>• 層次不等於新增產品需求</a:t>
            </a:r>
          </a:p>
          <a:p>
            <a:r>
              <a:rPr lang="zh-CN" dirty="0"/>
              <a:t>講者轉場：再用看板回顧 Agent 如何接力。</a:t>
            </a:r>
          </a:p>
          <a:p>
            <a:endParaRPr lang="zh-CN" dirty="0"/>
          </a:p>
          <a:p>
            <a:r>
              <a:rPr lang="zh-CN" dirty="0"/>
              <a:t>• 2026-10-09 Editorial Review 修正： 六層是本課幫助理解的示意模型，術語需有中文任務描述。</a:t>
            </a:r>
          </a:p>
          <a:p>
            <a:endParaRPr lang="zh-CN" dirty="0"/>
          </a:p>
          <a:p>
            <a:r>
              <a:rPr lang="zh-CN" dirty="0"/>
              <a:t>• 2026-10-09 G3 再審修正： 六層模型是課程補充：Human Gate 同意還不等於 Done，需 Release／上線檢查及共用 DoD。 最後一層明確保留人類核對後的 Merge、Release／上線檢查與 DoD 條件。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106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對應：舊 rev11 頁 82；source ID：P55；章節 APP。</a:t>
            </a:r>
          </a:p>
          <a:p>
            <a:r>
              <a:rPr lang="zh-CN" dirty="0"/>
              <a:t>• 原卡內容：</a:t>
            </a:r>
          </a:p>
          <a:p>
            <a:endParaRPr lang="zh-CN" dirty="0"/>
          </a:p>
          <a:p>
            <a:r>
              <a:rPr lang="zh-CN" dirty="0"/>
              <a:t>• 處理／來源： 沿用 · P55。</a:t>
            </a:r>
          </a:p>
          <a:p>
            <a:r>
              <a:rPr lang="zh-CN" dirty="0"/>
              <a:t>• 教學作用： 查詢完整看板與責任接力。</a:t>
            </a:r>
          </a:p>
          <a:p>
            <a:r>
              <a:rPr lang="zh-CN" dirty="0"/>
              <a:t>• 帶入方式： 沿用 #3 Done、其他票等待的完整看板；Human Gate 是 Product Check 與 Done 間的人類決策點，不另增狀態欄。</a:t>
            </a:r>
          </a:p>
          <a:p>
            <a:r>
              <a:rPr lang="zh-CN" dirty="0"/>
              <a:t>• 帶走重點：本課 WIP 上限 1、目前 0/1（#3 Done、#1/#2 尚未開工）；#3 Done≠Goal 達成。</a:t>
            </a:r>
          </a:p>
          <a:p>
            <a:r>
              <a:rPr lang="zh-CN" dirty="0"/>
              <a:t>• 圖面／示範：七個狀態欄為 Backlog、Ready、Dev、Review、QA、Product Check、Done；Human Gate 以 Product Check → Done 間的決策標記呈現。動畫在 Gate 決定時停留於 Product Check，放行後才移至 Done；標示本課交付上限 1、目前 0/1。</a:t>
            </a:r>
          </a:p>
          <a:p>
            <a:endParaRPr lang="zh-CN" dirty="0"/>
          </a:p>
          <a:p>
            <a:r>
              <a:rPr lang="zh-CN" dirty="0"/>
              <a:t>畫面主句：</a:t>
            </a:r>
          </a:p>
          <a:p>
            <a:endParaRPr lang="zh-CN" dirty="0"/>
          </a:p>
          <a:p>
            <a:r>
              <a:rPr lang="zh-CN" dirty="0"/>
              <a:t>• #3 依序被接手</a:t>
            </a:r>
          </a:p>
          <a:p>
            <a:r>
              <a:rPr lang="zh-CN" dirty="0"/>
              <a:t>• Product Check → Human Gate 決策點（人決定放行／暫停）→ Done</a:t>
            </a:r>
          </a:p>
          <a:p>
            <a:r>
              <a:rPr lang="zh-CN" dirty="0"/>
              <a:t>• 單票完成與 Goal 成效分開</a:t>
            </a:r>
          </a:p>
          <a:p>
            <a:r>
              <a:rPr lang="zh-CN" dirty="0"/>
              <a:t>講者轉場：請先完成本章 Exit Check；之後再進入下一章。原轉場：附錄結束。</a:t>
            </a:r>
          </a:p>
          <a:p>
            <a:endParaRPr lang="zh-CN" dirty="0"/>
          </a:p>
          <a:p>
            <a:r>
              <a:rPr lang="zh-CN" dirty="0"/>
              <a:t>• 2026-10-09 合併後學員可見版本： 七個看板狀態欄＋Human Gate 人工決策；單票 Done 與 Goal 效益分開，勿將規則層測試當已部署。 既有動畫和 Product Check → Done 路徑保留；UI／發布證據仍 NOT RUN。</a:t>
            </a:r>
          </a:p>
          <a:p>
            <a:endParaRPr lang="zh-CN" dirty="0"/>
          </a:p>
          <a:p>
            <a:r>
              <a:rPr lang="zh-CN" dirty="0"/>
              <a:t>• 2026-10-11 第一次全課 G3/G4 審查修正：七欄看板 Product Check 與 Done 中間的 Human Gate 是欄外決策；#3 未獲人放行，仍停 Product Check。 把流程上方 Human Gate 標成欄外決策，不能被讀成新的狀態欄。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101｜current｜第 107 頁</a:t>
            </a:r>
          </a:p>
          <a:p>
            <a:endParaRPr lang="zh-CN" dirty="0"/>
          </a:p>
          <a:p>
            <a:r>
              <a:rPr lang="zh-CN" dirty="0"/>
              <a:t>此 PPTX 使用可編輯的 PowerPoint 原生文字與圖形；網頁動畫、逐步揭露與按鈕仍須使用網頁版本。</a:t>
            </a:r>
          </a:p>
          <a:p>
            <a:endParaRPr lang="zh-CN" dirty="0"/>
          </a:p>
          <a:p>
            <a:r>
              <a:rPr lang="zh-CN" dirty="0"/>
              <a:t>• 對應：新增 A25；章節 APP；原有內容全部保留。</a:t>
            </a:r>
          </a:p>
          <a:p>
            <a:r>
              <a:rPr lang="zh-CN" dirty="0"/>
              <a:t>• 教學作用：章節自我檢核，不是講義答案表；要求學員先回答，再按各題「揭露參考答案」。</a:t>
            </a:r>
          </a:p>
          <a:p>
            <a:r>
              <a:rPr lang="zh-CN" dirty="0"/>
              <a:t>• 帶走重點：能按需要查找方法，分辨教學示意與真正驗證過的結果。</a:t>
            </a:r>
          </a:p>
          <a:p>
            <a:r>
              <a:rPr lang="zh-CN" dirty="0"/>
              <a:t>• 畫面／示範：三張可互動 Q&amp;A 卡片；預設答案隱藏，使用 HTML details/summary 原生控制，逐題展開，不修改 QA 所引述的 Matching 事實。</a:t>
            </a:r>
          </a:p>
          <a:p>
            <a:endParaRPr lang="zh-CN" dirty="0"/>
          </a:p>
          <a:p>
            <a:r>
              <a:rPr lang="zh-CN" dirty="0"/>
              <a:t>• Q1：需求理解分歧、條件組合多、想先看失敗測試：請在附錄找三種方法與頁碼。</a:t>
            </a:r>
          </a:p>
          <a:p>
            <a:r>
              <a:rPr lang="zh-CN" dirty="0"/>
              <a:t>• 參考答案：可回查 P101 Example Mapping 釐清分歧、P97 規則／決策表比較條件、P99 TDD 先紅再綠；必要時 P100 BDD。選法依問題，不必記全部術語。</a:t>
            </a:r>
          </a:p>
          <a:p>
            <a:r>
              <a:rPr lang="zh-CN" dirty="0"/>
              <a:t>• Q2：TDD、BDD、Specification by Example 是同一件事嗎？能如何配合？</a:t>
            </a:r>
          </a:p>
          <a:p>
            <a:r>
              <a:rPr lang="zh-CN" dirty="0"/>
              <a:t>• 參考答案：不是同一件事。TDD 用失敗測試推進實作；BDD 共同探索、描述與驗證行為；SBE 用範例保存可核對的長期規格，三者可以搭配。</a:t>
            </a:r>
          </a:p>
          <a:p>
            <a:r>
              <a:rPr lang="zh-CN" dirty="0"/>
              <a:t>• Q3：看到六層架構圖或全綠畫面，就代表整個 App 已驗收嗎？</a:t>
            </a:r>
          </a:p>
          <a:p>
            <a:r>
              <a:rPr lang="zh-CN" dirty="0"/>
              <a:t>• 參考答案：不代表。圖是教學模型；測試結果只支持有執行且可追到版本、情境及證據的範圍。</a:t>
            </a:r>
          </a:p>
          <a:p>
            <a:endParaRPr lang="zh-CN" dirty="0"/>
          </a:p>
          <a:p>
            <a:r>
              <a:rPr lang="zh-CN" dirty="0"/>
              <a:t>講者轉場：全課出口檢核結束；提醒學員按需回查方法。</a:t>
            </a:r>
          </a:p>
          <a:p>
            <a:endParaRPr lang="zh-CN" dirty="0"/>
          </a:p>
          <a:p>
            <a:r>
              <a:rPr lang="zh-CN" dirty="0"/>
              <a:t>• 2026-10-09 Editorial Review 修正： 保留本頁原有教學功能並修正標題、先備與證據分層。</a:t>
            </a:r>
          </a:p>
          <a:p>
            <a:endParaRPr lang="zh-CN" dirty="0"/>
          </a:p>
          <a:p>
            <a:r>
              <a:rPr lang="zh-CN" dirty="0"/>
              <a:t>Exit Check 參考答案</a:t>
            </a:r>
          </a:p>
          <a:p>
            <a:r>
              <a:rPr lang="zh-CN" dirty="0"/>
              <a:t>Q1 需求理解分歧、條件組合多、想先看失敗測試：請在附錄找三種方法與頁碼。</a:t>
            </a:r>
          </a:p>
          <a:p>
            <a:r>
              <a:rPr lang="zh-CN" dirty="0"/>
              <a:t>自己先回答，再揭露參考答案可回查 P101 Example Mapping 釐清分歧、P97 規則／決策表比較條件、P99 TDD 先紅再綠；必要時 P100 BDD。選法依問題，不必記全部術語。</a:t>
            </a:r>
          </a:p>
          <a:p>
            <a:endParaRPr lang="zh-CN" dirty="0"/>
          </a:p>
          <a:p>
            <a:r>
              <a:rPr lang="zh-CN" dirty="0"/>
              <a:t>Q2 TDD、BDD、Specification by Example 是同一件事嗎？能如何配合？</a:t>
            </a:r>
          </a:p>
          <a:p>
            <a:r>
              <a:rPr lang="zh-CN" dirty="0"/>
              <a:t>自己先回答，再揭露參考答案不是同一件事。TDD 用失敗測試推進實作；BDD 共同探索、描述與驗證行為；SBE 用範例保存可核對的長期規格，三者可以搭配。</a:t>
            </a:r>
          </a:p>
          <a:p>
            <a:endParaRPr lang="zh-CN" dirty="0"/>
          </a:p>
          <a:p>
            <a:r>
              <a:rPr lang="zh-CN" dirty="0"/>
              <a:t>Q3 看到六層架構圖或全綠畫面，就代表整個 App 已驗收嗎？</a:t>
            </a:r>
          </a:p>
          <a:p>
            <a:r>
              <a:rPr lang="zh-CN" dirty="0"/>
              <a:t>自己先回答，再揭露參考答案不代表。圖是教學模型；測試結果只支持有執行且可追到版本、情境及證據的範圍。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3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4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5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6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7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8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9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0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1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3.xml"/>
</Relationships>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4.xml"/>
</Relationships>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5.xml"/>
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6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7.xml"/>
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8.xml"/>
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9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0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1.xml"/>
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2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3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4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5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6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7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8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9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0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1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2.xml"/>
</Relationships>
</file>

<file path=ppt/slides/_rels/slide7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3.xml"/>
</Relationships>
</file>

<file path=ppt/slides/_rels/slide7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4.xml"/>
</Relationships>
</file>

<file path=ppt/slides/_rels/slide7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5.xml"/>
</Relationships>
</file>

<file path=ppt/slides/_rels/slide7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6.xml"/>
</Relationships>
</file>

<file path=ppt/slides/_rels/slide7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7.xml"/>
</Relationships>
</file>

<file path=ppt/slides/_rels/slide7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8.xml"/>
</Relationships>
</file>

<file path=ppt/slides/_rels/slide7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9.xml"/>
</Relationships>
</file>

<file path=ppt/slides/_rels/slide8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0.xml"/>
</Relationships>
</file>

<file path=ppt/slides/_rels/slide8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1.xml"/>
</Relationships>
</file>

<file path=ppt/slides/_rels/slide8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2.xml"/>
</Relationships>
</file>

<file path=ppt/slides/_rels/slide8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3.xml"/>
</Relationships>
</file>

<file path=ppt/slides/_rels/slide8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4.xml"/>
</Relationships>
</file>

<file path=ppt/slides/_rels/slide8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5.xml"/>
</Relationships>
</file>

<file path=ppt/slides/_rels/slide8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6.xml"/>
</Relationships>
</file>

<file path=ppt/slides/_rels/slide8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7.xml"/>
</Relationships>
</file>

<file path=ppt/slides/_rels/slide8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8.xml"/>
</Relationships>
</file>

<file path=ppt/slides/_rels/slide8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9.xml"/>
</Relationships>
</file>

<file path=ppt/slides/_rels/slide9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0.xml"/>
</Relationships>
</file>

<file path=ppt/slides/_rels/slide9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1.xml"/>
</Relationships>
</file>

<file path=ppt/slides/_rels/slide9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2.xml"/>
</Relationships>
</file>

<file path=ppt/slides/_rels/slide9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3.xml"/>
</Relationships>
</file>

<file path=ppt/slides/_rels/slide9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4.xml"/>
</Relationships>
</file>

<file path=ppt/slides/_rels/slide9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5.xml"/>
</Relationships>
</file>

<file path=ppt/slides/_rels/slide9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6.xml"/>
</Relationships>
</file>

<file path=ppt/slides/_rels/slide9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7.xml"/>
</Relationships>
</file>

<file path=ppt/slides/_rels/slide9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8.xml"/>
</Relationships>
</file>

<file path=ppt/slides/_rels/slide9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9.xml"/>
</Relationships>
</file>

<file path=ppt/slides/_rels/slide10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0.xml"/>
</Relationships>
</file>

<file path=ppt/slides/_rels/slide10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1.xml"/>
</Relationships>
</file>

<file path=ppt/slides/_rels/slide10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2.xml"/>
</Relationships>
</file>

<file path=ppt/slides/_rels/slide10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3.xml"/>
</Relationships>
</file>

<file path=ppt/slides/_rels/slide10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4.xml"/>
</Relationships>
</file>

<file path=ppt/slides/_rels/slide10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5.xml"/>
</Relationships>
</file>

<file path=ppt/slides/_rels/slide10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6.xml"/>
</Relationships>
</file>

<file path=ppt/slides/_rels/slide10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7836" y="2410111"/>
            <a:ext cx="10676329" cy="2075878"/>
            <a:chOff x="757836" y="2410111"/>
            <a:chExt cx="10676329" cy="2075878"/>
          </a:xfrm>
        </p:grpSpPr>
        <p:sp>
          <p:nvSpPr>
            <p:cNvPr id="3" name="TextBox 3"/>
            <p:cNvSpPr txBox="1"/>
            <p:nvPr/>
          </p:nvSpPr>
          <p:spPr>
            <a:xfrm>
              <a:off x="5616892" y="2410111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人類合作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7836" y="2940082"/>
              <a:ext cx="10676329" cy="877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2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本課的例子：打造一個配對交友 App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4098322" y="3831717"/>
              <a:ext cx="3995452" cy="644747"/>
            </a:xfrm>
            <a:prstGeom prst="roundRect">
              <a:avLst>
                <a:gd name="adj" fmla="val 14773"/>
              </a:avLst>
            </a:prstGeom>
            <a:solidFill>
              <a:srgbClr val="17283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4098322" y="3831717"/>
              <a:ext cx="3995357" cy="9525"/>
            </a:xfrm>
            <a:custGeom>
              <a:avLst/>
              <a:gdLst/>
              <a:ahLst/>
              <a:cxnLst/>
              <a:rect l="l" t="t" r="r" b="b"/>
              <a:pathLst>
                <a:path w="3995357" h="9525">
                  <a:moveTo>
                    <a:pt x="0" y="0"/>
                  </a:moveTo>
                  <a:lnTo>
                    <a:pt x="3995357" y="0"/>
                  </a:lnTo>
                </a:path>
              </a:pathLst>
            </a:custGeom>
            <a:noFill/>
            <a:ln w="9525">
              <a:solidFill>
                <a:srgbClr val="537CA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093678" y="3831717"/>
              <a:ext cx="9525" cy="644747"/>
            </a:xfrm>
            <a:custGeom>
              <a:avLst/>
              <a:gdLst/>
              <a:ahLst/>
              <a:cxnLst/>
              <a:rect l="l" t="t" r="r" b="b"/>
              <a:pathLst>
                <a:path w="9525" h="644747">
                  <a:moveTo>
                    <a:pt x="0" y="0"/>
                  </a:moveTo>
                  <a:lnTo>
                    <a:pt x="0" y="644747"/>
                  </a:lnTo>
                </a:path>
              </a:pathLst>
            </a:custGeom>
            <a:noFill/>
            <a:ln w="9525">
              <a:solidFill>
                <a:srgbClr val="537CA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98322" y="4476464"/>
              <a:ext cx="3995357" cy="9525"/>
            </a:xfrm>
            <a:custGeom>
              <a:avLst/>
              <a:gdLst/>
              <a:ahLst/>
              <a:cxnLst/>
              <a:rect l="l" t="t" r="r" b="b"/>
              <a:pathLst>
                <a:path w="3995357" h="9525">
                  <a:moveTo>
                    <a:pt x="0" y="0"/>
                  </a:moveTo>
                  <a:lnTo>
                    <a:pt x="3995357" y="0"/>
                  </a:lnTo>
                </a:path>
              </a:pathLst>
            </a:custGeom>
            <a:noFill/>
            <a:ln w="9525">
              <a:solidFill>
                <a:srgbClr val="537C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8322" y="3831717"/>
              <a:ext cx="9525" cy="644747"/>
            </a:xfrm>
            <a:custGeom>
              <a:avLst/>
              <a:gdLst/>
              <a:ahLst/>
              <a:cxnLst/>
              <a:rect l="l" t="t" r="r" b="b"/>
              <a:pathLst>
                <a:path w="9525" h="644747">
                  <a:moveTo>
                    <a:pt x="0" y="0"/>
                  </a:moveTo>
                  <a:lnTo>
                    <a:pt x="0" y="644747"/>
                  </a:lnTo>
                </a:path>
              </a:pathLst>
            </a:custGeom>
            <a:noFill/>
            <a:ln w="47625">
              <a:solidFill>
                <a:srgbClr val="83BC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977973" y="4002214"/>
              <a:ext cx="42360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請用電腦版閱讀｜手機版開發中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346710" y="299085"/>
            <a:ext cx="11551825" cy="6387465"/>
            <a:chOff x="346710" y="299085"/>
            <a:chExt cx="1155182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1281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先看整門課：從人類交付到 Agent驗收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9092" y="882396"/>
              <a:ext cx="690844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83BCFF"/>
                  </a:solidFill>
                  <a:latin typeface="Segoe UI"/>
                  <a:ea typeface="Microsoft YaHei"/>
                  <a:cs typeface="Segoe UI"/>
                </a:rPr>
                <a:t>用同一個配對 App，走一遍從交付工作到驗收成果的路線。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258062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42437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258062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BFE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145631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3631121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6260" y="1442847"/>
              <a:ext cx="26330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01人類怎麼交接？職能與接受責任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69456" y="1258062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42437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3269456" y="1258062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BFE9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34088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269456" y="3631121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269456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44716" y="1442847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02需求怎麼變成票？寫出能開工、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44716" y="1633347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能驗收的票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57912" y="1258062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42437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157912" y="1258062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BFE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922544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157912" y="3631121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157912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3172" y="1442847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03多人如何改版本？留下版本、分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33172" y="1633347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開改、送人審查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046369" y="1258062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42437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9046369" y="1258062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BFE9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811000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9046369" y="3631121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046369" y="1258062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1629" y="1442847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04成果如何驗證？實作、審查、驗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21629" y="1633347"/>
              <a:ext cx="556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證結果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3754946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42437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381000" y="3754946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BFE9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3145631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6128004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381000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6260" y="3939730"/>
              <a:ext cx="25892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05何時可以放行？未測、 Done與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6260" y="4130230"/>
              <a:ext cx="3722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Goal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69456" y="3754946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72C28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269456" y="3754946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D5B0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6034088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269456" y="6128004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3269456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44716" y="393973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06 Agent如何接手？工具、資訊與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44716" y="4130230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分工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57912" y="3754946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72C28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6157912" y="3754946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8DD5B0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922544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157912" y="6128004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157912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33172" y="3939730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07人怎麼驗收？交辦、補驗、接受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46369" y="3754946"/>
              <a:ext cx="2764631" cy="2373058"/>
            </a:xfrm>
            <a:prstGeom prst="roundRect">
              <a:avLst>
                <a:gd name="adj" fmla="val 3612"/>
              </a:avLst>
            </a:prstGeom>
            <a:solidFill>
              <a:srgbClr val="142437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9046369" y="3754946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28575">
              <a:solidFill>
                <a:srgbClr val="E8CC89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1811000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9046369" y="6128004"/>
              <a:ext cx="2764631" cy="9525"/>
            </a:xfrm>
            <a:custGeom>
              <a:avLst/>
              <a:gdLst/>
              <a:ahLst/>
              <a:cxnLst/>
              <a:rect l="l" t="t" r="r" b="b"/>
              <a:pathLst>
                <a:path w="2764631" h="9525">
                  <a:moveTo>
                    <a:pt x="0" y="0"/>
                  </a:moveTo>
                  <a:lnTo>
                    <a:pt x="2764631" y="0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9046369" y="3754946"/>
              <a:ext cx="9525" cy="2373058"/>
            </a:xfrm>
            <a:custGeom>
              <a:avLst/>
              <a:gdLst/>
              <a:ahLst/>
              <a:cxnLst/>
              <a:rect l="l" t="t" r="r" b="b"/>
              <a:pathLst>
                <a:path w="9525" h="2373058">
                  <a:moveTo>
                    <a:pt x="0" y="0"/>
                  </a:moveTo>
                  <a:lnTo>
                    <a:pt x="0" y="2373058"/>
                  </a:lnTo>
                </a:path>
              </a:pathLst>
            </a:custGeom>
            <a:noFill/>
            <a:ln w="9525">
              <a:solidFill>
                <a:srgbClr val="41608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21629" y="3939730"/>
              <a:ext cx="26769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08需要時查什麼？查閱練習、事故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21629" y="4130230"/>
              <a:ext cx="556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2FB"/>
                  </a:solidFill>
                  <a:latin typeface="Arial"/>
                  <a:ea typeface="Microsoft YaHei"/>
                  <a:cs typeface="Arial"/>
                </a:rPr>
                <a:t>與架構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81000" y="6251829"/>
              <a:ext cx="11430000" cy="434721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60" name="Line 60"/>
            <p:cNvSpPr/>
            <p:nvPr/>
          </p:nvSpPr>
          <p:spPr>
            <a:xfrm>
              <a:off x="381000" y="6251829"/>
              <a:ext cx="9525" cy="434721"/>
            </a:xfrm>
            <a:custGeom>
              <a:avLst/>
              <a:gdLst/>
              <a:ahLst/>
              <a:cxnLst/>
              <a:rect l="l" t="t" r="r" b="b"/>
              <a:pathLst>
                <a:path w="9525" h="434721">
                  <a:moveTo>
                    <a:pt x="0" y="0"/>
                  </a:moveTo>
                  <a:lnTo>
                    <a:pt x="0" y="434721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05778" y="6374225"/>
              <a:ext cx="66029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5E7D2"/>
                  </a:solidFill>
                  <a:latin typeface="Segoe UI"/>
                  <a:ea typeface="Microsoft YaHei"/>
                  <a:cs typeface="Segoe UI"/>
                </a:rPr>
                <a:t>課程先教人類流程，再教 Agent接手；放行由人依版本與證據決定。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346710" y="299085"/>
            <a:ext cx="7378541" cy="6145435"/>
            <a:chOff x="346710" y="299085"/>
            <a:chExt cx="7378541" cy="614543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817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要做一個類似 Tinder的配對交友 App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4572000" y="1158145"/>
              <a:ext cx="3048000" cy="4762500"/>
            </a:xfrm>
            <a:prstGeom prst="roundRect">
              <a:avLst>
                <a:gd name="adj" fmla="val 10625"/>
              </a:avLst>
            </a:prstGeom>
            <a:noFill/>
            <a:ln w="19050">
              <a:solidFill>
                <a:srgbClr val="485A7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795962" y="1365314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附近的人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724400" y="1691545"/>
              <a:ext cx="2743200" cy="3390900"/>
            </a:xfrm>
            <a:prstGeom prst="roundRect">
              <a:avLst>
                <a:gd name="adj" fmla="val 7639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562600" y="2477357"/>
              <a:ext cx="1066800" cy="1066800"/>
            </a:xfrm>
            <a:prstGeom prst="roundRect">
              <a:avLst>
                <a:gd name="adj" fmla="val 44643"/>
              </a:avLst>
            </a:prstGeom>
            <a:noFill/>
            <a:ln w="38100">
              <a:solidFill>
                <a:srgbClr val="B6D7F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543550" y="2505932"/>
              <a:ext cx="210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76900" y="37156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小米，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76900" y="3982307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26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0200" y="4058507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D1DF"/>
                  </a:solidFill>
                  <a:latin typeface="Arial"/>
                  <a:ea typeface="Microsoft YaHei"/>
                  <a:cs typeface="Arial"/>
                </a:rPr>
                <a:t>喜歡旅行與咖啡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514975" y="527294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172638"/>
            </a:solidFill>
            <a:ln w="9525">
              <a:solidFill>
                <a:srgbClr val="43566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4495" y="531866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9E6F4"/>
                  </a:solidFill>
                  <a:latin typeface="Arial"/>
                  <a:ea typeface="Microsoft YaHei"/>
                  <a:cs typeface="Arial"/>
                </a:rPr>
                <a:t>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00775" y="527294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172638"/>
            </a:solidFill>
            <a:ln w="9525">
              <a:solidFill>
                <a:srgbClr val="43566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70295" y="531866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8298"/>
                  </a:solidFill>
                  <a:latin typeface="Arial"/>
                  <a:ea typeface="Microsoft YaHei"/>
                  <a:cs typeface="Arial"/>
                </a:rPr>
                <a:t>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6749" y="613972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E7F3"/>
                  </a:solidFill>
                  <a:latin typeface="Arial"/>
                  <a:ea typeface="Microsoft YaHei"/>
                  <a:cs typeface="Arial"/>
                </a:rPr>
                <a:t>避免單向喜歡的尷尬與時間浪費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64290" cy="5465350"/>
            <a:chOff x="346710" y="299085"/>
            <a:chExt cx="11464290" cy="546535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5196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#1操作→ #3配對→ #2列表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866900"/>
              <a:ext cx="15562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#1 Like／ Pass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19325"/>
              <a:ext cx="2635853" cy="2564035"/>
            </a:xfrm>
            <a:prstGeom prst="roundRect">
              <a:avLst>
                <a:gd name="adj" fmla="val 445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71528" y="2529745"/>
              <a:ext cx="8547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A的畫面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336929" y="2853595"/>
              <a:ext cx="723900" cy="723900"/>
            </a:xfrm>
            <a:prstGeom prst="roundRect">
              <a:avLst>
                <a:gd name="adj" fmla="val 50000"/>
              </a:avLst>
            </a:prstGeom>
            <a:solidFill>
              <a:srgbClr val="263D55"/>
            </a:solidFill>
            <a:ln w="28575">
              <a:solidFill>
                <a:srgbClr val="9BBFE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7186" y="289931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995" y="3720370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E7F3"/>
                  </a:solidFill>
                  <a:latin typeface="Arial"/>
                  <a:ea typeface="Microsoft YaHei"/>
                  <a:cs typeface="Arial"/>
                </a:rPr>
                <a:t>看見 B的卡片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1338" y="4044220"/>
              <a:ext cx="860203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6052" y="41585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C4BF"/>
                  </a:solidFill>
                  <a:latin typeface="Arial"/>
                  <a:ea typeface="Microsoft YaHei"/>
                  <a:cs typeface="Arial"/>
                </a:rPr>
                <a:t>Pass×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18691" y="4044220"/>
              <a:ext cx="877824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51017" y="4158520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EB0"/>
                  </a:solidFill>
                  <a:latin typeface="Arial"/>
                  <a:ea typeface="Microsoft YaHei"/>
                  <a:cs typeface="Arial"/>
                </a:rPr>
                <a:t>Like♥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12103" y="2219325"/>
              <a:ext cx="2635853" cy="2564035"/>
            </a:xfrm>
            <a:prstGeom prst="roundRect">
              <a:avLst>
                <a:gd name="adj" fmla="val 445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02631" y="2529745"/>
              <a:ext cx="8547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B的畫面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68032" y="2853595"/>
              <a:ext cx="723900" cy="723900"/>
            </a:xfrm>
            <a:prstGeom prst="roundRect">
              <a:avLst>
                <a:gd name="adj" fmla="val 50000"/>
              </a:avLst>
            </a:prstGeom>
            <a:solidFill>
              <a:srgbClr val="40314F"/>
            </a:solidFill>
            <a:ln w="28575">
              <a:solidFill>
                <a:srgbClr val="C7A8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8290" y="2899315"/>
              <a:ext cx="2633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38098" y="3720370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CE7F3"/>
                  </a:solidFill>
                  <a:latin typeface="Arial"/>
                  <a:ea typeface="Microsoft YaHei"/>
                  <a:cs typeface="Arial"/>
                </a:rPr>
                <a:t>看見 A的卡片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32442" y="4044220"/>
              <a:ext cx="860203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27251" y="415852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C4BF"/>
                  </a:solidFill>
                  <a:latin typeface="Arial"/>
                  <a:ea typeface="Microsoft YaHei"/>
                  <a:cs typeface="Arial"/>
                </a:rPr>
                <a:t>Pass×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49794" y="4044220"/>
              <a:ext cx="877824" cy="457200"/>
            </a:xfrm>
            <a:prstGeom prst="roundRect">
              <a:avLst>
                <a:gd name="adj" fmla="val 12500"/>
              </a:avLst>
            </a:prstGeom>
            <a:solidFill>
              <a:srgbClr val="0E1721"/>
            </a:solidFill>
            <a:ln w="9525">
              <a:solidFill>
                <a:srgbClr val="3C506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82120" y="4158520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EB0"/>
                  </a:solidFill>
                  <a:latin typeface="Arial"/>
                  <a:ea typeface="Microsoft YaHei"/>
                  <a:cs typeface="Arial"/>
                </a:rPr>
                <a:t>Like♥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0502" y="1866900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6509" y="1866900"/>
              <a:ext cx="121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#2配對列表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51494" y="343462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19552" y="2219325"/>
              <a:ext cx="2534507" cy="2564035"/>
            </a:xfrm>
            <a:prstGeom prst="roundRect">
              <a:avLst>
                <a:gd name="adj" fmla="val 451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56896" y="2578418"/>
              <a:ext cx="4599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7497" y="3397472"/>
              <a:ext cx="25587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雙方都 Like才配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85756" y="3797522"/>
              <a:ext cx="4021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20116" y="426901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配對已建立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57501" y="343462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425559" y="2219325"/>
              <a:ext cx="2385441" cy="2564035"/>
            </a:xfrm>
            <a:prstGeom prst="roundRect">
              <a:avLst>
                <a:gd name="adj" fmla="val 4792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99618" y="3167920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D7E9FB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2467" y="3639407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DCBD9"/>
                  </a:solidFill>
                  <a:latin typeface="Arial"/>
                  <a:ea typeface="Microsoft YaHei"/>
                  <a:cs typeface="Arial"/>
                </a:rPr>
                <a:t>查看已配對對象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51734" y="500243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C4BF"/>
                  </a:solidFill>
                  <a:latin typeface="Arial"/>
                  <a:ea typeface="Microsoft YaHei"/>
                  <a:cs typeface="Arial"/>
                </a:rPr>
                <a:t>這輪不做：聊天、推薦、解除配對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3297" y="5459635"/>
              <a:ext cx="89654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Like＝表示喜歡， Pass＝略過；雙方都 Like才配對。後面沿 #1輸入→ #3判斷→ #2查看結果。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41960" y="979932"/>
            <a:ext cx="11302175" cy="4953952"/>
            <a:chOff x="441960" y="979932"/>
            <a:chExt cx="11302175" cy="4953952"/>
          </a:xfrm>
        </p:grpSpPr>
        <p:sp>
          <p:nvSpPr>
            <p:cNvPr id="3" name="TextBox 3"/>
            <p:cNvSpPr txBox="1"/>
            <p:nvPr/>
          </p:nvSpPr>
          <p:spPr>
            <a:xfrm>
              <a:off x="5640848" y="979932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A9C9E8"/>
                  </a:solidFill>
                  <a:latin typeface="Segoe UI"/>
                  <a:ea typeface="Microsoft YaHei"/>
                  <a:cs typeface="Segoe UI"/>
                </a:rPr>
                <a:t>人類合作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97944" y="1479042"/>
              <a:ext cx="69961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一張票，需要哪些人接力？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91076" y="5690044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BED9"/>
                  </a:solidFill>
                  <a:latin typeface="Segoe UI"/>
                  <a:ea typeface="Microsoft YaHei"/>
                  <a:cs typeface="Segoe UI"/>
                </a:rPr>
                <a:t>↖全課地圖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32542" y="2216277"/>
              <a:ext cx="35269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目前位置同一個 App，有三張需要接力的票。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282921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25837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" y="444846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5720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01273" y="3061621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01釐清需求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11586" y="2829211"/>
              <a:ext cx="3568732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311586" y="282921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8031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311586" y="444846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11586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46122" y="3061621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02設計與實作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66068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166068" y="282921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73461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66068" y="444846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6606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0604" y="3061621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03審查與接受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762786"/>
              <a:ext cx="11277600" cy="6281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4762786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960" y="5014246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學完能知道誰交付、誰能決定接受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346710" y="299085"/>
            <a:ext cx="11473815" cy="6387466"/>
            <a:chOff x="346710" y="299085"/>
            <a:chExt cx="11473815" cy="638746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693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人類怎麼分工？從問題到接受看四步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101012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PO（Product Owner）整理產品需求； Goal＝目標； AC＝驗收條件。先看四站接力。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BBDA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931319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1498" y="2912078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問題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81025" y="3351752"/>
              <a:ext cx="1892618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8178" y="3445574"/>
              <a:ext cx="191553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需求方／ PO（需求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8178" y="3680841"/>
              <a:ext cx="2547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0070" y="3885057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先釐清要解決什麼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880" y="4296537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互相喜歡才算配對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93517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40894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340894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8BCFC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891212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340894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340894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11391" y="2645473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輸入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540919" y="3085243"/>
              <a:ext cx="1901857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18071" y="3179064"/>
              <a:ext cx="18390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UI／ UX（畫面設計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8071" y="3414332"/>
              <a:ext cx="2547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19964" y="3618452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把需求交成可實作的設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19964" y="391182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3774" y="4323302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#1 Like／ Pass、 #2配對列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3774" y="4563332"/>
              <a:ext cx="231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53411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00788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300788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6D6AD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851106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300788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300788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71285" y="2647855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交付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00812" y="3087624"/>
              <a:ext cx="2150269" cy="603694"/>
            </a:xfrm>
            <a:prstGeom prst="roundRect">
              <a:avLst>
                <a:gd name="adj" fmla="val 12622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7965" y="3181445"/>
              <a:ext cx="226517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Dev（實作）→審查／驗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77965" y="3416713"/>
              <a:ext cx="2547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9858" y="3856006"/>
              <a:ext cx="23432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依設計實作 #1／ #2／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9858" y="4149376"/>
              <a:ext cx="3069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#3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3668" y="4560856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交程式版本＋驗證證據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13304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60681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B211D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9260681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F0D27B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1811000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260681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9260681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31179" y="2765488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接受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460706" y="3205162"/>
              <a:ext cx="1276350" cy="368522"/>
            </a:xfrm>
            <a:prstGeom prst="roundRect">
              <a:avLst>
                <a:gd name="adj" fmla="val 20677"/>
              </a:avLst>
            </a:prstGeom>
            <a:solidFill>
              <a:srgbClr val="31302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537859" y="3298984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9DF99"/>
                  </a:solidFill>
                  <a:latin typeface="Segoe UI"/>
                  <a:ea typeface="Microsoft YaHei"/>
                  <a:cs typeface="Segoe UI"/>
                </a:rPr>
                <a:t>需求方（人）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39751" y="3738467"/>
              <a:ext cx="23673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對照 Goal／ AC接受或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39751" y="4031837"/>
              <a:ext cx="523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退回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43561" y="4443222"/>
              <a:ext cx="23312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放行由人依 Goal／ AC決定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1000" y="6188012"/>
              <a:ext cx="11430000" cy="498539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381000" y="6188012"/>
              <a:ext cx="9525" cy="498539"/>
            </a:xfrm>
            <a:custGeom>
              <a:avLst/>
              <a:gdLst/>
              <a:ahLst/>
              <a:cxnLst/>
              <a:rect l="l" t="t" r="r" b="b"/>
              <a:pathLst>
                <a:path w="9525" h="498539">
                  <a:moveTo>
                    <a:pt x="0" y="0"/>
                  </a:moveTo>
                  <a:lnTo>
                    <a:pt x="0" y="498539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2448" y="6332315"/>
              <a:ext cx="648081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一條工作流、不同職能接力；這些是責任，不一定需要六個人。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346710" y="299085"/>
            <a:ext cx="11473815" cy="6387466"/>
            <a:chOff x="346710" y="299085"/>
            <a:chExt cx="11473815" cy="638746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3765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Dev交付後，還要審查、驗證與人類接受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71306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聚焦交付後的接力： Dev說做好了，誰能判定真的可以接受？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8BCF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931319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1498" y="2912078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交付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81025" y="3351752"/>
              <a:ext cx="1245965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8178" y="3445574"/>
              <a:ext cx="127087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Dev（實作）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070" y="3885057"/>
              <a:ext cx="18251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交回 #3規則版本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4296537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附上自我測試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93517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40894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340894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8BCF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891212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40894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340894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11391" y="2912078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審查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40919" y="3351752"/>
              <a:ext cx="1884902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18071" y="3445574"/>
              <a:ext cx="207942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Reviewer（看改動）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19964" y="3885057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有沒有超出工作範圍？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23774" y="4296537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交回改動意見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53411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00788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6300788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6D6AD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851106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300788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300788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71285" y="2912078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驗證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00812" y="3351752"/>
              <a:ext cx="1354931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7965" y="3445574"/>
              <a:ext cx="141291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QA（驗行為）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9858" y="3885057"/>
              <a:ext cx="22709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單向 Like會錯配嗎？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3668" y="4296537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留下預期／實際證據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13304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260681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B211D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9260681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F0D27B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1811000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260681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260681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31179" y="2912078"/>
              <a:ext cx="73818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接受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460706" y="3351752"/>
              <a:ext cx="1276350" cy="368522"/>
            </a:xfrm>
            <a:prstGeom prst="roundRect">
              <a:avLst>
                <a:gd name="adj" fmla="val 20677"/>
              </a:avLst>
            </a:prstGeom>
            <a:solidFill>
              <a:srgbClr val="31302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37859" y="3445574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9DF99"/>
                  </a:solidFill>
                  <a:latin typeface="Segoe UI"/>
                  <a:ea typeface="Microsoft YaHei"/>
                  <a:cs typeface="Segoe UI"/>
                </a:rPr>
                <a:t>需求方（人）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39751" y="3885057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證據足夠接受嗎？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43561" y="4296537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接受、退回或暫停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" y="6188012"/>
              <a:ext cx="11430000" cy="498539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381000" y="6188012"/>
              <a:ext cx="9525" cy="498539"/>
            </a:xfrm>
            <a:custGeom>
              <a:avLst/>
              <a:gdLst/>
              <a:ahLst/>
              <a:cxnLst/>
              <a:rect l="l" t="t" r="r" b="b"/>
              <a:pathLst>
                <a:path w="9525" h="498539">
                  <a:moveTo>
                    <a:pt x="0" y="0"/>
                  </a:moveTo>
                  <a:lnTo>
                    <a:pt x="0" y="498539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2448" y="6332315"/>
              <a:ext cx="761945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Reviewer看改動、 QA驗行為、需求方決定是否接受；不通過就退回修正。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46710" y="299085"/>
            <a:ext cx="11854910" cy="6387465"/>
            <a:chOff x="346710" y="299085"/>
            <a:chExt cx="1185491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47383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人類合作｜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723322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718560" y="1252823"/>
              <a:ext cx="54606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能辨認職能、交付物與需求方的接受責任。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49693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沿著問題→輸入→交付→接受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7779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，說出做 Matching App的職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882" y="3372326"/>
              <a:ext cx="182594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能和交接物。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4651" y="2667667"/>
              <a:ext cx="358566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Reviewer、 QA和需求方各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3019996"/>
              <a:ext cx="212169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自要回答什麼？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05419" y="2667667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需要六種工作責任，就一定要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419" y="3019996"/>
              <a:ext cx="153019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六個人嗎？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41960" y="979932"/>
            <a:ext cx="11302175" cy="4953952"/>
            <a:chOff x="441960" y="979932"/>
            <a:chExt cx="11302175" cy="4953952"/>
          </a:xfrm>
        </p:grpSpPr>
        <p:sp>
          <p:nvSpPr>
            <p:cNvPr id="3" name="TextBox 3"/>
            <p:cNvSpPr txBox="1"/>
            <p:nvPr/>
          </p:nvSpPr>
          <p:spPr>
            <a:xfrm>
              <a:off x="5416857" y="979932"/>
              <a:ext cx="13582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A9C9E8"/>
                  </a:solidFill>
                  <a:latin typeface="Segoe UI"/>
                  <a:ea typeface="Microsoft YaHei"/>
                  <a:cs typeface="Segoe UI"/>
                </a:rPr>
                <a:t>想法到 Ready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97944" y="1479042"/>
              <a:ext cx="69961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需求怎樣變成可開工的票？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91076" y="5690044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BED9"/>
                  </a:solidFill>
                  <a:latin typeface="Segoe UI"/>
                  <a:ea typeface="Microsoft YaHei"/>
                  <a:cs typeface="Segoe UI"/>
                </a:rPr>
                <a:t>↖全課地圖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52900" y="2216277"/>
              <a:ext cx="3886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目前位置我們已經知道誰負責，還缺可交辦的票。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282921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25837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" y="444846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5720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13643" y="3061621"/>
              <a:ext cx="1055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01定配對目標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11586" y="2829211"/>
              <a:ext cx="3568732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311586" y="282921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8031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311586" y="444846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11586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75243" y="3061621"/>
              <a:ext cx="14413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02拆 #1／ #3／ #2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66068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166068" y="282921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73461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66068" y="444846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6606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5136" y="3061621"/>
              <a:ext cx="1730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03寫驗收情境→ Ready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762786"/>
              <a:ext cx="11277600" cy="6281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4762786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960" y="5014246"/>
              <a:ext cx="27294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學完能寫出做得到、驗得出的 #3票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346710" y="299085"/>
            <a:ext cx="11464290" cy="5688235"/>
            <a:chOff x="346710" y="299085"/>
            <a:chExt cx="11464290" cy="568823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32076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Brainstorming：從問題形成 Goal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577245"/>
              <a:ext cx="90749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Brainstorming先釐清為誰解決什麼問題，再形成 Goal；方案在後續和 PO／ Dev／ QA確認。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00587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rgbClr val="101820"/>
            </a:solidFill>
            <a:ln w="9525">
              <a:solidFill>
                <a:srgbClr val="65748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7886" y="2197132"/>
              <a:ext cx="5404104" cy="1427226"/>
            </a:xfrm>
            <a:prstGeom prst="rect">
              <a:avLst/>
            </a:prstGeom>
            <a:solidFill>
              <a:srgbClr val="F5D78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7435" y="24543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為誰？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628" y="2929700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想找到互相喜歡對象的使用者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80011" y="2197132"/>
              <a:ext cx="5404104" cy="1427226"/>
            </a:xfrm>
            <a:prstGeom prst="rect">
              <a:avLst/>
            </a:prstGeom>
            <a:solidFill>
              <a:srgbClr val="B6DDC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89561" y="24543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問題？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5942" y="292970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單向喜歡不能算配對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7886" y="3721132"/>
              <a:ext cx="5404104" cy="1427226"/>
            </a:xfrm>
            <a:prstGeom prst="rect">
              <a:avLst/>
            </a:prstGeom>
            <a:solidFill>
              <a:srgbClr val="CBB9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7435" y="3978307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候選做法？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628" y="4453700"/>
              <a:ext cx="33789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提議：雙方 Like才配對（待確認）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80011" y="3721132"/>
              <a:ext cx="5404104" cy="1427226"/>
            </a:xfrm>
            <a:prstGeom prst="rect">
              <a:avLst/>
            </a:prstGeom>
            <a:solidFill>
              <a:srgbClr val="B6DDC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9561" y="3978307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這輪先不選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5942" y="445370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A1E"/>
                  </a:solidFill>
                  <a:latin typeface="Arial"/>
                  <a:ea typeface="Microsoft YaHei"/>
                  <a:cs typeface="Arial"/>
                </a:rPr>
                <a:t>聊天、推薦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24325" y="5653945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形成共同目標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400675" y="5749195"/>
              <a:ext cx="323850" cy="19050"/>
            </a:xfrm>
            <a:prstGeom prst="rect">
              <a:avLst/>
            </a:prstGeom>
            <a:solidFill>
              <a:srgbClr val="83DDA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38825" y="5530120"/>
              <a:ext cx="2209800" cy="457200"/>
            </a:xfrm>
            <a:prstGeom prst="roundRect">
              <a:avLst>
                <a:gd name="adj" fmla="val 18750"/>
              </a:avLst>
            </a:prstGeom>
            <a:solidFill>
              <a:srgbClr val="15241B"/>
            </a:solidFill>
            <a:ln w="9525">
              <a:solidFill>
                <a:srgbClr val="53775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62650" y="564442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互相喜歡才算配對成功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346710" y="299085"/>
            <a:ext cx="11473815" cy="5072824"/>
            <a:chOff x="346710" y="299085"/>
            <a:chExt cx="11473815" cy="5072824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3289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Goal要能描述使用者結果與可觀察的成功訊號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173510"/>
              <a:ext cx="11430000" cy="3188970"/>
            </a:xfrm>
            <a:prstGeom prst="roundRect">
              <a:avLst>
                <a:gd name="adj" fmla="val 418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217351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811000" y="2173510"/>
              <a:ext cx="9525" cy="3188875"/>
            </a:xfrm>
            <a:custGeom>
              <a:avLst/>
              <a:gdLst/>
              <a:ahLst/>
              <a:cxnLst/>
              <a:rect l="l" t="t" r="r" b="b"/>
              <a:pathLst>
                <a:path w="9525" h="3188875">
                  <a:moveTo>
                    <a:pt x="0" y="0"/>
                  </a:moveTo>
                  <a:lnTo>
                    <a:pt x="0" y="31888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5362384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173510"/>
              <a:ext cx="9525" cy="3188875"/>
            </a:xfrm>
            <a:custGeom>
              <a:avLst/>
              <a:gdLst/>
              <a:ahLst/>
              <a:cxnLst/>
              <a:rect l="l" t="t" r="r" b="b"/>
              <a:pathLst>
                <a:path w="9525" h="3188875">
                  <a:moveTo>
                    <a:pt x="0" y="0"/>
                  </a:moveTo>
                  <a:lnTo>
                    <a:pt x="0" y="318887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14362" y="2366391"/>
              <a:ext cx="1400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共同目標（Goal）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4047" y="2366391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不是目前進度欄位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885" y="2658332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讓互相喜歡的兩人能確認配對成功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" y="3028760"/>
              <a:ext cx="5434012" cy="990600"/>
            </a:xfrm>
            <a:prstGeom prst="roundRect">
              <a:avLst>
                <a:gd name="adj" fmla="val 8654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33425" y="3133534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成功訊號（上線後）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3425" y="3438334"/>
              <a:ext cx="57669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上線兩週，出現 10對互相喜歡的配對（教學範例，門檻依現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3425" y="3705034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況設定）。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29338" y="3028760"/>
              <a:ext cx="5434012" cy="990600"/>
            </a:xfrm>
            <a:prstGeom prst="roundRect">
              <a:avLst>
                <a:gd name="adj" fmla="val 8654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4112" y="3133534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不希望發生：錯誤配對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4112" y="3438334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須有監測或回報資料，才能知道是否發生錯配。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28650" y="4086034"/>
              <a:ext cx="5434012" cy="723900"/>
            </a:xfrm>
            <a:prstGeom prst="roundRect">
              <a:avLst>
                <a:gd name="adj" fmla="val 11842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3425" y="419081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這輪不做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3425" y="4495610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聊天、推薦、解除配對。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29338" y="4086034"/>
              <a:ext cx="5434012" cy="723900"/>
            </a:xfrm>
            <a:prstGeom prst="roundRect">
              <a:avLst>
                <a:gd name="adj" fmla="val 11842"/>
              </a:avLst>
            </a:prstGeom>
            <a:solidFill>
              <a:srgbClr val="0F1720"/>
            </a:solidFill>
            <a:ln w="9525">
              <a:solidFill>
                <a:srgbClr val="2B3A4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34112" y="4190810"/>
              <a:ext cx="1475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好 Goal的條件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34112" y="4495610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結果導向／可驗證／範圍清楚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" y="4886134"/>
              <a:ext cx="10934700" cy="333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28650" y="4886134"/>
              <a:ext cx="10934700" cy="9525"/>
            </a:xfrm>
            <a:custGeom>
              <a:avLst/>
              <a:gdLst/>
              <a:ahLst/>
              <a:cxnLst/>
              <a:rect l="l" t="t" r="r" b="b"/>
              <a:pathLst>
                <a:path w="10934700" h="9525">
                  <a:moveTo>
                    <a:pt x="0" y="0"/>
                  </a:moveTo>
                  <a:lnTo>
                    <a:pt x="109347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9600" y="4971860"/>
              <a:ext cx="38171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0B9"/>
                  </a:solidFill>
                  <a:latin typeface="Arial"/>
                  <a:ea typeface="Microsoft YaHei"/>
                  <a:cs typeface="Arial"/>
                </a:rPr>
                <a:t>壞 Goal：做完喜歡、配對、聊天功能。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346710" y="299085"/>
            <a:ext cx="12056054" cy="6387465"/>
            <a:chOff x="346710" y="299085"/>
            <a:chExt cx="12056054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693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三張票怎麼拆、怎麼接、先做哪張？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4381500" y="1689925"/>
              <a:ext cx="3429000" cy="819150"/>
            </a:xfrm>
            <a:prstGeom prst="roundRect">
              <a:avLst>
                <a:gd name="adj" fmla="val 13953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773007" y="1863757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共同目標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0" y="2118550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讓互相喜歡的兩人能確認配對成功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3156776"/>
              <a:ext cx="3670268" cy="952500"/>
            </a:xfrm>
            <a:prstGeom prst="roundRect">
              <a:avLst>
                <a:gd name="adj" fmla="val 12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18170" y="3387757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5640" y="3661600"/>
              <a:ext cx="7166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640" y="3928300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60818" y="3156776"/>
              <a:ext cx="3670268" cy="952500"/>
            </a:xfrm>
            <a:prstGeom prst="roundRect">
              <a:avLst>
                <a:gd name="adj" fmla="val 12000"/>
              </a:avLst>
            </a:prstGeom>
            <a:solidFill>
              <a:srgbClr val="172B40"/>
            </a:solidFill>
            <a:ln w="9525">
              <a:solidFill>
                <a:srgbClr val="6285A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87150" y="3387757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可獨立交付的工作票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4086" y="3661600"/>
              <a:ext cx="19013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40636" y="3156776"/>
              <a:ext cx="3670363" cy="952500"/>
            </a:xfrm>
            <a:prstGeom prst="roundRect">
              <a:avLst>
                <a:gd name="adj" fmla="val 12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64376" y="3387757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75768" y="36616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86932" y="4375976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資料流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20357" y="4261676"/>
              <a:ext cx="1499902" cy="438150"/>
            </a:xfrm>
            <a:prstGeom prst="roundRect">
              <a:avLst>
                <a:gd name="adj" fmla="val 15217"/>
              </a:avLst>
            </a:prstGeom>
            <a:solidFill>
              <a:srgbClr val="111C28"/>
            </a:solidFill>
            <a:ln w="9525">
              <a:solidFill>
                <a:srgbClr val="4C617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02202" y="4366450"/>
              <a:ext cx="9363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8D4E1"/>
                  </a:solidFill>
                  <a:latin typeface="Arial"/>
                  <a:ea typeface="Microsoft YaHei"/>
                  <a:cs typeface="Arial"/>
                </a:rPr>
                <a:t>#1 Like／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10323" y="4633150"/>
              <a:ext cx="5200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8D4E1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4084" y="4375976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96509" y="4261676"/>
              <a:ext cx="1892332" cy="438150"/>
            </a:xfrm>
            <a:prstGeom prst="roundRect">
              <a:avLst>
                <a:gd name="adj" fmla="val 15217"/>
              </a:avLst>
            </a:prstGeom>
            <a:solidFill>
              <a:srgbClr val="111C28"/>
            </a:solidFill>
            <a:ln w="9525">
              <a:solidFill>
                <a:srgbClr val="83BCF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36419" y="4366450"/>
              <a:ext cx="18126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12666" y="4375976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65091" y="4261676"/>
              <a:ext cx="1320832" cy="438150"/>
            </a:xfrm>
            <a:prstGeom prst="roundRect">
              <a:avLst>
                <a:gd name="adj" fmla="val 15217"/>
              </a:avLst>
            </a:prstGeom>
            <a:solidFill>
              <a:srgbClr val="111C28"/>
            </a:solidFill>
            <a:ln w="9525">
              <a:solidFill>
                <a:srgbClr val="4C617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47863" y="4366450"/>
              <a:ext cx="11553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8D4E1"/>
                  </a:solidFill>
                  <a:latin typeface="Arial"/>
                  <a:ea typeface="Microsoft YaHei"/>
                  <a:cs typeface="Arial"/>
                </a:rPr>
                <a:t>#2配對列表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67878" y="4871276"/>
              <a:ext cx="80562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CE5EF"/>
                  </a:solidFill>
                  <a:latin typeface="Arial"/>
                  <a:ea typeface="Microsoft YaHei"/>
                  <a:cs typeface="Arial"/>
                </a:rPr>
                <a:t>為什麼 #3雙向喜歡才配對排在 #2前： #3建立配對紀錄， #2才能列出已配對對象。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0542" y="6287548"/>
              <a:ext cx="1187222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開發順序： #3可用測試資料先驗核心規則； #1、 #2再串接。各票要有可交付結果、驗收方式與清楚依賴。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346710" y="299085"/>
            <a:ext cx="12796005" cy="5397436"/>
            <a:chOff x="346710" y="299085"/>
            <a:chExt cx="12796005" cy="539743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按鈕還沒做好，為什麼能先測配對規則？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873853"/>
              <a:ext cx="38313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先固定假資料，單獨執行 #3規則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418588"/>
              <a:ext cx="3409950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41858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418588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39159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418588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736247"/>
              <a:ext cx="72232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輸入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312890"/>
              <a:ext cx="203299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小安 Like小晴。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789140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起初尚未配對。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52220" y="3221641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91025" y="2418588"/>
              <a:ext cx="3409950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391025" y="241858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800975" y="2418588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91025" y="439159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2418588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39628" y="2736247"/>
              <a:ext cx="1089224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#3規則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3438" y="3312890"/>
              <a:ext cx="203299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只有一方 Like。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3438" y="3789140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判斷是否建立配對。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2245" y="3221641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401050" y="2418588"/>
              <a:ext cx="3409950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401050" y="241858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418588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439159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401050" y="2418588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49652" y="2736247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檢查記錄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53462" y="3312890"/>
              <a:ext cx="16496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預期： 0筆。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3462" y="3789140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實際：看版本與工具輸出。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4639246"/>
              <a:ext cx="11430000" cy="105727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81000" y="4639246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6738" y="4846415"/>
              <a:ext cx="125759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規則層＝只測配對判斷及紀錄；不包含 Like按鈕、配對畫面與整體產品串接。此處 PASS只能證明規則層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6738" y="5203603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46710" y="299085"/>
            <a:ext cx="11464290" cy="5468207"/>
            <a:chOff x="346710" y="299085"/>
            <a:chExt cx="11464290" cy="546820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34333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本課用 parent issue記共同目標，再拆成三張子票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68697"/>
              <a:ext cx="11430000" cy="3998595"/>
            </a:xfrm>
            <a:prstGeom prst="roundRect">
              <a:avLst>
                <a:gd name="adj" fmla="val 333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1778222"/>
              <a:ext cx="11410950" cy="400050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178272"/>
              <a:ext cx="11410950" cy="9525"/>
            </a:xfrm>
            <a:custGeom>
              <a:avLst/>
              <a:gdLst/>
              <a:ahLst/>
              <a:cxnLst/>
              <a:rect l="l" t="t" r="r" b="b"/>
              <a:pathLst>
                <a:path w="11410950" h="9525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7688" y="1894904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GitHub· Issues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15612" y="1894904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大需求與子工作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90575" y="2349722"/>
              <a:ext cx="10610850" cy="1236345"/>
            </a:xfrm>
            <a:prstGeom prst="roundRect">
              <a:avLst>
                <a:gd name="adj" fmla="val 6934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3450" y="2521172"/>
              <a:ext cx="761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Parent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3450" y="2787872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issue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7735" y="2844070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互相喜歡才算配對成功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3450" y="3204972"/>
              <a:ext cx="102579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本課用 parent issue記共同 Goal； sub-issue分成可交付工作。這是一種安排，不是每個團隊的硬規則。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0575" y="3709797"/>
              <a:ext cx="10610850" cy="1857375"/>
            </a:xfrm>
            <a:prstGeom prst="roundRect">
              <a:avLst>
                <a:gd name="adj" fmla="val 4615"/>
              </a:avLst>
            </a:prstGeom>
            <a:solidFill>
              <a:srgbClr val="0E1721"/>
            </a:solidFill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5350" y="3862197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Sub-issues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4176522"/>
              <a:ext cx="10363200" cy="3905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914400" y="4176522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1075" y="4271772"/>
              <a:ext cx="2243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43050" y="4271772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 Pass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14400" y="4614672"/>
              <a:ext cx="10363200" cy="3905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914400" y="4614672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1075" y="4709922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43050" y="4709922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14400" y="5052822"/>
              <a:ext cx="10363200" cy="390525"/>
            </a:xfrm>
            <a:prstGeom prst="roundRect">
              <a:avLst>
                <a:gd name="adj" fmla="val 14634"/>
              </a:avLst>
            </a:prstGeom>
            <a:solidFill>
              <a:srgbClr val="17283B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914400" y="5052822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1075" y="5148072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43050" y="5148072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0825" y="5148072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本課範例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46710" y="299085"/>
            <a:ext cx="12225528" cy="5845397"/>
            <a:chOff x="346710" y="299085"/>
            <a:chExt cx="12225528" cy="584539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三張工作票先列入待辦，再選一張開始做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1486757"/>
              <a:ext cx="66651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Backlog是待辦； Ready表示可開工。三張都未開始，目前 WIP 0/1。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915382"/>
              <a:ext cx="11430000" cy="438150"/>
            </a:xfrm>
            <a:prstGeom prst="roundRect">
              <a:avLst>
                <a:gd name="adj" fmla="val 17391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85775" y="2029682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共同目標｜互相喜歡才算配對成功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15512" y="205587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三張工作票的共同目標與分組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242020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42235"/>
            </a:solidFill>
            <a:ln w="9525">
              <a:solidFill>
                <a:srgbClr val="83BC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66725" y="250593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466725" y="3020282"/>
              <a:ext cx="1404175" cy="9525"/>
            </a:xfrm>
            <a:custGeom>
              <a:avLst/>
              <a:gdLst/>
              <a:ahLst/>
              <a:cxnLst/>
              <a:rect l="l" t="t" r="r" b="b"/>
              <a:pathLst>
                <a:path w="1404175" h="9525">
                  <a:moveTo>
                    <a:pt x="0" y="0"/>
                  </a:moveTo>
                  <a:lnTo>
                    <a:pt x="14041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5711" y="2534507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66725" y="3096482"/>
              <a:ext cx="1404175" cy="666750"/>
            </a:xfrm>
            <a:prstGeom prst="roundRect">
              <a:avLst>
                <a:gd name="adj" fmla="val 10000"/>
              </a:avLst>
            </a:prstGeom>
            <a:solidFill>
              <a:srgbClr val="1B2A3C"/>
            </a:solidFill>
            <a:ln w="9525">
              <a:solidFill>
                <a:srgbClr val="43546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66725" y="3829907"/>
              <a:ext cx="1404175" cy="419100"/>
            </a:xfrm>
            <a:prstGeom prst="roundRect">
              <a:avLst>
                <a:gd name="adj" fmla="val 15909"/>
              </a:avLst>
            </a:prstGeom>
            <a:solidFill>
              <a:srgbClr val="1B2A3C"/>
            </a:solidFill>
            <a:ln w="9525">
              <a:solidFill>
                <a:srgbClr val="43546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66725" y="4315682"/>
              <a:ext cx="1404175" cy="666750"/>
            </a:xfrm>
            <a:prstGeom prst="roundRect">
              <a:avLst>
                <a:gd name="adj" fmla="val 10000"/>
              </a:avLst>
            </a:prstGeom>
            <a:solidFill>
              <a:srgbClr val="1B3550"/>
            </a:solidFill>
            <a:ln w="9525">
              <a:solidFill>
                <a:srgbClr val="83BCF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023300" y="242020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09026" y="250593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2109026" y="3020282"/>
              <a:ext cx="1404175" cy="9525"/>
            </a:xfrm>
            <a:custGeom>
              <a:avLst/>
              <a:gdLst/>
              <a:ahLst/>
              <a:cxnLst/>
              <a:rect l="l" t="t" r="r" b="b"/>
              <a:pathLst>
                <a:path w="1404175" h="9525">
                  <a:moveTo>
                    <a:pt x="0" y="0"/>
                  </a:moveTo>
                  <a:lnTo>
                    <a:pt x="14041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75774" y="2534507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65601" y="2420207"/>
              <a:ext cx="1575816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751326" y="2505932"/>
              <a:ext cx="1404366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751326" y="3020282"/>
              <a:ext cx="1404366" cy="9525"/>
            </a:xfrm>
            <a:custGeom>
              <a:avLst/>
              <a:gdLst/>
              <a:ahLst/>
              <a:cxnLst/>
              <a:rect l="l" t="t" r="r" b="b"/>
              <a:pathLst>
                <a:path w="1404366" h="9525">
                  <a:moveTo>
                    <a:pt x="0" y="0"/>
                  </a:moveTo>
                  <a:lnTo>
                    <a:pt x="140436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44685" y="2534507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08092" y="242020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93817" y="250593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393817" y="3020282"/>
              <a:ext cx="1404176" cy="9525"/>
            </a:xfrm>
            <a:custGeom>
              <a:avLst/>
              <a:gdLst/>
              <a:ahLst/>
              <a:cxnLst/>
              <a:rect l="l" t="t" r="r" b="b"/>
              <a:pathLst>
                <a:path w="1404176" h="9525">
                  <a:moveTo>
                    <a:pt x="0" y="0"/>
                  </a:moveTo>
                  <a:lnTo>
                    <a:pt x="140417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03058" y="2534507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950392" y="2420207"/>
              <a:ext cx="1575816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36118" y="2505932"/>
              <a:ext cx="1404366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7036118" y="3020282"/>
              <a:ext cx="1404366" cy="9525"/>
            </a:xfrm>
            <a:custGeom>
              <a:avLst/>
              <a:gdLst/>
              <a:ahLst/>
              <a:cxnLst/>
              <a:rect l="l" t="t" r="r" b="b"/>
              <a:pathLst>
                <a:path w="1404366" h="9525">
                  <a:moveTo>
                    <a:pt x="0" y="0"/>
                  </a:moveTo>
                  <a:lnTo>
                    <a:pt x="140436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9732" y="2534507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592884" y="2420207"/>
              <a:ext cx="1575625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78608" y="2505932"/>
              <a:ext cx="1404175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8678608" y="3020282"/>
              <a:ext cx="1404175" cy="9525"/>
            </a:xfrm>
            <a:custGeom>
              <a:avLst/>
              <a:gdLst/>
              <a:ahLst/>
              <a:cxnLst/>
              <a:rect l="l" t="t" r="r" b="b"/>
              <a:pathLst>
                <a:path w="1404175" h="9525">
                  <a:moveTo>
                    <a:pt x="0" y="0"/>
                  </a:moveTo>
                  <a:lnTo>
                    <a:pt x="140417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8047" y="2534507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235184" y="2420207"/>
              <a:ext cx="1575816" cy="3048000"/>
            </a:xfrm>
            <a:prstGeom prst="roundRect">
              <a:avLst>
                <a:gd name="adj" fmla="val 4836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320909" y="2505932"/>
              <a:ext cx="1404366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10320909" y="3020282"/>
              <a:ext cx="1404366" cy="9525"/>
            </a:xfrm>
            <a:custGeom>
              <a:avLst/>
              <a:gdLst/>
              <a:ahLst/>
              <a:cxnLst/>
              <a:rect l="l" t="t" r="r" b="b"/>
              <a:pathLst>
                <a:path w="1404366" h="9525">
                  <a:moveTo>
                    <a:pt x="0" y="0"/>
                  </a:moveTo>
                  <a:lnTo>
                    <a:pt x="1404366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751010" y="2534507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950" y="5572982"/>
              <a:ext cx="57658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已開始但未完成的票數（WIP）上限： 1｜目前： 0/1（都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1950" y="5839682"/>
              <a:ext cx="13952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在 Backlog）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48478" y="5572982"/>
              <a:ext cx="72237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下一步先整理 #3的 AC／ AT；確認能進 Ready後才開始實作。 #1／ #2等依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48478" y="5839682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賴確認後再排。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346710" y="299085"/>
            <a:ext cx="11479768" cy="5304568"/>
            <a:chOff x="346710" y="299085"/>
            <a:chExt cx="11479768" cy="53045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同一句「支援配對」，為什麼三種解讀？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966722"/>
              <a:ext cx="37261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票上只有一句話：「支援配對」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511457"/>
              <a:ext cx="3657600" cy="2144458"/>
            </a:xfrm>
            <a:prstGeom prst="roundRect">
              <a:avLst>
                <a:gd name="adj" fmla="val 533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5114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511457"/>
              <a:ext cx="9525" cy="2144458"/>
            </a:xfrm>
            <a:custGeom>
              <a:avLst/>
              <a:gdLst/>
              <a:ahLst/>
              <a:cxnLst/>
              <a:rect l="l" t="t" r="r" b="b"/>
              <a:pathLst>
                <a:path w="9525" h="2144458">
                  <a:moveTo>
                    <a:pt x="0" y="0"/>
                  </a:moveTo>
                  <a:lnTo>
                    <a:pt x="0" y="21444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6559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511457"/>
              <a:ext cx="9525" cy="2144458"/>
            </a:xfrm>
            <a:custGeom>
              <a:avLst/>
              <a:gdLst/>
              <a:ahLst/>
              <a:cxnLst/>
              <a:rect l="l" t="t" r="r" b="b"/>
              <a:pathLst>
                <a:path w="9525" h="2144458">
                  <a:moveTo>
                    <a:pt x="0" y="0"/>
                  </a:moveTo>
                  <a:lnTo>
                    <a:pt x="0" y="21444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829116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一位同事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650" y="3412903"/>
              <a:ext cx="34254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「一方 Like，就可以配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650" y="3927253"/>
              <a:ext cx="137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對吧？」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67200" y="2511457"/>
              <a:ext cx="3657600" cy="2144458"/>
            </a:xfrm>
            <a:prstGeom prst="roundRect">
              <a:avLst>
                <a:gd name="adj" fmla="val 533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267200" y="25114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924800" y="2511457"/>
              <a:ext cx="9525" cy="2144458"/>
            </a:xfrm>
            <a:custGeom>
              <a:avLst/>
              <a:gdLst/>
              <a:ahLst/>
              <a:cxnLst/>
              <a:rect l="l" t="t" r="r" b="b"/>
              <a:pathLst>
                <a:path w="9525" h="2144458">
                  <a:moveTo>
                    <a:pt x="0" y="0"/>
                  </a:moveTo>
                  <a:lnTo>
                    <a:pt x="0" y="21444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267200" y="46559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2511457"/>
              <a:ext cx="9525" cy="2144458"/>
            </a:xfrm>
            <a:custGeom>
              <a:avLst/>
              <a:gdLst/>
              <a:ahLst/>
              <a:cxnLst/>
              <a:rect l="l" t="t" r="r" b="b"/>
              <a:pathLst>
                <a:path w="9525" h="2144458">
                  <a:moveTo>
                    <a:pt x="0" y="0"/>
                  </a:moveTo>
                  <a:lnTo>
                    <a:pt x="0" y="21444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15802" y="2829116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另一位同事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4850" y="3412903"/>
              <a:ext cx="34254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「不是要雙方都 Like才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4850" y="3927253"/>
              <a:ext cx="137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算嗎？」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53400" y="2511457"/>
              <a:ext cx="3657600" cy="2144458"/>
            </a:xfrm>
            <a:prstGeom prst="roundRect">
              <a:avLst>
                <a:gd name="adj" fmla="val 533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8153400" y="25114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811000" y="2511457"/>
              <a:ext cx="9525" cy="2144458"/>
            </a:xfrm>
            <a:custGeom>
              <a:avLst/>
              <a:gdLst/>
              <a:ahLst/>
              <a:cxnLst/>
              <a:rect l="l" t="t" r="r" b="b"/>
              <a:pathLst>
                <a:path w="9525" h="2144458">
                  <a:moveTo>
                    <a:pt x="0" y="0"/>
                  </a:moveTo>
                  <a:lnTo>
                    <a:pt x="0" y="21444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153400" y="46559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153400" y="2511457"/>
              <a:ext cx="9525" cy="2144458"/>
            </a:xfrm>
            <a:custGeom>
              <a:avLst/>
              <a:gdLst/>
              <a:ahLst/>
              <a:cxnLst/>
              <a:rect l="l" t="t" r="r" b="b"/>
              <a:pathLst>
                <a:path w="9525" h="2144458">
                  <a:moveTo>
                    <a:pt x="0" y="0"/>
                  </a:moveTo>
                  <a:lnTo>
                    <a:pt x="0" y="21444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02002" y="2829116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第三位同事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01050" y="3412903"/>
              <a:ext cx="342542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「已經配對，再 Like會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01050" y="3927253"/>
              <a:ext cx="137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怎樣？」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4903565"/>
              <a:ext cx="11430000" cy="700088"/>
            </a:xfrm>
            <a:prstGeom prst="rect">
              <a:avLst/>
            </a:prstGeom>
            <a:solidFill>
              <a:srgbClr val="282316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49035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6738" y="5110734"/>
              <a:ext cx="83998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2DFAA"/>
                  </a:solidFill>
                  <a:latin typeface="Arial"/>
                  <a:ea typeface="Microsoft YaHei"/>
                  <a:cs typeface="Arial"/>
                </a:rPr>
                <a:t>給一個具體情境：小安 Like小晴，小晴尚未 Like。現在應不應配對？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346710" y="299085"/>
            <a:ext cx="11473815" cy="5752243"/>
            <a:chOff x="346710" y="299085"/>
            <a:chExt cx="11473815" cy="575224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從「配對正常」到可以核對的範例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561910"/>
              <a:ext cx="47777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同一條規則：同一對使用者，不重複配對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106644"/>
              <a:ext cx="56007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106644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81700" y="2106644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555903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106644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424303"/>
              <a:ext cx="239003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說不清楚的範例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000946"/>
              <a:ext cx="25806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 Like後應正常。」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477196"/>
              <a:ext cx="537388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或：開瀏覽器→登入→點選單→找按鈕→點 Like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858196"/>
              <a:ext cx="156745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→確認正常。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10300" y="2106644"/>
              <a:ext cx="56007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6210300" y="2106644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811000" y="2106644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210300" y="4555903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210300" y="2106644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58902" y="2424303"/>
              <a:ext cx="30571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可以一起判斷的範例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2712" y="3000946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前提：小安與小晴已經配對。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2712" y="3477196"/>
              <a:ext cx="34022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事件：小安再次 Like小晴。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712" y="3953446"/>
              <a:ext cx="388143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結果：仍只有原本那一筆配對。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" y="4803553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81000" y="4803553"/>
              <a:ext cx="9525" cy="700087"/>
            </a:xfrm>
            <a:custGeom>
              <a:avLst/>
              <a:gdLst/>
              <a:ahLst/>
              <a:cxnLst/>
              <a:rect l="l" t="t" r="r" b="b"/>
              <a:pathLst>
                <a:path w="9525" h="700087">
                  <a:moveTo>
                    <a:pt x="0" y="0"/>
                  </a:moveTo>
                  <a:lnTo>
                    <a:pt x="0" y="700087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6738" y="5010721"/>
              <a:ext cx="853678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保留影響判斷的前提、事件與結果；拿掉與這條規則無關的操作細節。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855" y="5777008"/>
              <a:ext cx="7132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寫出可核對範例：業務語言、具體資料、清楚意圖、必要前提、一次聚焦一件事。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346710" y="299085"/>
            <a:ext cx="11666696" cy="5599843"/>
            <a:chOff x="346710" y="299085"/>
            <a:chExt cx="11666696" cy="559984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4594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PO寫了範例，為什麼還要找 Dev、 QA？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671447"/>
              <a:ext cx="559269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#3的範例寫清楚了，仍可能漏掉不同角色的疑問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16182"/>
              <a:ext cx="3657600" cy="2735008"/>
            </a:xfrm>
            <a:prstGeom prst="roundRect">
              <a:avLst>
                <a:gd name="adj" fmla="val 417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1618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95119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533841"/>
              <a:ext cx="215655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PO｜業務結果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110484"/>
              <a:ext cx="34022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「只有雙向 Like才配對。」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586734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說明使用者要得到什麼。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67200" y="2216182"/>
              <a:ext cx="3657600" cy="2735008"/>
            </a:xfrm>
            <a:prstGeom prst="roundRect">
              <a:avLst>
                <a:gd name="adj" fmla="val 417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267200" y="221618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9248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267200" y="495119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15802" y="2533841"/>
              <a:ext cx="260683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Dev｜規則與依賴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9612" y="3110484"/>
              <a:ext cx="34022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「已有配對又收到 Like呢？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9612" y="3491484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3967734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檢查規則是否一致、資料從哪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612" y="4348734"/>
              <a:ext cx="595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來。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2216182"/>
              <a:ext cx="3657600" cy="2735008"/>
            </a:xfrm>
            <a:prstGeom prst="roundRect">
              <a:avLst>
                <a:gd name="adj" fmla="val 417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153400" y="221618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153400" y="495119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02002" y="2533841"/>
              <a:ext cx="249009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QA｜反向與重複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05812" y="3110484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「單向不能配對，怎麼驗？」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5812" y="3586734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確認預期結果與測試前提。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5198840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81000" y="5198840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6738" y="5406009"/>
              <a:ext cx="91940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先對照既有需求形成共識；尚未決定的事情留下疑問，不能直接當成新 AC。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666696" cy="6147531"/>
            <a:chOff x="346710" y="299085"/>
            <a:chExt cx="11666696" cy="6147531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85902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把 #3攤開：規則、範例、疑問一起看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123760"/>
              <a:ext cx="68677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Example Mapping｜把討論分清楚，才知道能不能進 Ready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668494"/>
              <a:ext cx="11430000" cy="752475"/>
            </a:xfrm>
            <a:prstGeom prst="roundRect">
              <a:avLst>
                <a:gd name="adj" fmla="val 12658"/>
              </a:avLst>
            </a:prstGeom>
            <a:solidFill>
              <a:srgbClr val="2C2718"/>
            </a:solidFill>
            <a:ln w="9525">
              <a:solidFill>
                <a:srgbClr val="806A3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81978" y="1881378"/>
              <a:ext cx="485824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故事／工作： #3雙向喜歡才配對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668619"/>
              <a:ext cx="365760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668619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38600" y="2668619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549887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668619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9602" y="2986278"/>
              <a:ext cx="72232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規則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562922"/>
              <a:ext cx="285452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只有雙向 Like才配對。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4039172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同一對不重複配對。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67200" y="2668619"/>
              <a:ext cx="365760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267200" y="2668619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924800" y="2668619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267200" y="549887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267200" y="2668619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15802" y="2986278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具體範例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3562922"/>
              <a:ext cx="21836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單向 Like→不配對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612" y="4039172"/>
              <a:ext cx="24574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 Like→建立配對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612" y="4515422"/>
              <a:ext cx="27312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已配對再 Like→不增筆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53400" y="2668619"/>
              <a:ext cx="365760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8153400" y="2668619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811000" y="2668619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549887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153400" y="2668619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02002" y="2986278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尚待確認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5812" y="3562922"/>
              <a:ext cx="34022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例如：取消 Like怎麼處理？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5812" y="4039172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本輪不納入，不自行補功能。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5812" y="4515422"/>
              <a:ext cx="34432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若問題影響既定 AC，就先釐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05812" y="4896421"/>
              <a:ext cx="595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清。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74652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5746528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6738" y="5953696"/>
              <a:ext cx="826293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確認的規則與範例回到票面；未解問題要有負責人、處置與下一步。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346710" y="299085"/>
            <a:ext cx="11473815" cy="5456968"/>
            <a:chOff x="346710" y="299085"/>
            <a:chExt cx="11473815" cy="54569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6231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範例寫到什麼時候才夠？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814322"/>
              <a:ext cx="47777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先問：這些範例有沒有解決我們的分歧？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359057"/>
              <a:ext cx="56007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359057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817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08315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676716"/>
              <a:ext cx="205649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為了共同理解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253359"/>
              <a:ext cx="49768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用能區分單向、雙向與重複結果的例子，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729609"/>
              <a:ext cx="388143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讓大家對規則得出同一個答案。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4205859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未解問題要有處置。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10300" y="2359057"/>
              <a:ext cx="56007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6210300" y="2359057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81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210300" y="4808315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2103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58902" y="2676716"/>
              <a:ext cx="205649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為了驗證系統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2712" y="3253359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再依風險展開重要條件組合。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2712" y="3729609"/>
              <a:ext cx="388143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不只測成功，也測禁止與重複。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712" y="4205859"/>
              <a:ext cx="384036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AI產生更多，不代表已經窮舉。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" y="50559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81000" y="50559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6738" y="5263134"/>
              <a:ext cx="887908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「寫了幾個」不是完成依據；後面驗收時再用決策表檢查四種 Like組合。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346710" y="299085"/>
            <a:ext cx="11666696" cy="5456968"/>
            <a:chOff x="346710" y="299085"/>
            <a:chExt cx="11666696" cy="54569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工作票要做什麼、怎麼驗、何時算完成？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814322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同一個例子，把「接受什麼」接到「如何證明」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359057"/>
              <a:ext cx="36576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3590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083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676716"/>
              <a:ext cx="208984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AC｜接受條件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253359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同一對不重複配對。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72960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描述必須成立的行為。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67200" y="2359057"/>
              <a:ext cx="36576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267200" y="23590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9248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267200" y="48083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15802" y="2676716"/>
              <a:ext cx="208984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AT｜驗收測試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9612" y="3253359"/>
              <a:ext cx="292298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Given小安與小晴已配對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9612" y="3729609"/>
              <a:ext cx="241637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When小安再次 Like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4205859"/>
              <a:ext cx="25669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Then仍只有原本一筆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153400" y="2359057"/>
              <a:ext cx="36576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8153400" y="23590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181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153400" y="48083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1534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02002" y="2676716"/>
              <a:ext cx="294038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DoD｜共用完成要求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05812" y="3253359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改動有人審查、沒有超出範圍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05812" y="3729609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既有功能沒壞、上線後檢查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5812" y="42058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本課所有票共同遵守。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50559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81000" y="50559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6738" y="5263134"/>
              <a:ext cx="874216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一張票的特定行為用 AC判斷； AT驗證它；完成還要滿足團隊共用 DoD。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46710" y="299085"/>
            <a:ext cx="11576876" cy="6459950"/>
            <a:chOff x="346710" y="299085"/>
            <a:chExt cx="11576876" cy="645995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2090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工作票整理／待辦清單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792385"/>
              <a:ext cx="11430000" cy="885825"/>
            </a:xfrm>
            <a:prstGeom prst="roundRect">
              <a:avLst>
                <a:gd name="adj" fmla="val 10753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79238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44648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811000" y="792385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9525">
              <a:solidFill>
                <a:srgbClr val="44648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67821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44648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792385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47625">
              <a:solidFill>
                <a:srgbClr val="80B9F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4840" y="1126712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EDCF7"/>
                  </a:solidFill>
                  <a:latin typeface="Segoe UI"/>
                  <a:ea typeface="Microsoft YaHei"/>
                  <a:cs typeface="Segoe UI"/>
                </a:rPr>
                <a:t>#3｜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4840" y="1412462"/>
              <a:ext cx="9921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EDCF7"/>
                  </a:solidFill>
                  <a:latin typeface="Segoe UI"/>
                  <a:ea typeface="Microsoft YaHei"/>
                  <a:cs typeface="Segoe UI"/>
                </a:rPr>
                <a:t>Backlog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05800" y="1108615"/>
              <a:ext cx="232295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0F7FF"/>
                  </a:solidFill>
                  <a:latin typeface="Segoe UI"/>
                  <a:ea typeface="Microsoft YaHei"/>
                  <a:cs typeface="Segoe UI"/>
                </a:rPr>
                <a:t>正在整理三條 AC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51297" y="1144810"/>
              <a:ext cx="30722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3C9DE"/>
                  </a:solidFill>
                  <a:latin typeface="Segoe UI"/>
                  <a:ea typeface="Microsoft YaHei"/>
                  <a:cs typeface="Segoe UI"/>
                </a:rPr>
                <a:t>#1、 #2尚待整理｜目前 WIP 0/1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" y="1792510"/>
              <a:ext cx="11430000" cy="4535519"/>
            </a:xfrm>
            <a:prstGeom prst="roundRect">
              <a:avLst>
                <a:gd name="adj" fmla="val 294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0075" y="1973485"/>
              <a:ext cx="10991850" cy="485775"/>
            </a:xfrm>
            <a:prstGeom prst="rect">
              <a:avLst/>
            </a:prstGeom>
            <a:solidFill>
              <a:srgbClr val="17253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900" y="2111597"/>
              <a:ext cx="10020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工作票 #3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3272" y="2111597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991850" y="2068735"/>
              <a:ext cx="457200" cy="295275"/>
            </a:xfrm>
            <a:prstGeom prst="roundRect">
              <a:avLst>
                <a:gd name="adj" fmla="val 50000"/>
              </a:avLst>
            </a:prstGeom>
            <a:solidFill>
              <a:srgbClr val="26384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063288" y="2137791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待辦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0075" y="2630710"/>
              <a:ext cx="3568637" cy="3516344"/>
            </a:xfrm>
            <a:prstGeom prst="roundRect">
              <a:avLst>
                <a:gd name="adj" fmla="val 2709"/>
              </a:avLst>
            </a:prstGeom>
            <a:solidFill>
              <a:srgbClr val="132438"/>
            </a:solidFill>
            <a:ln w="9525">
              <a:solidFill>
                <a:srgbClr val="365A7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095" y="4045077"/>
              <a:ext cx="10058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FDBF6"/>
                  </a:solidFill>
                  <a:latin typeface="Segoe UI"/>
                  <a:ea typeface="Microsoft YaHei"/>
                  <a:cs typeface="Segoe UI"/>
                </a:rPr>
                <a:t>單向喜歡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6285" y="4466844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0F7FC"/>
                  </a:solidFill>
                  <a:latin typeface="Segoe UI"/>
                  <a:ea typeface="Microsoft YaHei"/>
                  <a:cs typeface="Segoe UI"/>
                </a:rPr>
                <a:t>不建立配對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11586" y="2630710"/>
              <a:ext cx="3568732" cy="3516344"/>
            </a:xfrm>
            <a:prstGeom prst="roundRect">
              <a:avLst>
                <a:gd name="adj" fmla="val 2709"/>
              </a:avLst>
            </a:prstGeom>
            <a:solidFill>
              <a:srgbClr val="132438"/>
            </a:solidFill>
            <a:ln w="9525">
              <a:solidFill>
                <a:srgbClr val="365A7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71606" y="4045077"/>
              <a:ext cx="10058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FDBF6"/>
                  </a:solidFill>
                  <a:latin typeface="Segoe UI"/>
                  <a:ea typeface="Microsoft YaHei"/>
                  <a:cs typeface="Segoe UI"/>
                </a:rPr>
                <a:t>雙向喜歡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7796" y="4466844"/>
              <a:ext cx="17583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8E5BF"/>
                  </a:solidFill>
                  <a:latin typeface="Segoe UI"/>
                  <a:ea typeface="Microsoft YaHei"/>
                  <a:cs typeface="Segoe UI"/>
                </a:rPr>
                <a:t>建立一筆配對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23193" y="2630710"/>
              <a:ext cx="3568637" cy="3516344"/>
            </a:xfrm>
            <a:prstGeom prst="roundRect">
              <a:avLst>
                <a:gd name="adj" fmla="val 2709"/>
              </a:avLst>
            </a:prstGeom>
            <a:solidFill>
              <a:srgbClr val="132438"/>
            </a:solidFill>
            <a:ln w="9525">
              <a:solidFill>
                <a:srgbClr val="365A7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83213" y="4045077"/>
              <a:ext cx="15480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FDBF6"/>
                  </a:solidFill>
                  <a:latin typeface="Segoe UI"/>
                  <a:ea typeface="Microsoft YaHei"/>
                  <a:cs typeface="Segoe UI"/>
                </a:rPr>
                <a:t>已配對再 Like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9403" y="4466844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0F7FC"/>
                  </a:solidFill>
                  <a:latin typeface="Segoe UI"/>
                  <a:ea typeface="Microsoft YaHei"/>
                  <a:cs typeface="Segoe UI"/>
                </a:rPr>
                <a:t>不增加筆數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83241" y="6469475"/>
              <a:ext cx="642551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目前 #3留在 Backlog，把三條 AC整理清楚；完整工作票下一頁再看。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46710" y="299085"/>
            <a:ext cx="11787188" cy="6364700"/>
            <a:chOff x="346710" y="299085"/>
            <a:chExt cx="11787188" cy="636470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29669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一張好票長怎樣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849535"/>
              <a:ext cx="11430000" cy="62150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471041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85A7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89572" y="1031938"/>
              <a:ext cx="14431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9FC7E7"/>
                  </a:solidFill>
                  <a:latin typeface="Segoe UI"/>
                  <a:ea typeface="Microsoft YaHei"/>
                  <a:cs typeface="Segoe UI"/>
                </a:rPr>
                <a:t>#3｜工作範圍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29467" y="967168"/>
              <a:ext cx="347404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EFF8FF"/>
                  </a:solidFill>
                  <a:latin typeface="Segoe UI"/>
                  <a:ea typeface="Microsoft YaHei"/>
                  <a:cs typeface="Segoe UI"/>
                </a:rPr>
                <a:t>雙方都 Like才建立配對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36430" y="1056227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ADE"/>
                  </a:solidFill>
                  <a:latin typeface="Segoe UI"/>
                  <a:ea typeface="Microsoft YaHei"/>
                  <a:cs typeface="Segoe UI"/>
                </a:rPr>
                <a:t>只做配對判斷，不包含聊天室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1680591"/>
              <a:ext cx="11430000" cy="685800"/>
            </a:xfrm>
            <a:prstGeom prst="roundRect">
              <a:avLst>
                <a:gd name="adj" fmla="val 11111"/>
              </a:avLst>
            </a:prstGeom>
            <a:solidFill>
              <a:srgbClr val="142A21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680591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38100">
              <a:solidFill>
                <a:srgbClr val="83D9A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0548" y="1928432"/>
              <a:ext cx="14431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7F1D8"/>
                  </a:solidFill>
                  <a:latin typeface="Segoe UI"/>
                  <a:ea typeface="Microsoft YaHei"/>
                  <a:cs typeface="Segoe UI"/>
                </a:rPr>
                <a:t>AC｜怎樣算對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80348" y="1928432"/>
              <a:ext cx="105213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2F6E9"/>
                  </a:solidFill>
                  <a:latin typeface="Segoe UI"/>
                  <a:ea typeface="Microsoft YaHei"/>
                  <a:cs typeface="Segoe UI"/>
                </a:rPr>
                <a:t>單向→ 0筆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64816" y="1928432"/>
              <a:ext cx="9946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2F6E9"/>
                  </a:solidFill>
                  <a:latin typeface="Segoe UI"/>
                  <a:ea typeface="Microsoft YaHei"/>
                  <a:cs typeface="Segoe UI"/>
                </a:rPr>
                <a:t>雙向→ 1筆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9284" y="1928432"/>
              <a:ext cx="183422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2F6E9"/>
                  </a:solidFill>
                  <a:latin typeface="Segoe UI"/>
                  <a:ea typeface="Microsoft YaHei"/>
                  <a:cs typeface="Segoe UI"/>
                </a:rPr>
                <a:t>重複 Like→不增加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2425" y="2618804"/>
              <a:ext cx="33761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1F6FF"/>
                  </a:solidFill>
                  <a:latin typeface="Segoe UI"/>
                  <a:ea typeface="Microsoft YaHei"/>
                  <a:cs typeface="Segoe UI"/>
                </a:rPr>
                <a:t>AT｜拿一個情境實際驗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" y="3494342"/>
              <a:ext cx="3416237" cy="1524000"/>
            </a:xfrm>
            <a:prstGeom prst="roundRect">
              <a:avLst>
                <a:gd name="adj" fmla="val 6250"/>
              </a:avLst>
            </a:prstGeom>
            <a:solidFill>
              <a:srgbClr val="172D42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81000" y="3494342"/>
              <a:ext cx="3416237" cy="9525"/>
            </a:xfrm>
            <a:custGeom>
              <a:avLst/>
              <a:gdLst/>
              <a:ahLst/>
              <a:cxnLst/>
              <a:rect l="l" t="t" r="r" b="b"/>
              <a:pathLst>
                <a:path w="3416237" h="9525">
                  <a:moveTo>
                    <a:pt x="0" y="0"/>
                  </a:moveTo>
                  <a:lnTo>
                    <a:pt x="3416237" y="0"/>
                  </a:lnTo>
                </a:path>
              </a:pathLst>
            </a:custGeom>
            <a:noFill/>
            <a:ln w="38100">
              <a:solidFill>
                <a:srgbClr val="8EBCF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797237" y="3494342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81000" y="5018342"/>
              <a:ext cx="3416237" cy="9525"/>
            </a:xfrm>
            <a:custGeom>
              <a:avLst/>
              <a:gdLst/>
              <a:ahLst/>
              <a:cxnLst/>
              <a:rect l="l" t="t" r="r" b="b"/>
              <a:pathLst>
                <a:path w="3416237" h="9525">
                  <a:moveTo>
                    <a:pt x="0" y="0"/>
                  </a:moveTo>
                  <a:lnTo>
                    <a:pt x="3416237" y="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81000" y="3494342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1025" y="3941159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DCEE9"/>
                  </a:solidFill>
                  <a:latin typeface="Segoe UI"/>
                  <a:ea typeface="Microsoft YaHei"/>
                  <a:cs typeface="Segoe UI"/>
                </a:rPr>
                <a:t>前提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548" y="4318826"/>
              <a:ext cx="162106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3FAFF"/>
                  </a:solidFill>
                  <a:latin typeface="Segoe UI"/>
                  <a:ea typeface="Microsoft YaHei"/>
                  <a:cs typeface="Segoe UI"/>
                </a:rPr>
                <a:t>已配對 1筆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64934" y="4152995"/>
              <a:ext cx="25515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99C7E8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7786" y="3494342"/>
              <a:ext cx="3416332" cy="1524000"/>
            </a:xfrm>
            <a:prstGeom prst="roundRect">
              <a:avLst>
                <a:gd name="adj" fmla="val 6250"/>
              </a:avLst>
            </a:prstGeom>
            <a:solidFill>
              <a:srgbClr val="172D42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4387786" y="3494342"/>
              <a:ext cx="3416332" cy="9525"/>
            </a:xfrm>
            <a:custGeom>
              <a:avLst/>
              <a:gdLst/>
              <a:ahLst/>
              <a:cxnLst/>
              <a:rect l="l" t="t" r="r" b="b"/>
              <a:pathLst>
                <a:path w="3416332" h="9525">
                  <a:moveTo>
                    <a:pt x="0" y="0"/>
                  </a:moveTo>
                  <a:lnTo>
                    <a:pt x="3416332" y="0"/>
                  </a:lnTo>
                </a:path>
              </a:pathLst>
            </a:custGeom>
            <a:noFill/>
            <a:ln w="38100">
              <a:solidFill>
                <a:srgbClr val="8EBC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804118" y="3494342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387786" y="5018342"/>
              <a:ext cx="3416332" cy="9525"/>
            </a:xfrm>
            <a:custGeom>
              <a:avLst/>
              <a:gdLst/>
              <a:ahLst/>
              <a:cxnLst/>
              <a:rect l="l" t="t" r="r" b="b"/>
              <a:pathLst>
                <a:path w="3416332" h="9525">
                  <a:moveTo>
                    <a:pt x="0" y="0"/>
                  </a:moveTo>
                  <a:lnTo>
                    <a:pt x="3416332" y="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387786" y="3494342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7812" y="3941159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DCEE9"/>
                  </a:solidFill>
                  <a:latin typeface="Segoe UI"/>
                  <a:ea typeface="Microsoft YaHei"/>
                  <a:cs typeface="Segoe UI"/>
                </a:rPr>
                <a:t>操作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7334" y="4318826"/>
              <a:ext cx="1502212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3FAFF"/>
                  </a:solidFill>
                  <a:latin typeface="Segoe UI"/>
                  <a:ea typeface="Microsoft YaHei"/>
                  <a:cs typeface="Segoe UI"/>
                </a:rPr>
                <a:t>再按 Like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71816" y="4152995"/>
              <a:ext cx="255155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5" b="1" dirty="0">
                  <a:solidFill>
                    <a:srgbClr val="99C7E8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94668" y="3494342"/>
              <a:ext cx="3416237" cy="1524000"/>
            </a:xfrm>
            <a:prstGeom prst="roundRect">
              <a:avLst>
                <a:gd name="adj" fmla="val 6250"/>
              </a:avLst>
            </a:prstGeom>
            <a:solidFill>
              <a:srgbClr val="192F25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8394668" y="3494342"/>
              <a:ext cx="3416141" cy="9525"/>
            </a:xfrm>
            <a:custGeom>
              <a:avLst/>
              <a:gdLst/>
              <a:ahLst/>
              <a:cxnLst/>
              <a:rect l="l" t="t" r="r" b="b"/>
              <a:pathLst>
                <a:path w="3416141" h="9525">
                  <a:moveTo>
                    <a:pt x="0" y="0"/>
                  </a:moveTo>
                  <a:lnTo>
                    <a:pt x="3416141" y="0"/>
                  </a:lnTo>
                </a:path>
              </a:pathLst>
            </a:custGeom>
            <a:noFill/>
            <a:ln w="38100">
              <a:solidFill>
                <a:srgbClr val="9EE4B3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810810" y="3494342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394668" y="5018342"/>
              <a:ext cx="3416141" cy="9525"/>
            </a:xfrm>
            <a:custGeom>
              <a:avLst/>
              <a:gdLst/>
              <a:ahLst/>
              <a:cxnLst/>
              <a:rect l="l" t="t" r="r" b="b"/>
              <a:pathLst>
                <a:path w="3416141" h="9525">
                  <a:moveTo>
                    <a:pt x="0" y="0"/>
                  </a:moveTo>
                  <a:lnTo>
                    <a:pt x="3416141" y="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394668" y="3494342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rgbClr val="4C729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94693" y="3941159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DCEE9"/>
                  </a:solidFill>
                  <a:latin typeface="Segoe UI"/>
                  <a:ea typeface="Microsoft YaHei"/>
                  <a:cs typeface="Segoe UI"/>
                </a:rPr>
                <a:t>預期結果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84216" y="4318826"/>
              <a:ext cx="1281493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3FAFF"/>
                  </a:solidFill>
                  <a:latin typeface="Segoe UI"/>
                  <a:ea typeface="Microsoft YaHei"/>
                  <a:cs typeface="Segoe UI"/>
                </a:rPr>
                <a:t>仍是 1筆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" y="5593842"/>
              <a:ext cx="11430000" cy="467487"/>
            </a:xfrm>
            <a:prstGeom prst="roundRect">
              <a:avLst>
                <a:gd name="adj" fmla="val 12225"/>
              </a:avLst>
            </a:prstGeom>
            <a:solidFill>
              <a:srgbClr val="282519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81000" y="5593842"/>
              <a:ext cx="9525" cy="467487"/>
            </a:xfrm>
            <a:custGeom>
              <a:avLst/>
              <a:gdLst/>
              <a:ahLst/>
              <a:cxnLst/>
              <a:rect l="l" t="t" r="r" b="b"/>
              <a:pathLst>
                <a:path w="9525" h="467487">
                  <a:moveTo>
                    <a:pt x="0" y="0"/>
                  </a:moveTo>
                  <a:lnTo>
                    <a:pt x="0" y="467487"/>
                  </a:lnTo>
                </a:path>
              </a:pathLst>
            </a:custGeom>
            <a:noFill/>
            <a:ln w="38100">
              <a:solidFill>
                <a:srgbClr val="EAC9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33400" y="5736717"/>
              <a:ext cx="807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5C1"/>
                  </a:solidFill>
                  <a:latin typeface="Arial"/>
                  <a:ea typeface="Microsoft YaHei"/>
                  <a:cs typeface="Arial"/>
                </a:rPr>
                <a:t>Evidence｜尚未執行（NOT RUN）跑完測試，才填版本、實際結果與 PASS／ FAIL。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6728" y="6374225"/>
              <a:ext cx="554100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BFD5E7"/>
                  </a:solidFill>
                  <a:latin typeface="Segoe UI"/>
                  <a:ea typeface="Microsoft YaHei"/>
                  <a:cs typeface="Segoe UI"/>
                </a:rPr>
                <a:t>DoD是所有票共用的完工條件；完整工作票可以留在 Issue。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346710" y="299085"/>
            <a:ext cx="11822383" cy="5551075"/>
            <a:chOff x="346710" y="299085"/>
            <a:chExt cx="11822383" cy="555107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6582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Ready：可以開工， WIP還是 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28099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Ticket是否寫得足以開始？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2274570"/>
              <a:ext cx="83385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9FF"/>
                  </a:solidFill>
                  <a:latin typeface="Segoe UI"/>
                  <a:ea typeface="Microsoft YaHei"/>
                  <a:cs typeface="Segoe UI"/>
                </a:rPr>
                <a:t>#3｜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0070" y="2655570"/>
              <a:ext cx="138592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9FF"/>
                  </a:solidFill>
                  <a:latin typeface="Segoe UI"/>
                  <a:ea typeface="Microsoft YaHei"/>
                  <a:cs typeface="Segoe UI"/>
                </a:rPr>
                <a:t>Backlog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12517" y="2299335"/>
              <a:ext cx="2963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A3CFEC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19152" y="22745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1F9FF"/>
                  </a:solidFill>
                  <a:latin typeface="Segoe UI"/>
                  <a:ea typeface="Microsoft YaHei"/>
                  <a:cs typeface="Segoe UI"/>
                </a:rPr>
                <a:t>Ready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09648" y="2319242"/>
              <a:ext cx="35594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4CBE0"/>
                  </a:solidFill>
                  <a:latin typeface="Segoe UI"/>
                  <a:ea typeface="Microsoft YaHei"/>
                  <a:cs typeface="Segoe UI"/>
                </a:rPr>
                <a:t>尚未開始｜目前： 0/1（上限： 1）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3048000"/>
              <a:ext cx="3682937" cy="2000250"/>
            </a:xfrm>
            <a:prstGeom prst="roundRect">
              <a:avLst>
                <a:gd name="adj" fmla="val 4762"/>
              </a:avLst>
            </a:prstGeom>
            <a:solidFill>
              <a:srgbClr val="172A3E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3048000"/>
              <a:ext cx="3682937" cy="9525"/>
            </a:xfrm>
            <a:custGeom>
              <a:avLst/>
              <a:gdLst/>
              <a:ahLst/>
              <a:cxnLst/>
              <a:rect l="l" t="t" r="r" b="b"/>
              <a:pathLst>
                <a:path w="3682937" h="9525">
                  <a:moveTo>
                    <a:pt x="0" y="0"/>
                  </a:moveTo>
                  <a:lnTo>
                    <a:pt x="3682937" y="0"/>
                  </a:lnTo>
                </a:path>
              </a:pathLst>
            </a:custGeom>
            <a:noFill/>
            <a:ln w="47625">
              <a:solidFill>
                <a:srgbClr val="8ABDE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63937" y="30480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5048250"/>
              <a:ext cx="3682937" cy="9525"/>
            </a:xfrm>
            <a:custGeom>
              <a:avLst/>
              <a:gdLst/>
              <a:ahLst/>
              <a:cxnLst/>
              <a:rect l="l" t="t" r="r" b="b"/>
              <a:pathLst>
                <a:path w="3682937" h="9525">
                  <a:moveTo>
                    <a:pt x="0" y="0"/>
                  </a:moveTo>
                  <a:lnTo>
                    <a:pt x="3682937" y="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81000" y="30480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552" y="3482340"/>
              <a:ext cx="21309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90B8D7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218" y="3882295"/>
              <a:ext cx="1960602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b="1" dirty="0">
                  <a:solidFill>
                    <a:srgbClr val="F2FAFF"/>
                  </a:solidFill>
                  <a:latin typeface="Segoe UI"/>
                  <a:ea typeface="Microsoft YaHei"/>
                  <a:cs typeface="Segoe UI"/>
                </a:rPr>
                <a:t>做得到嗎？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648" y="4439031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4D9E9"/>
                  </a:solidFill>
                  <a:latin typeface="Segoe UI"/>
                  <a:ea typeface="Microsoft YaHei"/>
                  <a:cs typeface="Segoe UI"/>
                </a:rPr>
                <a:t>資料與依賴齊全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54436" y="3048000"/>
              <a:ext cx="3683032" cy="2000250"/>
            </a:xfrm>
            <a:prstGeom prst="roundRect">
              <a:avLst>
                <a:gd name="adj" fmla="val 4762"/>
              </a:avLst>
            </a:prstGeom>
            <a:solidFill>
              <a:srgbClr val="172A3E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54436" y="3048000"/>
              <a:ext cx="3683032" cy="9525"/>
            </a:xfrm>
            <a:custGeom>
              <a:avLst/>
              <a:gdLst/>
              <a:ahLst/>
              <a:cxnLst/>
              <a:rect l="l" t="t" r="r" b="b"/>
              <a:pathLst>
                <a:path w="3683032" h="9525">
                  <a:moveTo>
                    <a:pt x="0" y="0"/>
                  </a:moveTo>
                  <a:lnTo>
                    <a:pt x="3683032" y="0"/>
                  </a:lnTo>
                </a:path>
              </a:pathLst>
            </a:custGeom>
            <a:noFill/>
            <a:ln w="47625">
              <a:solidFill>
                <a:srgbClr val="A3DAB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37468" y="30480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54436" y="5048250"/>
              <a:ext cx="3683032" cy="9525"/>
            </a:xfrm>
            <a:custGeom>
              <a:avLst/>
              <a:gdLst/>
              <a:ahLst/>
              <a:cxnLst/>
              <a:rect l="l" t="t" r="r" b="b"/>
              <a:pathLst>
                <a:path w="3683032" h="9525">
                  <a:moveTo>
                    <a:pt x="0" y="0"/>
                  </a:moveTo>
                  <a:lnTo>
                    <a:pt x="3683032" y="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54436" y="30480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83989" y="3482340"/>
              <a:ext cx="2651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90B8D7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0654" y="3882295"/>
              <a:ext cx="1960602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b="1" dirty="0">
                  <a:solidFill>
                    <a:srgbClr val="F2FAFF"/>
                  </a:solidFill>
                  <a:latin typeface="Segoe UI"/>
                  <a:ea typeface="Microsoft YaHei"/>
                  <a:cs typeface="Segoe UI"/>
                </a:rPr>
                <a:t>驗得出嗎？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2084" y="4439031"/>
              <a:ext cx="15351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4D9E9"/>
                  </a:solidFill>
                  <a:latin typeface="Segoe UI"/>
                  <a:ea typeface="Microsoft YaHei"/>
                  <a:cs typeface="Segoe UI"/>
                </a:rPr>
                <a:t>AC／ AT可核對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27968" y="3048000"/>
              <a:ext cx="3682937" cy="2000250"/>
            </a:xfrm>
            <a:prstGeom prst="roundRect">
              <a:avLst>
                <a:gd name="adj" fmla="val 4762"/>
              </a:avLst>
            </a:prstGeom>
            <a:solidFill>
              <a:srgbClr val="172A3E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127968" y="3048000"/>
              <a:ext cx="3682841" cy="9525"/>
            </a:xfrm>
            <a:custGeom>
              <a:avLst/>
              <a:gdLst/>
              <a:ahLst/>
              <a:cxnLst/>
              <a:rect l="l" t="t" r="r" b="b"/>
              <a:pathLst>
                <a:path w="3682841" h="9525">
                  <a:moveTo>
                    <a:pt x="0" y="0"/>
                  </a:moveTo>
                  <a:lnTo>
                    <a:pt x="3682841" y="0"/>
                  </a:lnTo>
                </a:path>
              </a:pathLst>
            </a:custGeom>
            <a:noFill/>
            <a:ln w="47625">
              <a:solidFill>
                <a:srgbClr val="EFD18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810810" y="30480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127968" y="5048250"/>
              <a:ext cx="3682841" cy="9525"/>
            </a:xfrm>
            <a:custGeom>
              <a:avLst/>
              <a:gdLst/>
              <a:ahLst/>
              <a:cxnLst/>
              <a:rect l="l" t="t" r="r" b="b"/>
              <a:pathLst>
                <a:path w="3682841" h="9525">
                  <a:moveTo>
                    <a:pt x="0" y="0"/>
                  </a:moveTo>
                  <a:lnTo>
                    <a:pt x="3682841" y="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127968" y="304800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9525">
              <a:solidFill>
                <a:srgbClr val="41668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57521" y="3482340"/>
              <a:ext cx="2651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90B8D7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44186" y="3882295"/>
              <a:ext cx="1960602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b="1" dirty="0">
                  <a:solidFill>
                    <a:srgbClr val="F2FAFF"/>
                  </a:solidFill>
                  <a:latin typeface="Segoe UI"/>
                  <a:ea typeface="Microsoft YaHei"/>
                  <a:cs typeface="Segoe UI"/>
                </a:rPr>
                <a:t>缺資料嗎？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5616" y="4439031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4D9E9"/>
                  </a:solidFill>
                  <a:latin typeface="Segoe UI"/>
                  <a:ea typeface="Microsoft YaHei"/>
                  <a:cs typeface="Segoe UI"/>
                </a:rPr>
                <a:t>有疑問就先補票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295900"/>
              <a:ext cx="11430000" cy="544735"/>
            </a:xfrm>
            <a:prstGeom prst="roundRect">
              <a:avLst>
                <a:gd name="adj" fmla="val 10491"/>
              </a:avLst>
            </a:prstGeom>
            <a:solidFill>
              <a:srgbClr val="172736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52959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4B739B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5295900"/>
              <a:ext cx="9525" cy="544735"/>
            </a:xfrm>
            <a:custGeom>
              <a:avLst/>
              <a:gdLst/>
              <a:ahLst/>
              <a:cxnLst/>
              <a:rect l="l" t="t" r="r" b="b"/>
              <a:pathLst>
                <a:path w="9525" h="544735">
                  <a:moveTo>
                    <a:pt x="0" y="0"/>
                  </a:moveTo>
                  <a:lnTo>
                    <a:pt x="0" y="544735"/>
                  </a:lnTo>
                </a:path>
              </a:pathLst>
            </a:custGeom>
            <a:noFill/>
            <a:ln w="9525">
              <a:solidFill>
                <a:srgbClr val="4B739B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584063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4B739B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381000" y="5295900"/>
              <a:ext cx="9525" cy="544735"/>
            </a:xfrm>
            <a:custGeom>
              <a:avLst/>
              <a:gdLst/>
              <a:ahLst/>
              <a:cxnLst/>
              <a:rect l="l" t="t" r="r" b="b"/>
              <a:pathLst>
                <a:path w="9525" h="544735">
                  <a:moveTo>
                    <a:pt x="0" y="0"/>
                  </a:moveTo>
                  <a:lnTo>
                    <a:pt x="0" y="544735"/>
                  </a:lnTo>
                </a:path>
              </a:pathLst>
            </a:custGeom>
            <a:noFill/>
            <a:ln w="38100">
              <a:solidFill>
                <a:srgbClr val="91BDE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5305" y="5464492"/>
              <a:ext cx="93110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1E5F3"/>
                  </a:solidFill>
                  <a:latin typeface="Segoe UI"/>
                  <a:ea typeface="Microsoft YaHei"/>
                  <a:cs typeface="Segoe UI"/>
                </a:rPr>
                <a:t>PO／ Dev核對後才移 Ready。 Refinement持續釐清 Backlog票； Dev／ Review／ QA遇不清楚就回票面。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346710" y="299085"/>
            <a:ext cx="11464290" cy="6061044"/>
            <a:chOff x="346710" y="299085"/>
            <a:chExt cx="11464290" cy="6061044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34961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角色、工作票、狀態、交付物，分別是什麼？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210056"/>
              <a:ext cx="59344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同一張 #3： QA是責任、 #3是工作、驗證中是狀態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754791"/>
              <a:ext cx="11430000" cy="3657600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1754791"/>
              <a:ext cx="3810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7690" y="1960531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類別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191000" y="1754791"/>
              <a:ext cx="3810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77690" y="1960531"/>
              <a:ext cx="11774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#3的例子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0" y="1754791"/>
              <a:ext cx="3810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87690" y="1960531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用來回答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2440591"/>
              <a:ext cx="3810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31787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5785" y="2658713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職能／責任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191000" y="2440591"/>
              <a:ext cx="3810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31787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5785" y="2658713"/>
              <a:ext cx="127415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QA驗行為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2440591"/>
              <a:ext cx="3810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8001000" y="31787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5785" y="2658713"/>
              <a:ext cx="2327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誰負責這種判斷？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317877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81000" y="392172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785" y="3396901"/>
              <a:ext cx="903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工作票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317877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4191000" y="392172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75785" y="3396901"/>
              <a:ext cx="235639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317877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8001000" y="392172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85785" y="3396901"/>
              <a:ext cx="261270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這一項要交付什麼？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92172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81000" y="46646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5785" y="4139851"/>
              <a:ext cx="6191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狀態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91000" y="392172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191000" y="46646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75785" y="4139851"/>
              <a:ext cx="903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驗證中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2172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001000" y="46646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85785" y="4139851"/>
              <a:ext cx="261270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目前工作走到哪裡？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" y="466467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81000" y="540762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5785" y="4882801"/>
              <a:ext cx="903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交付物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191000" y="466467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4191000" y="540762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75785" y="4882801"/>
              <a:ext cx="2327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可核對的測試紀錄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01000" y="4664678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001000" y="540762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85785" y="4882801"/>
              <a:ext cx="261270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交回什麼讓人核對？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" y="5660041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381000" y="5660041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738" y="586721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四類名稱不能互換；流程圖會同時畫到它們。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44" name="Group 144"/>
          <p:cNvGrpSpPr/>
          <p:nvPr/>
        </p:nvGrpSpPr>
        <p:grpSpPr>
          <a:xfrm>
            <a:off x="346710" y="299085"/>
            <a:ext cx="12761475" cy="6387465"/>
            <a:chOff x="346710" y="299085"/>
            <a:chExt cx="1276147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44497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本課示範流程：從 Backlog到 Done</a:t>
              </a:r>
            </a:p>
          </p:txBody>
        </p:sp>
        <p:grpSp>
          <p:nvGrpSpPr>
            <p:cNvPr id="135" name="Group 135"/>
            <p:cNvGrpSpPr/>
            <p:nvPr/>
          </p:nvGrpSpPr>
          <p:grpSpPr>
            <a:xfrm>
              <a:off x="594246" y="1272199"/>
              <a:ext cx="11003503" cy="4108701"/>
              <a:chOff x="594246" y="1272199"/>
              <a:chExt cx="11003503" cy="4108701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4032812" y="1272199"/>
                <a:ext cx="6769678" cy="348211"/>
                <a:chOff x="4032812" y="1272199"/>
                <a:chExt cx="6769678" cy="348211"/>
              </a:xfrm>
            </p:grpSpPr>
            <p:sp>
              <p:nvSpPr>
                <p:cNvPr id="4" name="TextBox 4"/>
                <p:cNvSpPr txBox="1"/>
                <p:nvPr/>
              </p:nvSpPr>
              <p:spPr>
                <a:xfrm>
                  <a:off x="4032812" y="1272199"/>
                  <a:ext cx="629133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Backlog</a:t>
                  </a:r>
                </a:p>
              </p:txBody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5127400" y="1272199"/>
                  <a:ext cx="487122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Ready</a:t>
                  </a:r>
                </a:p>
              </p:txBody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6242871" y="1272199"/>
                  <a:ext cx="303342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Dev</a:t>
                  </a:r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7132795" y="1272199"/>
                  <a:ext cx="570658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Review</a:t>
                  </a:r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8319272" y="1272199"/>
                  <a:ext cx="244867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QA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875051" y="1272199"/>
                  <a:ext cx="1180472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Product Check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0291253" y="1272199"/>
                  <a:ext cx="395232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EAF1F8"/>
                      </a:solidFill>
                      <a:latin typeface="Inter"/>
                      <a:ea typeface="Microsoft JhengHei"/>
                      <a:cs typeface="Inter"/>
                    </a:rPr>
                    <a:t>Done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4154989" y="1451740"/>
                  <a:ext cx="384779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釐清中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5178571" y="1451740"/>
                  <a:ext cx="384779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可開工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202153" y="1451740"/>
                  <a:ext cx="384779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開發中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225734" y="1451740"/>
                  <a:ext cx="384779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審查中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249316" y="1451740"/>
                  <a:ext cx="384779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驗證中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212282" y="1451740"/>
                  <a:ext cx="506011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確認目標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175248" y="1451740"/>
                  <a:ext cx="627242" cy="168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30" dirty="0">
                      <a:solidFill>
                        <a:srgbClr val="9CABBC"/>
                      </a:solidFill>
                      <a:latin typeface="Inter"/>
                      <a:ea typeface="Microsoft JhengHei"/>
                      <a:cs typeface="Inter"/>
                    </a:rPr>
                    <a:t>放行且檢查</a:t>
                  </a:r>
                </a:p>
              </p:txBody>
            </p:sp>
          </p:grpSp>
          <p:grpSp>
            <p:nvGrpSpPr>
              <p:cNvPr id="99" name="Group 99"/>
              <p:cNvGrpSpPr/>
              <p:nvPr/>
            </p:nvGrpSpPr>
            <p:grpSpPr>
              <a:xfrm>
                <a:off x="594246" y="1739007"/>
                <a:ext cx="11003503" cy="2767245"/>
                <a:chOff x="594246" y="1739007"/>
                <a:chExt cx="11003503" cy="276724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2300216" y="3959392"/>
                  <a:ext cx="8572496" cy="500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496" h="500740">
                      <a:moveTo>
                        <a:pt x="1663320" y="0"/>
                      </a:moveTo>
                      <a:lnTo>
                        <a:pt x="119418" y="0"/>
                      </a:lnTo>
                      <a:cubicBezTo>
                        <a:pt x="39806" y="0"/>
                        <a:pt x="0" y="30747"/>
                        <a:pt x="0" y="92242"/>
                      </a:cubicBezTo>
                      <a:lnTo>
                        <a:pt x="0" y="408498"/>
                      </a:lnTo>
                      <a:cubicBezTo>
                        <a:pt x="0" y="469993"/>
                        <a:pt x="39806" y="500740"/>
                        <a:pt x="119418" y="500740"/>
                      </a:cubicBezTo>
                      <a:lnTo>
                        <a:pt x="8453078" y="500740"/>
                      </a:lnTo>
                      <a:cubicBezTo>
                        <a:pt x="8532690" y="500740"/>
                        <a:pt x="8572496" y="469993"/>
                        <a:pt x="8572496" y="408498"/>
                      </a:cubicBezTo>
                      <a:lnTo>
                        <a:pt x="8572496" y="92242"/>
                      </a:lnTo>
                      <a:cubicBezTo>
                        <a:pt x="8572496" y="30747"/>
                        <a:pt x="8532690" y="0"/>
                        <a:pt x="8453078" y="0"/>
                      </a:cubicBezTo>
                      <a:lnTo>
                        <a:pt x="1833917" y="0"/>
                      </a:lnTo>
                    </a:path>
                  </a:pathLst>
                </a:custGeom>
                <a:noFill/>
                <a:ln w="28575" cap="flat">
                  <a:solidFill>
                    <a:srgbClr val="F2CF76"/>
                  </a:solidFill>
                  <a:miter lim="800000"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959022" y="1969610"/>
                  <a:ext cx="29854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545" h="9525">
                      <a:moveTo>
                        <a:pt x="0" y="0"/>
                      </a:moveTo>
                      <a:lnTo>
                        <a:pt x="298545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048834" y="2180448"/>
                  <a:ext cx="9525" cy="2029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29314">
                      <a:moveTo>
                        <a:pt x="0" y="0"/>
                      </a:moveTo>
                      <a:lnTo>
                        <a:pt x="0" y="2029314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048834" y="2826139"/>
                  <a:ext cx="8529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8" h="9525">
                      <a:moveTo>
                        <a:pt x="0" y="0"/>
                      </a:moveTo>
                      <a:lnTo>
                        <a:pt x="85298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48834" y="3517950"/>
                  <a:ext cx="8529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8" h="9525">
                      <a:moveTo>
                        <a:pt x="0" y="0"/>
                      </a:moveTo>
                      <a:lnTo>
                        <a:pt x="85298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048834" y="4209762"/>
                  <a:ext cx="8529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98" h="9525">
                      <a:moveTo>
                        <a:pt x="0" y="0"/>
                      </a:moveTo>
                      <a:lnTo>
                        <a:pt x="85298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60625" y="282613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584207" y="282613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07788" y="282613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7631370" y="282613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654952" y="282613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678533" y="2826139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560625" y="3517950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584207" y="3517950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07788" y="3517950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631370" y="3517950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654952" y="3517950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78533" y="3517950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560625" y="4209762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584207" y="4209762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07788" y="4209762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631370" y="4209762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654952" y="4209762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678533" y="4209762"/>
                  <a:ext cx="59708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089" h="9525">
                      <a:moveTo>
                        <a:pt x="0" y="0"/>
                      </a:moveTo>
                      <a:lnTo>
                        <a:pt x="597089" y="0"/>
                      </a:lnTo>
                    </a:path>
                  </a:pathLst>
                </a:custGeom>
                <a:noFill/>
                <a:ln w="28575" cap="flat">
                  <a:solidFill>
                    <a:srgbClr val="83BCFF"/>
                  </a:solidFill>
                  <a:miter lim="800000"/>
                </a:ln>
              </p:spPr>
            </p:sp>
            <p:sp>
              <p:nvSpPr>
                <p:cNvPr id="43" name="Rectangle 43"/>
                <p:cNvSpPr/>
                <p:nvPr/>
              </p:nvSpPr>
              <p:spPr>
                <a:xfrm>
                  <a:off x="594246" y="1804893"/>
                  <a:ext cx="1364776" cy="329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4776" h="329434">
                      <a:moveTo>
                        <a:pt x="102358" y="0"/>
                      </a:moveTo>
                      <a:lnTo>
                        <a:pt x="1262418" y="0"/>
                      </a:lnTo>
                      <a:cubicBezTo>
                        <a:pt x="1318949" y="0"/>
                        <a:pt x="1364776" y="35398"/>
                        <a:pt x="1364776" y="79064"/>
                      </a:cubicBezTo>
                      <a:lnTo>
                        <a:pt x="1364776" y="250370"/>
                      </a:lnTo>
                      <a:cubicBezTo>
                        <a:pt x="1364776" y="294036"/>
                        <a:pt x="1318949" y="329434"/>
                        <a:pt x="1262418" y="329434"/>
                      </a:cubicBezTo>
                      <a:lnTo>
                        <a:pt x="102358" y="329434"/>
                      </a:lnTo>
                      <a:cubicBezTo>
                        <a:pt x="45827" y="329434"/>
                        <a:pt x="0" y="294036"/>
                        <a:pt x="0" y="250370"/>
                      </a:cubicBezTo>
                      <a:lnTo>
                        <a:pt x="0" y="79064"/>
                      </a:lnTo>
                      <a:cubicBezTo>
                        <a:pt x="0" y="35398"/>
                        <a:pt x="45827" y="0"/>
                        <a:pt x="102358" y="0"/>
                      </a:cubicBezTo>
                      <a:close/>
                    </a:path>
                  </a:pathLst>
                </a:custGeom>
                <a:solidFill>
                  <a:srgbClr val="142235"/>
                </a:solidFill>
                <a:ln w="19050" cap="flat">
                  <a:solidFill>
                    <a:srgbClr val="4C7198"/>
                  </a:solidFill>
                  <a:miter lim="800000"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17823" y="1891535"/>
                  <a:ext cx="1117621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Brainstorming</a:t>
                  </a:r>
                </a:p>
              </p:txBody>
            </p:sp>
            <p:sp>
              <p:nvSpPr>
                <p:cNvPr id="45" name="Rectangle 45"/>
                <p:cNvSpPr/>
                <p:nvPr/>
              </p:nvSpPr>
              <p:spPr>
                <a:xfrm>
                  <a:off x="2257566" y="1739007"/>
                  <a:ext cx="9340183" cy="461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183" h="461208">
                      <a:moveTo>
                        <a:pt x="119418" y="0"/>
                      </a:moveTo>
                      <a:lnTo>
                        <a:pt x="9220765" y="0"/>
                      </a:lnTo>
                      <a:cubicBezTo>
                        <a:pt x="9286718" y="0"/>
                        <a:pt x="9340183" y="41298"/>
                        <a:pt x="9340183" y="92242"/>
                      </a:cubicBezTo>
                      <a:lnTo>
                        <a:pt x="9340183" y="368966"/>
                      </a:lnTo>
                      <a:cubicBezTo>
                        <a:pt x="9340183" y="419910"/>
                        <a:pt x="9286718" y="461208"/>
                        <a:pt x="9220765" y="461208"/>
                      </a:cubicBezTo>
                      <a:lnTo>
                        <a:pt x="119418" y="461208"/>
                      </a:lnTo>
                      <a:cubicBezTo>
                        <a:pt x="53465" y="461208"/>
                        <a:pt x="0" y="419910"/>
                        <a:pt x="0" y="368966"/>
                      </a:cubicBezTo>
                      <a:lnTo>
                        <a:pt x="0" y="92242"/>
                      </a:lnTo>
                      <a:cubicBezTo>
                        <a:pt x="0" y="41298"/>
                        <a:pt x="53465" y="0"/>
                        <a:pt x="119418" y="0"/>
                      </a:cubicBezTo>
                      <a:close/>
                    </a:path>
                  </a:pathLst>
                </a:custGeom>
                <a:solidFill>
                  <a:srgbClr val="14231B"/>
                </a:solidFill>
                <a:ln w="23812" cap="flat">
                  <a:solidFill>
                    <a:srgbClr val="6EA87D"/>
                  </a:solidFill>
                  <a:miter lim="800000"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5619071" y="1869133"/>
                  <a:ext cx="2608644" cy="2635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97" b="1" dirty="0">
                      <a:solidFill>
                        <a:srgbClr val="F3F6FA"/>
                      </a:solidFill>
                      <a:latin typeface="Inter"/>
                      <a:ea typeface="Microsoft JhengHei"/>
                      <a:cs typeface="Inter"/>
                    </a:rPr>
                    <a:t>Goal：互相喜歡才算配對成功</a:t>
                  </a:r>
                </a:p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9618824" y="2944735"/>
                  <a:ext cx="1680380" cy="177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80" h="177894">
                      <a:moveTo>
                        <a:pt x="0" y="0"/>
                      </a:moveTo>
                      <a:lnTo>
                        <a:pt x="0" y="177894"/>
                      </a:lnTo>
                      <a:lnTo>
                        <a:pt x="1680380" y="177894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618824" y="3636547"/>
                  <a:ext cx="1680380" cy="177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80" h="177894">
                      <a:moveTo>
                        <a:pt x="0" y="0"/>
                      </a:moveTo>
                      <a:lnTo>
                        <a:pt x="0" y="177894"/>
                      </a:lnTo>
                      <a:lnTo>
                        <a:pt x="1680380" y="177894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618824" y="4328358"/>
                  <a:ext cx="1680380" cy="177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0380" h="177894">
                      <a:moveTo>
                        <a:pt x="0" y="0"/>
                      </a:moveTo>
                      <a:lnTo>
                        <a:pt x="0" y="177894"/>
                      </a:lnTo>
                      <a:lnTo>
                        <a:pt x="1680380" y="177894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1299204" y="2200214"/>
                  <a:ext cx="9525" cy="2306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06038">
                      <a:moveTo>
                        <a:pt x="0" y="23060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3338" cap="flat">
                  <a:solidFill>
                    <a:srgbClr val="F2CF76"/>
                  </a:solidFill>
                  <a:prstDash val="sysDash"/>
                  <a:miter lim="800000"/>
                </a:ln>
              </p:spPr>
            </p:sp>
            <p:grpSp>
              <p:nvGrpSpPr>
                <p:cNvPr id="66" name="Group 66"/>
                <p:cNvGrpSpPr/>
                <p:nvPr/>
              </p:nvGrpSpPr>
              <p:grpSpPr>
                <a:xfrm>
                  <a:off x="2613086" y="2661422"/>
                  <a:ext cx="8089029" cy="329434"/>
                  <a:chOff x="2613086" y="2661422"/>
                  <a:chExt cx="8089029" cy="329434"/>
                </a:xfrm>
              </p:grpSpPr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2613086" y="2748063"/>
                    <a:ext cx="1080229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b="1" dirty="0">
                        <a:solidFill>
                          <a:srgbClr val="DCE7F3"/>
                        </a:solidFill>
                        <a:latin typeface="Inter"/>
                        <a:ea typeface="Microsoft JhengHei"/>
                        <a:cs typeface="Inter"/>
                      </a:rPr>
                      <a:t>#1 Like／Pass</a:t>
                    </a:r>
                  </a:p>
                </p:txBody>
              </p:sp>
              <p:sp>
                <p:nvSpPr>
                  <p:cNvPr id="52" name="Ellipse 52"/>
                  <p:cNvSpPr/>
                  <p:nvPr/>
                </p:nvSpPr>
                <p:spPr>
                  <a:xfrm>
                    <a:off x="4134133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3" name="Ellipse 53"/>
                  <p:cNvSpPr/>
                  <p:nvPr/>
                </p:nvSpPr>
                <p:spPr>
                  <a:xfrm>
                    <a:off x="5157714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4" name="Ellipse 54"/>
                  <p:cNvSpPr/>
                  <p:nvPr/>
                </p:nvSpPr>
                <p:spPr>
                  <a:xfrm>
                    <a:off x="6181296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5" name="Ellipse 55"/>
                  <p:cNvSpPr/>
                  <p:nvPr/>
                </p:nvSpPr>
                <p:spPr>
                  <a:xfrm>
                    <a:off x="7204878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6" name="Ellipse 56"/>
                  <p:cNvSpPr/>
                  <p:nvPr/>
                </p:nvSpPr>
                <p:spPr>
                  <a:xfrm>
                    <a:off x="8228459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7" name="Ellipse 57"/>
                  <p:cNvSpPr/>
                  <p:nvPr/>
                </p:nvSpPr>
                <p:spPr>
                  <a:xfrm>
                    <a:off x="9252041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8" name="Ellipse 58"/>
                  <p:cNvSpPr/>
                  <p:nvPr/>
                </p:nvSpPr>
                <p:spPr>
                  <a:xfrm>
                    <a:off x="10275623" y="2661422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4265918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5289500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6313081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7336663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8360245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9383826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10407408" y="2748063"/>
                    <a:ext cx="162922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#1</a:t>
                    </a:r>
                  </a:p>
                </p:txBody>
              </p:sp>
            </p:grpSp>
            <p:grpSp>
              <p:nvGrpSpPr>
                <p:cNvPr id="82" name="Group 82"/>
                <p:cNvGrpSpPr/>
                <p:nvPr/>
              </p:nvGrpSpPr>
              <p:grpSpPr>
                <a:xfrm>
                  <a:off x="2688268" y="3353233"/>
                  <a:ext cx="8013847" cy="329434"/>
                  <a:chOff x="2688268" y="3353233"/>
                  <a:chExt cx="8013847" cy="329434"/>
                </a:xfrm>
              </p:grpSpPr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2688268" y="3439875"/>
                    <a:ext cx="929864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b="1" dirty="0">
                        <a:solidFill>
                          <a:srgbClr val="DCE7F3"/>
                        </a:solidFill>
                        <a:latin typeface="Inter"/>
                        <a:ea typeface="Microsoft JhengHei"/>
                        <a:cs typeface="Inter"/>
                      </a:rPr>
                      <a:t>#2 配對列表</a:t>
                    </a:r>
                  </a:p>
                </p:txBody>
              </p:sp>
              <p:sp>
                <p:nvSpPr>
                  <p:cNvPr id="68" name="Ellipse 68"/>
                  <p:cNvSpPr/>
                  <p:nvPr/>
                </p:nvSpPr>
                <p:spPr>
                  <a:xfrm>
                    <a:off x="4134133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69" name="Ellipse 69"/>
                  <p:cNvSpPr/>
                  <p:nvPr/>
                </p:nvSpPr>
                <p:spPr>
                  <a:xfrm>
                    <a:off x="5157714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0" name="Ellipse 70"/>
                  <p:cNvSpPr/>
                  <p:nvPr/>
                </p:nvSpPr>
                <p:spPr>
                  <a:xfrm>
                    <a:off x="6181296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1" name="Ellipse 71"/>
                  <p:cNvSpPr/>
                  <p:nvPr/>
                </p:nvSpPr>
                <p:spPr>
                  <a:xfrm>
                    <a:off x="7204878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2" name="Ellipse 72"/>
                  <p:cNvSpPr/>
                  <p:nvPr/>
                </p:nvSpPr>
                <p:spPr>
                  <a:xfrm>
                    <a:off x="8228459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3" name="Ellipse 73"/>
                  <p:cNvSpPr/>
                  <p:nvPr/>
                </p:nvSpPr>
                <p:spPr>
                  <a:xfrm>
                    <a:off x="9252041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4" name="Ellipse 74"/>
                  <p:cNvSpPr/>
                  <p:nvPr/>
                </p:nvSpPr>
                <p:spPr>
                  <a:xfrm>
                    <a:off x="10275623" y="3353233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75" name="TextBox 75"/>
                  <p:cNvSpPr txBox="1"/>
                  <p:nvPr/>
                </p:nvSpPr>
                <p:spPr>
                  <a:xfrm>
                    <a:off x="4246028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6" name="TextBox 76"/>
                  <p:cNvSpPr txBox="1"/>
                  <p:nvPr/>
                </p:nvSpPr>
                <p:spPr>
                  <a:xfrm>
                    <a:off x="5269610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7" name="TextBox 77"/>
                  <p:cNvSpPr txBox="1"/>
                  <p:nvPr/>
                </p:nvSpPr>
                <p:spPr>
                  <a:xfrm>
                    <a:off x="6293192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8" name="TextBox 78"/>
                  <p:cNvSpPr txBox="1"/>
                  <p:nvPr/>
                </p:nvSpPr>
                <p:spPr>
                  <a:xfrm>
                    <a:off x="7316773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79" name="TextBox 79"/>
                  <p:cNvSpPr txBox="1"/>
                  <p:nvPr/>
                </p:nvSpPr>
                <p:spPr>
                  <a:xfrm>
                    <a:off x="8340355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80" name="TextBox 80"/>
                  <p:cNvSpPr txBox="1"/>
                  <p:nvPr/>
                </p:nvSpPr>
                <p:spPr>
                  <a:xfrm>
                    <a:off x="9363937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  <p:sp>
                <p:nvSpPr>
                  <p:cNvPr id="81" name="TextBox 81"/>
                  <p:cNvSpPr txBox="1"/>
                  <p:nvPr/>
                </p:nvSpPr>
                <p:spPr>
                  <a:xfrm>
                    <a:off x="10387518" y="3439875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#2</a:t>
                    </a:r>
                  </a:p>
                </p:txBody>
              </p:sp>
            </p:grpSp>
            <p:grpSp>
              <p:nvGrpSpPr>
                <p:cNvPr id="98" name="Group 98"/>
                <p:cNvGrpSpPr/>
                <p:nvPr/>
              </p:nvGrpSpPr>
              <p:grpSpPr>
                <a:xfrm>
                  <a:off x="2437660" y="4045045"/>
                  <a:ext cx="8264455" cy="329434"/>
                  <a:chOff x="2437660" y="4045045"/>
                  <a:chExt cx="8264455" cy="329434"/>
                </a:xfrm>
              </p:grpSpPr>
              <p:sp>
                <p:nvSpPr>
                  <p:cNvPr id="83" name="TextBox 83"/>
                  <p:cNvSpPr txBox="1"/>
                  <p:nvPr/>
                </p:nvSpPr>
                <p:spPr>
                  <a:xfrm>
                    <a:off x="2437660" y="4131686"/>
                    <a:ext cx="143108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b="1" dirty="0">
                        <a:solidFill>
                          <a:srgbClr val="DCE7F3"/>
                        </a:solidFill>
                        <a:latin typeface="Inter"/>
                        <a:ea typeface="Microsoft JhengHei"/>
                        <a:cs typeface="Inter"/>
                      </a:rPr>
                      <a:t>#3 雙向喜歡才配對</a:t>
                    </a:r>
                  </a:p>
                </p:txBody>
              </p:sp>
              <p:sp>
                <p:nvSpPr>
                  <p:cNvPr id="84" name="Ellipse 84"/>
                  <p:cNvSpPr/>
                  <p:nvPr/>
                </p:nvSpPr>
                <p:spPr>
                  <a:xfrm>
                    <a:off x="4134133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5" name="Ellipse 85"/>
                  <p:cNvSpPr/>
                  <p:nvPr/>
                </p:nvSpPr>
                <p:spPr>
                  <a:xfrm>
                    <a:off x="5157714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6" name="Ellipse 86"/>
                  <p:cNvSpPr/>
                  <p:nvPr/>
                </p:nvSpPr>
                <p:spPr>
                  <a:xfrm>
                    <a:off x="6181296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7" name="Ellipse 87"/>
                  <p:cNvSpPr/>
                  <p:nvPr/>
                </p:nvSpPr>
                <p:spPr>
                  <a:xfrm>
                    <a:off x="7204878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8" name="Ellipse 88"/>
                  <p:cNvSpPr/>
                  <p:nvPr/>
                </p:nvSpPr>
                <p:spPr>
                  <a:xfrm>
                    <a:off x="8228459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89" name="Ellipse 89"/>
                  <p:cNvSpPr/>
                  <p:nvPr/>
                </p:nvSpPr>
                <p:spPr>
                  <a:xfrm>
                    <a:off x="9252041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90" name="Ellipse 90"/>
                  <p:cNvSpPr/>
                  <p:nvPr/>
                </p:nvSpPr>
                <p:spPr>
                  <a:xfrm>
                    <a:off x="10275623" y="4045045"/>
                    <a:ext cx="426492" cy="329434"/>
                  </a:xfrm>
                  <a:prstGeom prst="ellipse">
                    <a:avLst/>
                  </a:prstGeom>
                  <a:solidFill>
                    <a:srgbClr val="142235"/>
                  </a:solidFill>
                  <a:ln w="19050" cap="flat">
                    <a:solidFill>
                      <a:srgbClr val="83BCFF"/>
                    </a:solidFill>
                    <a:miter lim="800000"/>
                  </a:ln>
                </p:spPr>
              </p:sp>
              <p:sp>
                <p:nvSpPr>
                  <p:cNvPr id="91" name="TextBox 91"/>
                  <p:cNvSpPr txBox="1"/>
                  <p:nvPr/>
                </p:nvSpPr>
                <p:spPr>
                  <a:xfrm>
                    <a:off x="4246028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2" name="TextBox 92"/>
                  <p:cNvSpPr txBox="1"/>
                  <p:nvPr/>
                </p:nvSpPr>
                <p:spPr>
                  <a:xfrm>
                    <a:off x="5269610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3" name="TextBox 93"/>
                  <p:cNvSpPr txBox="1"/>
                  <p:nvPr/>
                </p:nvSpPr>
                <p:spPr>
                  <a:xfrm>
                    <a:off x="6293192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4" name="TextBox 94"/>
                  <p:cNvSpPr txBox="1"/>
                  <p:nvPr/>
                </p:nvSpPr>
                <p:spPr>
                  <a:xfrm>
                    <a:off x="7316773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5" name="TextBox 95"/>
                  <p:cNvSpPr txBox="1"/>
                  <p:nvPr/>
                </p:nvSpPr>
                <p:spPr>
                  <a:xfrm>
                    <a:off x="8340355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6" name="TextBox 96"/>
                  <p:cNvSpPr txBox="1"/>
                  <p:nvPr/>
                </p:nvSpPr>
                <p:spPr>
                  <a:xfrm>
                    <a:off x="9363937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  <p:sp>
                <p:nvSpPr>
                  <p:cNvPr id="97" name="TextBox 97"/>
                  <p:cNvSpPr txBox="1"/>
                  <p:nvPr/>
                </p:nvSpPr>
                <p:spPr>
                  <a:xfrm>
                    <a:off x="10387518" y="4131686"/>
                    <a:ext cx="202701" cy="2213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89" dirty="0">
                        <a:solidFill>
                          <a:srgbClr val="F3F6FA"/>
                        </a:solidFill>
                        <a:latin typeface="Inter"/>
                        <a:ea typeface="Microsoft JhengHei"/>
                        <a:cs typeface="Inter"/>
                      </a:rPr>
                      <a:t>#3</a:t>
                    </a:r>
                  </a:p>
                </p:txBody>
              </p:sp>
            </p:grpSp>
          </p:grpSp>
          <p:grpSp>
            <p:nvGrpSpPr>
              <p:cNvPr id="106" name="Group 106"/>
              <p:cNvGrpSpPr/>
              <p:nvPr/>
            </p:nvGrpSpPr>
            <p:grpSpPr>
              <a:xfrm>
                <a:off x="4347379" y="2405452"/>
                <a:ext cx="5117908" cy="2975448"/>
                <a:chOff x="4347379" y="2405452"/>
                <a:chExt cx="5117908" cy="2975448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7418124" y="4374479"/>
                  <a:ext cx="1023582" cy="2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582" h="256959">
                      <a:moveTo>
                        <a:pt x="0" y="0"/>
                      </a:moveTo>
                      <a:lnTo>
                        <a:pt x="0" y="256959"/>
                      </a:lnTo>
                      <a:moveTo>
                        <a:pt x="1023582" y="0"/>
                      </a:moveTo>
                      <a:lnTo>
                        <a:pt x="1023582" y="256959"/>
                      </a:lnTo>
                    </a:path>
                  </a:pathLst>
                </a:custGeom>
                <a:noFill/>
                <a:ln w="38100" cap="flat">
                  <a:solidFill>
                    <a:srgbClr val="FF9289"/>
                  </a:solidFill>
                  <a:miter lim="800000"/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6394542" y="4374479"/>
                  <a:ext cx="2047163" cy="2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163" h="256959">
                      <a:moveTo>
                        <a:pt x="2047163" y="256959"/>
                      </a:moveTo>
                      <a:lnTo>
                        <a:pt x="51179" y="256959"/>
                      </a:lnTo>
                      <a:cubicBezTo>
                        <a:pt x="17060" y="256959"/>
                        <a:pt x="0" y="243781"/>
                        <a:pt x="0" y="217426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 cap="flat">
                  <a:solidFill>
                    <a:srgbClr val="FF9289"/>
                  </a:solidFill>
                  <a:miter lim="800000"/>
                </a:ln>
              </p:spPr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6585632" y="4704901"/>
                  <a:ext cx="1664983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FFB1AA"/>
                      </a:solidFill>
                      <a:latin typeface="Inter"/>
                      <a:ea typeface="Microsoft JhengHei"/>
                      <a:cs typeface="Inter"/>
                    </a:rPr>
                    <a:t>Review／QA 退回 Dev</a:t>
                  </a:r>
                </a:p>
              </p:txBody>
            </p:sp>
            <p:sp>
              <p:nvSpPr>
                <p:cNvPr id="103" name="Freeform 103"/>
                <p:cNvSpPr/>
                <p:nvPr/>
              </p:nvSpPr>
              <p:spPr>
                <a:xfrm>
                  <a:off x="4347379" y="4374479"/>
                  <a:ext cx="5117908" cy="704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7908" h="704989">
                      <a:moveTo>
                        <a:pt x="5117908" y="0"/>
                      </a:moveTo>
                      <a:lnTo>
                        <a:pt x="5117908" y="665457"/>
                      </a:lnTo>
                      <a:cubicBezTo>
                        <a:pt x="5117908" y="691811"/>
                        <a:pt x="5100849" y="704989"/>
                        <a:pt x="5066729" y="704989"/>
                      </a:cubicBezTo>
                      <a:lnTo>
                        <a:pt x="51179" y="704989"/>
                      </a:lnTo>
                      <a:cubicBezTo>
                        <a:pt x="17060" y="704989"/>
                        <a:pt x="0" y="691811"/>
                        <a:pt x="0" y="665457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 cap="flat">
                  <a:solidFill>
                    <a:srgbClr val="FF9289"/>
                  </a:solidFill>
                  <a:miter lim="800000"/>
                </a:ln>
              </p:spPr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5798172" y="5159520"/>
                  <a:ext cx="2216322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FFB1AA"/>
                      </a:solidFill>
                      <a:latin typeface="Inter"/>
                      <a:ea typeface="Microsoft JhengHei"/>
                      <a:cs typeface="Inter"/>
                    </a:rPr>
                    <a:t>Product Check 退回 Backlog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5839940" y="2405452"/>
                  <a:ext cx="2132786" cy="2213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89" b="1" dirty="0">
                      <a:solidFill>
                        <a:srgbClr val="F2CF76"/>
                      </a:solidFill>
                      <a:latin typeface="Inter"/>
                      <a:ea typeface="Microsoft JhengHei"/>
                      <a:cs typeface="Inter"/>
                    </a:rPr>
                    <a:t>#3 回查 Goal（re-anchor）</a:t>
                  </a:r>
                </a:p>
              </p:txBody>
            </p:sp>
          </p:grpSp>
          <p:sp>
            <p:nvSpPr>
              <p:cNvPr id="107" name="Freeform 107"/>
              <p:cNvSpPr/>
              <p:nvPr/>
            </p:nvSpPr>
            <p:spPr>
              <a:xfrm>
                <a:off x="2214354" y="194842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4090921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4090921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4090921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5114502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138084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161666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185247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9208829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10232411" y="280495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5114502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6138084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7161666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8185247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9208829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10232411" y="3496768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5114502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6138084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7161666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185247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9208829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10232411" y="418858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11255992" y="3101447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11255992" y="3793259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11255992" y="4485070"/>
                <a:ext cx="43212" cy="42365"/>
              </a:xfrm>
              <a:custGeom>
                <a:avLst/>
                <a:gdLst/>
                <a:ahLst/>
                <a:cxnLst/>
                <a:rect l="l" t="t" r="r" b="b"/>
                <a:pathLst>
                  <a:path w="43212" h="42365">
                    <a:moveTo>
                      <a:pt x="0" y="42365"/>
                    </a:moveTo>
                    <a:lnTo>
                      <a:pt x="43212" y="21182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11271781" y="2200214"/>
                <a:ext cx="54846" cy="33378"/>
              </a:xfrm>
              <a:custGeom>
                <a:avLst/>
                <a:gdLst/>
                <a:ahLst/>
                <a:cxnLst/>
                <a:rect l="l" t="t" r="r" b="b"/>
                <a:pathLst>
                  <a:path w="54846" h="33378">
                    <a:moveTo>
                      <a:pt x="54846" y="33378"/>
                    </a:moveTo>
                    <a:lnTo>
                      <a:pt x="27423" y="0"/>
                    </a:lnTo>
                    <a:lnTo>
                      <a:pt x="0" y="33378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6367119" y="4374479"/>
                <a:ext cx="54846" cy="33378"/>
              </a:xfrm>
              <a:custGeom>
                <a:avLst/>
                <a:gdLst/>
                <a:ahLst/>
                <a:cxnLst/>
                <a:rect l="l" t="t" r="r" b="b"/>
                <a:pathLst>
                  <a:path w="54846" h="33378">
                    <a:moveTo>
                      <a:pt x="54846" y="33378"/>
                    </a:moveTo>
                    <a:lnTo>
                      <a:pt x="27423" y="0"/>
                    </a:lnTo>
                    <a:lnTo>
                      <a:pt x="0" y="33378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4319956" y="4374479"/>
                <a:ext cx="54846" cy="33378"/>
              </a:xfrm>
              <a:custGeom>
                <a:avLst/>
                <a:gdLst/>
                <a:ahLst/>
                <a:cxnLst/>
                <a:rect l="l" t="t" r="r" b="b"/>
                <a:pathLst>
                  <a:path w="54846" h="33378">
                    <a:moveTo>
                      <a:pt x="54846" y="33378"/>
                    </a:moveTo>
                    <a:lnTo>
                      <a:pt x="27423" y="0"/>
                    </a:lnTo>
                    <a:lnTo>
                      <a:pt x="0" y="33378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</p:grpSp>
        <p:sp>
          <p:nvSpPr>
            <p:cNvPr id="136" name="Rectangle 136"/>
            <p:cNvSpPr/>
            <p:nvPr/>
          </p:nvSpPr>
          <p:spPr>
            <a:xfrm>
              <a:off x="381000" y="5157978"/>
              <a:ext cx="11430000" cy="474345"/>
            </a:xfrm>
            <a:prstGeom prst="roundRect">
              <a:avLst>
                <a:gd name="adj" fmla="val 16064"/>
              </a:avLst>
            </a:prstGeom>
            <a:solidFill>
              <a:srgbClr val="172A3D"/>
            </a:solidFill>
            <a:ln w="9525">
              <a:solidFill>
                <a:srgbClr val="476486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507682" y="5306092"/>
              <a:ext cx="32683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6E8FC"/>
                  </a:solidFill>
                  <a:latin typeface="Segoe UI"/>
                  <a:ea typeface="Microsoft YaHei"/>
                  <a:cs typeface="Segoe UI"/>
                </a:rPr>
                <a:t>1／ 3｜先看 #3雙向配對一路經過關卡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9710166" y="5253228"/>
              <a:ext cx="1957959" cy="283845"/>
            </a:xfrm>
            <a:prstGeom prst="rect">
              <a:avLst/>
            </a:prstGeom>
            <a:solidFill>
              <a:srgbClr val="6B6B6B"/>
            </a:solidFill>
            <a:ln w="19050">
              <a:solidFill>
                <a:srgbClr val="FFFFFF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9641562" y="5287042"/>
              <a:ext cx="20951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D8EAFF"/>
                  </a:solidFill>
                  <a:latin typeface="Segoe UI"/>
                  <a:ea typeface="Microsoft YaHei"/>
                  <a:cs typeface="Segoe UI"/>
                </a:rPr>
                <a:t>下一步：展開退回路徑→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381000" y="5822728"/>
              <a:ext cx="11430000" cy="863822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141" name="Line 141"/>
            <p:cNvSpPr/>
            <p:nvPr/>
          </p:nvSpPr>
          <p:spPr>
            <a:xfrm>
              <a:off x="381000" y="5822728"/>
              <a:ext cx="9525" cy="863822"/>
            </a:xfrm>
            <a:custGeom>
              <a:avLst/>
              <a:gdLst/>
              <a:ahLst/>
              <a:cxnLst/>
              <a:rect l="l" t="t" r="r" b="b"/>
              <a:pathLst>
                <a:path w="9525" h="863822">
                  <a:moveTo>
                    <a:pt x="0" y="0"/>
                  </a:moveTo>
                  <a:lnTo>
                    <a:pt x="0" y="863822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530542" y="5969889"/>
              <a:ext cx="1257764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Product Check核對是否推進 Goal（實作問題回 Dev；需求問題回 Backlog）； Human Gate決定現在可否發布。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530542" y="6287548"/>
              <a:ext cx="694686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兩者可同人負責， Gate不設看板欄。已開工票退回仍計 WIP。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46710" y="299085"/>
            <a:ext cx="11851957" cy="4458557"/>
            <a:chOff x="346710" y="299085"/>
            <a:chExt cx="11851957" cy="445855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3765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Sprint與 Kanban：固定節奏與持續拉票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778347"/>
              <a:ext cx="5619750" cy="1979295"/>
            </a:xfrm>
            <a:prstGeom prst="roundRect">
              <a:avLst>
                <a:gd name="adj" fmla="val 673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81038" y="3161728"/>
              <a:ext cx="529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Sprint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0560" y="3510820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固定時間盒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275" y="3938397"/>
              <a:ext cx="35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在固定週期內規劃與檢視一批工作。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91250" y="2778347"/>
              <a:ext cx="5619750" cy="1979295"/>
            </a:xfrm>
            <a:prstGeom prst="roundRect">
              <a:avLst>
                <a:gd name="adj" fmla="val 6737"/>
              </a:avLst>
            </a:prstGeom>
            <a:solidFill>
              <a:srgbClr val="122219"/>
            </a:solidFill>
            <a:ln w="9525">
              <a:solidFill>
                <a:srgbClr val="3E654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91288" y="3161728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本課：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91288" y="3361754"/>
              <a:ext cx="570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Kanban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80810" y="3510820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持續拉票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86525" y="3938397"/>
              <a:ext cx="57121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工作持續流動；目前 WIP是已開始未完成的票數；本課交付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86525" y="4205097"/>
              <a:ext cx="33899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上限： 1，當下 0/1（尚未開工）。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348615" y="296228"/>
            <a:ext cx="11471720" cy="6390322"/>
            <a:chOff x="348615" y="296228"/>
            <a:chExt cx="11471720" cy="6390322"/>
          </a:xfrm>
        </p:grpSpPr>
        <p:sp>
          <p:nvSpPr>
            <p:cNvPr id="3" name="TextBox 3"/>
            <p:cNvSpPr txBox="1"/>
            <p:nvPr/>
          </p:nvSpPr>
          <p:spPr>
            <a:xfrm>
              <a:off x="348615" y="296228"/>
              <a:ext cx="655618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WIP在數什麼？目前數量與上限的差別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61060"/>
              <a:ext cx="711746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本課 WIP政策：開始且未完成的票才計入；上限由團隊決定。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405795"/>
              <a:ext cx="3682937" cy="4442365"/>
            </a:xfrm>
            <a:prstGeom prst="roundRect">
              <a:avLst>
                <a:gd name="adj" fmla="val 2845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405795"/>
              <a:ext cx="3682937" cy="9525"/>
            </a:xfrm>
            <a:custGeom>
              <a:avLst/>
              <a:gdLst/>
              <a:ahLst/>
              <a:cxnLst/>
              <a:rect l="l" t="t" r="r" b="b"/>
              <a:pathLst>
                <a:path w="3682937" h="9525">
                  <a:moveTo>
                    <a:pt x="0" y="0"/>
                  </a:moveTo>
                  <a:lnTo>
                    <a:pt x="3682937" y="0"/>
                  </a:lnTo>
                </a:path>
              </a:pathLst>
            </a:custGeom>
            <a:noFill/>
            <a:ln w="47625">
              <a:solidFill>
                <a:srgbClr val="8CBEF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63937" y="1405795"/>
              <a:ext cx="9525" cy="4442365"/>
            </a:xfrm>
            <a:custGeom>
              <a:avLst/>
              <a:gdLst/>
              <a:ahLst/>
              <a:cxnLst/>
              <a:rect l="l" t="t" r="r" b="b"/>
              <a:pathLst>
                <a:path w="9525" h="4442365">
                  <a:moveTo>
                    <a:pt x="0" y="0"/>
                  </a:moveTo>
                  <a:lnTo>
                    <a:pt x="0" y="4442365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848160"/>
              <a:ext cx="3682937" cy="9525"/>
            </a:xfrm>
            <a:custGeom>
              <a:avLst/>
              <a:gdLst/>
              <a:ahLst/>
              <a:cxnLst/>
              <a:rect l="l" t="t" r="r" b="b"/>
              <a:pathLst>
                <a:path w="3682937" h="9525">
                  <a:moveTo>
                    <a:pt x="0" y="0"/>
                  </a:moveTo>
                  <a:lnTo>
                    <a:pt x="3682937" y="0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405795"/>
              <a:ext cx="9525" cy="4442365"/>
            </a:xfrm>
            <a:custGeom>
              <a:avLst/>
              <a:gdLst/>
              <a:ahLst/>
              <a:cxnLst/>
              <a:rect l="l" t="t" r="r" b="b"/>
              <a:pathLst>
                <a:path w="9525" h="4442365">
                  <a:moveTo>
                    <a:pt x="0" y="0"/>
                  </a:moveTo>
                  <a:lnTo>
                    <a:pt x="0" y="4442365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2380" y="2863310"/>
              <a:ext cx="25601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4D4ED"/>
                  </a:solidFill>
                  <a:latin typeface="Segoe UI"/>
                  <a:ea typeface="Microsoft YaHei"/>
                  <a:cs typeface="Segoe UI"/>
                </a:rPr>
                <a:t>尚未開始｜ #3在 Ready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4484" y="3377279"/>
              <a:ext cx="1275778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550" dirty="0">
                  <a:solidFill>
                    <a:srgbClr val="EFF9FF"/>
                  </a:solidFill>
                  <a:latin typeface="Segoe UI"/>
                  <a:ea typeface="Microsoft YaHei"/>
                  <a:cs typeface="Segoe UI"/>
                </a:rPr>
                <a:t>0/1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5513" y="4220146"/>
              <a:ext cx="175371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C9DBED"/>
                  </a:solidFill>
                  <a:latin typeface="Segoe UI"/>
                  <a:ea typeface="Microsoft YaHei"/>
                  <a:cs typeface="Segoe UI"/>
                </a:rPr>
                <a:t>進行中 0／上限 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54436" y="1405795"/>
              <a:ext cx="3683032" cy="4442365"/>
            </a:xfrm>
            <a:prstGeom prst="roundRect">
              <a:avLst>
                <a:gd name="adj" fmla="val 2845"/>
              </a:avLst>
            </a:prstGeom>
            <a:solidFill>
              <a:srgbClr val="182E24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254436" y="1405795"/>
              <a:ext cx="3683032" cy="9525"/>
            </a:xfrm>
            <a:custGeom>
              <a:avLst/>
              <a:gdLst/>
              <a:ahLst/>
              <a:cxnLst/>
              <a:rect l="l" t="t" r="r" b="b"/>
              <a:pathLst>
                <a:path w="3683032" h="9525">
                  <a:moveTo>
                    <a:pt x="0" y="0"/>
                  </a:moveTo>
                  <a:lnTo>
                    <a:pt x="3683032" y="0"/>
                  </a:lnTo>
                </a:path>
              </a:pathLst>
            </a:custGeom>
            <a:noFill/>
            <a:ln w="47625">
              <a:solidFill>
                <a:srgbClr val="91DBAE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937468" y="1405795"/>
              <a:ext cx="9525" cy="4442365"/>
            </a:xfrm>
            <a:custGeom>
              <a:avLst/>
              <a:gdLst/>
              <a:ahLst/>
              <a:cxnLst/>
              <a:rect l="l" t="t" r="r" b="b"/>
              <a:pathLst>
                <a:path w="9525" h="4442365">
                  <a:moveTo>
                    <a:pt x="0" y="0"/>
                  </a:moveTo>
                  <a:lnTo>
                    <a:pt x="0" y="4442365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254436" y="5848160"/>
              <a:ext cx="3683032" cy="9525"/>
            </a:xfrm>
            <a:custGeom>
              <a:avLst/>
              <a:gdLst/>
              <a:ahLst/>
              <a:cxnLst/>
              <a:rect l="l" t="t" r="r" b="b"/>
              <a:pathLst>
                <a:path w="3683032" h="9525">
                  <a:moveTo>
                    <a:pt x="0" y="0"/>
                  </a:moveTo>
                  <a:lnTo>
                    <a:pt x="3683032" y="0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54436" y="1405795"/>
              <a:ext cx="9525" cy="4442365"/>
            </a:xfrm>
            <a:custGeom>
              <a:avLst/>
              <a:gdLst/>
              <a:ahLst/>
              <a:cxnLst/>
              <a:rect l="l" t="t" r="r" b="b"/>
              <a:pathLst>
                <a:path w="9525" h="4442365">
                  <a:moveTo>
                    <a:pt x="0" y="0"/>
                  </a:moveTo>
                  <a:lnTo>
                    <a:pt x="0" y="4442365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68848" y="2863310"/>
              <a:ext cx="20541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4D4ED"/>
                  </a:solidFill>
                  <a:latin typeface="Segoe UI"/>
                  <a:ea typeface="Microsoft YaHei"/>
                  <a:cs typeface="Segoe UI"/>
                </a:rPr>
                <a:t>已開始｜ #3在 Dev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59242" y="3377279"/>
              <a:ext cx="1073134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550" dirty="0">
                  <a:solidFill>
                    <a:srgbClr val="EFF9FF"/>
                  </a:solidFill>
                  <a:latin typeface="Segoe UI"/>
                  <a:ea typeface="Microsoft YaHei"/>
                  <a:cs typeface="Segoe UI"/>
                </a:rPr>
                <a:t>1/1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47799" y="4220146"/>
              <a:ext cx="16962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C9DBED"/>
                  </a:solidFill>
                  <a:latin typeface="Segoe UI"/>
                  <a:ea typeface="Microsoft YaHei"/>
                  <a:cs typeface="Segoe UI"/>
                </a:rPr>
                <a:t>進行中 1／上限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27968" y="1405795"/>
              <a:ext cx="3682937" cy="4442365"/>
            </a:xfrm>
            <a:prstGeom prst="roundRect">
              <a:avLst>
                <a:gd name="adj" fmla="val 2845"/>
              </a:avLst>
            </a:prstGeom>
            <a:solidFill>
              <a:srgbClr val="292719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8127968" y="1405795"/>
              <a:ext cx="3682841" cy="9525"/>
            </a:xfrm>
            <a:custGeom>
              <a:avLst/>
              <a:gdLst/>
              <a:ahLst/>
              <a:cxnLst/>
              <a:rect l="l" t="t" r="r" b="b"/>
              <a:pathLst>
                <a:path w="3682841" h="9525">
                  <a:moveTo>
                    <a:pt x="0" y="0"/>
                  </a:moveTo>
                  <a:lnTo>
                    <a:pt x="3682841" y="0"/>
                  </a:lnTo>
                </a:path>
              </a:pathLst>
            </a:custGeom>
            <a:noFill/>
            <a:ln w="47625">
              <a:solidFill>
                <a:srgbClr val="E5CA85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810810" y="1405795"/>
              <a:ext cx="9525" cy="4442365"/>
            </a:xfrm>
            <a:custGeom>
              <a:avLst/>
              <a:gdLst/>
              <a:ahLst/>
              <a:cxnLst/>
              <a:rect l="l" t="t" r="r" b="b"/>
              <a:pathLst>
                <a:path w="9525" h="4442365">
                  <a:moveTo>
                    <a:pt x="0" y="0"/>
                  </a:moveTo>
                  <a:lnTo>
                    <a:pt x="0" y="4442365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127968" y="5848160"/>
              <a:ext cx="3682841" cy="9525"/>
            </a:xfrm>
            <a:custGeom>
              <a:avLst/>
              <a:gdLst/>
              <a:ahLst/>
              <a:cxnLst/>
              <a:rect l="l" t="t" r="r" b="b"/>
              <a:pathLst>
                <a:path w="3682841" h="9525">
                  <a:moveTo>
                    <a:pt x="0" y="0"/>
                  </a:moveTo>
                  <a:lnTo>
                    <a:pt x="3682841" y="0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127968" y="1405795"/>
              <a:ext cx="9525" cy="4442365"/>
            </a:xfrm>
            <a:custGeom>
              <a:avLst/>
              <a:gdLst/>
              <a:ahLst/>
              <a:cxnLst/>
              <a:rect l="l" t="t" r="r" b="b"/>
              <a:pathLst>
                <a:path w="9525" h="4442365">
                  <a:moveTo>
                    <a:pt x="0" y="0"/>
                  </a:moveTo>
                  <a:lnTo>
                    <a:pt x="0" y="4442365"/>
                  </a:lnTo>
                </a:path>
              </a:pathLst>
            </a:custGeom>
            <a:noFill/>
            <a:ln w="9525">
              <a:solidFill>
                <a:srgbClr val="46688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41151" y="2863310"/>
              <a:ext cx="2656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4D4ED"/>
                  </a:solidFill>
                  <a:latin typeface="Segoe UI"/>
                  <a:ea typeface="Microsoft YaHei"/>
                  <a:cs typeface="Segoe UI"/>
                </a:rPr>
                <a:t>比較情境｜上限明定為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0225" y="3377279"/>
              <a:ext cx="1478423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550" dirty="0">
                  <a:solidFill>
                    <a:srgbClr val="EFF9FF"/>
                  </a:solidFill>
                  <a:latin typeface="Segoe UI"/>
                  <a:ea typeface="Microsoft YaHei"/>
                  <a:cs typeface="Segoe UI"/>
                </a:rPr>
                <a:t>2/2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37308" y="4220146"/>
              <a:ext cx="206425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dirty="0">
                  <a:solidFill>
                    <a:srgbClr val="C9DBED"/>
                  </a:solidFill>
                  <a:latin typeface="Segoe UI"/>
                  <a:ea typeface="Microsoft YaHei"/>
                  <a:cs typeface="Segoe UI"/>
                </a:rPr>
                <a:t>#1在 Dev＋ #2在 QA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6095810"/>
              <a:ext cx="11430000" cy="590740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6095810"/>
              <a:ext cx="9525" cy="590740"/>
            </a:xfrm>
            <a:custGeom>
              <a:avLst/>
              <a:gdLst/>
              <a:ahLst/>
              <a:cxnLst/>
              <a:rect l="l" t="t" r="r" b="b"/>
              <a:pathLst>
                <a:path w="9525" h="590740">
                  <a:moveTo>
                    <a:pt x="0" y="0"/>
                  </a:moveTo>
                  <a:lnTo>
                    <a:pt x="0" y="59074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2452" y="6294406"/>
              <a:ext cx="906865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5E7D2"/>
                  </a:solidFill>
                  <a:latin typeface="Segoe UI"/>
                  <a:ea typeface="Microsoft YaHei"/>
                  <a:cs typeface="Segoe UI"/>
                </a:rPr>
                <a:t>等待驗收、 Blocked、退回修正：已開工仍計入。 Done才不計；上限是團隊政策，不是產量目標。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46710" y="299085"/>
            <a:ext cx="11872436" cy="5647373"/>
            <a:chOff x="346710" y="299085"/>
            <a:chExt cx="11872436" cy="564737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88600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WIP上限 1與 2，各有什麼取捨？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623917"/>
              <a:ext cx="38444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同一張看板：上限 1與 2都有取捨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168747"/>
              <a:ext cx="5600700" cy="2829973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168747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81700" y="2168747"/>
              <a:ext cx="9525" cy="2829973"/>
            </a:xfrm>
            <a:custGeom>
              <a:avLst/>
              <a:gdLst/>
              <a:ahLst/>
              <a:cxnLst/>
              <a:rect l="l" t="t" r="r" b="b"/>
              <a:pathLst>
                <a:path w="9525" h="2829973">
                  <a:moveTo>
                    <a:pt x="0" y="0"/>
                  </a:moveTo>
                  <a:lnTo>
                    <a:pt x="0" y="282997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99872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168747"/>
              <a:ext cx="9525" cy="2829973"/>
            </a:xfrm>
            <a:custGeom>
              <a:avLst/>
              <a:gdLst/>
              <a:ahLst/>
              <a:cxnLst/>
              <a:rect l="l" t="t" r="r" b="b"/>
              <a:pathLst>
                <a:path w="9525" h="2829973">
                  <a:moveTo>
                    <a:pt x="0" y="0"/>
                  </a:moveTo>
                  <a:lnTo>
                    <a:pt x="0" y="282997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1502" y="2448306"/>
              <a:ext cx="22566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本課交付上限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122" y="3019234"/>
              <a:ext cx="556069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好處：同時只追一張未完成票，交付路徑較容易看清。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122" y="3434429"/>
              <a:ext cx="577922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代價：若 #3在外部等待、 #1／ #2又不能共同推進，其他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122" y="3754469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能力可能暫時閒置。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9122" y="4169664"/>
              <a:ext cx="418052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適合先練完一張；不保證整體產出最高。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10300" y="2168747"/>
              <a:ext cx="5600700" cy="2829973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210300" y="2168747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811000" y="2168747"/>
              <a:ext cx="9525" cy="2829973"/>
            </a:xfrm>
            <a:custGeom>
              <a:avLst/>
              <a:gdLst/>
              <a:ahLst/>
              <a:cxnLst/>
              <a:rect l="l" t="t" r="r" b="b"/>
              <a:pathLst>
                <a:path w="9525" h="2829973">
                  <a:moveTo>
                    <a:pt x="0" y="0"/>
                  </a:moveTo>
                  <a:lnTo>
                    <a:pt x="0" y="282997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210300" y="499872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10300" y="2168747"/>
              <a:ext cx="9525" cy="2829973"/>
            </a:xfrm>
            <a:custGeom>
              <a:avLst/>
              <a:gdLst/>
              <a:ahLst/>
              <a:cxnLst/>
              <a:rect l="l" t="t" r="r" b="b"/>
              <a:pathLst>
                <a:path w="9525" h="2829973">
                  <a:moveTo>
                    <a:pt x="0" y="0"/>
                  </a:moveTo>
                  <a:lnTo>
                    <a:pt x="0" y="282997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20802" y="2448306"/>
              <a:ext cx="4007714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比較情境：明示上限改為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28422" y="3019234"/>
              <a:ext cx="568721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好處： #3 Done後，獨立的 #1／ #2可分站並行； #1 Dev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8422" y="3339274"/>
              <a:ext cx="29613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＋ #2 QA是目前 2／上限 2。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8422" y="3754469"/>
              <a:ext cx="57907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代價：要追更多版本、依賴、交接與待驗收事項；下游接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8422" y="4074509"/>
              <a:ext cx="142017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不住會堆積。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8422" y="4489609"/>
              <a:ext cx="57907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條件：介面／資料已定、資源隔離、測試與審查接得住。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5246370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81000" y="5246370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738" y="5453539"/>
              <a:ext cx="796170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增加 WIP上限不會自動增加產能；選擇要看工作依賴與接手能力。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32263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想法到 Ready｜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765774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61012" y="1252823"/>
              <a:ext cx="766786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能把模糊要求寫成有邊界、有 AC、有證據的可交辦 Ticket。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只有一句「支援配對」，你會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153019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先問什麼？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4651" y="2667667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遷移練習｜課程作業提交：老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4651" y="301999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師已確認「文字非空才能提交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337232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、空白不得送」，但自動評分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4651" y="3724656"/>
              <a:ext cx="330469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未決。你會怎麼寫第一張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44651" y="4076986"/>
              <a:ext cx="124922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Ticket？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5419" y="2667667"/>
              <a:ext cx="334906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#3在 Ready尚未開始時，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5419" y="3019996"/>
              <a:ext cx="263925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WIP是 0/1還是 1/1？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41960" y="979932"/>
            <a:ext cx="11302175" cy="4953952"/>
            <a:chOff x="441960" y="979932"/>
            <a:chExt cx="11302175" cy="4953952"/>
          </a:xfrm>
        </p:grpSpPr>
        <p:sp>
          <p:nvSpPr>
            <p:cNvPr id="3" name="TextBox 3"/>
            <p:cNvSpPr txBox="1"/>
            <p:nvPr/>
          </p:nvSpPr>
          <p:spPr>
            <a:xfrm>
              <a:off x="5640848" y="979932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A9C9E8"/>
                  </a:solidFill>
                  <a:latin typeface="Segoe UI"/>
                  <a:ea typeface="Microsoft YaHei"/>
                  <a:cs typeface="Segoe UI"/>
                </a:rPr>
                <a:t>版本協作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97944" y="1479042"/>
              <a:ext cx="69961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多人修改，怎樣留住版本？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91076" y="5690044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BED9"/>
                  </a:solidFill>
                  <a:latin typeface="Segoe UI"/>
                  <a:ea typeface="Microsoft YaHei"/>
                  <a:cs typeface="Segoe UI"/>
                </a:rPr>
                <a:t>↖全課地圖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93108" y="2216277"/>
              <a:ext cx="36057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 #3已準備開工，多人要能查回改動。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282921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25837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" y="444846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5720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01273" y="3061621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01留下版本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11586" y="2829211"/>
              <a:ext cx="3568732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311586" y="282921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8031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311586" y="444846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11586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33752" y="3061621"/>
              <a:ext cx="9243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02分開修改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66068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166068" y="282921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73461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66068" y="444846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6606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88234" y="3061621"/>
              <a:ext cx="9243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03送人審查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762786"/>
              <a:ext cx="11277600" cy="6281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4762786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960" y="5014246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學完能找到版本，交給下一位審查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346710" y="299085"/>
            <a:ext cx="11473815" cy="5527358"/>
            <a:chOff x="346710" y="299085"/>
            <a:chExt cx="11473815" cy="552735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1632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三個人都交了 final，哪一份才是共同版本？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743742"/>
              <a:ext cx="42388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同一個 App，三張票各交回一份檔案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88572"/>
              <a:ext cx="3657600" cy="2590228"/>
            </a:xfrm>
            <a:prstGeom prst="roundRect">
              <a:avLst>
                <a:gd name="adj" fmla="val 441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8857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288572"/>
              <a:ext cx="9525" cy="2590133"/>
            </a:xfrm>
            <a:custGeom>
              <a:avLst/>
              <a:gdLst/>
              <a:ahLst/>
              <a:cxnLst/>
              <a:rect l="l" t="t" r="r" b="b"/>
              <a:pathLst>
                <a:path w="9525" h="2590133">
                  <a:moveTo>
                    <a:pt x="0" y="0"/>
                  </a:moveTo>
                  <a:lnTo>
                    <a:pt x="0" y="259013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7870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88572"/>
              <a:ext cx="9525" cy="2590133"/>
            </a:xfrm>
            <a:custGeom>
              <a:avLst/>
              <a:gdLst/>
              <a:ahLst/>
              <a:cxnLst/>
              <a:rect l="l" t="t" r="r" b="b"/>
              <a:pathLst>
                <a:path w="9525" h="2590133">
                  <a:moveTo>
                    <a:pt x="0" y="0"/>
                  </a:moveTo>
                  <a:lnTo>
                    <a:pt x="0" y="259013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606230"/>
              <a:ext cx="22566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#1 Like／ Pass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318" y="3180016"/>
              <a:ext cx="116493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F2CF76"/>
                  </a:solidFill>
                  <a:latin typeface="ui-monospace"/>
                  <a:ea typeface="Microsoft YaHei"/>
                  <a:cs typeface="ui-monospace"/>
                </a:rPr>
                <a:t>app_final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799999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昨天的修改被覆蓋。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427624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哪一份能找回？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67200" y="2288572"/>
              <a:ext cx="3657600" cy="2590228"/>
            </a:xfrm>
            <a:prstGeom prst="roundRect">
              <a:avLst>
                <a:gd name="adj" fmla="val 441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67200" y="228857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2288572"/>
              <a:ext cx="9525" cy="2590133"/>
            </a:xfrm>
            <a:custGeom>
              <a:avLst/>
              <a:gdLst/>
              <a:ahLst/>
              <a:cxnLst/>
              <a:rect l="l" t="t" r="r" b="b"/>
              <a:pathLst>
                <a:path w="9525" h="2590133">
                  <a:moveTo>
                    <a:pt x="0" y="0"/>
                  </a:moveTo>
                  <a:lnTo>
                    <a:pt x="0" y="259013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487870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267200" y="2288572"/>
              <a:ext cx="9525" cy="2590133"/>
            </a:xfrm>
            <a:custGeom>
              <a:avLst/>
              <a:gdLst/>
              <a:ahLst/>
              <a:cxnLst/>
              <a:rect l="l" t="t" r="r" b="b"/>
              <a:pathLst>
                <a:path w="9525" h="2590133">
                  <a:moveTo>
                    <a:pt x="0" y="0"/>
                  </a:moveTo>
                  <a:lnTo>
                    <a:pt x="0" y="259013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5802" y="2606230"/>
              <a:ext cx="175630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#3雙向配對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1518" y="3180016"/>
              <a:ext cx="187035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F2CF76"/>
                  </a:solidFill>
                  <a:latin typeface="ui-monospace"/>
                  <a:ea typeface="Microsoft YaHei"/>
                  <a:cs typeface="ui-monospace"/>
                </a:rPr>
                <a:t>app_final_final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3799999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我從另一份開始改。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612" y="427624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應該合回哪裡？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2288572"/>
              <a:ext cx="3657600" cy="2590228"/>
            </a:xfrm>
            <a:prstGeom prst="roundRect">
              <a:avLst>
                <a:gd name="adj" fmla="val 441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153400" y="228857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288572"/>
              <a:ext cx="9525" cy="2590133"/>
            </a:xfrm>
            <a:custGeom>
              <a:avLst/>
              <a:gdLst/>
              <a:ahLst/>
              <a:cxnLst/>
              <a:rect l="l" t="t" r="r" b="b"/>
              <a:pathLst>
                <a:path w="9525" h="2590133">
                  <a:moveTo>
                    <a:pt x="0" y="0"/>
                  </a:moveTo>
                  <a:lnTo>
                    <a:pt x="0" y="259013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153400" y="487870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2288572"/>
              <a:ext cx="9525" cy="2590133"/>
            </a:xfrm>
            <a:custGeom>
              <a:avLst/>
              <a:gdLst/>
              <a:ahLst/>
              <a:cxnLst/>
              <a:rect l="l" t="t" r="r" b="b"/>
              <a:pathLst>
                <a:path w="9525" h="2590133">
                  <a:moveTo>
                    <a:pt x="0" y="0"/>
                  </a:moveTo>
                  <a:lnTo>
                    <a:pt x="0" y="259013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02002" y="2606230"/>
              <a:ext cx="175630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#2配對列表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07718" y="3180016"/>
              <a:ext cx="179477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F2CF76"/>
                  </a:solidFill>
                  <a:latin typeface="ui-monospace"/>
                  <a:ea typeface="Microsoft YaHei"/>
                  <a:cs typeface="ui-monospace"/>
                </a:rPr>
                <a:t>app_1006_final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5812" y="3799999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你說已經做好了。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5812" y="4276249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改了什麼、根據哪張需求？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512635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381000" y="512635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6738" y="5333524"/>
              <a:ext cx="74414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先解三件事：版本可追溯、修改能整合、成果有依據可以審。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346710" y="299085"/>
            <a:ext cx="11464290" cy="6387465"/>
            <a:chOff x="346710" y="299085"/>
            <a:chExt cx="1146429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41799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Git留下歷史， GitHub讓大家共享與審查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673733"/>
              <a:ext cx="5353050" cy="2644045"/>
            </a:xfrm>
            <a:prstGeom prst="roundRect">
              <a:avLst>
                <a:gd name="adj" fmla="val 576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851356" y="2043303"/>
              <a:ext cx="41233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823434" y="2804350"/>
              <a:ext cx="4681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00325" y="3222403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版本紀錄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38425" y="3565303"/>
              <a:ext cx="838200" cy="457200"/>
            </a:xfrm>
            <a:prstGeom prst="roundRect">
              <a:avLst>
                <a:gd name="adj" fmla="val 18750"/>
              </a:avLst>
            </a:prstGeom>
            <a:solidFill>
              <a:srgbClr val="1B2B3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693432" y="3689128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存檔點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61936" y="2891028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57950" y="1673733"/>
              <a:ext cx="5353050" cy="2644045"/>
            </a:xfrm>
            <a:prstGeom prst="roundRect">
              <a:avLst>
                <a:gd name="adj" fmla="val 5764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28211" y="2043303"/>
              <a:ext cx="41233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53583" y="2804350"/>
              <a:ext cx="9615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39125" y="3222403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共享與審查的平台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91914" y="3565303"/>
              <a:ext cx="2885027" cy="457200"/>
            </a:xfrm>
            <a:prstGeom prst="roundRect">
              <a:avLst>
                <a:gd name="adj" fmla="val 18750"/>
              </a:avLst>
            </a:prstGeom>
            <a:solidFill>
              <a:srgbClr val="1B2B3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08641" y="3689128"/>
              <a:ext cx="30514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託管 Git歷史、 PR與協作討論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5408866"/>
              <a:ext cx="11430000" cy="541020"/>
            </a:xfrm>
            <a:prstGeom prst="roundRect">
              <a:avLst>
                <a:gd name="adj" fmla="val 14085"/>
              </a:avLst>
            </a:prstGeom>
            <a:solidFill>
              <a:srgbClr val="192C40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5408866"/>
              <a:ext cx="9525" cy="541020"/>
            </a:xfrm>
            <a:custGeom>
              <a:avLst/>
              <a:gdLst/>
              <a:ahLst/>
              <a:cxnLst/>
              <a:rect l="l" t="t" r="r" b="b"/>
              <a:pathLst>
                <a:path w="9525" h="541020">
                  <a:moveTo>
                    <a:pt x="0" y="0"/>
                  </a:moveTo>
                  <a:lnTo>
                    <a:pt x="0" y="541020"/>
                  </a:lnTo>
                </a:path>
              </a:pathLst>
            </a:custGeom>
            <a:noFill/>
            <a:ln w="47625">
              <a:solidFill>
                <a:srgbClr val="80B4E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0101" y="5564124"/>
              <a:ext cx="63917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8F2FC"/>
                  </a:solidFill>
                  <a:latin typeface="Segoe UI"/>
                  <a:ea typeface="Microsoft YaHei"/>
                  <a:cs typeface="Segoe UI"/>
                </a:rPr>
                <a:t>PR＝把一組修改交給別人審查； diff＝這次改了哪些內容。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0542" y="6287548"/>
              <a:ext cx="1068812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#3的修改歷史：初版→修正單向錯配→補上重複情境； Git比較前後差異， GitHub分享給協作者。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346710" y="299085"/>
            <a:ext cx="11464290" cy="6387465"/>
            <a:chOff x="346710" y="299085"/>
            <a:chExt cx="1146429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08675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Commit留下一版， push分享這些版本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79532" y="2347150"/>
              <a:ext cx="52827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B0F2"/>
                  </a:solidFill>
                  <a:latin typeface="Arial"/>
                  <a:ea typeface="Microsoft YaHei"/>
                  <a:cs typeface="Arial"/>
                </a:rPr>
                <a:t>feature/3-mutual-match·按「存一版」留下節點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143000" y="2699576"/>
              <a:ext cx="9906000" cy="76200"/>
            </a:xfrm>
            <a:prstGeom prst="roundRect">
              <a:avLst>
                <a:gd name="adj" fmla="val 50000"/>
              </a:avLst>
            </a:prstGeom>
            <a:solidFill>
              <a:srgbClr val="4A607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143000" y="2604326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962650" y="2604326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782300" y="2604326"/>
              <a:ext cx="266700" cy="266700"/>
            </a:xfrm>
            <a:prstGeom prst="roundRect">
              <a:avLst>
                <a:gd name="adj" fmla="val 50000"/>
              </a:avLst>
            </a:prstGeom>
            <a:solidFill>
              <a:srgbClr val="83BCFF"/>
            </a:solidFill>
            <a:ln w="47625">
              <a:solidFill>
                <a:srgbClr val="0B111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150" y="3137726"/>
              <a:ext cx="717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#3初版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40432" y="3137726"/>
              <a:ext cx="717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#3修正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61618" y="3137726"/>
              <a:ext cx="717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3DFED"/>
                  </a:solidFill>
                  <a:latin typeface="Arial"/>
                  <a:ea typeface="Microsoft YaHei"/>
                  <a:cs typeface="Arial"/>
                </a:rPr>
                <a:t>#3補測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3909250"/>
              <a:ext cx="11430000" cy="571500"/>
            </a:xfrm>
            <a:prstGeom prst="roundRect">
              <a:avLst>
                <a:gd name="adj" fmla="val 16667"/>
              </a:avLst>
            </a:prstGeom>
            <a:solidFill>
              <a:srgbClr val="251719"/>
            </a:solidFill>
            <a:ln w="9525">
              <a:solidFill>
                <a:srgbClr val="8A586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27120" y="4090226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289"/>
                  </a:solidFill>
                  <a:latin typeface="Arial"/>
                  <a:ea typeface="Microsoft YaHei"/>
                  <a:cs typeface="Arial"/>
                </a:rPr>
                <a:t>未存的修改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93920" y="4090226"/>
              <a:ext cx="4364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BCC0"/>
                  </a:solidFill>
                  <a:latin typeface="Arial"/>
                  <a:ea typeface="Microsoft YaHei"/>
                  <a:cs typeface="Arial"/>
                </a:rPr>
                <a:t>尚未 commit的修改，不在這次提交歷史裡。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0542" y="6287548"/>
              <a:ext cx="902534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本地 commit── push→遠端分支；讓協作者取得這些版本。 Push還不是 merge。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346710" y="299085"/>
            <a:ext cx="12723685" cy="6387465"/>
            <a:chOff x="346710" y="299085"/>
            <a:chExt cx="1272368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926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#3的工作分支從共同版本開始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78110"/>
              <a:ext cx="68075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main是整合大家修改的主分支； commit是記錄某一版修改的存檔點。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184381" y="2637367"/>
              <a:ext cx="9712219" cy="2369080"/>
              <a:chOff x="1184381" y="2637367"/>
              <a:chExt cx="9712219" cy="236908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184381" y="2637367"/>
                <a:ext cx="523253" cy="313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42" dirty="0">
                    <a:solidFill>
                      <a:srgbClr val="83BCFF"/>
                    </a:solidFill>
                    <a:latin typeface="Inter"/>
                    <a:ea typeface="Microsoft JhengHei"/>
                    <a:cs typeface="Inter"/>
                  </a:rPr>
                  <a:t>main</a:t>
                </a:r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2209800" y="3126846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85725" cap="rnd">
                <a:solidFill>
                  <a:srgbClr val="49627E"/>
                </a:solidFill>
                <a:round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4838700" y="3126846"/>
                <a:ext cx="5086350" cy="1223698"/>
              </a:xfrm>
              <a:custGeom>
                <a:avLst/>
                <a:gdLst/>
                <a:ahLst/>
                <a:cxnLst/>
                <a:rect l="l" t="t" r="r" b="b"/>
                <a:pathLst>
                  <a:path w="5086350" h="1223698">
                    <a:moveTo>
                      <a:pt x="0" y="0"/>
                    </a:moveTo>
                    <a:lnTo>
                      <a:pt x="0" y="1223698"/>
                    </a:lnTo>
                    <a:lnTo>
                      <a:pt x="5086350" y="1223698"/>
                    </a:lnTo>
                  </a:path>
                </a:pathLst>
              </a:custGeom>
              <a:noFill/>
              <a:ln w="85725" cap="rnd">
                <a:solidFill>
                  <a:srgbClr val="8465A8"/>
                </a:solidFill>
                <a:round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2426970" y="3019161"/>
                <a:ext cx="251460" cy="215371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4701540" y="3009371"/>
                <a:ext cx="274320" cy="2349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7399020" y="3019161"/>
                <a:ext cx="251460" cy="215371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0142220" y="3019161"/>
                <a:ext cx="251460" cy="215371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6770370" y="4242859"/>
                <a:ext cx="251460" cy="215371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227820" y="4242859"/>
                <a:ext cx="251460" cy="215371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497413" y="4693180"/>
                <a:ext cx="2797374" cy="313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42" dirty="0">
                    <a:solidFill>
                      <a:srgbClr val="C8A2FF"/>
                    </a:solidFill>
                    <a:latin typeface="Inter"/>
                    <a:ea typeface="Microsoft JhengHei"/>
                    <a:cs typeface="Inter"/>
                  </a:rPr>
                  <a:t>feature/3-mutual-match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33021" y="3547798"/>
                <a:ext cx="3467226" cy="313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AAB7C6"/>
                    </a:solidFill>
                    <a:latin typeface="Inter"/>
                    <a:ea typeface="Microsoft JhengHei"/>
                    <a:cs typeface="Inter"/>
                  </a:rPr>
                  <a:t>從 main 的 commit</a:t>
                </a:r>
                <a:r>
                  <a:rPr lang="zh-CN" sz="1500" b="1" dirty="0">
                    <a:solidFill>
                      <a:srgbClr val="AAB7C6"/>
                    </a:solidFill>
                    <a:latin typeface="Inter"/>
                    <a:ea typeface="Microsoft JhengHei"/>
                    <a:cs typeface="Inter"/>
                  </a:rPr>
                  <a:t>建立工作分支</a:t>
                </a:r>
              </a:p>
            </p:txBody>
          </p:sp>
        </p:grpSp>
        <p:sp>
          <p:nvSpPr>
            <p:cNvPr id="17" name="Rectangle 17"/>
            <p:cNvSpPr/>
            <p:nvPr/>
          </p:nvSpPr>
          <p:spPr>
            <a:xfrm>
              <a:off x="381000" y="5822728"/>
              <a:ext cx="11430000" cy="863822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5822728"/>
              <a:ext cx="9525" cy="863822"/>
            </a:xfrm>
            <a:custGeom>
              <a:avLst/>
              <a:gdLst/>
              <a:ahLst/>
              <a:cxnLst/>
              <a:rect l="l" t="t" r="r" b="b"/>
              <a:pathLst>
                <a:path w="9525" h="863822">
                  <a:moveTo>
                    <a:pt x="0" y="0"/>
                  </a:moveTo>
                  <a:lnTo>
                    <a:pt x="0" y="863822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0542" y="5969889"/>
              <a:ext cx="1253985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#1 Like／ Pass、 #2配對列表也各有自己的工作分支。本課交付 WIP上限： 1；本頁 #3尚未開工，目前 0/1。真正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0542" y="6287548"/>
              <a:ext cx="382285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開始後，接手時先更新共同版本。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346710" y="299085"/>
            <a:ext cx="11520155" cy="6387465"/>
            <a:chOff x="346710" y="299085"/>
            <a:chExt cx="1152015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9769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概念預演 1/2｜送 PR核對需求、差異與證據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195703"/>
              <a:ext cx="11430000" cy="2407920"/>
            </a:xfrm>
            <a:prstGeom prst="roundRect">
              <a:avLst>
                <a:gd name="adj" fmla="val 5538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2205228"/>
              <a:ext cx="11410950" cy="400050"/>
            </a:xfrm>
            <a:prstGeom prst="rect">
              <a:avLst/>
            </a:prstGeom>
            <a:solidFill>
              <a:srgbClr val="0F1720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605278"/>
              <a:ext cx="11410950" cy="9525"/>
            </a:xfrm>
            <a:custGeom>
              <a:avLst/>
              <a:gdLst/>
              <a:ahLst/>
              <a:cxnLst/>
              <a:rect l="l" t="t" r="r" b="b"/>
              <a:pathLst>
                <a:path w="11410950" h="9525">
                  <a:moveTo>
                    <a:pt x="0" y="0"/>
                  </a:moveTo>
                  <a:lnTo>
                    <a:pt x="1141095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7688" y="2321909"/>
              <a:ext cx="5297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07409" y="2321909"/>
              <a:ext cx="1359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Pull requests / 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5310" y="2813875"/>
              <a:ext cx="29501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 Open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025" y="3260503"/>
              <a:ext cx="33789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feature/3-mutual-match→ main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0075" y="3631978"/>
              <a:ext cx="3600450" cy="771525"/>
            </a:xfrm>
            <a:prstGeom prst="roundRect">
              <a:avLst>
                <a:gd name="adj" fmla="val 9877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4850" y="3746278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4850" y="4079653"/>
              <a:ext cx="27655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對照 Issue #3的範圍與 diff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95775" y="3631978"/>
              <a:ext cx="3600450" cy="771525"/>
            </a:xfrm>
            <a:prstGeom prst="roundRect">
              <a:avLst>
                <a:gd name="adj" fmla="val 9877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00550" y="3746278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Discussion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00550" y="4079653"/>
              <a:ext cx="31599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「再次 Like會不會重複配對？」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991475" y="3631978"/>
              <a:ext cx="3600450" cy="771525"/>
            </a:xfrm>
            <a:prstGeom prst="roundRect">
              <a:avLst>
                <a:gd name="adj" fmla="val 9877"/>
              </a:avLst>
            </a:pr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96250" y="3746278"/>
              <a:ext cx="992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5CFDB"/>
                  </a:solidFill>
                  <a:latin typeface="Arial"/>
                  <a:ea typeface="Microsoft YaHei"/>
                  <a:cs typeface="Arial"/>
                </a:rPr>
                <a:t>Evidence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6250" y="4079653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單向／雙向／重複情境的結果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0542" y="6287548"/>
              <a:ext cx="90883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Issue說需求， PR呈現這次差異、討論與證據；「做好了」本身還不是審查依據。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346710" y="299085"/>
            <a:ext cx="12610314" cy="6387465"/>
            <a:chOff x="346710" y="299085"/>
            <a:chExt cx="12610314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4324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概念預演 2/2｜通過檢查後 Merge回共同版本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184381" y="2338949"/>
              <a:ext cx="9972080" cy="2369080"/>
              <a:chOff x="1184381" y="2338949"/>
              <a:chExt cx="9972080" cy="2369080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1184381" y="2338949"/>
                <a:ext cx="523253" cy="313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42" dirty="0">
                    <a:solidFill>
                      <a:srgbClr val="83BCFF"/>
                    </a:solidFill>
                    <a:latin typeface="Inter"/>
                    <a:ea typeface="Microsoft JhengHei"/>
                    <a:cs typeface="Inter"/>
                  </a:rPr>
                  <a:t>main</a:t>
                </a:r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2209800" y="2828428"/>
                <a:ext cx="868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686800" h="9525">
                    <a:moveTo>
                      <a:pt x="0" y="0"/>
                    </a:moveTo>
                    <a:lnTo>
                      <a:pt x="8686800" y="0"/>
                    </a:lnTo>
                  </a:path>
                </a:pathLst>
              </a:custGeom>
              <a:noFill/>
              <a:ln w="85725" cap="rnd">
                <a:solidFill>
                  <a:srgbClr val="49627E"/>
                </a:solidFill>
                <a:round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4552950" y="2828428"/>
                <a:ext cx="4857750" cy="1223698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1223698">
                    <a:moveTo>
                      <a:pt x="0" y="0"/>
                    </a:moveTo>
                    <a:lnTo>
                      <a:pt x="0" y="1223698"/>
                    </a:lnTo>
                    <a:lnTo>
                      <a:pt x="3257550" y="1223698"/>
                    </a:lnTo>
                    <a:cubicBezTo>
                      <a:pt x="4229100" y="1223698"/>
                      <a:pt x="4857750" y="734219"/>
                      <a:pt x="4857750" y="0"/>
                    </a:cubicBezTo>
                  </a:path>
                </a:pathLst>
              </a:custGeom>
              <a:noFill/>
              <a:ln w="85725" cap="rnd">
                <a:solidFill>
                  <a:srgbClr val="8465A8"/>
                </a:solidFill>
                <a:round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2426970" y="2720742"/>
                <a:ext cx="251460" cy="215371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415790" y="2710953"/>
                <a:ext cx="274320" cy="234950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656070" y="2720742"/>
                <a:ext cx="251460" cy="215371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262110" y="2701163"/>
                <a:ext cx="297180" cy="254529"/>
              </a:xfrm>
              <a:prstGeom prst="ellipse">
                <a:avLst/>
              </a:prstGeom>
              <a:solidFill>
                <a:srgbClr val="83DDA7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0542270" y="2720742"/>
                <a:ext cx="251460" cy="215371"/>
              </a:xfrm>
              <a:prstGeom prst="ellipse">
                <a:avLst/>
              </a:prstGeom>
              <a:solidFill>
                <a:srgbClr val="83BC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970270" y="3944441"/>
                <a:ext cx="251460" cy="215371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7684770" y="3944441"/>
                <a:ext cx="251460" cy="215371"/>
              </a:xfrm>
              <a:prstGeom prst="ellipse">
                <a:avLst/>
              </a:prstGeom>
              <a:solidFill>
                <a:srgbClr val="C8A2FF"/>
              </a:solidFill>
              <a:ln w="57150" cap="flat">
                <a:solidFill>
                  <a:srgbClr val="0B1119"/>
                </a:solidFill>
                <a:miter lim="800000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97313" y="4394762"/>
                <a:ext cx="2797374" cy="313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42" dirty="0">
                    <a:solidFill>
                      <a:srgbClr val="C8A2FF"/>
                    </a:solidFill>
                    <a:latin typeface="Inter"/>
                    <a:ea typeface="Microsoft JhengHei"/>
                    <a:cs typeface="Inter"/>
                  </a:rPr>
                  <a:t>feature/3-mutual-match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065240" y="3249380"/>
                <a:ext cx="1091221" cy="313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42" b="1" dirty="0">
                    <a:solidFill>
                      <a:srgbClr val="83DDA7"/>
                    </a:solidFill>
                    <a:latin typeface="Inter"/>
                    <a:ea typeface="Microsoft JhengHei"/>
                    <a:cs typeface="Inter"/>
                  </a:rPr>
                  <a:t>合回 main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543366" y="5152263"/>
              <a:ext cx="792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依檢查與 Human Gate決議， #3合入 main； #2更新共同版本後，再接配對結果。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0542" y="6287548"/>
              <a:ext cx="1242648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概念預演｜ Merge更新共同版本； Release才讓使用者取得新版； Goal成效另待觀察。 Human Gate由人放行。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346710" y="299085"/>
            <a:ext cx="11662672" cy="6387465"/>
            <a:chOff x="346710" y="299085"/>
            <a:chExt cx="11662672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47383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版本協作｜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30602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25839" y="1252823"/>
              <a:ext cx="83086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能找到指定版本，分清 branch、 commit、 PR、 merge的用途。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67438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PR #3指定已審查的 commit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5413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abc123；另有 app_final。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882" y="337232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要重現那次改動，該選哪個版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3882" y="3724656"/>
              <a:ext cx="6429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本？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2667667"/>
              <a:ext cx="37335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Commit、 Branch、 PR分別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4651" y="3019996"/>
              <a:ext cx="212169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幫我們做什麼？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419" y="2667667"/>
              <a:ext cx="370396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PR通過或 Merge，是否代表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5419" y="3019996"/>
              <a:ext cx="367438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產品已上線、 Goal已達成？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346710" y="299085"/>
            <a:ext cx="11473815" cy="5205508"/>
            <a:chOff x="346710" y="299085"/>
            <a:chExt cx="11473815" cy="520550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7195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#3進 Dev：實作、審查、測試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1969675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 #3從 Ready進入 Dev。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543937"/>
              <a:ext cx="3619500" cy="1476375"/>
            </a:xfrm>
            <a:prstGeom prst="roundRect">
              <a:avLst>
                <a:gd name="adj" fmla="val 5806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543937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005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020312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4835" y="2776347"/>
              <a:ext cx="8717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 Dev實作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86250" y="2543937"/>
              <a:ext cx="3619500" cy="1476375"/>
            </a:xfrm>
            <a:prstGeom prst="roundRect">
              <a:avLst>
                <a:gd name="adj" fmla="val 5806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4286250" y="2543937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90575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286250" y="4020312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28625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90085" y="2776347"/>
              <a:ext cx="13712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 Review查改動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2543937"/>
              <a:ext cx="3619500" cy="1476375"/>
            </a:xfrm>
            <a:prstGeom prst="roundRect">
              <a:avLst>
                <a:gd name="adj" fmla="val 5806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8191500" y="2543937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8110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191500" y="4020312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1915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95335" y="2776347"/>
              <a:ext cx="10294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 QA驗結果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" y="4334637"/>
              <a:ext cx="11430000" cy="57940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81000" y="4334637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5760" y="4586097"/>
              <a:ext cx="3386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學完能用 AC與證據判斷 PASS／ FAIL／未測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1010" y="5260753"/>
              <a:ext cx="33867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E8F9"/>
                  </a:solidFill>
                  <a:latin typeface="Arial"/>
                  <a:ea typeface="Microsoft YaHei"/>
                  <a:cs typeface="Arial"/>
                </a:rPr>
                <a:t>#3： Ready→ Dev #3已開始｜ WIP 1／上限 1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346710" y="299085"/>
            <a:ext cx="12398931" cy="5609368"/>
            <a:chOff x="346710" y="299085"/>
            <a:chExt cx="12398931" cy="56093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8653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自測通過後，還需要哪些檢查？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704784"/>
              <a:ext cx="48040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#3單向不得配對：不同檢查回答不同問題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49519"/>
              <a:ext cx="3409950" cy="2163508"/>
            </a:xfrm>
            <a:prstGeom prst="roundRect">
              <a:avLst>
                <a:gd name="adj" fmla="val 528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49519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249519"/>
              <a:ext cx="9525" cy="2163508"/>
            </a:xfrm>
            <a:custGeom>
              <a:avLst/>
              <a:gdLst/>
              <a:ahLst/>
              <a:cxnLst/>
              <a:rect l="l" t="t" r="r" b="b"/>
              <a:pathLst>
                <a:path w="9525" h="2163508">
                  <a:moveTo>
                    <a:pt x="0" y="0"/>
                  </a:moveTo>
                  <a:lnTo>
                    <a:pt x="0" y="2163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41302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49519"/>
              <a:ext cx="9525" cy="2163508"/>
            </a:xfrm>
            <a:custGeom>
              <a:avLst/>
              <a:gdLst/>
              <a:ahLst/>
              <a:cxnLst/>
              <a:rect l="l" t="t" r="r" b="b"/>
              <a:pathLst>
                <a:path w="9525" h="2163508">
                  <a:moveTo>
                    <a:pt x="0" y="0"/>
                  </a:moveTo>
                  <a:lnTo>
                    <a:pt x="0" y="2163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0552" y="2529078"/>
              <a:ext cx="14561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Dev↔自測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4362" y="2991422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邊改邊測，快速修正。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4362" y="3467672"/>
              <a:ext cx="30872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PR帶著改動與自測紀錄。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52220" y="3147822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91025" y="2249519"/>
              <a:ext cx="3409950" cy="2163508"/>
            </a:xfrm>
            <a:prstGeom prst="roundRect">
              <a:avLst>
                <a:gd name="adj" fmla="val 528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391025" y="2249519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800975" y="2249519"/>
              <a:ext cx="9525" cy="2163508"/>
            </a:xfrm>
            <a:custGeom>
              <a:avLst/>
              <a:gdLst/>
              <a:ahLst/>
              <a:cxnLst/>
              <a:rect l="l" t="t" r="r" b="b"/>
              <a:pathLst>
                <a:path w="9525" h="2163508">
                  <a:moveTo>
                    <a:pt x="0" y="0"/>
                  </a:moveTo>
                  <a:lnTo>
                    <a:pt x="0" y="2163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91025" y="441302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2249519"/>
              <a:ext cx="9525" cy="2163508"/>
            </a:xfrm>
            <a:custGeom>
              <a:avLst/>
              <a:gdLst/>
              <a:ahLst/>
              <a:cxnLst/>
              <a:rect l="l" t="t" r="r" b="b"/>
              <a:pathLst>
                <a:path w="9525" h="2163508">
                  <a:moveTo>
                    <a:pt x="0" y="0"/>
                  </a:moveTo>
                  <a:lnTo>
                    <a:pt x="0" y="2163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20578" y="2529078"/>
              <a:ext cx="113925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PR／ CI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4388" y="2991422"/>
              <a:ext cx="281344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PR是送審與討論位置。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388" y="3467672"/>
              <a:ext cx="301883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CI依設定重複執行檢查。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2245" y="3147822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401050" y="2249519"/>
              <a:ext cx="3409950" cy="2163508"/>
            </a:xfrm>
            <a:prstGeom prst="roundRect">
              <a:avLst>
                <a:gd name="adj" fmla="val 528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401050" y="2249519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249519"/>
              <a:ext cx="9525" cy="2163508"/>
            </a:xfrm>
            <a:custGeom>
              <a:avLst/>
              <a:gdLst/>
              <a:ahLst/>
              <a:cxnLst/>
              <a:rect l="l" t="t" r="r" b="b"/>
              <a:pathLst>
                <a:path w="9525" h="2163508">
                  <a:moveTo>
                    <a:pt x="0" y="0"/>
                  </a:moveTo>
                  <a:lnTo>
                    <a:pt x="0" y="2163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441302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401050" y="2249519"/>
              <a:ext cx="9525" cy="2163508"/>
            </a:xfrm>
            <a:custGeom>
              <a:avLst/>
              <a:gdLst/>
              <a:ahLst/>
              <a:cxnLst/>
              <a:rect l="l" t="t" r="r" b="b"/>
              <a:pathLst>
                <a:path w="9525" h="2163508">
                  <a:moveTo>
                    <a:pt x="0" y="0"/>
                  </a:moveTo>
                  <a:lnTo>
                    <a:pt x="0" y="2163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30602" y="2529078"/>
              <a:ext cx="237336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Reviewer／ QA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34412" y="2991422"/>
              <a:ext cx="31283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Review：範圍與改動合理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4412" y="3372422"/>
              <a:ext cx="595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嗎？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34412" y="3848672"/>
              <a:ext cx="270390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QA：行為符合 AC嗎？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466067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381000" y="4660678"/>
              <a:ext cx="9525" cy="700087"/>
            </a:xfrm>
            <a:custGeom>
              <a:avLst/>
              <a:gdLst/>
              <a:ahLst/>
              <a:cxnLst/>
              <a:rect l="l" t="t" r="r" b="b"/>
              <a:pathLst>
                <a:path w="9525" h="700087">
                  <a:moveTo>
                    <a:pt x="0" y="0"/>
                  </a:moveTo>
                  <a:lnTo>
                    <a:pt x="0" y="700087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6738" y="4867846"/>
              <a:ext cx="1217890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自測、 CI、 Review／ QA可依團隊設定交錯執行；它們驗的問題不同，不保證一項通過就全部通過。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3855" y="5634133"/>
              <a:ext cx="101884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CI（Continuous Integration，持續整合）＝依 PR設定自動重跑檢查；此頁是審查流程示意，不聲稱已搭建真實 CI。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346710" y="299085"/>
            <a:ext cx="11473815" cy="6286405"/>
            <a:chOff x="346710" y="299085"/>
            <a:chExt cx="11473815" cy="628640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6996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Review：越界修改退回 Dev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20960"/>
              <a:ext cx="75140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CE1F3"/>
                  </a:solidFill>
                  <a:latin typeface="Segoe UI"/>
                  <a:ea typeface="Microsoft YaHei"/>
                  <a:cs typeface="Segoe UI"/>
                </a:rPr>
                <a:t>PR Review教學示意｜下一頁先學怎麼驗；真實 A/B測試紀錄在 P44– 47。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221010"/>
              <a:ext cx="11430000" cy="729520"/>
            </a:xfrm>
            <a:prstGeom prst="roundRect">
              <a:avLst>
                <a:gd name="adj" fmla="val 13057"/>
              </a:avLst>
            </a:prstGeom>
            <a:solidFill>
              <a:srgbClr val="111E2C"/>
            </a:solidFill>
            <a:ln w="9525">
              <a:solidFill>
                <a:srgbClr val="3B557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14350" y="1335310"/>
              <a:ext cx="3429000" cy="500920"/>
            </a:xfrm>
            <a:prstGeom prst="roundRect">
              <a:avLst>
                <a:gd name="adj" fmla="val 15212"/>
              </a:avLst>
            </a:prstGeom>
            <a:solidFill>
              <a:srgbClr val="28446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21095" y="1481042"/>
              <a:ext cx="14155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1超出 #3範圍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24312" y="1502378"/>
              <a:ext cx="19823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89B7DC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81310" y="1335310"/>
              <a:ext cx="3429190" cy="500920"/>
            </a:xfrm>
            <a:prstGeom prst="roundRect">
              <a:avLst>
                <a:gd name="adj" fmla="val 15212"/>
              </a:avLst>
            </a:prstGeom>
            <a:solidFill>
              <a:srgbClr val="172A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32739" y="1481042"/>
              <a:ext cx="11263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EC5D9"/>
                  </a:solidFill>
                  <a:latin typeface="Segoe UI"/>
                  <a:ea typeface="Microsoft YaHei"/>
                  <a:cs typeface="Segoe UI"/>
                </a:rPr>
                <a:t>2 Dev修正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91462" y="1502378"/>
              <a:ext cx="19823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89B7DC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248460" y="1335310"/>
              <a:ext cx="3429190" cy="500920"/>
            </a:xfrm>
            <a:prstGeom prst="roundRect">
              <a:avLst>
                <a:gd name="adj" fmla="val 15212"/>
              </a:avLst>
            </a:prstGeom>
            <a:solidFill>
              <a:srgbClr val="172A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66159" y="1481042"/>
              <a:ext cx="9937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EC5D9"/>
                  </a:solidFill>
                  <a:latin typeface="Segoe UI"/>
                  <a:ea typeface="Microsoft YaHei"/>
                  <a:cs typeface="Segoe UI"/>
                </a:rPr>
                <a:t>3重送 PR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1000" y="2121980"/>
              <a:ext cx="11430000" cy="3619500"/>
            </a:xfrm>
            <a:prstGeom prst="roundRect">
              <a:avLst>
                <a:gd name="adj" fmla="val 3421"/>
              </a:avLst>
            </a:prstGeom>
            <a:solidFill>
              <a:srgbClr val="152436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81000" y="212198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38100">
              <a:solidFill>
                <a:srgbClr val="84BAF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811000" y="212198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41618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81000" y="574148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41618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212198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41618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48097" y="2900743"/>
              <a:ext cx="169448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DD5EE"/>
                  </a:solidFill>
                  <a:latin typeface="Segoe UI"/>
                  <a:ea typeface="Microsoft YaHei"/>
                  <a:cs typeface="Segoe UI"/>
                </a:rPr>
                <a:t>Review｜第 1次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6596" y="3394615"/>
              <a:ext cx="479674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rgbClr val="F6FAFF"/>
                  </a:solidFill>
                  <a:latin typeface="Segoe UI"/>
                  <a:ea typeface="Microsoft YaHei"/>
                  <a:cs typeface="Segoe UI"/>
                </a:rPr>
                <a:t>Reviewer：多做了聊天室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9896" y="4039457"/>
              <a:ext cx="35810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DBE7F3"/>
                  </a:solidFill>
                  <a:latin typeface="Segoe UI"/>
                  <a:ea typeface="Microsoft YaHei"/>
                  <a:cs typeface="Segoe UI"/>
                </a:rPr>
                <a:t>聊天室不在 #3工作範圍內。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61332" y="4533710"/>
              <a:ext cx="3069241" cy="487585"/>
            </a:xfrm>
            <a:prstGeom prst="roundRect">
              <a:avLst>
                <a:gd name="adj" fmla="val 17582"/>
              </a:avLst>
            </a:prstGeom>
            <a:solidFill>
              <a:srgbClr val="45221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76597" y="4663250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B6AE"/>
                  </a:solidFill>
                  <a:latin typeface="Segoe UI"/>
                  <a:ea typeface="Microsoft YaHei"/>
                  <a:cs typeface="Segoe UI"/>
                </a:rPr>
                <a:t>Request changes→ Dev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43184" y="5931980"/>
              <a:ext cx="742950" cy="438150"/>
            </a:xfrm>
            <a:prstGeom prst="roundRect">
              <a:avLst>
                <a:gd name="adj" fmla="val 17391"/>
              </a:avLst>
            </a:prstGeom>
            <a:solidFill>
              <a:srgbClr val="213B56"/>
            </a:solidFill>
            <a:ln w="9525">
              <a:solidFill>
                <a:srgbClr val="537FA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76534" y="6046280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0FD"/>
                  </a:solidFill>
                  <a:latin typeface="Segoe UI"/>
                  <a:ea typeface="Microsoft YaHei"/>
                  <a:cs typeface="Segoe UI"/>
                </a:rPr>
                <a:t>重看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01412" y="6060662"/>
              <a:ext cx="3202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1D7ED"/>
                  </a:solidFill>
                  <a:latin typeface="Segoe UI"/>
                  <a:ea typeface="Microsoft YaHei"/>
                  <a:cs typeface="Segoe UI"/>
                </a:rPr>
                <a:t>1／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01412" y="6295930"/>
              <a:ext cx="1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1D7ED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37980" y="5931980"/>
              <a:ext cx="2110835" cy="438150"/>
            </a:xfrm>
            <a:prstGeom prst="roundRect">
              <a:avLst>
                <a:gd name="adj" fmla="val 17391"/>
              </a:avLst>
            </a:prstGeom>
            <a:solidFill>
              <a:srgbClr val="213B56"/>
            </a:solidFill>
            <a:ln w="9525">
              <a:solidFill>
                <a:srgbClr val="537FA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43232" y="6046280"/>
              <a:ext cx="19002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0FD"/>
                  </a:solidFill>
                  <a:latin typeface="Segoe UI"/>
                  <a:ea typeface="Microsoft YaHei"/>
                  <a:cs typeface="Segoe UI"/>
                </a:rPr>
                <a:t>下一步： Dev修正→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46710" y="299085"/>
            <a:ext cx="11464290" cy="5408581"/>
            <a:chOff x="346710" y="299085"/>
            <a:chExt cx="11464290" cy="5408581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693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不逐行讀程式，也要能驗收這個功能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905381"/>
              <a:ext cx="48828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把 #3視為黑箱：先約定輸入與可觀察結果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450116"/>
              <a:ext cx="11430000" cy="1762125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2450116"/>
              <a:ext cx="3810000" cy="433388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79108" y="2569655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輸入／前提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191000" y="2450116"/>
              <a:ext cx="3810000" cy="433388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89108" y="2569655"/>
              <a:ext cx="423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執行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0" y="2450116"/>
              <a:ext cx="3810000" cy="433388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9108" y="2569655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應觀察到的結果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2883503"/>
              <a:ext cx="381000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3321653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108" y="3003042"/>
              <a:ext cx="21272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尚未配對；只有小安 Like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191000" y="2883503"/>
              <a:ext cx="381000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3321653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89108" y="3003042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執行配對判斷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2883503"/>
              <a:ext cx="381000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8001000" y="3321653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99108" y="3003042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不得建立配對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3321653"/>
              <a:ext cx="3810000" cy="4429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81000" y="37645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9108" y="3441192"/>
              <a:ext cx="19410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尚未配對；雙方都 Like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3321653"/>
              <a:ext cx="3810000" cy="4429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4191000" y="37645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89108" y="3441192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執行配對判斷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3321653"/>
              <a:ext cx="3810000" cy="4429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8001000" y="37645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99108" y="3441192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建立配對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764566"/>
              <a:ext cx="3810000" cy="4429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81000" y="42074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9108" y="3884105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兩人已配對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91000" y="3764566"/>
              <a:ext cx="3810000" cy="4429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191000" y="42074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89108" y="3884105"/>
              <a:ext cx="8237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再次 Like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764566"/>
              <a:ext cx="3810000" cy="4429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001000" y="4207478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99108" y="3884105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仍只有原本那一筆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" y="4459891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81000" y="4459891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6738" y="4667060"/>
              <a:ext cx="71675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驗收包含應有、禁止與重複情境；不能只看一個成功畫面。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3855" y="5433346"/>
              <a:ext cx="6146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這裡是驗證設計示意。畫面正常，不能單獨證明所有內部資料都正確。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346710" y="299085"/>
            <a:ext cx="11464290" cy="6356318"/>
            <a:chOff x="346710" y="299085"/>
            <a:chExt cx="11464290" cy="635631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2109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雙向才配對，四種 Like組合怎麼判斷？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957643"/>
              <a:ext cx="37261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前提固定：這兩人起初尚未配對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502378"/>
              <a:ext cx="11430000" cy="3657600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1502378"/>
              <a:ext cx="3810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7690" y="1708118"/>
              <a:ext cx="17709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小安 Like小晴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191000" y="1502378"/>
              <a:ext cx="3810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77690" y="1708118"/>
              <a:ext cx="17709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小晴 Like小安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0" y="1502378"/>
              <a:ext cx="3810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87690" y="1708118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預期結果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2188178"/>
              <a:ext cx="3810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29263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5785" y="2406301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191000" y="2188178"/>
              <a:ext cx="3810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29263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5785" y="2406301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2188178"/>
              <a:ext cx="3810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8001000" y="29263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5785" y="2406301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不建立配對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292636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81000" y="366931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785" y="3144488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0" y="292636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4191000" y="366931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75785" y="3144488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292636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8001000" y="366931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85785" y="3144488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不建立配對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66931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81000" y="44122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5785" y="3887438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91000" y="366931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191000" y="44122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75785" y="3887438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66931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001000" y="441226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85785" y="3887438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不建立配對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" y="441226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381000" y="515521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5785" y="4630388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191000" y="441226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4191000" y="515521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75785" y="4630388"/>
              <a:ext cx="3343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01000" y="4412266"/>
              <a:ext cx="3810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001000" y="5155216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85785" y="4630388"/>
              <a:ext cx="118872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建立配對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" y="540762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381000" y="5407628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738" y="5614797"/>
              <a:ext cx="942677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用四種組合先定義預期：只有雙方都 Like才建立配對。下一頁再看執行結果。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3855" y="6381083"/>
              <a:ext cx="67872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決策表描述四種預期，不代表四列全都已實測；重複 Like是另一種初始狀態。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346710" y="299085"/>
            <a:ext cx="11666696" cy="6371368"/>
            <a:chOff x="346710" y="299085"/>
            <a:chExt cx="11666696" cy="63713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96881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QA依約定退回， Dev修正後重驗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942784"/>
              <a:ext cx="62630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同一張 #3｜單向 Like不得配對：看見退回與同案重驗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487519"/>
              <a:ext cx="3657600" cy="3687508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487519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1487519"/>
              <a:ext cx="9525" cy="3687508"/>
            </a:xfrm>
            <a:custGeom>
              <a:avLst/>
              <a:gdLst/>
              <a:ahLst/>
              <a:cxnLst/>
              <a:rect l="l" t="t" r="r" b="b"/>
              <a:pathLst>
                <a:path w="9525" h="3687508">
                  <a:moveTo>
                    <a:pt x="0" y="0"/>
                  </a:moveTo>
                  <a:lnTo>
                    <a:pt x="0" y="3687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17502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487519"/>
              <a:ext cx="9525" cy="3687508"/>
            </a:xfrm>
            <a:custGeom>
              <a:avLst/>
              <a:gdLst/>
              <a:ahLst/>
              <a:cxnLst/>
              <a:rect l="l" t="t" r="r" b="b"/>
              <a:pathLst>
                <a:path w="9525" h="3687508">
                  <a:moveTo>
                    <a:pt x="0" y="0"/>
                  </a:moveTo>
                  <a:lnTo>
                    <a:pt x="0" y="3687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1805178"/>
              <a:ext cx="215655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1｜第一次驗收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381822"/>
              <a:ext cx="33611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初始 0筆；只有安 Like晴。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858072"/>
              <a:ext cx="16496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預期： 0筆。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334322"/>
              <a:ext cx="304621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Version A實際 1筆 M01。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810572"/>
              <a:ext cx="230683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工具回傳： FAIL。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67200" y="1487519"/>
              <a:ext cx="3657600" cy="3687508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267200" y="1487519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924800" y="1487519"/>
              <a:ext cx="9525" cy="3687508"/>
            </a:xfrm>
            <a:custGeom>
              <a:avLst/>
              <a:gdLst/>
              <a:ahLst/>
              <a:cxnLst/>
              <a:rect l="l" t="t" r="r" b="b"/>
              <a:pathLst>
                <a:path w="9525" h="3687508">
                  <a:moveTo>
                    <a:pt x="0" y="0"/>
                  </a:moveTo>
                  <a:lnTo>
                    <a:pt x="0" y="3687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267200" y="517502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267200" y="1487519"/>
              <a:ext cx="9525" cy="3687508"/>
            </a:xfrm>
            <a:custGeom>
              <a:avLst/>
              <a:gdLst/>
              <a:ahLst/>
              <a:cxnLst/>
              <a:rect l="l" t="t" r="r" b="b"/>
              <a:pathLst>
                <a:path w="9525" h="3687508">
                  <a:moveTo>
                    <a:pt x="0" y="0"/>
                  </a:moveTo>
                  <a:lnTo>
                    <a:pt x="0" y="3687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15802" y="1805178"/>
              <a:ext cx="190640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2｜退回修正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2381822"/>
              <a:ext cx="336113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QA對照 #3 AC找出漏掉反向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612" y="2762822"/>
              <a:ext cx="85546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612" y="3239072"/>
              <a:ext cx="277237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把單向錯配交回 Dev。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9612" y="3715322"/>
              <a:ext cx="358020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Dev只補「已有反向 Like才配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9612" y="4096322"/>
              <a:ext cx="8691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對」。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53400" y="1487519"/>
              <a:ext cx="3657600" cy="3687508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1487519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811000" y="1487519"/>
              <a:ext cx="9525" cy="3687508"/>
            </a:xfrm>
            <a:custGeom>
              <a:avLst/>
              <a:gdLst/>
              <a:ahLst/>
              <a:cxnLst/>
              <a:rect l="l" t="t" r="r" b="b"/>
              <a:pathLst>
                <a:path w="9525" h="3687508">
                  <a:moveTo>
                    <a:pt x="0" y="0"/>
                  </a:moveTo>
                  <a:lnTo>
                    <a:pt x="0" y="3687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153400" y="517502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153400" y="1487519"/>
              <a:ext cx="9525" cy="3687508"/>
            </a:xfrm>
            <a:custGeom>
              <a:avLst/>
              <a:gdLst/>
              <a:ahLst/>
              <a:cxnLst/>
              <a:rect l="l" t="t" r="r" b="b"/>
              <a:pathLst>
                <a:path w="9525" h="3687508">
                  <a:moveTo>
                    <a:pt x="0" y="0"/>
                  </a:moveTo>
                  <a:lnTo>
                    <a:pt x="0" y="3687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2002" y="1805178"/>
              <a:ext cx="190640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3｜同案重驗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5812" y="2381822"/>
              <a:ext cx="34569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Version B重跑相同單向操作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05812" y="2762822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05812" y="3239072"/>
              <a:ext cx="270390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 0筆；實際 0筆。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5812" y="3715322"/>
              <a:ext cx="237529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工具回傳： PASS。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05812" y="4191572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交回版本與證據，由需求方判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05812" y="4572572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斷接受。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1000" y="542267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381000" y="5422678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6738" y="5629846"/>
              <a:ext cx="611326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真實規則層執行；不能推論 UI／產品串接已驗收。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3855" y="6396133"/>
              <a:ext cx="46381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開啟 Version A實際 FAIL↗開啟 Version B同案 PASS↗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9" name="Group 69"/>
          <p:cNvGrpSpPr/>
          <p:nvPr/>
        </p:nvGrpSpPr>
        <p:grpSpPr>
          <a:xfrm>
            <a:off x="346710" y="299085"/>
            <a:ext cx="11874056" cy="6670643"/>
            <a:chOff x="346710" y="299085"/>
            <a:chExt cx="11874056" cy="667064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34961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實際驗收一次：從哪裡操作、在哪裡看結果？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488823"/>
              <a:ext cx="118626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Version B補驗前實測當下｜ Version A單向 FAIL； Version B單向／雙向 PASS，重複 Like尚未執行。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033653"/>
              <a:ext cx="11430000" cy="394240"/>
            </a:xfrm>
            <a:prstGeom prst="roundRect">
              <a:avLst>
                <a:gd name="adj" fmla="val 16912"/>
              </a:avLst>
            </a:prstGeom>
            <a:solidFill>
              <a:srgbClr val="1A3045"/>
            </a:solidFill>
            <a:ln w="9525">
              <a:solidFill>
                <a:srgbClr val="48698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7205" y="1135571"/>
              <a:ext cx="4657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8E1F4"/>
                  </a:solidFill>
                  <a:latin typeface="Segoe UI"/>
                  <a:ea typeface="Microsoft YaHei"/>
                  <a:cs typeface="Segoe UI"/>
                </a:rPr>
                <a:t>Version B補驗前（B-pre）｜這份紀錄還缺重複 Like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760" y="1669828"/>
              <a:ext cx="23439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①操作步驟↗②結果與未測紀錄↗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2104834"/>
              <a:ext cx="11430000" cy="4029075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2104834"/>
              <a:ext cx="28575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7690" y="2310574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版本／情境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38500" y="2104834"/>
              <a:ext cx="28575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25190" y="2310574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預期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2104834"/>
              <a:ext cx="28575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2690" y="2310574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實際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953500" y="2104834"/>
              <a:ext cx="28575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40190" y="2310574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狀態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2790634"/>
              <a:ext cx="28575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35288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5785" y="3008757"/>
              <a:ext cx="170135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A｜單向 Like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2790634"/>
              <a:ext cx="28575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238500" y="35288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23285" y="3008757"/>
              <a:ext cx="4909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0" y="2790634"/>
              <a:ext cx="28575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35288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5" y="3008757"/>
              <a:ext cx="144503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1筆（M01）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953500" y="2790634"/>
              <a:ext cx="28575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953500" y="35288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38285" y="3008757"/>
              <a:ext cx="60488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FAIL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352882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427177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5785" y="3746944"/>
              <a:ext cx="170135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B｜單向 Like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238500" y="352882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3238500" y="427177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23285" y="3746944"/>
              <a:ext cx="4909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0" y="352882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6096000" y="427177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5" y="3746944"/>
              <a:ext cx="134535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0筆（無）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53500" y="352882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8953500" y="427177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38285" y="3746944"/>
              <a:ext cx="6760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" y="427177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381000" y="50147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5785" y="4489894"/>
              <a:ext cx="170135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B｜雙向 Like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238500" y="427177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3238500" y="50147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23285" y="4489894"/>
              <a:ext cx="9608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1筆 M01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0" y="427177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6096000" y="50147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80785" y="4489894"/>
              <a:ext cx="144503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1筆（M01）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53500" y="4271772"/>
              <a:ext cx="28575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8953500" y="5014722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38285" y="4489894"/>
              <a:ext cx="67608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81000" y="5014722"/>
              <a:ext cx="2857500" cy="1114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381000" y="6129147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5785" y="5232844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Version B補驗前｜重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5785" y="5604320"/>
              <a:ext cx="9751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複 Like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238500" y="5014722"/>
              <a:ext cx="2857500" cy="1114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3238500" y="6129147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23285" y="5232844"/>
              <a:ext cx="13311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仍 1筆 M01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5014722"/>
              <a:ext cx="2857500" cy="1114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6129147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80785" y="5232844"/>
              <a:ext cx="118872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尚未執行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53500" y="5014722"/>
              <a:ext cx="2857500" cy="1114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8953500" y="6129147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138285" y="5232844"/>
              <a:ext cx="113176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NOT RUN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81000" y="6381560"/>
              <a:ext cx="11430000" cy="476441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381000" y="6381560"/>
              <a:ext cx="9525" cy="476440"/>
            </a:xfrm>
            <a:custGeom>
              <a:avLst/>
              <a:gdLst/>
              <a:ahLst/>
              <a:cxnLst/>
              <a:rect l="l" t="t" r="r" b="b"/>
              <a:pathLst>
                <a:path w="9525" h="476440">
                  <a:moveTo>
                    <a:pt x="0" y="0"/>
                  </a:moveTo>
                  <a:lnTo>
                    <a:pt x="0" y="47644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6738" y="6588728"/>
              <a:ext cx="956369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這份紀錄的重複 Like： NOT RUN。反向單向、雙方未 Like、 UI／整合也未驗。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346710" y="299085"/>
            <a:ext cx="12454414" cy="6430327"/>
            <a:chOff x="346710" y="299085"/>
            <a:chExt cx="12454414" cy="643032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28750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Version B補驗後：重複 Like通過， UI仍未驗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94440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時間快轉：程式仍是 Version B； Version B補驗後只新增重複 Like的補驗證據。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428560"/>
              <a:ext cx="11430000" cy="394240"/>
            </a:xfrm>
            <a:prstGeom prst="roundRect">
              <a:avLst>
                <a:gd name="adj" fmla="val 16912"/>
              </a:avLst>
            </a:prstGeom>
            <a:solidFill>
              <a:srgbClr val="1A3045"/>
            </a:solidFill>
            <a:ln w="9525">
              <a:solidFill>
                <a:srgbClr val="48698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7205" y="1530477"/>
              <a:ext cx="55549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8E1F4"/>
                  </a:solidFill>
                  <a:latin typeface="Segoe UI"/>
                  <a:ea typeface="Microsoft YaHei"/>
                  <a:cs typeface="Segoe UI"/>
                </a:rPr>
                <a:t>Version B補驗後（B-post）｜同一份程式，增加重複 Like測試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041970"/>
              <a:ext cx="5324475" cy="3034951"/>
            </a:xfrm>
            <a:prstGeom prst="roundRect">
              <a:avLst>
                <a:gd name="adj" fmla="val 3766"/>
              </a:avLst>
            </a:prstGeom>
            <a:solidFill>
              <a:srgbClr val="132336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041970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47625">
              <a:solidFill>
                <a:srgbClr val="88BCF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05475" y="2041970"/>
              <a:ext cx="9525" cy="3034856"/>
            </a:xfrm>
            <a:custGeom>
              <a:avLst/>
              <a:gdLst/>
              <a:ahLst/>
              <a:cxnLst/>
              <a:rect l="l" t="t" r="r" b="b"/>
              <a:pathLst>
                <a:path w="9525" h="3034856">
                  <a:moveTo>
                    <a:pt x="0" y="0"/>
                  </a:moveTo>
                  <a:lnTo>
                    <a:pt x="0" y="3034856"/>
                  </a:lnTo>
                </a:path>
              </a:pathLst>
            </a:custGeom>
            <a:noFill/>
            <a:ln w="9525">
              <a:solidFill>
                <a:srgbClr val="4E709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5076825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4E709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041970"/>
              <a:ext cx="9525" cy="3034856"/>
            </a:xfrm>
            <a:custGeom>
              <a:avLst/>
              <a:gdLst/>
              <a:ahLst/>
              <a:cxnLst/>
              <a:rect l="l" t="t" r="r" b="b"/>
              <a:pathLst>
                <a:path w="9525" h="3034856">
                  <a:moveTo>
                    <a:pt x="0" y="0"/>
                  </a:moveTo>
                  <a:lnTo>
                    <a:pt x="0" y="3034856"/>
                  </a:lnTo>
                </a:path>
              </a:pathLst>
            </a:custGeom>
            <a:noFill/>
            <a:ln w="9525">
              <a:solidFill>
                <a:srgbClr val="4E709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8178" y="2660332"/>
              <a:ext cx="242180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dirty="0">
                  <a:solidFill>
                    <a:srgbClr val="DBEAFF"/>
                  </a:solidFill>
                  <a:latin typeface="Segoe UI"/>
                  <a:ea typeface="Microsoft YaHei"/>
                  <a:cs typeface="Segoe UI"/>
                </a:rPr>
                <a:t>Version B補驗前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2940" y="3212211"/>
              <a:ext cx="18202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9F4FC"/>
                  </a:solidFill>
                  <a:latin typeface="Segoe UI"/>
                  <a:ea typeface="Microsoft YaHei"/>
                  <a:cs typeface="Segoe UI"/>
                </a:rPr>
                <a:t>單向 Like PASS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2940" y="3732181"/>
              <a:ext cx="18202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9F4FC"/>
                  </a:solidFill>
                  <a:latin typeface="Segoe UI"/>
                  <a:ea typeface="Microsoft YaHei"/>
                  <a:cs typeface="Segoe UI"/>
                </a:rPr>
                <a:t>雙向 Like PASS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940" y="4252246"/>
              <a:ext cx="27666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E1A2"/>
                  </a:solidFill>
                  <a:latin typeface="Segoe UI"/>
                  <a:ea typeface="Microsoft YaHei"/>
                  <a:cs typeface="Segoe UI"/>
                </a:rPr>
                <a:t>已配對再 Like NOT RUN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09655" y="3402711"/>
              <a:ext cx="372689" cy="716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525" dirty="0">
                  <a:solidFill>
                    <a:srgbClr val="A4D7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86525" y="2041970"/>
              <a:ext cx="5324475" cy="3034951"/>
            </a:xfrm>
            <a:prstGeom prst="roundRect">
              <a:avLst>
                <a:gd name="adj" fmla="val 3766"/>
              </a:avLst>
            </a:prstGeom>
            <a:solidFill>
              <a:srgbClr val="152C26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6486525" y="2041970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47625">
              <a:solidFill>
                <a:srgbClr val="91DDB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811000" y="2041970"/>
              <a:ext cx="9525" cy="3034856"/>
            </a:xfrm>
            <a:custGeom>
              <a:avLst/>
              <a:gdLst/>
              <a:ahLst/>
              <a:cxnLst/>
              <a:rect l="l" t="t" r="r" b="b"/>
              <a:pathLst>
                <a:path w="9525" h="3034856">
                  <a:moveTo>
                    <a:pt x="0" y="0"/>
                  </a:moveTo>
                  <a:lnTo>
                    <a:pt x="0" y="3034856"/>
                  </a:lnTo>
                </a:path>
              </a:pathLst>
            </a:custGeom>
            <a:noFill/>
            <a:ln w="9525">
              <a:solidFill>
                <a:srgbClr val="4E709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486525" y="5076825"/>
              <a:ext cx="5324475" cy="9525"/>
            </a:xfrm>
            <a:custGeom>
              <a:avLst/>
              <a:gdLst/>
              <a:ahLst/>
              <a:cxnLst/>
              <a:rect l="l" t="t" r="r" b="b"/>
              <a:pathLst>
                <a:path w="5324475" h="9525">
                  <a:moveTo>
                    <a:pt x="0" y="0"/>
                  </a:moveTo>
                  <a:lnTo>
                    <a:pt x="5324475" y="0"/>
                  </a:lnTo>
                </a:path>
              </a:pathLst>
            </a:custGeom>
            <a:noFill/>
            <a:ln w="9525">
              <a:solidFill>
                <a:srgbClr val="4E709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486525" y="2041970"/>
              <a:ext cx="9525" cy="3034856"/>
            </a:xfrm>
            <a:custGeom>
              <a:avLst/>
              <a:gdLst/>
              <a:ahLst/>
              <a:cxnLst/>
              <a:rect l="l" t="t" r="r" b="b"/>
              <a:pathLst>
                <a:path w="9525" h="3034856">
                  <a:moveTo>
                    <a:pt x="0" y="0"/>
                  </a:moveTo>
                  <a:lnTo>
                    <a:pt x="0" y="3034856"/>
                  </a:lnTo>
                </a:path>
              </a:pathLst>
            </a:custGeom>
            <a:noFill/>
            <a:ln w="9525">
              <a:solidFill>
                <a:srgbClr val="4E709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63702" y="2913698"/>
              <a:ext cx="369243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dirty="0">
                  <a:solidFill>
                    <a:srgbClr val="DBEAFF"/>
                  </a:solidFill>
                  <a:latin typeface="Segoe UI"/>
                  <a:ea typeface="Microsoft YaHei"/>
                  <a:cs typeface="Segoe UI"/>
                </a:rPr>
                <a:t>Version B補驗後｜同一版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68465" y="3465481"/>
              <a:ext cx="52377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9F4FC"/>
                  </a:solidFill>
                  <a:latin typeface="Segoe UI"/>
                  <a:ea typeface="Microsoft YaHei"/>
                  <a:cs typeface="Segoe UI"/>
                </a:rPr>
                <a:t>單向／雙向：沿用 Version B補驗前既有紀錄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67512" y="3986974"/>
              <a:ext cx="44154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E9F4FC"/>
                  </a:solidFill>
                  <a:latin typeface="Segoe UI"/>
                  <a:ea typeface="Microsoft YaHei"/>
                  <a:cs typeface="Segoe UI"/>
                </a:rPr>
                <a:t>重複 Like： 1筆預期／ 1筆實際 PASS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5324475"/>
              <a:ext cx="11430000" cy="857250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81000" y="532447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1500" y="5524500"/>
              <a:ext cx="12229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時間線： Version B補驗前的「重複」未測→ Version B補驗後同一 B版補驗 PASS。 UI／產品串接、其他未執行情境仍 NOT RUN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1500" y="5781675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3855" y="6455092"/>
              <a:ext cx="48254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Version B補驗前原始紀錄↗ Version B補驗後補驗紀錄↗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346710" y="299085"/>
            <a:ext cx="12412623" cy="6430327"/>
            <a:chOff x="346710" y="299085"/>
            <a:chExt cx="12412623" cy="643032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41799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同一個 Version B，補驗前後怎麼核對？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791927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Version B補驗後多了一項 PASS；先確認補驗使用的程式沒有換版。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428560"/>
              <a:ext cx="5295900" cy="3448240"/>
            </a:xfrm>
            <a:prstGeom prst="roundRect">
              <a:avLst>
                <a:gd name="adj" fmla="val 3315"/>
              </a:avLst>
            </a:prstGeom>
            <a:solidFill>
              <a:srgbClr val="13233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42856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4762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1428560"/>
              <a:ext cx="9525" cy="3448240"/>
            </a:xfrm>
            <a:custGeom>
              <a:avLst/>
              <a:gdLst/>
              <a:ahLst/>
              <a:cxnLst/>
              <a:rect l="l" t="t" r="r" b="b"/>
              <a:pathLst>
                <a:path w="9525" h="3448240">
                  <a:moveTo>
                    <a:pt x="0" y="0"/>
                  </a:moveTo>
                  <a:lnTo>
                    <a:pt x="0" y="3448240"/>
                  </a:lnTo>
                </a:path>
              </a:pathLst>
            </a:custGeom>
            <a:noFill/>
            <a:ln w="9525">
              <a:solidFill>
                <a:srgbClr val="55759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768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55759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428560"/>
              <a:ext cx="9525" cy="3448240"/>
            </a:xfrm>
            <a:custGeom>
              <a:avLst/>
              <a:gdLst/>
              <a:ahLst/>
              <a:cxnLst/>
              <a:rect l="l" t="t" r="r" b="b"/>
              <a:pathLst>
                <a:path w="9525" h="3448240">
                  <a:moveTo>
                    <a:pt x="0" y="0"/>
                  </a:moveTo>
                  <a:lnTo>
                    <a:pt x="0" y="3448240"/>
                  </a:lnTo>
                </a:path>
              </a:pathLst>
            </a:custGeom>
            <a:noFill/>
            <a:ln w="9525">
              <a:solidFill>
                <a:srgbClr val="55759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7700" y="2273046"/>
              <a:ext cx="25053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0F8FF"/>
                  </a:solidFill>
                  <a:latin typeface="Segoe UI"/>
                  <a:ea typeface="Microsoft YaHei"/>
                  <a:cs typeface="Segoe UI"/>
                </a:rPr>
                <a:t>Version B補驗前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5320" y="2771204"/>
              <a:ext cx="11679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0E1F5"/>
                  </a:solidFill>
                  <a:latin typeface="Segoe UI"/>
                  <a:ea typeface="Microsoft YaHei"/>
                  <a:cs typeface="Segoe UI"/>
                </a:rPr>
                <a:t>Version 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76275" y="3154108"/>
              <a:ext cx="2206657" cy="500062"/>
            </a:xfrm>
            <a:prstGeom prst="roundRect">
              <a:avLst>
                <a:gd name="adj" fmla="val 13333"/>
              </a:avLst>
            </a:prstGeom>
            <a:solidFill>
              <a:srgbClr val="0D1B2B"/>
            </a:solidFill>
            <a:ln w="9525">
              <a:solidFill>
                <a:srgbClr val="48688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4388" y="3275552"/>
              <a:ext cx="193714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E8F4FE"/>
                  </a:solidFill>
                  <a:latin typeface="Consolas"/>
                  <a:ea typeface="Microsoft YaHei"/>
                  <a:cs typeface="Consolas"/>
                </a:rPr>
                <a:t>0415bddc4602…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368" y="3839432"/>
              <a:ext cx="251719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4EBF4"/>
                  </a:solidFill>
                  <a:latin typeface="Segoe UI"/>
                  <a:ea typeface="Microsoft YaHei"/>
                  <a:cs typeface="Segoe UI"/>
                </a:rPr>
                <a:t>重複 Like： NOT RUN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13620" y="2999232"/>
              <a:ext cx="36476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dirty="0">
                  <a:solidFill>
                    <a:srgbClr val="A4D5F5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15100" y="1428560"/>
              <a:ext cx="5295900" cy="3448240"/>
            </a:xfrm>
            <a:prstGeom prst="roundRect">
              <a:avLst>
                <a:gd name="adj" fmla="val 3315"/>
              </a:avLst>
            </a:prstGeom>
            <a:solidFill>
              <a:srgbClr val="162D2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6515100" y="142856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47625">
              <a:solidFill>
                <a:srgbClr val="91DDB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1811000" y="1428560"/>
              <a:ext cx="9525" cy="3448240"/>
            </a:xfrm>
            <a:custGeom>
              <a:avLst/>
              <a:gdLst/>
              <a:ahLst/>
              <a:cxnLst/>
              <a:rect l="l" t="t" r="r" b="b"/>
              <a:pathLst>
                <a:path w="9525" h="3448240">
                  <a:moveTo>
                    <a:pt x="0" y="0"/>
                  </a:moveTo>
                  <a:lnTo>
                    <a:pt x="0" y="3448240"/>
                  </a:lnTo>
                </a:path>
              </a:pathLst>
            </a:custGeom>
            <a:noFill/>
            <a:ln w="9525">
              <a:solidFill>
                <a:srgbClr val="55759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515100" y="48768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557593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515100" y="1428560"/>
              <a:ext cx="9525" cy="3448240"/>
            </a:xfrm>
            <a:custGeom>
              <a:avLst/>
              <a:gdLst/>
              <a:ahLst/>
              <a:cxnLst/>
              <a:rect l="l" t="t" r="r" b="b"/>
              <a:pathLst>
                <a:path w="9525" h="3448240">
                  <a:moveTo>
                    <a:pt x="0" y="0"/>
                  </a:moveTo>
                  <a:lnTo>
                    <a:pt x="0" y="3448240"/>
                  </a:lnTo>
                </a:path>
              </a:pathLst>
            </a:custGeom>
            <a:noFill/>
            <a:ln w="9525">
              <a:solidFill>
                <a:srgbClr val="55759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1800" y="2273046"/>
              <a:ext cx="25053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0F8FF"/>
                  </a:solidFill>
                  <a:latin typeface="Segoe UI"/>
                  <a:ea typeface="Microsoft YaHei"/>
                  <a:cs typeface="Segoe UI"/>
                </a:rPr>
                <a:t>Version B補驗後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9420" y="2771204"/>
              <a:ext cx="11679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0E1F5"/>
                  </a:solidFill>
                  <a:latin typeface="Segoe UI"/>
                  <a:ea typeface="Microsoft YaHei"/>
                  <a:cs typeface="Segoe UI"/>
                </a:rPr>
                <a:t>Version 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10375" y="3154108"/>
              <a:ext cx="2206657" cy="500062"/>
            </a:xfrm>
            <a:prstGeom prst="roundRect">
              <a:avLst>
                <a:gd name="adj" fmla="val 13333"/>
              </a:avLst>
            </a:prstGeom>
            <a:solidFill>
              <a:srgbClr val="0D1B2B"/>
            </a:solidFill>
            <a:ln w="9525">
              <a:solidFill>
                <a:srgbClr val="48688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48488" y="3275552"/>
              <a:ext cx="193714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E8F4FE"/>
                  </a:solidFill>
                  <a:latin typeface="Consolas"/>
                  <a:ea typeface="Microsoft YaHei"/>
                  <a:cs typeface="Consolas"/>
                </a:rPr>
                <a:t>0415bddc4602…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8468" y="3839432"/>
              <a:ext cx="20939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4EBF4"/>
                  </a:solidFill>
                  <a:latin typeface="Segoe UI"/>
                  <a:ea typeface="Microsoft YaHei"/>
                  <a:cs typeface="Segoe UI"/>
                </a:rPr>
                <a:t>重複 Like： PASS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5124450"/>
              <a:ext cx="11430000" cy="105727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81000" y="5124450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738" y="5331619"/>
              <a:ext cx="1219259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畫面顯示同一 B版的短指紋；完整 SHA請查原始紀錄。新增的是重複 Like補驗證據； UI／整合仍 NOT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738" y="5688806"/>
              <a:ext cx="7733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RUN。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3855" y="6455092"/>
              <a:ext cx="4884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開啟 Version B補驗前紀錄↗開啟 Version B補驗後補驗↗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73625" cy="6387465"/>
            <a:chOff x="346710" y="299085"/>
            <a:chExt cx="1147362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836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Check：這張票仍推進 Goal嗎？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792385"/>
              <a:ext cx="11430000" cy="447675"/>
            </a:xfrm>
            <a:prstGeom prst="roundRect">
              <a:avLst>
                <a:gd name="adj" fmla="val 14894"/>
              </a:avLst>
            </a:prstGeom>
            <a:solidFill>
              <a:srgbClr val="17283C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792385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38100">
              <a:solidFill>
                <a:srgbClr val="80B4E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23875" y="916210"/>
              <a:ext cx="92721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5F4"/>
                  </a:solidFill>
                  <a:latin typeface="Segoe UI"/>
                  <a:ea typeface="Microsoft YaHei"/>
                  <a:cs typeface="Segoe UI"/>
                </a:rPr>
                <a:t>Product Check流程示意｜ #3已有規則層證據，未完整通過 QA； UI／整合／部署仍 NOT RUN。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1411510"/>
              <a:ext cx="11430000" cy="3185541"/>
            </a:xfrm>
            <a:prstGeom prst="roundRect">
              <a:avLst>
                <a:gd name="adj" fmla="val 3588"/>
              </a:avLst>
            </a:prstGeom>
            <a:solidFill>
              <a:srgbClr val="173024"/>
            </a:solidFill>
            <a:ln w="9525">
              <a:solidFill>
                <a:srgbClr val="52846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04936" y="2639282"/>
              <a:ext cx="19722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9D3BD"/>
                  </a:solidFill>
                  <a:latin typeface="Segoe UI"/>
                  <a:ea typeface="Microsoft YaHei"/>
                  <a:cs typeface="Segoe UI"/>
                </a:rPr>
                <a:t>核對 #3的配對規則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47210" y="3025426"/>
              <a:ext cx="401193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2FAF6"/>
                  </a:solidFill>
                  <a:latin typeface="Segoe UI"/>
                  <a:ea typeface="Microsoft YaHei"/>
                  <a:cs typeface="Segoe UI"/>
                </a:rPr>
                <a:t>互相喜歡才能建立配對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4768501"/>
              <a:ext cx="3721037" cy="1321022"/>
            </a:xfrm>
            <a:prstGeom prst="roundRect">
              <a:avLst>
                <a:gd name="adj" fmla="val 7210"/>
              </a:avLst>
            </a:prstGeom>
            <a:solidFill>
              <a:srgbClr val="122237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4768501"/>
              <a:ext cx="3721037" cy="9525"/>
            </a:xfrm>
            <a:custGeom>
              <a:avLst/>
              <a:gdLst/>
              <a:ahLst/>
              <a:cxnLst/>
              <a:rect l="l" t="t" r="r" b="b"/>
              <a:pathLst>
                <a:path w="3721037" h="9525">
                  <a:moveTo>
                    <a:pt x="0" y="0"/>
                  </a:moveTo>
                  <a:lnTo>
                    <a:pt x="3721037" y="0"/>
                  </a:lnTo>
                </a:path>
              </a:pathLst>
            </a:custGeom>
            <a:noFill/>
            <a:ln w="38100">
              <a:solidFill>
                <a:srgbClr val="86D6AD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102037" y="4768501"/>
              <a:ext cx="9525" cy="1320927"/>
            </a:xfrm>
            <a:custGeom>
              <a:avLst/>
              <a:gdLst/>
              <a:ahLst/>
              <a:cxnLst/>
              <a:rect l="l" t="t" r="r" b="b"/>
              <a:pathLst>
                <a:path w="9525" h="1320927">
                  <a:moveTo>
                    <a:pt x="0" y="0"/>
                  </a:moveTo>
                  <a:lnTo>
                    <a:pt x="0" y="1320927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6089428"/>
              <a:ext cx="3721037" cy="9525"/>
            </a:xfrm>
            <a:custGeom>
              <a:avLst/>
              <a:gdLst/>
              <a:ahLst/>
              <a:cxnLst/>
              <a:rect l="l" t="t" r="r" b="b"/>
              <a:pathLst>
                <a:path w="3721037" h="9525">
                  <a:moveTo>
                    <a:pt x="0" y="0"/>
                  </a:moveTo>
                  <a:lnTo>
                    <a:pt x="3721037" y="0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81000" y="4768501"/>
              <a:ext cx="9525" cy="1320927"/>
            </a:xfrm>
            <a:custGeom>
              <a:avLst/>
              <a:gdLst/>
              <a:ahLst/>
              <a:cxnLst/>
              <a:rect l="l" t="t" r="r" b="b"/>
              <a:pathLst>
                <a:path w="9525" h="1320927">
                  <a:moveTo>
                    <a:pt x="0" y="0"/>
                  </a:moveTo>
                  <a:lnTo>
                    <a:pt x="0" y="1320927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2925" y="4997101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5F5"/>
                  </a:solidFill>
                  <a:latin typeface="Segoe UI"/>
                  <a:ea typeface="Microsoft YaHei"/>
                  <a:cs typeface="Segoe UI"/>
                </a:rPr>
                <a:t>方向正確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8162" y="5337620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BFDFF"/>
                  </a:solidFill>
                  <a:latin typeface="Segoe UI"/>
                  <a:ea typeface="Microsoft YaHei"/>
                  <a:cs typeface="Segoe UI"/>
                </a:rPr>
                <a:t>交由人類判斷接受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5782" y="5723858"/>
              <a:ext cx="32725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B9CBDB"/>
                  </a:solidFill>
                  <a:latin typeface="Segoe UI"/>
                  <a:ea typeface="Microsoft YaHei"/>
                  <a:cs typeface="Segoe UI"/>
                </a:rPr>
                <a:t>Human Gate／發布與 DoD仍須另外檢查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35386" y="4768501"/>
              <a:ext cx="3721132" cy="1321022"/>
            </a:xfrm>
            <a:prstGeom prst="roundRect">
              <a:avLst>
                <a:gd name="adj" fmla="val 7210"/>
              </a:avLst>
            </a:prstGeom>
            <a:solidFill>
              <a:srgbClr val="122237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35386" y="4768501"/>
              <a:ext cx="3721132" cy="9525"/>
            </a:xfrm>
            <a:custGeom>
              <a:avLst/>
              <a:gdLst/>
              <a:ahLst/>
              <a:cxnLst/>
              <a:rect l="l" t="t" r="r" b="b"/>
              <a:pathLst>
                <a:path w="3721132" h="9525">
                  <a:moveTo>
                    <a:pt x="0" y="0"/>
                  </a:moveTo>
                  <a:lnTo>
                    <a:pt x="3721132" y="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56518" y="4768501"/>
              <a:ext cx="9525" cy="1320927"/>
            </a:xfrm>
            <a:custGeom>
              <a:avLst/>
              <a:gdLst/>
              <a:ahLst/>
              <a:cxnLst/>
              <a:rect l="l" t="t" r="r" b="b"/>
              <a:pathLst>
                <a:path w="9525" h="1320927">
                  <a:moveTo>
                    <a:pt x="0" y="0"/>
                  </a:moveTo>
                  <a:lnTo>
                    <a:pt x="0" y="1320927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35386" y="6089428"/>
              <a:ext cx="3721132" cy="9525"/>
            </a:xfrm>
            <a:custGeom>
              <a:avLst/>
              <a:gdLst/>
              <a:ahLst/>
              <a:cxnLst/>
              <a:rect l="l" t="t" r="r" b="b"/>
              <a:pathLst>
                <a:path w="3721132" h="9525">
                  <a:moveTo>
                    <a:pt x="0" y="0"/>
                  </a:moveTo>
                  <a:lnTo>
                    <a:pt x="3721132" y="0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35386" y="4768501"/>
              <a:ext cx="9525" cy="1320927"/>
            </a:xfrm>
            <a:custGeom>
              <a:avLst/>
              <a:gdLst/>
              <a:ahLst/>
              <a:cxnLst/>
              <a:rect l="l" t="t" r="r" b="b"/>
              <a:pathLst>
                <a:path w="9525" h="1320927">
                  <a:moveTo>
                    <a:pt x="0" y="0"/>
                  </a:moveTo>
                  <a:lnTo>
                    <a:pt x="0" y="1320927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97312" y="4997101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5F5"/>
                  </a:solidFill>
                  <a:latin typeface="Segoe UI"/>
                  <a:ea typeface="Microsoft YaHei"/>
                  <a:cs typeface="Segoe UI"/>
                </a:rPr>
                <a:t>需求變了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92549" y="5337620"/>
              <a:ext cx="166330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BFDFF"/>
                  </a:solidFill>
                  <a:latin typeface="Segoe UI"/>
                  <a:ea typeface="Microsoft YaHei"/>
                  <a:cs typeface="Segoe UI"/>
                </a:rPr>
                <a:t>退回 Backlog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0169" y="5723858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B9CBDB"/>
                  </a:solidFill>
                  <a:latin typeface="Segoe UI"/>
                  <a:ea typeface="Microsoft YaHei"/>
                  <a:cs typeface="Segoe UI"/>
                </a:rPr>
                <a:t>重新釐清真正要解決的問題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89868" y="4768501"/>
              <a:ext cx="3721037" cy="1321022"/>
            </a:xfrm>
            <a:prstGeom prst="roundRect">
              <a:avLst>
                <a:gd name="adj" fmla="val 7210"/>
              </a:avLst>
            </a:prstGeom>
            <a:solidFill>
              <a:srgbClr val="122237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089868" y="4768501"/>
              <a:ext cx="3720941" cy="9525"/>
            </a:xfrm>
            <a:custGeom>
              <a:avLst/>
              <a:gdLst/>
              <a:ahLst/>
              <a:cxnLst/>
              <a:rect l="l" t="t" r="r" b="b"/>
              <a:pathLst>
                <a:path w="3720941" h="9525">
                  <a:moveTo>
                    <a:pt x="0" y="0"/>
                  </a:moveTo>
                  <a:lnTo>
                    <a:pt x="3720941" y="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810810" y="4768501"/>
              <a:ext cx="9525" cy="1320927"/>
            </a:xfrm>
            <a:custGeom>
              <a:avLst/>
              <a:gdLst/>
              <a:ahLst/>
              <a:cxnLst/>
              <a:rect l="l" t="t" r="r" b="b"/>
              <a:pathLst>
                <a:path w="9525" h="1320927">
                  <a:moveTo>
                    <a:pt x="0" y="0"/>
                  </a:moveTo>
                  <a:lnTo>
                    <a:pt x="0" y="1320927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089868" y="6089428"/>
              <a:ext cx="3720941" cy="9525"/>
            </a:xfrm>
            <a:custGeom>
              <a:avLst/>
              <a:gdLst/>
              <a:ahLst/>
              <a:cxnLst/>
              <a:rect l="l" t="t" r="r" b="b"/>
              <a:pathLst>
                <a:path w="3720941" h="9525">
                  <a:moveTo>
                    <a:pt x="0" y="0"/>
                  </a:moveTo>
                  <a:lnTo>
                    <a:pt x="3720941" y="0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089868" y="4768501"/>
              <a:ext cx="9525" cy="1320927"/>
            </a:xfrm>
            <a:custGeom>
              <a:avLst/>
              <a:gdLst/>
              <a:ahLst/>
              <a:cxnLst/>
              <a:rect l="l" t="t" r="r" b="b"/>
              <a:pathLst>
                <a:path w="9525" h="1320927">
                  <a:moveTo>
                    <a:pt x="0" y="0"/>
                  </a:moveTo>
                  <a:lnTo>
                    <a:pt x="0" y="1320927"/>
                  </a:lnTo>
                </a:path>
              </a:pathLst>
            </a:custGeom>
            <a:noFill/>
            <a:ln w="9525">
              <a:solidFill>
                <a:srgbClr val="435F7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51793" y="4997101"/>
              <a:ext cx="14401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4E5F5"/>
                  </a:solidFill>
                  <a:latin typeface="Segoe UI"/>
                  <a:ea typeface="Microsoft YaHei"/>
                  <a:cs typeface="Segoe UI"/>
                </a:rPr>
                <a:t>實作不符合 AC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47031" y="5337620"/>
              <a:ext cx="112930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BFDFF"/>
                  </a:solidFill>
                  <a:latin typeface="Segoe UI"/>
                  <a:ea typeface="Microsoft YaHei"/>
                  <a:cs typeface="Segoe UI"/>
                </a:rPr>
                <a:t>退回 Dev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54651" y="5723858"/>
              <a:ext cx="13358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B9CBDB"/>
                  </a:solidFill>
                  <a:latin typeface="Segoe UI"/>
                  <a:ea typeface="Microsoft YaHei"/>
                  <a:cs typeface="Segoe UI"/>
                </a:rPr>
                <a:t>修正後再送驗證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6260878"/>
              <a:ext cx="11430000" cy="425672"/>
            </a:xfrm>
            <a:prstGeom prst="rect">
              <a:avLst/>
            </a:prstGeom>
            <a:solidFill>
              <a:srgbClr val="14241D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6260878"/>
              <a:ext cx="9525" cy="425672"/>
            </a:xfrm>
            <a:custGeom>
              <a:avLst/>
              <a:gdLst/>
              <a:ahLst/>
              <a:cxnLst/>
              <a:rect l="l" t="t" r="r" b="b"/>
              <a:pathLst>
                <a:path w="9525" h="425672">
                  <a:moveTo>
                    <a:pt x="0" y="0"/>
                  </a:moveTo>
                  <a:lnTo>
                    <a:pt x="0" y="425672"/>
                  </a:lnTo>
                </a:path>
              </a:pathLst>
            </a:custGeom>
            <a:noFill/>
            <a:ln w="38100">
              <a:solidFill>
                <a:srgbClr val="86D6A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5778" y="6383274"/>
              <a:ext cx="67481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EE8D6"/>
                  </a:solidFill>
                  <a:latin typeface="Segoe UI"/>
                  <a:ea typeface="Microsoft YaHei"/>
                  <a:cs typeface="Segoe UI"/>
                </a:rPr>
                <a:t>工作票是否合適，在上線前判斷； Goal成效要等真實使用結果才能衡量。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46710" y="299085"/>
            <a:ext cx="11780972" cy="6387465"/>
            <a:chOff x="346710" y="299085"/>
            <a:chExt cx="11780972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8878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實作與驗收｜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53615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48852" y="1252823"/>
              <a:ext cx="86646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能用 AC、候選版本和預期／實際結果判斷 PASS、 FAIL、 NOT RUN。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80747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Version A只有小安 Like小晴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0089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，預期／實際各幾筆？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4651" y="2667667"/>
              <a:ext cx="37335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新案例預期 1筆、實際 0筆；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4651" y="301999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另一個案例已確認尚未執行。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3372326"/>
              <a:ext cx="153019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各標什麼？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05419" y="2667667"/>
              <a:ext cx="363002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Reviewer、 QA、 Product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419" y="3019996"/>
              <a:ext cx="382226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Check的核對重點有何不同？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346710" y="299085"/>
            <a:ext cx="11473815" cy="5205508"/>
            <a:chOff x="346710" y="299085"/>
            <a:chExt cx="11473815" cy="520550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03720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規則測過，現在能發布嗎？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5760" y="1969675"/>
              <a:ext cx="32114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目前位置規則層有結果，完整 UI仍未測。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543937"/>
              <a:ext cx="3619500" cy="1476375"/>
            </a:xfrm>
            <a:prstGeom prst="roundRect">
              <a:avLst>
                <a:gd name="adj" fmla="val 5806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543937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005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020312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4835" y="2776347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01辨認環境風險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86250" y="2543937"/>
              <a:ext cx="3619500" cy="1476375"/>
            </a:xfrm>
            <a:prstGeom prst="roundRect">
              <a:avLst>
                <a:gd name="adj" fmla="val 5806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4286250" y="2543937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90575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286250" y="4020312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28625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90085" y="2776347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02人決定放行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2543937"/>
              <a:ext cx="3619500" cy="1476375"/>
            </a:xfrm>
            <a:prstGeom prst="roundRect">
              <a:avLst>
                <a:gd name="adj" fmla="val 5806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8191500" y="2543937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8110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191500" y="4020312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191500" y="2543937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0"/>
                  </a:moveTo>
                  <a:lnTo>
                    <a:pt x="0" y="1476375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95335" y="2776347"/>
              <a:ext cx="15815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03區分 Done／ Goal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" y="4334637"/>
              <a:ext cx="11430000" cy="57940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81000" y="4334637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5760" y="4586097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學完能證據不足時，知道要補驗或暫停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1010" y="5260753"/>
              <a:ext cx="39825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2E8F9"/>
                  </a:solidFill>
                  <a:latin typeface="Arial"/>
                  <a:ea typeface="Microsoft YaHei"/>
                  <a:cs typeface="Arial"/>
                </a:rPr>
                <a:t>假資料環境：可重建→真實使用者環境：錯配有代價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346710" y="299085"/>
            <a:ext cx="11473815" cy="6310123"/>
            <a:chOff x="346710" y="299085"/>
            <a:chExt cx="11473815" cy="631012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放行前，確認證據，也確認出錯如何處理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961072"/>
              <a:ext cx="567156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人看 #3的交付與風險，記錄「放行／暫停」理由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505807"/>
              <a:ext cx="5610225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505807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91225" y="1505807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347881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505807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1823466"/>
              <a:ext cx="215655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1降低發生機率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400110"/>
              <a:ext cx="31283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Review、測試、範圍約束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876360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哪些錯誤已設法攔下？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00775" y="1505807"/>
              <a:ext cx="5610225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6200775" y="1505807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1811000" y="1505807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200775" y="347881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200775" y="1505807"/>
              <a:ext cx="9525" cy="1973009"/>
            </a:xfrm>
            <a:custGeom>
              <a:avLst/>
              <a:gdLst/>
              <a:ahLst/>
              <a:cxnLst/>
              <a:rect l="l" t="t" r="r" b="b"/>
              <a:pathLst>
                <a:path w="9525" h="1973009">
                  <a:moveTo>
                    <a:pt x="0" y="0"/>
                  </a:moveTo>
                  <a:lnTo>
                    <a:pt x="0" y="197300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49378" y="1823466"/>
              <a:ext cx="157286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2驗證結果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53188" y="2400110"/>
              <a:ext cx="31694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這次版本的 AC與結果證據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53188" y="2876360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有沒有未跑或失敗的情境？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3688366"/>
              <a:ext cx="5610225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81000" y="368836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991225" y="3688366"/>
              <a:ext cx="9525" cy="1973104"/>
            </a:xfrm>
            <a:custGeom>
              <a:avLst/>
              <a:gdLst/>
              <a:ahLst/>
              <a:cxnLst/>
              <a:rect l="l" t="t" r="r" b="b"/>
              <a:pathLst>
                <a:path w="9525" h="1973104">
                  <a:moveTo>
                    <a:pt x="0" y="0"/>
                  </a:moveTo>
                  <a:lnTo>
                    <a:pt x="0" y="197310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81000" y="5661470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81000" y="3688366"/>
              <a:ext cx="9525" cy="1973104"/>
            </a:xfrm>
            <a:custGeom>
              <a:avLst/>
              <a:gdLst/>
              <a:ahLst/>
              <a:cxnLst/>
              <a:rect l="l" t="t" r="r" b="b"/>
              <a:pathLst>
                <a:path w="9525" h="1973104">
                  <a:moveTo>
                    <a:pt x="0" y="0"/>
                  </a:moveTo>
                  <a:lnTo>
                    <a:pt x="0" y="197310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602" y="4006025"/>
              <a:ext cx="157286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3找出風險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3412" y="4582763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資料、使用者與相依範圍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3412" y="5059013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錯了會影響誰？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00775" y="3688366"/>
              <a:ext cx="5610225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200775" y="368836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1811000" y="3688366"/>
              <a:ext cx="9525" cy="1973104"/>
            </a:xfrm>
            <a:custGeom>
              <a:avLst/>
              <a:gdLst/>
              <a:ahLst/>
              <a:cxnLst/>
              <a:rect l="l" t="t" r="r" b="b"/>
              <a:pathLst>
                <a:path w="9525" h="1973104">
                  <a:moveTo>
                    <a:pt x="0" y="0"/>
                  </a:moveTo>
                  <a:lnTo>
                    <a:pt x="0" y="197310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200775" y="5661470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200775" y="3688366"/>
              <a:ext cx="9525" cy="1973104"/>
            </a:xfrm>
            <a:custGeom>
              <a:avLst/>
              <a:gdLst/>
              <a:ahLst/>
              <a:cxnLst/>
              <a:rect l="l" t="t" r="r" b="b"/>
              <a:pathLst>
                <a:path w="9525" h="1973104">
                  <a:moveTo>
                    <a:pt x="0" y="0"/>
                  </a:moveTo>
                  <a:lnTo>
                    <a:pt x="0" y="197310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49378" y="4006025"/>
              <a:ext cx="157286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4降低衝擊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3188" y="4582763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如何停止擴散、回復與處理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3188" y="5059013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這些能力真的可用嗎？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" y="5909120"/>
              <a:ext cx="11430000" cy="700088"/>
            </a:xfrm>
            <a:prstGeom prst="rect">
              <a:avLst/>
            </a:prstGeom>
            <a:solidFill>
              <a:srgbClr val="282316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381000" y="5909120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6738" y="6116288"/>
              <a:ext cx="93446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2DFAA"/>
                  </a:solidFill>
                  <a:latin typeface="Arial"/>
                  <a:ea typeface="Microsoft YaHei"/>
                  <a:cs typeface="Arial"/>
                </a:rPr>
                <a:t>本課固定： Product Check→人記錄 Gate決定→通過後才 merge／ release。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222980" y="299085"/>
            <a:ext cx="11746039" cy="5732336"/>
            <a:chOff x="222980" y="299085"/>
            <a:chExt cx="11746039" cy="573233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7555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假設 #3已 Done：整個 Goal仍未達成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47552"/>
              <a:ext cx="11430000" cy="728662"/>
            </a:xfrm>
            <a:prstGeom prst="roundRect">
              <a:avLst>
                <a:gd name="adj" fmla="val 13072"/>
              </a:avLst>
            </a:prstGeom>
            <a:solidFill>
              <a:srgbClr val="172B21"/>
            </a:solidFill>
            <a:ln w="9525">
              <a:solidFill>
                <a:srgbClr val="50755D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299520" y="1983296"/>
              <a:ext cx="559296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D2EBD7"/>
                  </a:solidFill>
                  <a:latin typeface="Segoe UI"/>
                  <a:ea typeface="Microsoft YaHei"/>
                  <a:cs typeface="Segoe UI"/>
                </a:rPr>
                <a:t>共同 Goal｜使用者能從按喜歡到查看配對結果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2714339"/>
              <a:ext cx="3352800" cy="1657350"/>
            </a:xfrm>
            <a:prstGeom prst="roundRect">
              <a:avLst>
                <a:gd name="adj" fmla="val 6322"/>
              </a:avLst>
            </a:prstGeom>
            <a:solidFill>
              <a:srgbClr val="13253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2714339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47625">
              <a:solidFill>
                <a:srgbClr val="839DB9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733800" y="2714339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0" y="0"/>
                  </a:moveTo>
                  <a:lnTo>
                    <a:pt x="0" y="165735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4371689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2714339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0" y="0"/>
                  </a:moveTo>
                  <a:lnTo>
                    <a:pt x="0" y="165735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5703" y="3208020"/>
              <a:ext cx="200339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EFF8FF"/>
                  </a:solidFill>
                  <a:latin typeface="Segoe UI"/>
                  <a:ea typeface="Microsoft YaHei"/>
                  <a:cs typeface="Segoe UI"/>
                </a:rPr>
                <a:t>#1 Like／ Pass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5208" y="3702844"/>
              <a:ext cx="174438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D5E7F8"/>
                  </a:solidFill>
                  <a:latin typeface="Segoe UI"/>
                  <a:ea typeface="Microsoft YaHei"/>
                  <a:cs typeface="Segoe UI"/>
                </a:rPr>
                <a:t>Ready｜未開工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33968" y="3422999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8DC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19600" y="2714339"/>
              <a:ext cx="3352800" cy="1657350"/>
            </a:xfrm>
            <a:prstGeom prst="roundRect">
              <a:avLst>
                <a:gd name="adj" fmla="val 6322"/>
              </a:avLst>
            </a:prstGeom>
            <a:solidFill>
              <a:srgbClr val="172C25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419600" y="2714339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47625">
              <a:solidFill>
                <a:srgbClr val="8BDCB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772400" y="2714339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0" y="0"/>
                  </a:moveTo>
                  <a:lnTo>
                    <a:pt x="0" y="165735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419600" y="4371689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419600" y="2714339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0" y="0"/>
                  </a:moveTo>
                  <a:lnTo>
                    <a:pt x="0" y="165735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16117" y="3208020"/>
              <a:ext cx="155976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EFF8FF"/>
                  </a:solidFill>
                  <a:latin typeface="Segoe UI"/>
                  <a:ea typeface="Microsoft YaHei"/>
                  <a:cs typeface="Segoe UI"/>
                </a:rPr>
                <a:t>#3配對判斷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1154" y="3702844"/>
              <a:ext cx="21096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B4EDCC"/>
                  </a:solidFill>
                  <a:latin typeface="Segoe UI"/>
                  <a:ea typeface="Microsoft YaHei"/>
                  <a:cs typeface="Segoe UI"/>
                </a:rPr>
                <a:t>Done（教學假設）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72568" y="3422999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8DC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58200" y="2714339"/>
              <a:ext cx="3352800" cy="1657350"/>
            </a:xfrm>
            <a:prstGeom prst="roundRect">
              <a:avLst>
                <a:gd name="adj" fmla="val 6322"/>
              </a:avLst>
            </a:prstGeom>
            <a:solidFill>
              <a:srgbClr val="132538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8458200" y="2714339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47625">
              <a:solidFill>
                <a:srgbClr val="839DB9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1811000" y="2714339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0" y="0"/>
                  </a:moveTo>
                  <a:lnTo>
                    <a:pt x="0" y="165735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458200" y="4371689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458200" y="2714339"/>
              <a:ext cx="9525" cy="1657350"/>
            </a:xfrm>
            <a:custGeom>
              <a:avLst/>
              <a:gdLst/>
              <a:ahLst/>
              <a:cxnLst/>
              <a:rect l="l" t="t" r="r" b="b"/>
              <a:pathLst>
                <a:path w="9525" h="1657350">
                  <a:moveTo>
                    <a:pt x="0" y="0"/>
                  </a:moveTo>
                  <a:lnTo>
                    <a:pt x="0" y="1657350"/>
                  </a:lnTo>
                </a:path>
              </a:pathLst>
            </a:custGeom>
            <a:noFill/>
            <a:ln w="9525">
              <a:solidFill>
                <a:srgbClr val="4A648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54717" y="3208020"/>
              <a:ext cx="155976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EFF8FF"/>
                  </a:solidFill>
                  <a:latin typeface="Segoe UI"/>
                  <a:ea typeface="Microsoft YaHei"/>
                  <a:cs typeface="Segoe UI"/>
                </a:rPr>
                <a:t>#2配對列表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62408" y="3702844"/>
              <a:ext cx="174438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dirty="0">
                  <a:solidFill>
                    <a:srgbClr val="D5E7F8"/>
                  </a:solidFill>
                  <a:latin typeface="Segoe UI"/>
                  <a:ea typeface="Microsoft YaHei"/>
                  <a:cs typeface="Segoe UI"/>
                </a:rPr>
                <a:t>Ready｜未開工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4609814"/>
              <a:ext cx="11430000" cy="626269"/>
            </a:xfrm>
            <a:prstGeom prst="roundRect">
              <a:avLst>
                <a:gd name="adj" fmla="val 12167"/>
              </a:avLst>
            </a:prstGeom>
            <a:solidFill>
              <a:srgbClr val="2B251B"/>
            </a:solidFill>
            <a:ln w="9525">
              <a:solidFill>
                <a:srgbClr val="9F8949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53530" y="4788408"/>
              <a:ext cx="808493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dirty="0">
                  <a:solidFill>
                    <a:srgbClr val="FFE4AC"/>
                  </a:solidFill>
                  <a:latin typeface="Segoe UI"/>
                  <a:ea typeface="Microsoft YaHei"/>
                  <a:cs typeface="Segoe UI"/>
                </a:rPr>
                <a:t>#3單票假設完成，使用者仍走不完完整流程，整體 Goal尚未達成。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2980" y="5499926"/>
              <a:ext cx="117460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ED0DF"/>
                  </a:solidFill>
                  <a:latin typeface="Segoe UI"/>
                  <a:ea typeface="Microsoft YaHei"/>
                  <a:cs typeface="Segoe UI"/>
                </a:rPr>
                <a:t>此為流程推演：假設 Review／ QA、人類放行、 Merge／ Release／上線檢查與 DoD均完成， #3才可能 Done。真實 UI／部署 NOT RUN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80271" y="5757101"/>
              <a:ext cx="231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BED0DF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346710" y="299085"/>
            <a:ext cx="12824460" cy="6387465"/>
            <a:chOff x="346710" y="299085"/>
            <a:chExt cx="1282446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93556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三張票都完成，還要走完使用者的整條路徑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333881"/>
              <a:ext cx="755122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教學假設：若 #1／ #2已完成並整合後，從使用者目標走完整條路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878616"/>
              <a:ext cx="3409950" cy="1850993"/>
            </a:xfrm>
            <a:prstGeom prst="roundRect">
              <a:avLst>
                <a:gd name="adj" fmla="val 617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87861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1878616"/>
              <a:ext cx="9525" cy="1850993"/>
            </a:xfrm>
            <a:custGeom>
              <a:avLst/>
              <a:gdLst/>
              <a:ahLst/>
              <a:cxnLst/>
              <a:rect l="l" t="t" r="r" b="b"/>
              <a:pathLst>
                <a:path w="9525" h="1850993">
                  <a:moveTo>
                    <a:pt x="0" y="0"/>
                  </a:moveTo>
                  <a:lnTo>
                    <a:pt x="0" y="185099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3729609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878616"/>
              <a:ext cx="9525" cy="1850993"/>
            </a:xfrm>
            <a:custGeom>
              <a:avLst/>
              <a:gdLst/>
              <a:ahLst/>
              <a:cxnLst/>
              <a:rect l="l" t="t" r="r" b="b"/>
              <a:pathLst>
                <a:path w="9525" h="1850993">
                  <a:moveTo>
                    <a:pt x="0" y="0"/>
                  </a:moveTo>
                  <a:lnTo>
                    <a:pt x="0" y="185099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196274"/>
              <a:ext cx="133938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#1｜輸入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222" y="2767298"/>
              <a:ext cx="14776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小安 Like小晴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222" y="3182493"/>
              <a:ext cx="170771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小晴也 Like小安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52220" y="2620708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91025" y="1878616"/>
              <a:ext cx="3409950" cy="1850993"/>
            </a:xfrm>
            <a:prstGeom prst="roundRect">
              <a:avLst>
                <a:gd name="adj" fmla="val 617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391025" y="187861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800975" y="1878616"/>
              <a:ext cx="9525" cy="1850993"/>
            </a:xfrm>
            <a:custGeom>
              <a:avLst/>
              <a:gdLst/>
              <a:ahLst/>
              <a:cxnLst/>
              <a:rect l="l" t="t" r="r" b="b"/>
              <a:pathLst>
                <a:path w="9525" h="1850993">
                  <a:moveTo>
                    <a:pt x="0" y="0"/>
                  </a:moveTo>
                  <a:lnTo>
                    <a:pt x="0" y="185099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91025" y="3729609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1878616"/>
              <a:ext cx="9525" cy="1850993"/>
            </a:xfrm>
            <a:custGeom>
              <a:avLst/>
              <a:gdLst/>
              <a:ahLst/>
              <a:cxnLst/>
              <a:rect l="l" t="t" r="r" b="b"/>
              <a:pathLst>
                <a:path w="9525" h="1850993">
                  <a:moveTo>
                    <a:pt x="0" y="0"/>
                  </a:moveTo>
                  <a:lnTo>
                    <a:pt x="0" y="185099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39628" y="2196274"/>
              <a:ext cx="142276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#3｜判斷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7248" y="2767298"/>
              <a:ext cx="142017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確認雙向喜歡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7248" y="3182493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只建立一筆配對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2245" y="2620708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401050" y="1878616"/>
              <a:ext cx="3409950" cy="1850993"/>
            </a:xfrm>
            <a:prstGeom prst="roundRect">
              <a:avLst>
                <a:gd name="adj" fmla="val 617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401050" y="187861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1878616"/>
              <a:ext cx="9525" cy="1850993"/>
            </a:xfrm>
            <a:custGeom>
              <a:avLst/>
              <a:gdLst/>
              <a:ahLst/>
              <a:cxnLst/>
              <a:rect l="l" t="t" r="r" b="b"/>
              <a:pathLst>
                <a:path w="9525" h="1850993">
                  <a:moveTo>
                    <a:pt x="0" y="0"/>
                  </a:moveTo>
                  <a:lnTo>
                    <a:pt x="0" y="185099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3729609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401050" y="1878616"/>
              <a:ext cx="9525" cy="1850993"/>
            </a:xfrm>
            <a:custGeom>
              <a:avLst/>
              <a:gdLst/>
              <a:ahLst/>
              <a:cxnLst/>
              <a:rect l="l" t="t" r="r" b="b"/>
              <a:pathLst>
                <a:path w="9525" h="1850993">
                  <a:moveTo>
                    <a:pt x="0" y="0"/>
                  </a:moveTo>
                  <a:lnTo>
                    <a:pt x="0" y="1850993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49652" y="2196274"/>
              <a:ext cx="142276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#2｜呈現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57272" y="2767298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小安的列表看見小晴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7272" y="3182493"/>
              <a:ext cx="23402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小晴的列表也看見小安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3977259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81000" y="3977259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6738" y="4184428"/>
              <a:ext cx="74414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單票通過，不保證串接正確；整條路徑還要核對資料與結果。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3855" y="4950714"/>
              <a:ext cx="59986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上線前確認行為；上線後再量 Goal的成功訊號，兩者不能互相代替。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" y="5822728"/>
              <a:ext cx="11430000" cy="863822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81000" y="5822728"/>
              <a:ext cx="9525" cy="863822"/>
            </a:xfrm>
            <a:custGeom>
              <a:avLst/>
              <a:gdLst/>
              <a:ahLst/>
              <a:cxnLst/>
              <a:rect l="l" t="t" r="r" b="b"/>
              <a:pathLst>
                <a:path w="9525" h="863822">
                  <a:moveTo>
                    <a:pt x="0" y="0"/>
                  </a:moveTo>
                  <a:lnTo>
                    <a:pt x="0" y="863822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30542" y="5969889"/>
              <a:ext cx="1264062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這一整條使用者路徑是「若三張票完成之後」的教學示例，不是本次規則層 demo的真實 UI／整合測試結果； UI／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0542" y="6287548"/>
              <a:ext cx="258837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產品串接仍 NOT RUN。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346710" y="299085"/>
            <a:ext cx="11854910" cy="6387465"/>
            <a:chOff x="346710" y="299085"/>
            <a:chExt cx="1185491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8878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放行與完成｜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27298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22536" y="1252823"/>
              <a:ext cx="58166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能區分單票驗收、人的放行、整體 Goal成效。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71875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在教材推演中，若 #3的工作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7335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票已 Done，就代表配對 App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882" y="3372326"/>
              <a:ext cx="219563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的 Goal達成嗎？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4651" y="2667667"/>
              <a:ext cx="36596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在 Product Check之後，誰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3019996"/>
              <a:ext cx="364481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決定能否 Merge／ Release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4651" y="3372326"/>
              <a:ext cx="34718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419" y="2667667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上線前核對什麼，上線後量什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5419" y="3019996"/>
              <a:ext cx="6429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麼？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41960" y="979932"/>
            <a:ext cx="11302175" cy="4953952"/>
            <a:chOff x="441960" y="979932"/>
            <a:chExt cx="11302175" cy="4953952"/>
          </a:xfrm>
        </p:grpSpPr>
        <p:sp>
          <p:nvSpPr>
            <p:cNvPr id="3" name="TextBox 3"/>
            <p:cNvSpPr txBox="1"/>
            <p:nvPr/>
          </p:nvSpPr>
          <p:spPr>
            <a:xfrm>
              <a:off x="5558900" y="979932"/>
              <a:ext cx="107420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A9C9E8"/>
                  </a:solidFill>
                  <a:latin typeface="Segoe UI"/>
                  <a:ea typeface="Microsoft YaHei"/>
                  <a:cs typeface="Segoe UI"/>
                </a:rPr>
                <a:t>Agent演進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58639" y="1479042"/>
              <a:ext cx="587472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讓 Agent接手人類工作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91076" y="5690044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BED9"/>
                  </a:solidFill>
                  <a:latin typeface="Segoe UI"/>
                  <a:ea typeface="Microsoft YaHei"/>
                  <a:cs typeface="Segoe UI"/>
                </a:rPr>
                <a:t>↖全課地圖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555998" y="2216277"/>
              <a:ext cx="30800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目前位置我們已學會人類如何交付 #3。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282921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25837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" y="444846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5720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21631" y="3061621"/>
              <a:ext cx="12397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 Agent用工具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11586" y="2829211"/>
              <a:ext cx="3568732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311586" y="282921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8031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311586" y="444846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11586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58492" y="3061621"/>
              <a:ext cx="12748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02拿到什麼資料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66068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166068" y="282921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73461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66068" y="444846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6606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0604" y="3061621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03交接與分工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762786"/>
              <a:ext cx="11277600" cy="6281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4762786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960" y="5014246"/>
              <a:ext cx="3018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學完能看懂 Agent交回什麼、還缺什麼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346710" y="299085"/>
            <a:ext cx="11473815" cy="6104668"/>
            <a:chOff x="346710" y="299085"/>
            <a:chExt cx="11473815" cy="61046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8320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Agent是什麼？它如何把一項工作往前推？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166622"/>
              <a:ext cx="79061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Agent是 AI模型依目標判斷下一步、呼叫工具並讀取回傳的工作循環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711357"/>
              <a:ext cx="2407444" cy="3116008"/>
            </a:xfrm>
            <a:prstGeom prst="roundRect">
              <a:avLst>
                <a:gd name="adj" fmla="val 4748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711357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788444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27365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029015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人交代目標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605659"/>
              <a:ext cx="19097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指定 #3、 AC與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986659"/>
              <a:ext cx="8691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範圍。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46290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說明停止條件。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9714" y="3085910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88519" y="1711357"/>
              <a:ext cx="2407444" cy="3116008"/>
            </a:xfrm>
            <a:prstGeom prst="roundRect">
              <a:avLst>
                <a:gd name="adj" fmla="val 4748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3388519" y="1711357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95962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388519" y="4827365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388519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37121" y="2029015"/>
              <a:ext cx="197311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Agent判斷下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37121" y="2401919"/>
              <a:ext cx="72232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一步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0931" y="2978468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先讀票與候選檔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40931" y="3359468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0931" y="3835718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檢查能用的工具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40931" y="4216718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57233" y="3085910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96038" y="1711357"/>
              <a:ext cx="2407444" cy="3116008"/>
            </a:xfrm>
            <a:prstGeom prst="roundRect">
              <a:avLst>
                <a:gd name="adj" fmla="val 4748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6396038" y="1711357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803481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396038" y="4827365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396038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4640" y="2029015"/>
              <a:ext cx="205649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實際使用工具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48450" y="260565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讀檔、修改、執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48450" y="2986659"/>
              <a:ext cx="595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48450" y="346290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工具有真實回傳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48450" y="3843909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64751" y="3085910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403556" y="1711357"/>
              <a:ext cx="2407444" cy="3116008"/>
            </a:xfrm>
            <a:prstGeom prst="roundRect">
              <a:avLst>
                <a:gd name="adj" fmla="val 4748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9403556" y="1711357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1811000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403556" y="4827365"/>
              <a:ext cx="2407444" cy="9525"/>
            </a:xfrm>
            <a:custGeom>
              <a:avLst/>
              <a:gdLst/>
              <a:ahLst/>
              <a:cxnLst/>
              <a:rect l="l" t="t" r="r" b="b"/>
              <a:pathLst>
                <a:path w="2407444" h="9525">
                  <a:moveTo>
                    <a:pt x="0" y="0"/>
                  </a:moveTo>
                  <a:lnTo>
                    <a:pt x="2407444" y="0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403556" y="1711357"/>
              <a:ext cx="9525" cy="3116008"/>
            </a:xfrm>
            <a:custGeom>
              <a:avLst/>
              <a:gdLst/>
              <a:ahLst/>
              <a:cxnLst/>
              <a:rect l="l" t="t" r="r" b="b"/>
              <a:pathLst>
                <a:path w="9525" h="3116008">
                  <a:moveTo>
                    <a:pt x="0" y="0"/>
                  </a:moveTo>
                  <a:lnTo>
                    <a:pt x="0" y="3116008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52159" y="2029015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觀察後續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55969" y="260565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依回傳繼續、調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55969" y="298665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整、詢問或停止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55969" y="3367659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55969" y="384390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回交結果與未測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55969" y="4224909"/>
              <a:ext cx="8691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事項。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67622" y="5028819"/>
              <a:ext cx="66073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↶結果未符合預期或需要補資料時，回到判斷，重新選擇下一步。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81000" y="57036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381000" y="57036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6738" y="5910834"/>
              <a:ext cx="74414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不是只回答一句話：要觀察工具回傳，才知道接著該做什麼。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3" name="Group 43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422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從人逐步提問，到 Agent持續朝目標工作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018318"/>
              <a:ext cx="1981200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1087374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501712"/>
              <a:ext cx="5610225" cy="3246120"/>
            </a:xfrm>
            <a:prstGeom prst="roundRect">
              <a:avLst>
                <a:gd name="adj" fmla="val 352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50171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75879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991225" y="1501712"/>
              <a:ext cx="9525" cy="3246025"/>
            </a:xfrm>
            <a:custGeom>
              <a:avLst/>
              <a:gdLst/>
              <a:ahLst/>
              <a:cxnLst/>
              <a:rect l="l" t="t" r="r" b="b"/>
              <a:pathLst>
                <a:path w="9525" h="3246025">
                  <a:moveTo>
                    <a:pt x="0" y="0"/>
                  </a:moveTo>
                  <a:lnTo>
                    <a:pt x="0" y="32460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474773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501712"/>
              <a:ext cx="9525" cy="3246025"/>
            </a:xfrm>
            <a:custGeom>
              <a:avLst/>
              <a:gdLst/>
              <a:ahLst/>
              <a:cxnLst/>
              <a:rect l="l" t="t" r="r" b="b"/>
              <a:pathLst>
                <a:path w="9525" h="3246025">
                  <a:moveTo>
                    <a:pt x="0" y="0"/>
                  </a:moveTo>
                  <a:lnTo>
                    <a:pt x="0" y="32460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1038" y="1856518"/>
              <a:ext cx="1589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手動 Chat｜逐輪追問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0560" y="2415159"/>
              <a:ext cx="27857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人一步一步叫 AI做事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95325" y="3138011"/>
              <a:ext cx="4981575" cy="628650"/>
            </a:xfrm>
            <a:prstGeom prst="roundRect">
              <a:avLst>
                <a:gd name="adj" fmla="val 13636"/>
              </a:avLst>
            </a:prstGeom>
            <a:solidFill>
              <a:srgbClr val="0E1721"/>
            </a:solidFill>
            <a:ln w="9525">
              <a:solidFill>
                <a:srgbClr val="30425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0245" y="3347561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提問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55793" y="3347561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1784" y="3347561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回答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7332" y="3347561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3558" y="3347561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人再問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6275" y="4195286"/>
              <a:ext cx="3762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一次回答，接著由人決定下一個問題。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00775" y="1501712"/>
              <a:ext cx="5610225" cy="3246120"/>
            </a:xfrm>
            <a:prstGeom prst="roundRect">
              <a:avLst>
                <a:gd name="adj" fmla="val 352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150171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811000" y="1501712"/>
              <a:ext cx="9525" cy="3246025"/>
            </a:xfrm>
            <a:custGeom>
              <a:avLst/>
              <a:gdLst/>
              <a:ahLst/>
              <a:cxnLst/>
              <a:rect l="l" t="t" r="r" b="b"/>
              <a:pathLst>
                <a:path w="9525" h="3246025">
                  <a:moveTo>
                    <a:pt x="0" y="0"/>
                  </a:moveTo>
                  <a:lnTo>
                    <a:pt x="0" y="32460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200775" y="4747736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200775" y="1501712"/>
              <a:ext cx="9525" cy="3246025"/>
            </a:xfrm>
            <a:custGeom>
              <a:avLst/>
              <a:gdLst/>
              <a:ahLst/>
              <a:cxnLst/>
              <a:rect l="l" t="t" r="r" b="b"/>
              <a:pathLst>
                <a:path w="9525" h="3246025">
                  <a:moveTo>
                    <a:pt x="0" y="0"/>
                  </a:moveTo>
                  <a:lnTo>
                    <a:pt x="0" y="324602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0812" y="1856518"/>
              <a:ext cx="1959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Agent工作方式｜循環執行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0335" y="2415159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持續行動並依結果調整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15100" y="3138011"/>
              <a:ext cx="4981575" cy="628650"/>
            </a:xfrm>
            <a:prstGeom prst="roundRect">
              <a:avLst>
                <a:gd name="adj" fmla="val 13636"/>
              </a:avLst>
            </a:prstGeom>
            <a:solidFill>
              <a:srgbClr val="0E1721"/>
            </a:solidFill>
            <a:ln w="9525">
              <a:solidFill>
                <a:srgbClr val="30425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38760" y="3347561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目標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12856" y="3347561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17491" y="3347561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行動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91588" y="3347561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96222" y="3347561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觀察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0319" y="3347561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74953" y="3347561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0E8F0"/>
                  </a:solidFill>
                  <a:latin typeface="Arial"/>
                  <a:ea typeface="Microsoft YaHei"/>
                  <a:cs typeface="Arial"/>
                </a:rPr>
                <a:t>調整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6050" y="4195286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同一個任務會跨過多個步驟。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5164169"/>
              <a:ext cx="11430000" cy="421958"/>
            </a:xfrm>
            <a:prstGeom prst="roundRect">
              <a:avLst>
                <a:gd name="adj" fmla="val 13544"/>
              </a:avLst>
            </a:prstGeom>
            <a:solidFill>
              <a:srgbClr val="14253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5164169"/>
              <a:ext cx="9525" cy="421958"/>
            </a:xfrm>
            <a:custGeom>
              <a:avLst/>
              <a:gdLst/>
              <a:ahLst/>
              <a:cxnLst/>
              <a:rect l="l" t="t" r="r" b="b"/>
              <a:pathLst>
                <a:path w="9525" h="421958">
                  <a:moveTo>
                    <a:pt x="0" y="0"/>
                  </a:moveTo>
                  <a:lnTo>
                    <a:pt x="0" y="421958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16255" y="5285137"/>
              <a:ext cx="67774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E0F5"/>
                  </a:solidFill>
                  <a:latin typeface="Segoe UI"/>
                  <a:ea typeface="Microsoft YaHei"/>
                  <a:cs typeface="Segoe UI"/>
                </a:rPr>
                <a:t>下一頁：用同一張 #3工作票，從 Version A的失敗重演 Agent怎麼交回結果。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8618" y="5795201"/>
              <a:ext cx="6482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9講， 00:08– 02:47； Stanford CS329A， 40:54– 42:45｜案例： #3雙向喜歡才配對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30542" y="6287548"/>
              <a:ext cx="912611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這裡比較工作如何推進；聊天介面也能承載 Agent，不能只看介面判定自主程度。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346710" y="299085"/>
            <a:ext cx="11473815" cy="5178838"/>
            <a:chOff x="346710" y="299085"/>
            <a:chExt cx="11473815" cy="517883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817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Agent示範①：讀票、執行並回報結果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2092452"/>
              <a:ext cx="655224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教學重演｜時間倒回 Version A，先看交辦、計畫與首測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637282"/>
              <a:ext cx="3657600" cy="2059591"/>
            </a:xfrm>
            <a:prstGeom prst="roundRect">
              <a:avLst>
                <a:gd name="adj" fmla="val 555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63728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637282"/>
              <a:ext cx="9525" cy="2059591"/>
            </a:xfrm>
            <a:custGeom>
              <a:avLst/>
              <a:gdLst/>
              <a:ahLst/>
              <a:cxnLst/>
              <a:rect l="l" t="t" r="r" b="b"/>
              <a:pathLst>
                <a:path w="9525" h="2059591">
                  <a:moveTo>
                    <a:pt x="0" y="0"/>
                  </a:moveTo>
                  <a:lnTo>
                    <a:pt x="0" y="2059591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696873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637282"/>
              <a:ext cx="9525" cy="2059591"/>
            </a:xfrm>
            <a:custGeom>
              <a:avLst/>
              <a:gdLst/>
              <a:ahLst/>
              <a:cxnLst/>
              <a:rect l="l" t="t" r="r" b="b"/>
              <a:pathLst>
                <a:path w="9525" h="2059591">
                  <a:moveTo>
                    <a:pt x="0" y="0"/>
                  </a:moveTo>
                  <a:lnTo>
                    <a:pt x="0" y="2059591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118" y="2879693"/>
              <a:ext cx="312562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交辦｜只處理 #3單向 Like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3272980"/>
              <a:ext cx="1582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預期： 0筆配對。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3611594"/>
              <a:ext cx="28242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只驗規則，不驗 UI／完整產品。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267200" y="2637282"/>
              <a:ext cx="3657600" cy="2059591"/>
            </a:xfrm>
            <a:prstGeom prst="roundRect">
              <a:avLst>
                <a:gd name="adj" fmla="val 555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267200" y="263728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924800" y="2637282"/>
              <a:ext cx="9525" cy="2059591"/>
            </a:xfrm>
            <a:custGeom>
              <a:avLst/>
              <a:gdLst/>
              <a:ahLst/>
              <a:cxnLst/>
              <a:rect l="l" t="t" r="r" b="b"/>
              <a:pathLst>
                <a:path w="9525" h="2059591">
                  <a:moveTo>
                    <a:pt x="0" y="0"/>
                  </a:moveTo>
                  <a:lnTo>
                    <a:pt x="0" y="2059591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267200" y="4696873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2637282"/>
              <a:ext cx="9525" cy="2059591"/>
            </a:xfrm>
            <a:custGeom>
              <a:avLst/>
              <a:gdLst/>
              <a:ahLst/>
              <a:cxnLst/>
              <a:rect l="l" t="t" r="r" b="b"/>
              <a:pathLst>
                <a:path w="9525" h="2059591">
                  <a:moveTo>
                    <a:pt x="0" y="0"/>
                  </a:moveTo>
                  <a:lnTo>
                    <a:pt x="0" y="2059591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45318" y="2879693"/>
              <a:ext cx="295367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計畫｜先讀票與候選版本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50080" y="3272980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執行單向情境並對照接受條件。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50080" y="3611594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失敗才修正，再用同一情境重驗。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53400" y="2637282"/>
              <a:ext cx="3657600" cy="2059591"/>
            </a:xfrm>
            <a:prstGeom prst="roundRect">
              <a:avLst>
                <a:gd name="adj" fmla="val 555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8153400" y="263728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811000" y="2637282"/>
              <a:ext cx="9525" cy="2059591"/>
            </a:xfrm>
            <a:custGeom>
              <a:avLst/>
              <a:gdLst/>
              <a:ahLst/>
              <a:cxnLst/>
              <a:rect l="l" t="t" r="r" b="b"/>
              <a:pathLst>
                <a:path w="9525" h="2059591">
                  <a:moveTo>
                    <a:pt x="0" y="0"/>
                  </a:moveTo>
                  <a:lnTo>
                    <a:pt x="0" y="2059591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153400" y="4696873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153400" y="2637282"/>
              <a:ext cx="9525" cy="2059591"/>
            </a:xfrm>
            <a:custGeom>
              <a:avLst/>
              <a:gdLst/>
              <a:ahLst/>
              <a:cxnLst/>
              <a:rect l="l" t="t" r="r" b="b"/>
              <a:pathLst>
                <a:path w="9525" h="2059591">
                  <a:moveTo>
                    <a:pt x="0" y="0"/>
                  </a:moveTo>
                  <a:lnTo>
                    <a:pt x="0" y="2059591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1518" y="2879693"/>
              <a:ext cx="321821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結果｜ Version A單向 Like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6280" y="3272980"/>
              <a:ext cx="1187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預期： 0筆。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6280" y="3611594"/>
              <a:ext cx="15130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實際： 1筆 M01。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6280" y="3950208"/>
              <a:ext cx="418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FAIL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6280" y="4288726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交回修正。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4944523"/>
              <a:ext cx="11430000" cy="533400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81000" y="4944523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4350" y="5096923"/>
              <a:ext cx="66760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獨立教學重演。命令、 SHA、原始輸出與 replay材料留在講者筆記。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9" name="Group 49"/>
          <p:cNvGrpSpPr/>
          <p:nvPr/>
        </p:nvGrpSpPr>
        <p:grpSpPr>
          <a:xfrm>
            <a:off x="346710" y="299085"/>
            <a:ext cx="11473815" cy="5454586"/>
            <a:chOff x="346710" y="299085"/>
            <a:chExt cx="11473815" cy="545458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81762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Agent示範②：修正、重測並交回證據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816513"/>
              <a:ext cx="68808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時間回到 Version B的第一份交件紀錄：重複 Like尚未測。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361343"/>
              <a:ext cx="3657600" cy="2611374"/>
            </a:xfrm>
            <a:prstGeom prst="roundRect">
              <a:avLst>
                <a:gd name="adj" fmla="val 437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361343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361343"/>
              <a:ext cx="9525" cy="2611279"/>
            </a:xfrm>
            <a:custGeom>
              <a:avLst/>
              <a:gdLst/>
              <a:ahLst/>
              <a:cxnLst/>
              <a:rect l="l" t="t" r="r" b="b"/>
              <a:pathLst>
                <a:path w="9525" h="2611279">
                  <a:moveTo>
                    <a:pt x="0" y="0"/>
                  </a:moveTo>
                  <a:lnTo>
                    <a:pt x="0" y="261127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972621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361343"/>
              <a:ext cx="9525" cy="2611279"/>
            </a:xfrm>
            <a:custGeom>
              <a:avLst/>
              <a:gdLst/>
              <a:ahLst/>
              <a:cxnLst/>
              <a:rect l="l" t="t" r="r" b="b"/>
              <a:pathLst>
                <a:path w="9525" h="2611279">
                  <a:moveTo>
                    <a:pt x="0" y="0"/>
                  </a:moveTo>
                  <a:lnTo>
                    <a:pt x="0" y="261127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118" y="2603754"/>
              <a:ext cx="301981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修正｜補上反向 Like條件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2997041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依 Version A單向 FAIL修正。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3335655"/>
              <a:ext cx="28439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只有對方也 Like時才建立配對。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3674269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再跑一次相同單向情境。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67200" y="2361343"/>
              <a:ext cx="3657600" cy="2611374"/>
            </a:xfrm>
            <a:prstGeom prst="roundRect">
              <a:avLst>
                <a:gd name="adj" fmla="val 437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67200" y="2361343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2361343"/>
              <a:ext cx="9525" cy="2611279"/>
            </a:xfrm>
            <a:custGeom>
              <a:avLst/>
              <a:gdLst/>
              <a:ahLst/>
              <a:cxnLst/>
              <a:rect l="l" t="t" r="r" b="b"/>
              <a:pathLst>
                <a:path w="9525" h="2611279">
                  <a:moveTo>
                    <a:pt x="0" y="0"/>
                  </a:moveTo>
                  <a:lnTo>
                    <a:pt x="0" y="261127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4972621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267200" y="2361343"/>
              <a:ext cx="9525" cy="2611279"/>
            </a:xfrm>
            <a:custGeom>
              <a:avLst/>
              <a:gdLst/>
              <a:ahLst/>
              <a:cxnLst/>
              <a:rect l="l" t="t" r="r" b="b"/>
              <a:pathLst>
                <a:path w="9525" h="2611279">
                  <a:moveTo>
                    <a:pt x="0" y="0"/>
                  </a:moveTo>
                  <a:lnTo>
                    <a:pt x="0" y="261127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45318" y="2603754"/>
              <a:ext cx="321821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重測｜ Version B單向 Like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50080" y="2997041"/>
              <a:ext cx="1187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預期： 0筆。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50080" y="3335655"/>
              <a:ext cx="1187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實際： 0筆。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0080" y="3674269"/>
              <a:ext cx="4680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2361343"/>
              <a:ext cx="3657600" cy="2611374"/>
            </a:xfrm>
            <a:prstGeom prst="roundRect">
              <a:avLst>
                <a:gd name="adj" fmla="val 437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153400" y="2361343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361343"/>
              <a:ext cx="9525" cy="2611279"/>
            </a:xfrm>
            <a:custGeom>
              <a:avLst/>
              <a:gdLst/>
              <a:ahLst/>
              <a:cxnLst/>
              <a:rect l="l" t="t" r="r" b="b"/>
              <a:pathLst>
                <a:path w="9525" h="2611279">
                  <a:moveTo>
                    <a:pt x="0" y="0"/>
                  </a:moveTo>
                  <a:lnTo>
                    <a:pt x="0" y="261127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153400" y="4972621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2361343"/>
              <a:ext cx="9525" cy="2611279"/>
            </a:xfrm>
            <a:custGeom>
              <a:avLst/>
              <a:gdLst/>
              <a:ahLst/>
              <a:cxnLst/>
              <a:rect l="l" t="t" r="r" b="b"/>
              <a:pathLst>
                <a:path w="9525" h="2611279">
                  <a:moveTo>
                    <a:pt x="0" y="0"/>
                  </a:moveTo>
                  <a:lnTo>
                    <a:pt x="0" y="2611279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31518" y="2603754"/>
              <a:ext cx="341661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交付狀態｜ Version B補驗前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6280" y="2997041"/>
              <a:ext cx="21538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同一個 Version B候選。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53425" y="3309938"/>
              <a:ext cx="3257550" cy="34661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353425" y="3656552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334C6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6280" y="3392805"/>
              <a:ext cx="872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DE0F2"/>
                  </a:solidFill>
                  <a:latin typeface="Segoe UI"/>
                  <a:ea typeface="Microsoft YaHei"/>
                  <a:cs typeface="Segoe UI"/>
                </a:rPr>
                <a:t>單向 Like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8535" y="3392805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CE0B9"/>
                  </a:solidFill>
                  <a:latin typeface="Segoe UI"/>
                  <a:ea typeface="Microsoft YaHei"/>
                  <a:cs typeface="Segoe UI"/>
                </a:rPr>
                <a:t>PASS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353425" y="3685127"/>
              <a:ext cx="3257550" cy="34661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8353425" y="4031742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334C6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36280" y="3767995"/>
              <a:ext cx="872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DE0F2"/>
                  </a:solidFill>
                  <a:latin typeface="Segoe UI"/>
                  <a:ea typeface="Microsoft YaHei"/>
                  <a:cs typeface="Segoe UI"/>
                </a:rPr>
                <a:t>雙向 Like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38535" y="3767995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CE0B9"/>
                  </a:solidFill>
                  <a:latin typeface="Segoe UI"/>
                  <a:ea typeface="Microsoft YaHei"/>
                  <a:cs typeface="Segoe UI"/>
                </a:rPr>
                <a:t>PASS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53425" y="4060317"/>
              <a:ext cx="3257550" cy="34661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8353425" y="4406932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334C6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36280" y="4143184"/>
              <a:ext cx="872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DE0F2"/>
                  </a:solidFill>
                  <a:latin typeface="Segoe UI"/>
                  <a:ea typeface="Microsoft YaHei"/>
                  <a:cs typeface="Segoe UI"/>
                </a:rPr>
                <a:t>重複 Like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17352" y="4143184"/>
              <a:ext cx="820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E0A0"/>
                  </a:solidFill>
                  <a:latin typeface="Segoe UI"/>
                  <a:ea typeface="Microsoft YaHei"/>
                  <a:cs typeface="Segoe UI"/>
                </a:rPr>
                <a:t>NOT RUN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53425" y="4435507"/>
              <a:ext cx="3257550" cy="34661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8353425" y="4782122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334C6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36280" y="4518374"/>
              <a:ext cx="1187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DE0F2"/>
                  </a:solidFill>
                  <a:latin typeface="Segoe UI"/>
                  <a:ea typeface="Microsoft YaHei"/>
                  <a:cs typeface="Segoe UI"/>
                </a:rPr>
                <a:t>UI／產品整合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17352" y="4518374"/>
              <a:ext cx="820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E0A0"/>
                  </a:solidFill>
                  <a:latin typeface="Segoe UI"/>
                  <a:ea typeface="Microsoft YaHei"/>
                  <a:cs typeface="Segoe UI"/>
                </a:rPr>
                <a:t>NOT RUN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81000" y="5220271"/>
              <a:ext cx="11430000" cy="533400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381000" y="5220271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14350" y="5372671"/>
              <a:ext cx="83410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本輪單向／雙向 PASS，重複 Like NOT RUN；下一頁查看 Agent這輪讀到了哪些資料。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346710" y="299085"/>
            <a:ext cx="11464290" cy="6406801"/>
            <a:chOff x="346710" y="299085"/>
            <a:chExt cx="11464290" cy="6406801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56104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AI這一輪用到哪些資料？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64489"/>
              <a:ext cx="58293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Context是 AI這一輪實際取得並可使用的工作材料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950434" y="1409224"/>
              <a:ext cx="8291036" cy="491871"/>
            </a:xfrm>
            <a:prstGeom prst="roundRect">
              <a:avLst>
                <a:gd name="adj" fmla="val 15492"/>
              </a:avLst>
            </a:prstGeom>
            <a:solidFill>
              <a:srgbClr val="14283D"/>
            </a:solidFill>
            <a:ln w="9525">
              <a:solidFill>
                <a:srgbClr val="44688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94262" y="1550670"/>
              <a:ext cx="899581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D2E4F6"/>
                  </a:solidFill>
                  <a:latin typeface="Segoe UI"/>
                  <a:ea typeface="Microsoft YaHei"/>
                  <a:cs typeface="Segoe UI"/>
                </a:rPr>
                <a:t>Agent：依工作票決定下一步、使用工具執行的 AI。 Context：它這一輪拿到、可以使用的資料。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" y="2148745"/>
              <a:ext cx="5514975" cy="3609404"/>
            </a:xfrm>
            <a:prstGeom prst="roundRect">
              <a:avLst>
                <a:gd name="adj" fmla="val 31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76250" y="2148745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991225" y="2148745"/>
              <a:ext cx="9525" cy="3609403"/>
            </a:xfrm>
            <a:custGeom>
              <a:avLst/>
              <a:gdLst/>
              <a:ahLst/>
              <a:cxnLst/>
              <a:rect l="l" t="t" r="r" b="b"/>
              <a:pathLst>
                <a:path w="9525" h="3609403">
                  <a:moveTo>
                    <a:pt x="0" y="0"/>
                  </a:moveTo>
                  <a:lnTo>
                    <a:pt x="0" y="3609403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76250" y="5758148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76250" y="2148745"/>
              <a:ext cx="9525" cy="3609403"/>
            </a:xfrm>
            <a:custGeom>
              <a:avLst/>
              <a:gdLst/>
              <a:ahLst/>
              <a:cxnLst/>
              <a:rect l="l" t="t" r="r" b="b"/>
              <a:pathLst>
                <a:path w="9525" h="3609403">
                  <a:moveTo>
                    <a:pt x="0" y="0"/>
                  </a:moveTo>
                  <a:lnTo>
                    <a:pt x="0" y="3609403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1992" y="2438781"/>
              <a:ext cx="216008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桌面｜本輪已取得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" y="2825020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2945987"/>
              <a:ext cx="25186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#3 ticket／ AC與 Version A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3388804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580" y="3509772"/>
              <a:ext cx="23707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單向 FAIL→修正→同案 PASS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23900" y="3952589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0580" y="4073557"/>
              <a:ext cx="25876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Version B：單向／雙向 PASS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3900" y="4516374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0580" y="4637342"/>
              <a:ext cx="32579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未完成：重複 NOT RUN； UI NOT RUN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23900" y="5080064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0580" y="5201031"/>
              <a:ext cx="2646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授權：尚未批准 merge／發布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00775" y="2148745"/>
              <a:ext cx="5514975" cy="3609404"/>
            </a:xfrm>
            <a:prstGeom prst="roundRect">
              <a:avLst>
                <a:gd name="adj" fmla="val 3167"/>
              </a:avLst>
            </a:prstGeom>
            <a:solidFill>
              <a:srgbClr val="201D15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00775" y="2148745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715750" y="2148745"/>
              <a:ext cx="9525" cy="3609403"/>
            </a:xfrm>
            <a:custGeom>
              <a:avLst/>
              <a:gdLst/>
              <a:ahLst/>
              <a:cxnLst/>
              <a:rect l="l" t="t" r="r" b="b"/>
              <a:pathLst>
                <a:path w="9525" h="3609403">
                  <a:moveTo>
                    <a:pt x="0" y="0"/>
                  </a:moveTo>
                  <a:lnTo>
                    <a:pt x="0" y="3609403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200775" y="5758148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200775" y="2148745"/>
              <a:ext cx="9525" cy="3609403"/>
            </a:xfrm>
            <a:custGeom>
              <a:avLst/>
              <a:gdLst/>
              <a:ahLst/>
              <a:cxnLst/>
              <a:rect l="l" t="t" r="r" b="b"/>
              <a:pathLst>
                <a:path w="9525" h="3609403">
                  <a:moveTo>
                    <a:pt x="0" y="0"/>
                  </a:moveTo>
                  <a:lnTo>
                    <a:pt x="0" y="3609403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26518" y="2438781"/>
              <a:ext cx="34827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桌邊｜文件已存在但本輪未讀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48425" y="2825020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945987"/>
              <a:ext cx="3780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workshop/matching-demo/exercise.md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48425" y="3388804"/>
              <a:ext cx="5019675" cy="449485"/>
            </a:xfrm>
            <a:prstGeom prst="roundRect">
              <a:avLst>
                <a:gd name="adj" fmla="val 16953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5105" y="3509772"/>
              <a:ext cx="397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講師練習說明；使用前須先開啟並核對內容。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1000" y="600579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381000" y="6005798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6738" y="6212967"/>
              <a:ext cx="79890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本輪可用材料有上限；專案中存在的資料，不代表這一輪已讀取。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346710" y="299085"/>
            <a:ext cx="11464290" cy="6387465"/>
            <a:chOff x="346710" y="299085"/>
            <a:chExt cx="1146429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913631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新 session不會自動帶齊前文，接手需要共同紀錄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57241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Session是一段工作對話；視窗只是進入它的介面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2282762"/>
              <a:ext cx="5514975" cy="2601944"/>
            </a:xfrm>
            <a:prstGeom prst="roundRect">
              <a:avLst>
                <a:gd name="adj" fmla="val 43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476250" y="2282762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91225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76250" y="4884706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76250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1992" y="2572798"/>
              <a:ext cx="28875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路徑 A｜恢復原 session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" y="2959037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722" y="3084290"/>
              <a:ext cx="23402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回到同一段工作對話。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" y="356282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722" y="3688080"/>
              <a:ext cx="280035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核對目前專案與候選版本。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416661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722" y="4291870"/>
              <a:ext cx="257032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確認已做、未測與授權。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00775" y="2282762"/>
              <a:ext cx="5514975" cy="2601944"/>
            </a:xfrm>
            <a:prstGeom prst="roundRect">
              <a:avLst>
                <a:gd name="adj" fmla="val 4393"/>
              </a:avLst>
            </a:prstGeom>
            <a:solidFill>
              <a:srgbClr val="201D15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6200775" y="2282762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715750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200775" y="4884706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26518" y="2572798"/>
              <a:ext cx="262301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路徑 B｜開新 session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48425" y="2959037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2248" y="3084290"/>
              <a:ext cx="243230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讀共同工作紀錄與 AC。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48425" y="356282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2248" y="3688080"/>
              <a:ext cx="290386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指定候選 artifact／版本。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48425" y="416661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2248" y="4291870"/>
              <a:ext cx="257032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核對已做、未測與授權。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5986462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5986462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6738" y="6193631"/>
              <a:ext cx="88106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新開對話不保證完整帶入前文；恢復對話也不保證已查證最新工作狀態。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346710" y="299085"/>
            <a:ext cx="11464290" cy="6387465"/>
            <a:chOff x="346710" y="299085"/>
            <a:chExt cx="1146429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摘要可能漏掉「不重複配對」規則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92600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對話壓縮（Compact）：長對話整理成摘要後，仍需回到工作票核對完整規則。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2282762"/>
              <a:ext cx="5514975" cy="2601944"/>
            </a:xfrm>
            <a:prstGeom prst="roundRect">
              <a:avLst>
                <a:gd name="adj" fmla="val 43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476250" y="2282762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91225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76250" y="4884706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76250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3B567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1992" y="2572798"/>
              <a:ext cx="26891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共同工作票｜完整規則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" y="2959037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722" y="3084290"/>
              <a:ext cx="19377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單向 Like：不配對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" y="356282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722" y="3688080"/>
              <a:ext cx="262782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雙向 Like：建立一筆配對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23900" y="416661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0E161F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722" y="4291870"/>
              <a:ext cx="285785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已配對再 Like：不增加筆數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00775" y="2282762"/>
              <a:ext cx="5514975" cy="2601944"/>
            </a:xfrm>
            <a:prstGeom prst="roundRect">
              <a:avLst>
                <a:gd name="adj" fmla="val 4393"/>
              </a:avLst>
            </a:prstGeom>
            <a:solidFill>
              <a:srgbClr val="201D15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6200775" y="2282762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715750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200775" y="4884706"/>
              <a:ext cx="5514975" cy="9525"/>
            </a:xfrm>
            <a:custGeom>
              <a:avLst/>
              <a:gdLst/>
              <a:ahLst/>
              <a:cxnLst/>
              <a:rect l="l" t="t" r="r" b="b"/>
              <a:pathLst>
                <a:path w="5514975" h="9525">
                  <a:moveTo>
                    <a:pt x="0" y="0"/>
                  </a:moveTo>
                  <a:lnTo>
                    <a:pt x="5514975" y="0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2282762"/>
              <a:ext cx="9525" cy="2601944"/>
            </a:xfrm>
            <a:custGeom>
              <a:avLst/>
              <a:gdLst/>
              <a:ahLst/>
              <a:cxnLst/>
              <a:rect l="l" t="t" r="r" b="b"/>
              <a:pathLst>
                <a:path w="9525" h="2601944">
                  <a:moveTo>
                    <a:pt x="0" y="0"/>
                  </a:moveTo>
                  <a:lnTo>
                    <a:pt x="0" y="2601944"/>
                  </a:lnTo>
                </a:path>
              </a:pathLst>
            </a:custGeom>
            <a:noFill/>
            <a:ln w="9525">
              <a:solidFill>
                <a:srgbClr val="6B5C3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26518" y="2572798"/>
              <a:ext cx="268914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可能的精簡摘要｜示意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48425" y="2959037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2248" y="3084290"/>
              <a:ext cx="301887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Goal：互相喜歡才算配對成功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48425" y="356282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2248" y="3688080"/>
              <a:ext cx="23402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此摘要省略了重複規則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48425" y="4166616"/>
              <a:ext cx="5019675" cy="489490"/>
            </a:xfrm>
            <a:prstGeom prst="roundRect">
              <a:avLst>
                <a:gd name="adj" fmla="val 15567"/>
              </a:avLst>
            </a:prstGeom>
            <a:solidFill>
              <a:srgbClr val="19170F"/>
            </a:solidFill>
            <a:ln w="9525">
              <a:solidFill>
                <a:srgbClr val="574B3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2248" y="4291870"/>
              <a:ext cx="243230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E4EBF3"/>
                  </a:solidFill>
                  <a:latin typeface="Arial"/>
                  <a:ea typeface="Microsoft YaHei"/>
                  <a:cs typeface="Arial"/>
                </a:rPr>
                <a:t>回到票面核對 AC與版本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5986462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5986462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6738" y="6193631"/>
              <a:ext cx="88106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長對話的上下文可能被精簡；摘要可能省略細節，實際方式依產品而異。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346710" y="299085"/>
            <a:ext cx="11640502" cy="6028468"/>
            <a:chOff x="346710" y="299085"/>
            <a:chExt cx="11640502" cy="60284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1074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記得你的背景，不等於確認了最新進度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242822"/>
              <a:ext cx="769581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背景可能讓 AI記得你正在做配對 App；進度仍要看最新工作證據。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787557"/>
              <a:ext cx="3409950" cy="3592258"/>
            </a:xfrm>
            <a:prstGeom prst="roundRect">
              <a:avLst>
                <a:gd name="adj" fmla="val 335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787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1787557"/>
              <a:ext cx="9525" cy="3592258"/>
            </a:xfrm>
            <a:custGeom>
              <a:avLst/>
              <a:gdLst/>
              <a:ahLst/>
              <a:cxnLst/>
              <a:rect l="l" t="t" r="r" b="b"/>
              <a:pathLst>
                <a:path w="9525" h="3592258">
                  <a:moveTo>
                    <a:pt x="0" y="0"/>
                  </a:moveTo>
                  <a:lnTo>
                    <a:pt x="0" y="3592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379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787557"/>
              <a:ext cx="9525" cy="3592258"/>
            </a:xfrm>
            <a:custGeom>
              <a:avLst/>
              <a:gdLst/>
              <a:ahLst/>
              <a:cxnLst/>
              <a:rect l="l" t="t" r="r" b="b"/>
              <a:pathLst>
                <a:path w="9525" h="3592258">
                  <a:moveTo>
                    <a:pt x="0" y="0"/>
                  </a:moveTo>
                  <a:lnTo>
                    <a:pt x="0" y="3592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105216"/>
              <a:ext cx="30571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背景資訊｜可能帶入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681859"/>
              <a:ext cx="32242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你正在做 Matching App。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158109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過去對話可能提過雙向才配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539109"/>
              <a:ext cx="595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401535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來源依產品與設定而異。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52220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91025" y="1787557"/>
              <a:ext cx="3409950" cy="3592258"/>
            </a:xfrm>
            <a:prstGeom prst="roundRect">
              <a:avLst>
                <a:gd name="adj" fmla="val 335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391025" y="1787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800975" y="1787557"/>
              <a:ext cx="9525" cy="3592258"/>
            </a:xfrm>
            <a:custGeom>
              <a:avLst/>
              <a:gdLst/>
              <a:ahLst/>
              <a:cxnLst/>
              <a:rect l="l" t="t" r="r" b="b"/>
              <a:pathLst>
                <a:path w="9525" h="3592258">
                  <a:moveTo>
                    <a:pt x="0" y="0"/>
                  </a:moveTo>
                  <a:lnTo>
                    <a:pt x="0" y="3592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91025" y="5379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391025" y="1787557"/>
              <a:ext cx="9525" cy="3592258"/>
            </a:xfrm>
            <a:custGeom>
              <a:avLst/>
              <a:gdLst/>
              <a:ahLst/>
              <a:cxnLst/>
              <a:rect l="l" t="t" r="r" b="b"/>
              <a:pathLst>
                <a:path w="9525" h="3592258">
                  <a:moveTo>
                    <a:pt x="0" y="0"/>
                  </a:moveTo>
                  <a:lnTo>
                    <a:pt x="0" y="3592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9628" y="2105216"/>
              <a:ext cx="239003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目前的正式紀錄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438" y="2681859"/>
              <a:ext cx="232052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候選： Version B·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3062859"/>
              <a:ext cx="193714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0415bddc4602…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3438" y="3539109"/>
              <a:ext cx="290929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Version B補驗前：重複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3438" y="3920109"/>
              <a:ext cx="197822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 NOT RUN。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3438" y="4396359"/>
              <a:ext cx="31283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人尚未同意 Merge／發布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3438" y="4777359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62245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401050" y="1787557"/>
              <a:ext cx="3409950" cy="3592258"/>
            </a:xfrm>
            <a:prstGeom prst="roundRect">
              <a:avLst>
                <a:gd name="adj" fmla="val 335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401050" y="1787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1811000" y="1787557"/>
              <a:ext cx="9525" cy="3592258"/>
            </a:xfrm>
            <a:custGeom>
              <a:avLst/>
              <a:gdLst/>
              <a:ahLst/>
              <a:cxnLst/>
              <a:rect l="l" t="t" r="r" b="b"/>
              <a:pathLst>
                <a:path w="9525" h="3592258">
                  <a:moveTo>
                    <a:pt x="0" y="0"/>
                  </a:moveTo>
                  <a:lnTo>
                    <a:pt x="0" y="3592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401050" y="5379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401050" y="1787557"/>
              <a:ext cx="9525" cy="3592258"/>
            </a:xfrm>
            <a:custGeom>
              <a:avLst/>
              <a:gdLst/>
              <a:ahLst/>
              <a:cxnLst/>
              <a:rect l="l" t="t" r="r" b="b"/>
              <a:pathLst>
                <a:path w="9525" h="3592258">
                  <a:moveTo>
                    <a:pt x="0" y="0"/>
                  </a:moveTo>
                  <a:lnTo>
                    <a:pt x="0" y="3592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49652" y="2105216"/>
              <a:ext cx="272357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人如何判斷下一步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3462" y="2681859"/>
              <a:ext cx="310098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重新讀 #3 Ticket／ AC。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3462" y="3158109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核對候選版本與原始結果。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3462" y="36343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欠缺證據就要求補驗。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1000" y="56274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381000" y="56274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6738" y="5834634"/>
              <a:ext cx="101798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背景用來理解問題；當前進度、未測與授權要回到有版本的工作票和原始證據核對。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1281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 Agent，如何交接、補驗與驗收？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75249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同一個 #3工作票： Agent交件後，人要求補驗，再依證據判斷。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428560"/>
              <a:ext cx="2736056" cy="3717131"/>
            </a:xfrm>
            <a:prstGeom prst="roundRect">
              <a:avLst>
                <a:gd name="adj" fmla="val 4178"/>
              </a:avLst>
            </a:prstGeom>
            <a:solidFill>
              <a:srgbClr val="13253A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428560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47625">
              <a:solidFill>
                <a:srgbClr val="7AB9EE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117056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145691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1975" y="2458307"/>
              <a:ext cx="10129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CCDE9"/>
                  </a:solidFill>
                  <a:latin typeface="Segoe UI"/>
                  <a:ea typeface="Microsoft YaHei"/>
                  <a:cs typeface="Segoe UI"/>
                </a:rPr>
                <a:t>01·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3878" y="2902648"/>
              <a:ext cx="928687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交件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9118" y="3476720"/>
              <a:ext cx="192074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AEAFA"/>
                  </a:solidFill>
                  <a:latin typeface="Segoe UI"/>
                  <a:ea typeface="Microsoft YaHei"/>
                  <a:cs typeface="Segoe UI"/>
                </a:rPr>
                <a:t>Version B補驗前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1022" y="3950589"/>
              <a:ext cx="219077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8DC9C"/>
                  </a:solidFill>
                  <a:latin typeface="Segoe UI"/>
                  <a:ea typeface="Microsoft YaHei"/>
                  <a:cs typeface="Segoe UI"/>
                </a:rPr>
                <a:t>重複 Like： NOT RUN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78981" y="1428560"/>
              <a:ext cx="2736056" cy="3717131"/>
            </a:xfrm>
            <a:prstGeom prst="roundRect">
              <a:avLst>
                <a:gd name="adj" fmla="val 4178"/>
              </a:avLst>
            </a:prstGeom>
            <a:solidFill>
              <a:srgbClr val="182E25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278981" y="1428560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47625">
              <a:solidFill>
                <a:srgbClr val="9BD6A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15038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78981" y="5145691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278981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59956" y="2458307"/>
              <a:ext cx="618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CCDE9"/>
                  </a:solidFill>
                  <a:latin typeface="Segoe UI"/>
                  <a:ea typeface="Microsoft YaHei"/>
                  <a:cs typeface="Segoe UI"/>
                </a:rPr>
                <a:t>02·人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41859" y="2902648"/>
              <a:ext cx="928687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退回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57099" y="3476720"/>
              <a:ext cx="190814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AEAFA"/>
                  </a:solidFill>
                  <a:latin typeface="Segoe UI"/>
                  <a:ea typeface="Microsoft YaHei"/>
                  <a:cs typeface="Segoe UI"/>
                </a:rPr>
                <a:t>人依 AC退回補驗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59004" y="3950589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EECD0"/>
                  </a:solidFill>
                  <a:latin typeface="Segoe UI"/>
                  <a:ea typeface="Microsoft YaHei"/>
                  <a:cs typeface="Segoe UI"/>
                </a:rPr>
                <a:t>同一版，請補測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176962" y="1428560"/>
              <a:ext cx="2736056" cy="3717131"/>
            </a:xfrm>
            <a:prstGeom prst="roundRect">
              <a:avLst>
                <a:gd name="adj" fmla="val 4178"/>
              </a:avLst>
            </a:prstGeom>
            <a:solidFill>
              <a:srgbClr val="13253A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76962" y="1428560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47625">
              <a:solidFill>
                <a:srgbClr val="7AB9EE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913019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176962" y="5145691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176962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7938" y="2458307"/>
              <a:ext cx="10677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CCDE9"/>
                  </a:solidFill>
                  <a:latin typeface="Segoe UI"/>
                  <a:ea typeface="Microsoft YaHei"/>
                  <a:cs typeface="Segoe UI"/>
                </a:rPr>
                <a:t>03·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39840" y="2902648"/>
              <a:ext cx="928687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補驗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5080" y="3476720"/>
              <a:ext cx="192074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AEAFA"/>
                  </a:solidFill>
                  <a:latin typeface="Segoe UI"/>
                  <a:ea typeface="Microsoft YaHei"/>
                  <a:cs typeface="Segoe UI"/>
                </a:rPr>
                <a:t>Version B補驗後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6985" y="3950589"/>
              <a:ext cx="182272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8DC9C"/>
                  </a:solidFill>
                  <a:latin typeface="Segoe UI"/>
                  <a:ea typeface="Microsoft YaHei"/>
                  <a:cs typeface="Segoe UI"/>
                </a:rPr>
                <a:t>重複 Like： PASS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74944" y="1428560"/>
              <a:ext cx="2736056" cy="3717131"/>
            </a:xfrm>
            <a:prstGeom prst="roundRect">
              <a:avLst>
                <a:gd name="adj" fmla="val 4178"/>
              </a:avLst>
            </a:prstGeom>
            <a:solidFill>
              <a:srgbClr val="182E25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074944" y="1428560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47625">
              <a:solidFill>
                <a:srgbClr val="9BD6AB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811000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9074944" y="5145691"/>
              <a:ext cx="2736056" cy="9525"/>
            </a:xfrm>
            <a:custGeom>
              <a:avLst/>
              <a:gdLst/>
              <a:ahLst/>
              <a:cxnLst/>
              <a:rect l="l" t="t" r="r" b="b"/>
              <a:pathLst>
                <a:path w="2736056" h="9525">
                  <a:moveTo>
                    <a:pt x="0" y="0"/>
                  </a:moveTo>
                  <a:lnTo>
                    <a:pt x="2736056" y="0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9074944" y="1428560"/>
              <a:ext cx="9525" cy="3717131"/>
            </a:xfrm>
            <a:custGeom>
              <a:avLst/>
              <a:gdLst/>
              <a:ahLst/>
              <a:cxnLst/>
              <a:rect l="l" t="t" r="r" b="b"/>
              <a:pathLst>
                <a:path w="9525" h="3717131">
                  <a:moveTo>
                    <a:pt x="0" y="0"/>
                  </a:moveTo>
                  <a:lnTo>
                    <a:pt x="0" y="3717131"/>
                  </a:lnTo>
                </a:path>
              </a:pathLst>
            </a:custGeom>
            <a:noFill/>
            <a:ln w="9525">
              <a:solidFill>
                <a:srgbClr val="4E709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55919" y="2458307"/>
              <a:ext cx="618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CCDE9"/>
                  </a:solidFill>
                  <a:latin typeface="Segoe UI"/>
                  <a:ea typeface="Microsoft YaHei"/>
                  <a:cs typeface="Segoe UI"/>
                </a:rPr>
                <a:t>04·人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37821" y="2902648"/>
              <a:ext cx="928687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53061" y="3476720"/>
              <a:ext cx="180736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AEAFA"/>
                  </a:solidFill>
                  <a:latin typeface="Segoe UI"/>
                  <a:ea typeface="Microsoft YaHei"/>
                  <a:cs typeface="Segoe UI"/>
                </a:rPr>
                <a:t>比對版本與證據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54966" y="3950589"/>
              <a:ext cx="20987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EECD0"/>
                  </a:solidFill>
                  <a:latin typeface="Segoe UI"/>
                  <a:ea typeface="Microsoft YaHei"/>
                  <a:cs typeface="Segoe UI"/>
                </a:rPr>
                <a:t>UI NOT RUN，不發布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62926" y="5440966"/>
              <a:ext cx="3466243" cy="409004"/>
            </a:xfrm>
            <a:prstGeom prst="roundRect">
              <a:avLst>
                <a:gd name="adj" fmla="val 18631"/>
              </a:avLst>
            </a:prstGeom>
            <a:solidFill>
              <a:srgbClr val="17283A"/>
            </a:solidFill>
            <a:ln w="9525">
              <a:solidFill>
                <a:srgbClr val="40597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70559" y="5560504"/>
              <a:ext cx="34587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C6DFFF"/>
                  </a:solidFill>
                  <a:latin typeface="Segoe UI"/>
                  <a:ea typeface="Microsoft YaHei"/>
                  <a:cs typeface="Segoe UI"/>
                </a:rPr>
                <a:t>進階：如何接續 Codex／ Claude工作對話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81000" y="6097619"/>
              <a:ext cx="11430000" cy="588931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381000" y="6097619"/>
              <a:ext cx="9525" cy="588931"/>
            </a:xfrm>
            <a:custGeom>
              <a:avLst/>
              <a:gdLst/>
              <a:ahLst/>
              <a:cxnLst/>
              <a:rect l="l" t="t" r="r" b="b"/>
              <a:pathLst>
                <a:path w="9525" h="588931">
                  <a:moveTo>
                    <a:pt x="0" y="0"/>
                  </a:moveTo>
                  <a:lnTo>
                    <a:pt x="0" y="588931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452" y="6296216"/>
              <a:ext cx="695622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版本沒有換，重複 Like的證據增加了；下一頁看為何產出與自評需要分清。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346710" y="299085"/>
            <a:ext cx="11464195" cy="6430899"/>
            <a:chOff x="346710" y="299085"/>
            <a:chExt cx="1146419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100058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同一段對話包辦規劃、實作和自評，責任邊界會看不清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728025"/>
              <a:ext cx="7442168" cy="3716274"/>
            </a:xfrm>
            <a:prstGeom prst="roundRect">
              <a:avLst>
                <a:gd name="adj" fmla="val 3332"/>
              </a:avLst>
            </a:prstGeom>
            <a:solidFill>
              <a:srgbClr val="111C28"/>
            </a:solidFill>
            <a:ln w="9525">
              <a:solidFill>
                <a:srgbClr val="40536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1737550"/>
              <a:ext cx="7423118" cy="57331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90525" y="2310860"/>
              <a:ext cx="7423118" cy="9525"/>
            </a:xfrm>
            <a:custGeom>
              <a:avLst/>
              <a:gdLst/>
              <a:ahLst/>
              <a:cxnLst/>
              <a:rect l="l" t="t" r="r" b="b"/>
              <a:pathLst>
                <a:path w="7423118" h="9525">
                  <a:moveTo>
                    <a:pt x="0" y="0"/>
                  </a:moveTo>
                  <a:lnTo>
                    <a:pt x="7423118" y="0"/>
                  </a:lnTo>
                </a:path>
              </a:pathLst>
            </a:custGeom>
            <a:noFill/>
            <a:ln w="9525">
              <a:solidFill>
                <a:srgbClr val="34465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82930" y="1925193"/>
              <a:ext cx="16313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DEEA"/>
                  </a:solidFill>
                  <a:latin typeface="Arial"/>
                  <a:ea typeface="Microsoft YaHei"/>
                  <a:cs typeface="Arial"/>
                </a:rPr>
                <a:t>#3雙向喜歡才配對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6844" y="1925193"/>
              <a:ext cx="1434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4DEEA"/>
                  </a:solidFill>
                  <a:latin typeface="Arial"/>
                  <a:ea typeface="Microsoft YaHei"/>
                  <a:cs typeface="Arial"/>
                </a:rPr>
                <a:t>規劃→實作→自評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" y="2501360"/>
              <a:ext cx="3101912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2779490"/>
              <a:ext cx="4719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3277552"/>
              <a:ext cx="10058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定義需求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3093" y="2544223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295A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83036" y="2501360"/>
              <a:ext cx="3102007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94492" y="277949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0206" y="3277552"/>
              <a:ext cx="10058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寫出成果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" y="3968020"/>
              <a:ext cx="3101912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580" y="4246150"/>
              <a:ext cx="14542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Reviewer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295" y="4744212"/>
              <a:ext cx="17287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檢查自己的改動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83093" y="401088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295A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83036" y="3968020"/>
              <a:ext cx="3102007" cy="1276160"/>
            </a:xfrm>
            <a:prstGeom prst="roundRect">
              <a:avLst>
                <a:gd name="adj" fmla="val 6717"/>
              </a:avLst>
            </a:prstGeom>
            <a:solidFill>
              <a:srgbClr val="121C28"/>
            </a:solidFill>
            <a:ln w="9525">
              <a:solidFill>
                <a:srgbClr val="455B7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94492" y="4246150"/>
              <a:ext cx="4719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0206" y="4744212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判斷自己是否完成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89868" y="1728025"/>
              <a:ext cx="3721037" cy="37162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089868" y="1728025"/>
              <a:ext cx="9525" cy="3716274"/>
            </a:xfrm>
            <a:custGeom>
              <a:avLst/>
              <a:gdLst/>
              <a:ahLst/>
              <a:cxnLst/>
              <a:rect l="l" t="t" r="r" b="b"/>
              <a:pathLst>
                <a:path w="9525" h="3716274">
                  <a:moveTo>
                    <a:pt x="0" y="0"/>
                  </a:moveTo>
                  <a:lnTo>
                    <a:pt x="0" y="3716274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7518" y="2666143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同一個工作者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6088" y="3178588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產出與評估擠在一起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708" y="4249102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誰按什麼標準判定？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8618" y="6531864"/>
              <a:ext cx="44248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5講， 20:31– 21:41； Stanford CS224G， PDF第 25頁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346710" y="299085"/>
            <a:ext cx="11473815" cy="5218843"/>
            <a:chOff x="346710" y="299085"/>
            <a:chExt cx="11473815" cy="521884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48638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拆成三個 chat後，人還在搬什麼？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2052447"/>
              <a:ext cx="47514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把 #3分給三個 chat，人的交接工作還在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597182"/>
              <a:ext cx="3409950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597182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597182"/>
              <a:ext cx="9525" cy="1973008"/>
            </a:xfrm>
            <a:custGeom>
              <a:avLst/>
              <a:gdLst/>
              <a:ahLst/>
              <a:cxnLst/>
              <a:rect l="l" t="t" r="r" b="b"/>
              <a:pathLst>
                <a:path w="9525" h="1973008">
                  <a:moveTo>
                    <a:pt x="0" y="0"/>
                  </a:moveTo>
                  <a:lnTo>
                    <a:pt x="0" y="1973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57019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597182"/>
              <a:ext cx="9525" cy="1973008"/>
            </a:xfrm>
            <a:custGeom>
              <a:avLst/>
              <a:gdLst/>
              <a:ahLst/>
              <a:cxnLst/>
              <a:rect l="l" t="t" r="r" b="b"/>
              <a:pathLst>
                <a:path w="9525" h="1973008">
                  <a:moveTo>
                    <a:pt x="0" y="0"/>
                  </a:moveTo>
                  <a:lnTo>
                    <a:pt x="0" y="1973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914841"/>
              <a:ext cx="132270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PM chat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491484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「雙向才配對，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967734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同一對不重複。」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52220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91025" y="2597182"/>
              <a:ext cx="3409950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391025" y="2597182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800975" y="2597182"/>
              <a:ext cx="9525" cy="1973008"/>
            </a:xfrm>
            <a:custGeom>
              <a:avLst/>
              <a:gdLst/>
              <a:ahLst/>
              <a:cxnLst/>
              <a:rect l="l" t="t" r="r" b="b"/>
              <a:pathLst>
                <a:path w="9525" h="1973008">
                  <a:moveTo>
                    <a:pt x="0" y="0"/>
                  </a:moveTo>
                  <a:lnTo>
                    <a:pt x="0" y="1973008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91025" y="457019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2597182"/>
              <a:ext cx="9525" cy="1973008"/>
            </a:xfrm>
            <a:custGeom>
              <a:avLst/>
              <a:gdLst/>
              <a:ahLst/>
              <a:cxnLst/>
              <a:rect l="l" t="t" r="r" b="b"/>
              <a:pathLst>
                <a:path w="9525" h="1973008">
                  <a:moveTo>
                    <a:pt x="0" y="0"/>
                  </a:moveTo>
                  <a:lnTo>
                    <a:pt x="0" y="1973008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39628" y="2914841"/>
              <a:ext cx="272357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人搬運→ Dev chat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43438" y="3491484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貼需求、指明目前版本。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3438" y="3967734"/>
              <a:ext cx="26765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把實作結果交給 QA。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2245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401050" y="2597182"/>
              <a:ext cx="3409950" cy="1973008"/>
            </a:xfrm>
            <a:prstGeom prst="roundRect">
              <a:avLst>
                <a:gd name="adj" fmla="val 5793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401050" y="2597182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597182"/>
              <a:ext cx="9525" cy="1973008"/>
            </a:xfrm>
            <a:custGeom>
              <a:avLst/>
              <a:gdLst/>
              <a:ahLst/>
              <a:cxnLst/>
              <a:rect l="l" t="t" r="r" b="b"/>
              <a:pathLst>
                <a:path w="9525" h="1973008">
                  <a:moveTo>
                    <a:pt x="0" y="0"/>
                  </a:moveTo>
                  <a:lnTo>
                    <a:pt x="0" y="1973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457019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401050" y="2597182"/>
              <a:ext cx="9525" cy="1973008"/>
            </a:xfrm>
            <a:custGeom>
              <a:avLst/>
              <a:gdLst/>
              <a:ahLst/>
              <a:cxnLst/>
              <a:rect l="l" t="t" r="r" b="b"/>
              <a:pathLst>
                <a:path w="9525" h="1973008">
                  <a:moveTo>
                    <a:pt x="0" y="0"/>
                  </a:moveTo>
                  <a:lnTo>
                    <a:pt x="0" y="1973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49652" y="2914841"/>
              <a:ext cx="132270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QA chat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53462" y="3491484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「這是哪個版本？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3462" y="3967734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重複情境的前提在哪？」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" y="4817840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81000" y="4817840"/>
              <a:ext cx="9525" cy="700087"/>
            </a:xfrm>
            <a:custGeom>
              <a:avLst/>
              <a:gdLst/>
              <a:ahLst/>
              <a:cxnLst/>
              <a:rect l="l" t="t" r="r" b="b"/>
              <a:pathLst>
                <a:path w="9525" h="700087">
                  <a:moveTo>
                    <a:pt x="0" y="0"/>
                  </a:moveTo>
                  <a:lnTo>
                    <a:pt x="0" y="700087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6738" y="5025009"/>
              <a:ext cx="826293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分角色能隔開對話；交接、狀態同步與下一步，不會因此自動成立。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7195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多 Agent開發：優勢與新問題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10705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前一頁：分成三個 Chat，人還在搬需求、版本與證據。換成兩個 Agent前先決定怎麼交接。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371410"/>
              <a:ext cx="5610225" cy="4424553"/>
            </a:xfrm>
            <a:prstGeom prst="roundRect">
              <a:avLst>
                <a:gd name="adj" fmla="val 2583"/>
              </a:avLst>
            </a:prstGeom>
            <a:solidFill>
              <a:srgbClr val="142436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371410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47625">
              <a:solidFill>
                <a:srgbClr val="84BF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91225" y="1371410"/>
              <a:ext cx="9525" cy="4424553"/>
            </a:xfrm>
            <a:custGeom>
              <a:avLst/>
              <a:gdLst/>
              <a:ahLst/>
              <a:cxnLst/>
              <a:rect l="l" t="t" r="r" b="b"/>
              <a:pathLst>
                <a:path w="9525" h="4424553">
                  <a:moveTo>
                    <a:pt x="0" y="0"/>
                  </a:moveTo>
                  <a:lnTo>
                    <a:pt x="0" y="4424553"/>
                  </a:lnTo>
                </a:path>
              </a:pathLst>
            </a:custGeom>
            <a:noFill/>
            <a:ln w="9525">
              <a:solidFill>
                <a:srgbClr val="44658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79596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44658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371410"/>
              <a:ext cx="9525" cy="4424553"/>
            </a:xfrm>
            <a:custGeom>
              <a:avLst/>
              <a:gdLst/>
              <a:ahLst/>
              <a:cxnLst/>
              <a:rect l="l" t="t" r="r" b="b"/>
              <a:pathLst>
                <a:path w="9525" h="4424553">
                  <a:moveTo>
                    <a:pt x="0" y="0"/>
                  </a:moveTo>
                  <a:lnTo>
                    <a:pt x="0" y="4424553"/>
                  </a:lnTo>
                </a:path>
              </a:pathLst>
            </a:custGeom>
            <a:noFill/>
            <a:ln w="9525">
              <a:solidFill>
                <a:srgbClr val="44658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2945" y="2935700"/>
              <a:ext cx="30228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EEF7FF"/>
                  </a:solidFill>
                  <a:latin typeface="Segoe UI"/>
                  <a:ea typeface="Microsoft YaHei"/>
                  <a:cs typeface="Segoe UI"/>
                </a:rPr>
                <a:t>一個 Agent接手 #3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9612" y="3532156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D4E6F7"/>
                  </a:solidFill>
                  <a:latin typeface="Segoe UI"/>
                  <a:ea typeface="Microsoft YaHei"/>
                  <a:cs typeface="Segoe UI"/>
                </a:rPr>
                <a:t>交接較少，工作與檢查集中。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4375" y="4086987"/>
              <a:ext cx="35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DCADF"/>
                  </a:solidFill>
                  <a:latin typeface="Segoe UI"/>
                  <a:ea typeface="Microsoft YaHei"/>
                  <a:cs typeface="Segoe UI"/>
                </a:rPr>
                <a:t>產出者不能只靠自述判斷自己完成。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00775" y="1371410"/>
              <a:ext cx="5610225" cy="4424553"/>
            </a:xfrm>
            <a:prstGeom prst="roundRect">
              <a:avLst>
                <a:gd name="adj" fmla="val 2583"/>
              </a:avLst>
            </a:prstGeom>
            <a:solidFill>
              <a:srgbClr val="172D26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6200775" y="1371410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47625">
              <a:solidFill>
                <a:srgbClr val="91DBA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1811000" y="1371410"/>
              <a:ext cx="9525" cy="4424553"/>
            </a:xfrm>
            <a:custGeom>
              <a:avLst/>
              <a:gdLst/>
              <a:ahLst/>
              <a:cxnLst/>
              <a:rect l="l" t="t" r="r" b="b"/>
              <a:pathLst>
                <a:path w="9525" h="4424553">
                  <a:moveTo>
                    <a:pt x="0" y="0"/>
                  </a:moveTo>
                  <a:lnTo>
                    <a:pt x="0" y="4424553"/>
                  </a:lnTo>
                </a:path>
              </a:pathLst>
            </a:custGeom>
            <a:noFill/>
            <a:ln w="9525">
              <a:solidFill>
                <a:srgbClr val="44658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200775" y="579596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446588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200775" y="1371410"/>
              <a:ext cx="9525" cy="4424553"/>
            </a:xfrm>
            <a:custGeom>
              <a:avLst/>
              <a:gdLst/>
              <a:ahLst/>
              <a:cxnLst/>
              <a:rect l="l" t="t" r="r" b="b"/>
              <a:pathLst>
                <a:path w="9525" h="4424553">
                  <a:moveTo>
                    <a:pt x="0" y="0"/>
                  </a:moveTo>
                  <a:lnTo>
                    <a:pt x="0" y="4424553"/>
                  </a:lnTo>
                </a:path>
              </a:pathLst>
            </a:custGeom>
            <a:noFill/>
            <a:ln w="9525">
              <a:solidFill>
                <a:srgbClr val="44658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22720" y="2935700"/>
              <a:ext cx="370636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EEF7FF"/>
                  </a:solidFill>
                  <a:latin typeface="Segoe UI"/>
                  <a:ea typeface="Microsoft YaHei"/>
                  <a:cs typeface="Segoe UI"/>
                </a:rPr>
                <a:t>兩個 Agent接力 #3→ #2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9388" y="3532156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D4E6F7"/>
                  </a:solidFill>
                  <a:latin typeface="Segoe UI"/>
                  <a:ea typeface="Microsoft YaHei"/>
                  <a:cs typeface="Segoe UI"/>
                </a:rPr>
                <a:t>可分開準備配對規則與列表。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34150" y="4086987"/>
              <a:ext cx="47263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DCADF"/>
                  </a:solidFill>
                  <a:latin typeface="Segoe UI"/>
                  <a:ea typeface="Microsoft YaHei"/>
                  <a:cs typeface="Segoe UI"/>
                </a:rPr>
                <a:t>先確認 #3交出的紀錄格式、版本、已測與未測。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5986462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81000" y="5986462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6738" y="6193631"/>
              <a:ext cx="82081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分工需要有可接手的交付物；下一頁看 #3的交接卡該交給 #2什麼。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346710" y="299085"/>
            <a:ext cx="11473625" cy="6430899"/>
            <a:chOff x="346710" y="299085"/>
            <a:chExt cx="1147362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422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工作分給兩個 Agent，交接卡要寫什麼？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349883"/>
              <a:ext cx="11430000" cy="631031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980914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rgbClr val="6B9A7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805059" y="1524667"/>
              <a:ext cx="458188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dirty="0">
                  <a:solidFill>
                    <a:srgbClr val="D3F1DA"/>
                  </a:solidFill>
                  <a:latin typeface="Segoe UI"/>
                  <a:ea typeface="Microsoft YaHei"/>
                  <a:cs typeface="Segoe UI"/>
                </a:rPr>
                <a:t>共同 Goal｜雙向喜歡才建立配對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266664"/>
              <a:ext cx="3131153" cy="2762250"/>
            </a:xfrm>
            <a:prstGeom prst="roundRect">
              <a:avLst>
                <a:gd name="adj" fmla="val 3448"/>
              </a:avLst>
            </a:prstGeom>
            <a:solidFill>
              <a:srgbClr val="132439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266664"/>
              <a:ext cx="3131153" cy="9525"/>
            </a:xfrm>
            <a:custGeom>
              <a:avLst/>
              <a:gdLst/>
              <a:ahLst/>
              <a:cxnLst/>
              <a:rect l="l" t="t" r="r" b="b"/>
              <a:pathLst>
                <a:path w="3131153" h="9525">
                  <a:moveTo>
                    <a:pt x="0" y="0"/>
                  </a:moveTo>
                  <a:lnTo>
                    <a:pt x="3131153" y="0"/>
                  </a:lnTo>
                </a:path>
              </a:pathLst>
            </a:custGeom>
            <a:noFill/>
            <a:ln w="47625">
              <a:solidFill>
                <a:srgbClr val="81BAF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512153" y="2266664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5028914"/>
              <a:ext cx="3131153" cy="9525"/>
            </a:xfrm>
            <a:custGeom>
              <a:avLst/>
              <a:gdLst/>
              <a:ahLst/>
              <a:cxnLst/>
              <a:rect l="l" t="t" r="r" b="b"/>
              <a:pathLst>
                <a:path w="3131153" h="9525">
                  <a:moveTo>
                    <a:pt x="0" y="0"/>
                  </a:moveTo>
                  <a:lnTo>
                    <a:pt x="3131153" y="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266664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1972" y="3075622"/>
              <a:ext cx="131666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9CBEA"/>
                  </a:solidFill>
                  <a:latin typeface="Segoe UI"/>
                  <a:ea typeface="Microsoft YaHei"/>
                  <a:cs typeface="Segoe UI"/>
                </a:rPr>
                <a:t>Agent A· #3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305" y="3532156"/>
              <a:ext cx="18935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2F9FF"/>
                  </a:solidFill>
                  <a:latin typeface="Segoe UI"/>
                  <a:ea typeface="Microsoft YaHei"/>
                  <a:cs typeface="Segoe UI"/>
                </a:rPr>
                <a:t>完成配對規則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972" y="4046029"/>
              <a:ext cx="26243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D0E2EF"/>
                  </a:solidFill>
                  <a:latin typeface="Segoe UI"/>
                  <a:ea typeface="Microsoft YaHei"/>
                  <a:cs typeface="Segoe UI"/>
                </a:rPr>
                <a:t>雙向 Like→ M01（示意）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00414" y="3517773"/>
              <a:ext cx="309253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5" dirty="0">
                  <a:solidFill>
                    <a:srgbClr val="ACD0F1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97928" y="2266664"/>
              <a:ext cx="4195953" cy="2762250"/>
            </a:xfrm>
            <a:prstGeom prst="roundRect">
              <a:avLst>
                <a:gd name="adj" fmla="val 3448"/>
              </a:avLst>
            </a:prstGeom>
            <a:solidFill>
              <a:srgbClr val="192C25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997928" y="2266664"/>
              <a:ext cx="4195953" cy="9525"/>
            </a:xfrm>
            <a:custGeom>
              <a:avLst/>
              <a:gdLst/>
              <a:ahLst/>
              <a:cxnLst/>
              <a:rect l="l" t="t" r="r" b="b"/>
              <a:pathLst>
                <a:path w="4195953" h="9525">
                  <a:moveTo>
                    <a:pt x="0" y="0"/>
                  </a:moveTo>
                  <a:lnTo>
                    <a:pt x="4195953" y="0"/>
                  </a:lnTo>
                </a:path>
              </a:pathLst>
            </a:custGeom>
            <a:noFill/>
            <a:ln w="47625">
              <a:solidFill>
                <a:srgbClr val="91DBA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193881" y="2266664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997928" y="5028914"/>
              <a:ext cx="4195953" cy="9525"/>
            </a:xfrm>
            <a:custGeom>
              <a:avLst/>
              <a:gdLst/>
              <a:ahLst/>
              <a:cxnLst/>
              <a:rect l="l" t="t" r="r" b="b"/>
              <a:pathLst>
                <a:path w="4195953" h="9525">
                  <a:moveTo>
                    <a:pt x="0" y="0"/>
                  </a:moveTo>
                  <a:lnTo>
                    <a:pt x="4195953" y="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997928" y="2266664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58901" y="2706814"/>
              <a:ext cx="206425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9CBEA"/>
                  </a:solidFill>
                  <a:latin typeface="Segoe UI"/>
                  <a:ea typeface="Microsoft YaHei"/>
                  <a:cs typeface="Segoe UI"/>
                </a:rPr>
                <a:t>交接卡｜ #3交給 #2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52233" y="3163348"/>
              <a:ext cx="28136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2F9FF"/>
                  </a:solidFill>
                  <a:latin typeface="Segoe UI"/>
                  <a:ea typeface="Microsoft YaHei"/>
                  <a:cs typeface="Segoe UI"/>
                </a:rPr>
                <a:t>讓下一位有資料可接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60806" y="3674364"/>
              <a:ext cx="2034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DAE9E0"/>
                  </a:solidFill>
                  <a:latin typeface="Segoe UI"/>
                  <a:ea typeface="Microsoft YaHei"/>
                  <a:cs typeface="Segoe UI"/>
                </a:rPr>
                <a:t>連結 #3的 Issue／ PR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60806" y="4045839"/>
              <a:ext cx="25128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DAE9E0"/>
                  </a:solidFill>
                  <a:latin typeface="Segoe UI"/>
                  <a:ea typeface="Microsoft YaHei"/>
                  <a:cs typeface="Segoe UI"/>
                </a:rPr>
                <a:t>格式編號 M01＋雙方使用者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60806" y="4417314"/>
              <a:ext cx="232552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DAE9E0"/>
                  </a:solidFill>
                  <a:latin typeface="Segoe UI"/>
                  <a:ea typeface="Microsoft YaHei"/>
                  <a:cs typeface="Segoe UI"/>
                </a:rPr>
                <a:t>進度已測／未測＋待確認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82142" y="3517773"/>
              <a:ext cx="309253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5" dirty="0">
                  <a:solidFill>
                    <a:srgbClr val="ACD0F1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679656" y="2266664"/>
              <a:ext cx="3131153" cy="2762250"/>
            </a:xfrm>
            <a:prstGeom prst="roundRect">
              <a:avLst>
                <a:gd name="adj" fmla="val 3448"/>
              </a:avLst>
            </a:prstGeom>
            <a:solidFill>
              <a:srgbClr val="132439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8679656" y="2266664"/>
              <a:ext cx="3131153" cy="9525"/>
            </a:xfrm>
            <a:custGeom>
              <a:avLst/>
              <a:gdLst/>
              <a:ahLst/>
              <a:cxnLst/>
              <a:rect l="l" t="t" r="r" b="b"/>
              <a:pathLst>
                <a:path w="3131153" h="9525">
                  <a:moveTo>
                    <a:pt x="0" y="0"/>
                  </a:moveTo>
                  <a:lnTo>
                    <a:pt x="3131153" y="0"/>
                  </a:lnTo>
                </a:path>
              </a:pathLst>
            </a:custGeom>
            <a:noFill/>
            <a:ln w="47625">
              <a:solidFill>
                <a:srgbClr val="81BAF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1810810" y="2266664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679656" y="5028914"/>
              <a:ext cx="3131153" cy="9525"/>
            </a:xfrm>
            <a:custGeom>
              <a:avLst/>
              <a:gdLst/>
              <a:ahLst/>
              <a:cxnLst/>
              <a:rect l="l" t="t" r="r" b="b"/>
              <a:pathLst>
                <a:path w="3131153" h="9525">
                  <a:moveTo>
                    <a:pt x="0" y="0"/>
                  </a:moveTo>
                  <a:lnTo>
                    <a:pt x="3131153" y="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679656" y="2266664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49678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40629" y="3075622"/>
              <a:ext cx="131666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9CBEA"/>
                  </a:solidFill>
                  <a:latin typeface="Segoe UI"/>
                  <a:ea typeface="Microsoft YaHei"/>
                  <a:cs typeface="Segoe UI"/>
                </a:rPr>
                <a:t>Agent B· #2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33961" y="3532156"/>
              <a:ext cx="18935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2F9FF"/>
                  </a:solidFill>
                  <a:latin typeface="Segoe UI"/>
                  <a:ea typeface="Microsoft YaHei"/>
                  <a:cs typeface="Segoe UI"/>
                </a:rPr>
                <a:t>製作配對列表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40629" y="4046029"/>
              <a:ext cx="221377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D0E2EF"/>
                  </a:solidFill>
                  <a:latin typeface="Segoe UI"/>
                  <a:ea typeface="Microsoft YaHei"/>
                  <a:cs typeface="Segoe UI"/>
                </a:rPr>
                <a:t>依交接格式呈現結果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" y="5314664"/>
              <a:ext cx="11430000" cy="507682"/>
            </a:xfrm>
            <a:prstGeom prst="roundRect">
              <a:avLst>
                <a:gd name="adj" fmla="val 11257"/>
              </a:avLst>
            </a:prstGeom>
            <a:solidFill>
              <a:srgbClr val="292519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81000" y="5314664"/>
              <a:ext cx="9525" cy="507682"/>
            </a:xfrm>
            <a:custGeom>
              <a:avLst/>
              <a:gdLst/>
              <a:ahLst/>
              <a:cxnLst/>
              <a:rect l="l" t="t" r="r" b="b"/>
              <a:pathLst>
                <a:path w="9525" h="507682">
                  <a:moveTo>
                    <a:pt x="0" y="0"/>
                  </a:moveTo>
                  <a:lnTo>
                    <a:pt x="0" y="507682"/>
                  </a:lnTo>
                </a:path>
              </a:pathLst>
            </a:custGeom>
            <a:noFill/>
            <a:ln w="38100">
              <a:solidFill>
                <a:srgbClr val="E8C78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3398" y="5468493"/>
              <a:ext cx="437604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E4B1"/>
                  </a:solidFill>
                  <a:latin typeface="Segoe UI"/>
                  <a:ea typeface="Microsoft YaHei"/>
                  <a:cs typeface="Segoe UI"/>
                </a:rPr>
                <a:t>少了格式或測試狀態， B先問清楚再動工。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8618" y="6531864"/>
              <a:ext cx="47524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2025秋季講義， PDF第 72– 73頁； Stanford CS224G， PDF第 13頁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346710" y="299085"/>
            <a:ext cx="13959031" cy="6431090"/>
            <a:chOff x="346710" y="299085"/>
            <a:chExt cx="13959031" cy="643109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漏掉「不重複配對」規則，會發生什麼？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423130"/>
              <a:ext cx="1143000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93748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rgbClr val="608B7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190714" y="1566005"/>
              <a:ext cx="38105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2EDDA"/>
                  </a:solidFill>
                  <a:latin typeface="Segoe UI"/>
                  <a:ea typeface="Microsoft YaHei"/>
                  <a:cs typeface="Segoe UI"/>
                </a:rPr>
                <a:t>教學示意｜同一張 #3配對規則工作票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223230"/>
              <a:ext cx="3479768" cy="2514600"/>
            </a:xfrm>
            <a:prstGeom prst="roundRect">
              <a:avLst>
                <a:gd name="adj" fmla="val 4167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223230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47625">
              <a:solidFill>
                <a:srgbClr val="82BBE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60768" y="222323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4737830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22323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6262" y="3035237"/>
              <a:ext cx="751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3CDE3"/>
                  </a:solidFill>
                  <a:latin typeface="Segoe UI"/>
                  <a:ea typeface="Microsoft YaHei"/>
                  <a:cs typeface="Segoe UI"/>
                </a:rPr>
                <a:t>工作票 AC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1500" y="3480530"/>
              <a:ext cx="18454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重複 Like仍是一筆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29123" y="341385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ED3E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56068" y="2223230"/>
              <a:ext cx="3479768" cy="2514600"/>
            </a:xfrm>
            <a:prstGeom prst="roundRect">
              <a:avLst>
                <a:gd name="adj" fmla="val 4167"/>
              </a:avLst>
            </a:prstGeom>
            <a:solidFill>
              <a:srgbClr val="2A251B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356068" y="2223230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47625">
              <a:solidFill>
                <a:srgbClr val="E9CD8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835836" y="222323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56068" y="4737830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56068" y="222323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51331" y="3168587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3CDE3"/>
                  </a:solidFill>
                  <a:latin typeface="Segoe UI"/>
                  <a:ea typeface="Microsoft YaHei"/>
                  <a:cs typeface="Segoe UI"/>
                </a:rPr>
                <a:t>交接摘要漏了這條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46568" y="361388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只說「雙向才配對」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04191" y="341385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ED3E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31136" y="2223230"/>
              <a:ext cx="3479863" cy="2514600"/>
            </a:xfrm>
            <a:prstGeom prst="roundRect">
              <a:avLst>
                <a:gd name="adj" fmla="val 4167"/>
              </a:avLst>
            </a:prstGeom>
            <a:solidFill>
              <a:srgbClr val="32201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331136" y="2223230"/>
              <a:ext cx="3479864" cy="9525"/>
            </a:xfrm>
            <a:custGeom>
              <a:avLst/>
              <a:gdLst/>
              <a:ahLst/>
              <a:cxnLst/>
              <a:rect l="l" t="t" r="r" b="b"/>
              <a:pathLst>
                <a:path w="3479864" h="9525">
                  <a:moveTo>
                    <a:pt x="0" y="0"/>
                  </a:moveTo>
                  <a:lnTo>
                    <a:pt x="3479864" y="0"/>
                  </a:lnTo>
                </a:path>
              </a:pathLst>
            </a:custGeom>
            <a:noFill/>
            <a:ln w="47625">
              <a:solidFill>
                <a:srgbClr val="F4AAA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22323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331136" y="4737830"/>
              <a:ext cx="3479864" cy="9525"/>
            </a:xfrm>
            <a:custGeom>
              <a:avLst/>
              <a:gdLst/>
              <a:ahLst/>
              <a:cxnLst/>
              <a:rect l="l" t="t" r="r" b="b"/>
              <a:pathLst>
                <a:path w="3479864" h="9525">
                  <a:moveTo>
                    <a:pt x="0" y="0"/>
                  </a:moveTo>
                  <a:lnTo>
                    <a:pt x="3479864" y="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31136" y="222323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6399" y="3168587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3CDE3"/>
                  </a:solidFill>
                  <a:latin typeface="Segoe UI"/>
                  <a:ea typeface="Microsoft YaHei"/>
                  <a:cs typeface="Segoe UI"/>
                </a:rPr>
                <a:t>接手者可能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1636" y="3613880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再次建立配對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5023580"/>
              <a:ext cx="11430000" cy="552450"/>
            </a:xfrm>
            <a:prstGeom prst="roundRect">
              <a:avLst>
                <a:gd name="adj" fmla="val 10345"/>
              </a:avLst>
            </a:prstGeom>
            <a:solidFill>
              <a:srgbClr val="172C40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81000" y="502358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38100">
              <a:solidFill>
                <a:srgbClr val="91C7E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2925" y="5195030"/>
              <a:ext cx="58983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AFA"/>
                  </a:solidFill>
                  <a:latin typeface="Segoe UI"/>
                  <a:ea typeface="Microsoft YaHei"/>
                  <a:cs typeface="Segoe UI"/>
                </a:rPr>
                <a:t>交接摘要若少了 AC，接手者應回 Ticket核對，不能猜規則。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8618" y="6358700"/>
              <a:ext cx="13937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配對 App情境為教材改編，非研究原案例｜ LangChain〈 Benchmarking Multi-Agent Architectures〉， Results&amp; Analysis／ Improvements to supervisor； Stanford HAI〈 AI Coding Agents Fail at Teamwork〉，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8618" y="6532055"/>
              <a:ext cx="63116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Critical Skills／ Talk Is Cheap； Cognition（多 Agent協調失敗案例）｜案例： #3雙向喜歡才配對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346710" y="299085"/>
            <a:ext cx="11552492" cy="6430899"/>
            <a:chOff x="346710" y="299085"/>
            <a:chExt cx="11552492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交接卡漏掉未測，補驗可能被跳過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509712"/>
              <a:ext cx="1143000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2024062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rgbClr val="608B7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557510" y="1652588"/>
              <a:ext cx="70769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2EDDA"/>
                  </a:solidFill>
                  <a:latin typeface="Segoe UI"/>
                  <a:ea typeface="Microsoft YaHei"/>
                  <a:cs typeface="Segoe UI"/>
                </a:rPr>
                <a:t>現有 Version B補驗前紀錄：單向／雙向 PASS，重複 Like NOT RUN。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309812"/>
              <a:ext cx="3479768" cy="2514600"/>
            </a:xfrm>
            <a:prstGeom prst="roundRect">
              <a:avLst>
                <a:gd name="adj" fmla="val 4167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309812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47625">
              <a:solidFill>
                <a:srgbClr val="82BBE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60768" y="2309812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4824412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309812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6262" y="3121819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3CDE3"/>
                  </a:solidFill>
                  <a:latin typeface="Segoe UI"/>
                  <a:ea typeface="Microsoft YaHei"/>
                  <a:cs typeface="Segoe UI"/>
                </a:rPr>
                <a:t>原始測試紀錄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1500" y="3567112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已測／未測都有記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29123" y="3500438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ED3E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56068" y="2309812"/>
              <a:ext cx="3479768" cy="2514600"/>
            </a:xfrm>
            <a:prstGeom prst="roundRect">
              <a:avLst>
                <a:gd name="adj" fmla="val 4167"/>
              </a:avLst>
            </a:prstGeom>
            <a:solidFill>
              <a:srgbClr val="2A251B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356068" y="2309812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47625">
              <a:solidFill>
                <a:srgbClr val="E9CD8E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835836" y="2309812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56068" y="4824412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56068" y="2309812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51331" y="3255169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3CDE3"/>
                  </a:solidFill>
                  <a:latin typeface="Segoe UI"/>
                  <a:ea typeface="Microsoft YaHei"/>
                  <a:cs typeface="Segoe UI"/>
                </a:rPr>
                <a:t>教學假設｜交接卡只寫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46568" y="3700462"/>
              <a:ext cx="1681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單向／雙向 PASS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04191" y="3500438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ED3E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31136" y="2309812"/>
              <a:ext cx="3479863" cy="2514600"/>
            </a:xfrm>
            <a:prstGeom prst="roundRect">
              <a:avLst>
                <a:gd name="adj" fmla="val 4167"/>
              </a:avLst>
            </a:prstGeom>
            <a:solidFill>
              <a:srgbClr val="32201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331136" y="2309812"/>
              <a:ext cx="3479864" cy="9525"/>
            </a:xfrm>
            <a:custGeom>
              <a:avLst/>
              <a:gdLst/>
              <a:ahLst/>
              <a:cxnLst/>
              <a:rect l="l" t="t" r="r" b="b"/>
              <a:pathLst>
                <a:path w="3479864" h="9525">
                  <a:moveTo>
                    <a:pt x="0" y="0"/>
                  </a:moveTo>
                  <a:lnTo>
                    <a:pt x="3479864" y="0"/>
                  </a:lnTo>
                </a:path>
              </a:pathLst>
            </a:custGeom>
            <a:noFill/>
            <a:ln w="47625">
              <a:solidFill>
                <a:srgbClr val="F4AAA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309812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331136" y="4824412"/>
              <a:ext cx="3479864" cy="9525"/>
            </a:xfrm>
            <a:custGeom>
              <a:avLst/>
              <a:gdLst/>
              <a:ahLst/>
              <a:cxnLst/>
              <a:rect l="l" t="t" r="r" b="b"/>
              <a:pathLst>
                <a:path w="3479864" h="9525">
                  <a:moveTo>
                    <a:pt x="0" y="0"/>
                  </a:moveTo>
                  <a:lnTo>
                    <a:pt x="3479864" y="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31136" y="2309812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rgbClr val="4A6E9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6399" y="3255169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B3CDE3"/>
                  </a:solidFill>
                  <a:latin typeface="Segoe UI"/>
                  <a:ea typeface="Microsoft YaHei"/>
                  <a:cs typeface="Segoe UI"/>
                </a:rPr>
                <a:t>接手者可能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1636" y="3700462"/>
              <a:ext cx="18454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9FF"/>
                  </a:solidFill>
                  <a:latin typeface="Segoe UI"/>
                  <a:ea typeface="Microsoft YaHei"/>
                  <a:cs typeface="Segoe UI"/>
                </a:rPr>
                <a:t>跳過重複 Like補驗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5110162"/>
              <a:ext cx="11430000" cy="552450"/>
            </a:xfrm>
            <a:prstGeom prst="roundRect">
              <a:avLst>
                <a:gd name="adj" fmla="val 10345"/>
              </a:avLst>
            </a:prstGeom>
            <a:solidFill>
              <a:srgbClr val="172C40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81000" y="5110162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38100">
              <a:solidFill>
                <a:srgbClr val="91C7E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2925" y="5281612"/>
              <a:ext cx="59640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8EAFA"/>
                  </a:solidFill>
                  <a:latin typeface="Segoe UI"/>
                  <a:ea typeface="Microsoft YaHei"/>
                  <a:cs typeface="Segoe UI"/>
                </a:rPr>
                <a:t>交給另一位 Agent前，附上候選版本、已測／未測與下一步。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8618" y="6531864"/>
              <a:ext cx="115305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配對 App情境為教材改編，非研究原案例｜ Stanford HAI〈 AI Coding Agents Fail at Teamwork〉， Talk Is Cheap（重複工作）；社群經驗（資訊孤島）｜案例： #3雙向喜歡才配對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346710" y="299085"/>
            <a:ext cx="14044470" cy="6431090"/>
            <a:chOff x="346710" y="299085"/>
            <a:chExt cx="14044470" cy="643109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693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反覆交接時，小偏差可能帶偏原目標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648111"/>
              <a:ext cx="1981200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1717167"/>
              <a:ext cx="21678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案例票｜ #3雙向喜歡才配對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2131504"/>
              <a:ext cx="11430000" cy="619125"/>
            </a:xfrm>
            <a:prstGeom prst="roundRect">
              <a:avLst>
                <a:gd name="adj" fmla="val 13846"/>
              </a:avLst>
            </a:prstGeom>
            <a:solidFill>
              <a:srgbClr val="211E15"/>
            </a:solidFill>
            <a:ln w="9525">
              <a:solidFill>
                <a:srgbClr val="725B37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2283904"/>
              <a:ext cx="742950" cy="314325"/>
            </a:xfrm>
            <a:prstGeom prst="roundRect">
              <a:avLst>
                <a:gd name="adj" fmla="val 15152"/>
              </a:avLst>
            </a:prstGeom>
            <a:solidFill>
              <a:srgbClr val="4E3E2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2938" y="236248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E3A0"/>
                  </a:solidFill>
                  <a:latin typeface="Arial"/>
                  <a:ea typeface="Microsoft YaHei"/>
                  <a:cs typeface="Arial"/>
                </a:rPr>
                <a:t>社群經驗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6850" y="2336292"/>
              <a:ext cx="4926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沒有 re-anchor，工作可能逐步偏離初始目標。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121C28"/>
            </a:solidFill>
            <a:ln w="9525">
              <a:solidFill>
                <a:srgbClr val="3C506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1100" y="3256978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原始目標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604" y="3596545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讓互相喜歡的兩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604" y="3943255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人能確認配對成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9716" y="4289965"/>
              <a:ext cx="3485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9057" y="298399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121C28"/>
            </a:solidFill>
            <a:ln w="9525">
              <a:solidFill>
                <a:srgbClr val="3C506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29100" y="3603593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一次交接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9642" y="3943159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一點小偏誤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77057" y="298399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121C28"/>
            </a:solidFill>
            <a:ln w="9525">
              <a:solidFill>
                <a:srgbClr val="3C506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94947" y="3603593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再一輪迭代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8123" y="3943159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偏誤繼續累積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5057" y="2983992"/>
              <a:ext cx="237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25000" y="2941129"/>
              <a:ext cx="2286000" cy="1952625"/>
            </a:xfrm>
            <a:prstGeom prst="roundRect">
              <a:avLst>
                <a:gd name="adj" fmla="val 4878"/>
              </a:avLst>
            </a:prstGeom>
            <a:solidFill>
              <a:srgbClr val="211E15"/>
            </a:solidFill>
            <a:ln w="9525">
              <a:solidFill>
                <a:srgbClr val="725B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60794" y="3603593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沒有拉回目標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45160" y="3943159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DDA0"/>
                  </a:solidFill>
                  <a:latin typeface="Arial"/>
                  <a:ea typeface="Microsoft YaHei"/>
                  <a:cs typeface="Arial"/>
                </a:rPr>
                <a:t>逐步偏離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3425" y="5112830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這是風險示意，不是量化結果。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8618" y="6358700"/>
              <a:ext cx="14022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社群經驗｜ Anthropic〈 How we built our multi-agent research system〉， Production reliability and engineering challenges； LangChain〈 Benchmarking Multi-Agent Architectures〉， Results&amp; Analysis；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8618" y="6532055"/>
              <a:ext cx="6368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HAI〈 AI Coding Agents Fail at Teamwork〉， Talk Is Cheap｜案例： #3雙向喜歡才配對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346710" y="299085"/>
            <a:ext cx="11640502" cy="5599843"/>
            <a:chOff x="346710" y="299085"/>
            <a:chExt cx="11640502" cy="559984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34961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三種交接失誤，怎樣變成可執行的工作流程？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671447"/>
              <a:ext cx="73146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回到 #3：漏規則、看不到進度、偏離 Goal，各要補一個接點。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16182"/>
              <a:ext cx="3409950" cy="2735008"/>
            </a:xfrm>
            <a:prstGeom prst="roundRect">
              <a:avLst>
                <a:gd name="adj" fmla="val 417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16182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95119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533841"/>
              <a:ext cx="272357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交接點｜核對規則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110484"/>
              <a:ext cx="304621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剛才 P69漏了「不重複配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491484"/>
              <a:ext cx="8691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對」。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967734"/>
              <a:ext cx="31694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下一位先讀工作票三條 AC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4348734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52220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91025" y="2216182"/>
              <a:ext cx="3409950" cy="2735008"/>
            </a:xfrm>
            <a:prstGeom prst="roundRect">
              <a:avLst>
                <a:gd name="adj" fmla="val 417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391025" y="2216182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800975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91025" y="495119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391025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9628" y="2533841"/>
              <a:ext cx="272357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進度點｜核對證據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438" y="3110484"/>
              <a:ext cx="304621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剛才 P70看不到誰測了什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3491484"/>
              <a:ext cx="595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麼。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3438" y="3967734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共用版本、已測／未測與下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3438" y="4348734"/>
              <a:ext cx="8691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62245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401050" y="2216182"/>
              <a:ext cx="3409950" cy="2735008"/>
            </a:xfrm>
            <a:prstGeom prst="roundRect">
              <a:avLst>
                <a:gd name="adj" fmla="val 417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8401050" y="2216182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1181100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401050" y="495119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401050" y="2216182"/>
              <a:ext cx="9525" cy="2735008"/>
            </a:xfrm>
            <a:custGeom>
              <a:avLst/>
              <a:gdLst/>
              <a:ahLst/>
              <a:cxnLst/>
              <a:rect l="l" t="t" r="r" b="b"/>
              <a:pathLst>
                <a:path w="9525" h="2735008">
                  <a:moveTo>
                    <a:pt x="0" y="0"/>
                  </a:moveTo>
                  <a:lnTo>
                    <a:pt x="0" y="2735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49652" y="2533841"/>
              <a:ext cx="272357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方向點｜由人核對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53462" y="3110484"/>
              <a:ext cx="304621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剛才 P71逐輪偏離 Goal。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3462" y="3586734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人確認目標、退回路徑與驗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3462" y="3967734"/>
              <a:ext cx="8691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收權。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5198840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5198840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6738" y="5406009"/>
              <a:ext cx="101387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把這三個接點寫進共同 Workflow；下一頁再拆清楚誰決定工作路線、誰負責執行。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512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誰決定流程？執行者有幾位？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84243"/>
              <a:ext cx="4292918" cy="292894"/>
            </a:xfrm>
            <a:prstGeom prst="roundRect">
              <a:avLst>
                <a:gd name="adj" fmla="val 19512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52438" y="1253300"/>
              <a:ext cx="45141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3F0D0"/>
                  </a:solidFill>
                  <a:latin typeface="Arial"/>
                  <a:ea typeface="Microsoft YaHei"/>
                  <a:cs typeface="Arial"/>
                </a:rPr>
                <a:t>例： #3 Review不過→ Dev修正→再送審；誰安排這條路徑？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667637"/>
              <a:ext cx="5610225" cy="3255645"/>
            </a:xfrm>
            <a:prstGeom prst="roundRect">
              <a:avLst>
                <a:gd name="adj" fmla="val 351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667637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991225" y="1667637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492328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667637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1038" y="2022443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問題一｜工作路線與決策權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0560" y="2371534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誰決定下一步？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95325" y="2894457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7725" y="3456432"/>
              <a:ext cx="10847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Workflow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7725" y="3837432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沿預定路徑前進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06817" y="364693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0A2B6"/>
                  </a:solidFill>
                  <a:latin typeface="Arial"/>
                  <a:ea typeface="Microsoft YaHei"/>
                  <a:cs typeface="Arial"/>
                </a:rPr>
                <a:t>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43288" y="2894457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5688" y="3456432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5688" y="3837432"/>
              <a:ext cx="1790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依狀態決定下一步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00775" y="1667637"/>
              <a:ext cx="5610225" cy="3255645"/>
            </a:xfrm>
            <a:prstGeom prst="roundRect">
              <a:avLst>
                <a:gd name="adj" fmla="val 351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200775" y="1667637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811000" y="1667637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200775" y="4923282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200775" y="1667637"/>
              <a:ext cx="9525" cy="3255645"/>
            </a:xfrm>
            <a:custGeom>
              <a:avLst/>
              <a:gdLst/>
              <a:ahLst/>
              <a:cxnLst/>
              <a:rect l="l" t="t" r="r" b="b"/>
              <a:pathLst>
                <a:path w="9525" h="3255645">
                  <a:moveTo>
                    <a:pt x="0" y="0"/>
                  </a:moveTo>
                  <a:lnTo>
                    <a:pt x="0" y="3255645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0812" y="2022443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問題二｜執行者數量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0335" y="2371534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誰承擔責任？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15100" y="2894457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67500" y="3456432"/>
              <a:ext cx="144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Single-agent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7500" y="3837432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一位執行者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6592" y="364693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0A2B6"/>
                  </a:solidFill>
                  <a:latin typeface="Arial"/>
                  <a:ea typeface="Microsoft YaHei"/>
                  <a:cs typeface="Arial"/>
                </a:rPr>
                <a:t>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263062" y="2894457"/>
              <a:ext cx="2233612" cy="1714500"/>
            </a:xfrm>
            <a:prstGeom prst="roundRect">
              <a:avLst>
                <a:gd name="adj" fmla="val 5000"/>
              </a:avLst>
            </a:prstGeom>
            <a:solidFill>
              <a:srgbClr val="0E1721"/>
            </a:solidFill>
            <a:ln w="9525">
              <a:solidFill>
                <a:srgbClr val="34475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15462" y="3456432"/>
              <a:ext cx="13607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Multi-agent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15462" y="3837432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7D2DE"/>
                  </a:solidFill>
                  <a:latin typeface="Arial"/>
                  <a:ea typeface="Microsoft YaHei"/>
                  <a:cs typeface="Arial"/>
                </a:rPr>
                <a:t>多位專責執行者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8659" y="5142357"/>
              <a:ext cx="107946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QA退回 Dev由人先約定； Agent在授權內決定執行方式。 Workflow和 Agent可以一起使用；人數、 WIP另計。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8618" y="5924264"/>
              <a:ext cx="31504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CS224G， PDF第 5、 10、 12– 13、 61頁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6269355"/>
              <a:ext cx="11430000" cy="417195"/>
            </a:xfrm>
            <a:prstGeom prst="roundRect">
              <a:avLst>
                <a:gd name="adj" fmla="val 18265"/>
              </a:avLst>
            </a:prstGeom>
            <a:solidFill>
              <a:srgbClr val="172A3D"/>
            </a:solidFill>
            <a:ln w="9525">
              <a:solidFill>
                <a:srgbClr val="4764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24151" y="6379369"/>
              <a:ext cx="43436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D8EAFF"/>
                  </a:solidFill>
                  <a:latin typeface="Segoe UI"/>
                  <a:ea typeface="Microsoft YaHei"/>
                  <a:cs typeface="Segoe UI"/>
                </a:rPr>
                <a:t>下一步：收起路線圖，展示 Agent數量× WIP比較→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346710" y="299085"/>
            <a:ext cx="11625929" cy="6430899"/>
            <a:chOff x="346710" y="299085"/>
            <a:chExt cx="11625929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836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簡單和困難的工作，需要相同 AI設定嗎？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902" y="1694878"/>
              <a:ext cx="74140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6DCF0"/>
                  </a:solidFill>
                  <a:latin typeface="Arial"/>
                  <a:ea typeface="Microsoft YaHei"/>
                  <a:cs typeface="Arial"/>
                </a:rPr>
                <a:t>model＝選哪個 AI模型； effort＝可用的推理強度選項（依產品與模型而異）。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106073"/>
              <a:ext cx="3507772" cy="2857500"/>
            </a:xfrm>
            <a:prstGeom prst="roundRect">
              <a:avLst>
                <a:gd name="adj" fmla="val 36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2456116"/>
              <a:ext cx="15726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 App的不同工作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81025" y="2768060"/>
              <a:ext cx="3107722" cy="533400"/>
            </a:xfrm>
            <a:prstGeom prst="roundRect">
              <a:avLst>
                <a:gd name="adj" fmla="val 14286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5800" y="2929985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簡單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9700" y="2929985"/>
              <a:ext cx="13837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#1改按鈕文字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81025" y="3434810"/>
              <a:ext cx="3107722" cy="533400"/>
            </a:xfrm>
            <a:prstGeom prst="roundRect">
              <a:avLst>
                <a:gd name="adj" fmla="val 14286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5800" y="3596735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中等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09700" y="359673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產生測試資料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81025" y="4101560"/>
              <a:ext cx="3107722" cy="533400"/>
            </a:xfrm>
            <a:prstGeom prst="roundRect">
              <a:avLst>
                <a:gd name="adj" fmla="val 14286"/>
              </a:avLst>
            </a:prstGeom>
            <a:solidFill>
              <a:srgbClr val="0E1721"/>
            </a:solidFill>
            <a:ln w="9525">
              <a:solidFill>
                <a:srgbClr val="35495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5800" y="4263485"/>
              <a:ext cx="476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困難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9700" y="4263485"/>
              <a:ext cx="2131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EF3F8"/>
                  </a:solidFill>
                  <a:latin typeface="Arial"/>
                  <a:ea typeface="Microsoft YaHei"/>
                  <a:cs typeface="Arial"/>
                </a:rPr>
                <a:t>#3判斷雙向配對規則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2597" y="2134648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17422" y="2106073"/>
              <a:ext cx="3157061" cy="2857500"/>
            </a:xfrm>
            <a:prstGeom prst="roundRect">
              <a:avLst>
                <a:gd name="adj" fmla="val 3667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60132" y="2709577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教學假設：全部使用同一設定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3932" y="305866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同一個 model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84221" y="3405378"/>
              <a:ext cx="20231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同一個 effort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43330" y="387667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C89F"/>
                  </a:solidFill>
                  <a:latin typeface="Arial"/>
                  <a:ea typeface="Microsoft YaHei"/>
                  <a:cs typeface="Arial"/>
                </a:rPr>
                <a:t>這只是比較情境，不代表建議固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48242" y="4143375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5C89F"/>
                  </a:solidFill>
                  <a:latin typeface="Arial"/>
                  <a:ea typeface="Microsoft YaHei"/>
                  <a:cs typeface="Arial"/>
                </a:rPr>
                <a:t>定設定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98308" y="2134648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3133" y="2106073"/>
              <a:ext cx="3507772" cy="1371600"/>
            </a:xfrm>
            <a:prstGeom prst="roundRect">
              <a:avLst>
                <a:gd name="adj" fmla="val 7639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88870" y="251326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設定開高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4108" y="285378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簡單工作可能付出額外時間與成本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303133" y="3591973"/>
              <a:ext cx="3507772" cy="1371600"/>
            </a:xfrm>
            <a:prstGeom prst="roundRect">
              <a:avLst>
                <a:gd name="adj" fmla="val 7639"/>
              </a:avLst>
            </a:prstGeom>
            <a:solidFill>
              <a:srgbClr val="21191D"/>
            </a:solidFill>
            <a:ln w="9525">
              <a:solidFill>
                <a:srgbClr val="75494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8870" y="399916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AAA2"/>
                  </a:solidFill>
                  <a:latin typeface="Arial"/>
                  <a:ea typeface="Microsoft YaHei"/>
                  <a:cs typeface="Arial"/>
                </a:rPr>
                <a:t>設定開低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84108" y="433968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0ED"/>
                  </a:solidFill>
                  <a:latin typeface="Arial"/>
                  <a:ea typeface="Microsoft YaHei"/>
                  <a:cs typeface="Arial"/>
                </a:rPr>
                <a:t>複雜規則是否可靠，仍需實際驗證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43200" y="5277898"/>
              <a:ext cx="7705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FE7F5"/>
                  </a:solidFill>
                  <a:latin typeface="Segoe UI"/>
                  <a:ea typeface="Microsoft YaHei"/>
                  <a:cs typeface="Segoe UI"/>
                </a:rPr>
                <a:t>選擇要看時間、成本與實際測試結果；沒有依難度就一定要換模型的固定規則。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8618" y="6531864"/>
              <a:ext cx="4545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FrugalGPT， PDF第 9頁； Stanford CS329T第 3講， PDF第 9頁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87973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誰帶流程？ Grill Me與 Superpowers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0998" y="879538"/>
              <a:ext cx="659755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83BCFF"/>
                  </a:solidFill>
                  <a:latin typeface="Segoe UI"/>
                  <a:ea typeface="Microsoft YaHei"/>
                  <a:cs typeface="Segoe UI"/>
                </a:rPr>
                <a:t>需求不清→人逐題釐清；設計已核准→按計畫交給 Agent執行。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300448"/>
              <a:ext cx="5610225" cy="4639437"/>
            </a:xfrm>
            <a:prstGeom prst="roundRect">
              <a:avLst>
                <a:gd name="adj" fmla="val 2053"/>
              </a:avLst>
            </a:prstGeom>
            <a:solidFill>
              <a:srgbClr val="14253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300448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47625">
              <a:solidFill>
                <a:srgbClr val="8BBCF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91225" y="1300448"/>
              <a:ext cx="9525" cy="4639437"/>
            </a:xfrm>
            <a:custGeom>
              <a:avLst/>
              <a:gdLst/>
              <a:ahLst/>
              <a:cxnLst/>
              <a:rect l="l" t="t" r="r" b="b"/>
              <a:pathLst>
                <a:path w="9525" h="4639437">
                  <a:moveTo>
                    <a:pt x="0" y="0"/>
                  </a:moveTo>
                  <a:lnTo>
                    <a:pt x="0" y="4639437"/>
                  </a:lnTo>
                </a:path>
              </a:pathLst>
            </a:custGeom>
            <a:noFill/>
            <a:ln w="9525">
              <a:solidFill>
                <a:srgbClr val="42617D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939885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42617D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300448"/>
              <a:ext cx="9525" cy="4639437"/>
            </a:xfrm>
            <a:custGeom>
              <a:avLst/>
              <a:gdLst/>
              <a:ahLst/>
              <a:cxnLst/>
              <a:rect l="l" t="t" r="r" b="b"/>
              <a:pathLst>
                <a:path w="9525" h="4639437">
                  <a:moveTo>
                    <a:pt x="0" y="0"/>
                  </a:moveTo>
                  <a:lnTo>
                    <a:pt x="0" y="4639437"/>
                  </a:lnTo>
                </a:path>
              </a:pathLst>
            </a:custGeom>
            <a:noFill/>
            <a:ln w="9525">
              <a:solidFill>
                <a:srgbClr val="42617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7225" y="2324862"/>
              <a:ext cx="695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ED8EE"/>
                  </a:solidFill>
                  <a:latin typeface="Segoe UI"/>
                  <a:ea typeface="Microsoft YaHei"/>
                  <a:cs typeface="Segoe UI"/>
                </a:rPr>
                <a:t>人主導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855404"/>
              <a:ext cx="164578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4F9FF"/>
                  </a:solidFill>
                  <a:latin typeface="Segoe UI"/>
                  <a:ea typeface="Microsoft YaHei"/>
                  <a:cs typeface="Segoe UI"/>
                </a:rPr>
                <a:t>Grill 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3415" y="3854577"/>
              <a:ext cx="13207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5F4FF"/>
                  </a:solidFill>
                  <a:latin typeface="Segoe UI"/>
                  <a:ea typeface="Microsoft YaHei"/>
                  <a:cs typeface="Segoe UI"/>
                </a:rPr>
                <a:t>AI逐題追問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3579" y="3875437"/>
              <a:ext cx="222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1BDED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50675" y="3854577"/>
              <a:ext cx="14653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5F4FF"/>
                  </a:solidFill>
                  <a:latin typeface="Segoe UI"/>
                  <a:ea typeface="Microsoft YaHei"/>
                  <a:cs typeface="Segoe UI"/>
                </a:rPr>
                <a:t>本人確認 #3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272" y="4732210"/>
              <a:ext cx="450256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8DEEF"/>
                  </a:solidFill>
                  <a:latin typeface="Segoe UI"/>
                  <a:ea typeface="Microsoft YaHei"/>
                  <a:cs typeface="Segoe UI"/>
                </a:rPr>
                <a:t>訪談澄清範圍與 AC；此時不執行程式任務。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00775" y="1300448"/>
              <a:ext cx="5610225" cy="4639437"/>
            </a:xfrm>
            <a:prstGeom prst="roundRect">
              <a:avLst>
                <a:gd name="adj" fmla="val 2053"/>
              </a:avLst>
            </a:prstGeom>
            <a:solidFill>
              <a:srgbClr val="172C25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6200775" y="1300448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47625">
              <a:solidFill>
                <a:srgbClr val="88D3A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1811000" y="1300448"/>
              <a:ext cx="9525" cy="4639437"/>
            </a:xfrm>
            <a:custGeom>
              <a:avLst/>
              <a:gdLst/>
              <a:ahLst/>
              <a:cxnLst/>
              <a:rect l="l" t="t" r="r" b="b"/>
              <a:pathLst>
                <a:path w="9525" h="4639437">
                  <a:moveTo>
                    <a:pt x="0" y="0"/>
                  </a:moveTo>
                  <a:lnTo>
                    <a:pt x="0" y="4639437"/>
                  </a:lnTo>
                </a:path>
              </a:pathLst>
            </a:custGeom>
            <a:noFill/>
            <a:ln w="9525">
              <a:solidFill>
                <a:srgbClr val="42617D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00775" y="5939885"/>
              <a:ext cx="5610225" cy="9525"/>
            </a:xfrm>
            <a:custGeom>
              <a:avLst/>
              <a:gdLst/>
              <a:ahLst/>
              <a:cxnLst/>
              <a:rect l="l" t="t" r="r" b="b"/>
              <a:pathLst>
                <a:path w="5610225" h="9525">
                  <a:moveTo>
                    <a:pt x="0" y="0"/>
                  </a:moveTo>
                  <a:lnTo>
                    <a:pt x="5610225" y="0"/>
                  </a:lnTo>
                </a:path>
              </a:pathLst>
            </a:custGeom>
            <a:noFill/>
            <a:ln w="9525">
              <a:solidFill>
                <a:srgbClr val="42617D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200775" y="1300448"/>
              <a:ext cx="9525" cy="4639437"/>
            </a:xfrm>
            <a:custGeom>
              <a:avLst/>
              <a:gdLst/>
              <a:ahLst/>
              <a:cxnLst/>
              <a:rect l="l" t="t" r="r" b="b"/>
              <a:pathLst>
                <a:path w="9525" h="4639437">
                  <a:moveTo>
                    <a:pt x="0" y="0"/>
                  </a:moveTo>
                  <a:lnTo>
                    <a:pt x="0" y="4639437"/>
                  </a:lnTo>
                </a:path>
              </a:pathLst>
            </a:custGeom>
            <a:noFill/>
            <a:ln w="9525">
              <a:solidFill>
                <a:srgbClr val="42617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77000" y="2324862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ED8EE"/>
                  </a:solidFill>
                  <a:latin typeface="Segoe UI"/>
                  <a:ea typeface="Microsoft YaHei"/>
                  <a:cs typeface="Segoe UI"/>
                </a:rPr>
                <a:t>流程有核准點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9855" y="2855404"/>
              <a:ext cx="28039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4F9FF"/>
                  </a:solidFill>
                  <a:latin typeface="Segoe UI"/>
                  <a:ea typeface="Microsoft YaHei"/>
                  <a:cs typeface="Segoe UI"/>
                </a:rPr>
                <a:t>Superpowers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3190" y="3854577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5F4FF"/>
                  </a:solidFill>
                  <a:latin typeface="Segoe UI"/>
                  <a:ea typeface="Microsoft YaHei"/>
                  <a:cs typeface="Segoe UI"/>
                </a:rPr>
                <a:t>人工設計核准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4805" y="3875437"/>
              <a:ext cx="222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91BDED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51806" y="3854577"/>
              <a:ext cx="31215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5F4FF"/>
                  </a:solidFill>
                  <a:latin typeface="Segoe UI"/>
                  <a:ea typeface="Microsoft YaHei"/>
                  <a:cs typeface="Segoe UI"/>
                </a:rPr>
                <a:t>計畫→ Agent實作→ Review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6048" y="4732210"/>
              <a:ext cx="39504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8DEEF"/>
                  </a:solidFill>
                  <a:latin typeface="Segoe UI"/>
                  <a:ea typeface="Microsoft YaHei"/>
                  <a:cs typeface="Segoe UI"/>
                </a:rPr>
                <a:t>方向變更仍要人確認，不能自行發布。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6120860"/>
              <a:ext cx="11430000" cy="565690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381000" y="6120860"/>
              <a:ext cx="9525" cy="565690"/>
            </a:xfrm>
            <a:custGeom>
              <a:avLst/>
              <a:gdLst/>
              <a:ahLst/>
              <a:cxnLst/>
              <a:rect l="l" t="t" r="r" b="b"/>
              <a:pathLst>
                <a:path w="9525" h="565690">
                  <a:moveTo>
                    <a:pt x="0" y="0"/>
                  </a:moveTo>
                  <a:lnTo>
                    <a:pt x="0" y="565690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1972" y="6293739"/>
              <a:ext cx="85625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5E7D2"/>
                  </a:solidFill>
                  <a:latin typeface="Segoe UI"/>
                  <a:ea typeface="Microsoft YaHei"/>
                  <a:cs typeface="Segoe UI"/>
                </a:rPr>
                <a:t>需求不清，先問清楚；範圍已確認，再把工作交給 Agent。結果仍由人依證據驗收。</a:t>
              </a: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346710" y="299085"/>
            <a:ext cx="11464290" cy="6430899"/>
            <a:chOff x="346710" y="299085"/>
            <a:chExt cx="11464290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6934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五項協作原則，分別處理哪些問題？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89716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CBDDC"/>
                  </a:solidFill>
                  <a:latin typeface="Segoe UI"/>
                  <a:ea typeface="Microsoft YaHei"/>
                  <a:cs typeface="Segoe UI"/>
                </a:rPr>
                <a:t>協作時遇到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38888" y="897160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CBDDC"/>
                  </a:solidFill>
                  <a:latin typeface="Segoe UI"/>
                  <a:ea typeface="Microsoft YaHei"/>
                  <a:cs typeface="Segoe UI"/>
                </a:rPr>
                <a:t>對應做法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03082"/>
              <a:ext cx="11430000" cy="676275"/>
            </a:xfrm>
            <a:prstGeom prst="rect">
              <a:avLst/>
            </a:prstGeom>
            <a:solidFill>
              <a:srgbClr val="142236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2479358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F5F7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0550" y="1974532"/>
              <a:ext cx="37404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工作進度只留在聊天→狀態寫進 Ticket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546032"/>
              <a:ext cx="11430000" cy="676275"/>
            </a:xfrm>
            <a:prstGeom prst="rect">
              <a:avLst/>
            </a:prstGeom>
            <a:solidFill>
              <a:srgbClr val="142236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3222308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F5F7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0550" y="2717482"/>
              <a:ext cx="33899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Agent不知道何時停→先定核准範圍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3288982"/>
              <a:ext cx="11430000" cy="676275"/>
            </a:xfrm>
            <a:prstGeom prst="rect">
              <a:avLst/>
            </a:prstGeom>
            <a:solidFill>
              <a:srgbClr val="142236"/>
            </a:solidFill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3965258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F5F7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0550" y="3460432"/>
              <a:ext cx="30065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產出與審查混在一起→分清職責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4031932"/>
              <a:ext cx="11430000" cy="676275"/>
            </a:xfrm>
            <a:prstGeom prst="rect">
              <a:avLst/>
            </a:prstGeom>
            <a:solidFill>
              <a:srgbClr val="142236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381000" y="4708208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F5F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550" y="4203382"/>
              <a:ext cx="3170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Agent自己說完成→獨立核對證據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1000" y="4774882"/>
              <a:ext cx="11430000" cy="676275"/>
            </a:xfrm>
            <a:prstGeom prst="rect">
              <a:avLst/>
            </a:prstGeom>
            <a:solidFill>
              <a:srgbClr val="14223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81000" y="5451158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F5F7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0550" y="4946332"/>
              <a:ext cx="30613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越做越偏離 Goal→每輪核對目標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3855" y="6125718"/>
              <a:ext cx="629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3CDDD"/>
                  </a:solidFill>
                  <a:latin typeface="Segoe UI"/>
                  <a:ea typeface="Microsoft YaHei"/>
                  <a:cs typeface="Segoe UI"/>
                </a:rPr>
                <a:t>接下來依序學： P77狀態、 P78停點、 P79職責、 P80證據、 P81 Goal。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8618" y="6531864"/>
              <a:ext cx="10021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2026講義， PDF第 47– 52頁； Stanford CS329A， 42:21– 42:45、 47:03– 47:24；李宏毅 2024 Agent講義， PDF第 10頁｜案例： #3雙向喜歡才配對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346710" y="299085"/>
            <a:ext cx="11464290" cy="4897660"/>
            <a:chOff x="346710" y="299085"/>
            <a:chExt cx="11464290" cy="489766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46231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把工作狀態記在共用票上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339245"/>
              <a:ext cx="5353050" cy="2857500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781300" y="312982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2D263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843524" y="3204115"/>
              <a:ext cx="428001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D4B4FF"/>
                  </a:solidFill>
                  <a:latin typeface="Arial"/>
                  <a:ea typeface="Microsoft YaHei"/>
                  <a:cs typeface="Arial"/>
                </a:rPr>
                <a:t>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60853" y="3806095"/>
              <a:ext cx="19933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只靠 Chat紀錄工作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71712" y="416804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狀態藏在對話裡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3692" y="366322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57950" y="2339245"/>
              <a:ext cx="5353050" cy="2857500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858250" y="2910745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26384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56004" y="2985040"/>
              <a:ext cx="75694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224" y="3587020"/>
              <a:ext cx="32585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Work-driven｜依票上狀態推進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8793" y="3948970"/>
              <a:ext cx="32913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GitHub Issue／看板留下工作狀態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56668" y="4387120"/>
              <a:ext cx="41556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新 session先讀共同紀錄，不只依賴聊天</a:t>
              </a: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346710" y="299085"/>
            <a:ext cx="11464290" cy="4564285"/>
            <a:chOff x="346710" y="299085"/>
            <a:chExt cx="11464290" cy="456428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512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超出核准範圍，就先停下回報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672620"/>
              <a:ext cx="11430000" cy="2190750"/>
            </a:xfrm>
            <a:prstGeom prst="roundRect">
              <a:avLst>
                <a:gd name="adj" fmla="val 6087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390525" y="2682145"/>
              <a:ext cx="11410950" cy="552450"/>
            </a:xfrm>
            <a:prstGeom prst="rect">
              <a:avLst/>
            </a:prstGeom>
            <a:solidFill>
              <a:srgbClr val="17253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1975" y="2853595"/>
              <a:ext cx="8924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ISSUE #3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49444" y="285359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雙向喜歡才配對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7700" y="353939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AC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7700" y="3901345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單向不配對、雙向才配對、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7700" y="416804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重複不增筆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36131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50431" y="3539395"/>
              <a:ext cx="16022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Out-of-scope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50431" y="390134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聊天、推薦、解除配對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8862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53162" y="3539395"/>
              <a:ext cx="10617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Stop rule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53162" y="390134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超出核准範圍，先停下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941594" y="3377470"/>
              <a:ext cx="2717006" cy="1162050"/>
            </a:xfrm>
            <a:prstGeom prst="roundRect">
              <a:avLst>
                <a:gd name="adj" fmla="val 7377"/>
              </a:avLst>
            </a:prstGeom>
            <a:solidFill>
              <a:srgbClr val="18283A"/>
            </a:solidFill>
            <a:ln w="9525">
              <a:solidFill>
                <a:srgbClr val="536B8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55894" y="3539395"/>
              <a:ext cx="15332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本課 WIP上限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55894" y="3901345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AD4DF"/>
                  </a:solidFill>
                  <a:latin typeface="Arial"/>
                  <a:ea typeface="Microsoft YaHei"/>
                  <a:cs typeface="Arial"/>
                </a:rPr>
                <a:t>一次只做一張</a:t>
              </a:r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346710" y="299085"/>
            <a:ext cx="12774072" cy="6387465"/>
            <a:chOff x="346710" y="299085"/>
            <a:chExt cx="12774072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30005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職能代表責任，不等於 Agent數量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907381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490662" y="2640806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56005" y="2669381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6173" y="3250406"/>
              <a:ext cx="1464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PO/PM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3425" y="3602831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整理規劃與接受建議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86125" y="1907381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95788" y="2640806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61130" y="2669381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3820" y="3250406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8098" y="3517106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6238" y="3602831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依票實作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91250" y="1907381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00912" y="2640806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66255" y="2669381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4696" y="3250406"/>
              <a:ext cx="11077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 Review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13223" y="3517106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1362" y="3602831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獨立審查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96375" y="1907381"/>
              <a:ext cx="2714625" cy="2667000"/>
            </a:xfrm>
            <a:prstGeom prst="roundRect">
              <a:avLst>
                <a:gd name="adj" fmla="val 4286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206038" y="2640806"/>
              <a:ext cx="495300" cy="495300"/>
            </a:xfrm>
            <a:prstGeom prst="roundRect">
              <a:avLst>
                <a:gd name="adj" fmla="val 50000"/>
              </a:avLst>
            </a:prstGeom>
            <a:solidFill>
              <a:srgbClr val="263C5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48377" y="2669381"/>
              <a:ext cx="210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85119" y="3250406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8348" y="3517106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52672" y="3602831"/>
              <a:ext cx="10020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依 AC驗證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5822728"/>
              <a:ext cx="11430000" cy="863822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381000" y="5822728"/>
              <a:ext cx="9525" cy="863822"/>
            </a:xfrm>
            <a:custGeom>
              <a:avLst/>
              <a:gdLst/>
              <a:ahLst/>
              <a:cxnLst/>
              <a:rect l="l" t="t" r="r" b="b"/>
              <a:pathLst>
                <a:path w="9525" h="863822">
                  <a:moveTo>
                    <a:pt x="0" y="0"/>
                  </a:moveTo>
                  <a:lnTo>
                    <a:pt x="0" y="863822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0542" y="5969889"/>
              <a:ext cx="1259024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角色代表責任，不代表每個職能都需要一個 Agent。人主導目標與接受標準，核對結果； Human Gate由人決定放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0542" y="6287548"/>
              <a:ext cx="307964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行，不由 Agent自行核准。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346710" y="299085"/>
            <a:ext cx="11930086" cy="6387465"/>
            <a:chOff x="346710" y="299085"/>
            <a:chExt cx="11930086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8653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依接受條件和原始證據獨立驗收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018538"/>
              <a:ext cx="5310188" cy="2095500"/>
            </a:xfrm>
            <a:prstGeom prst="roundRect">
              <a:avLst>
                <a:gd name="adj" fmla="val 5455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125682" y="2771013"/>
              <a:ext cx="18208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Developer Agent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69356" y="3152013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「做好了」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3692" y="2961513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500812" y="2018538"/>
              <a:ext cx="5310188" cy="2095500"/>
            </a:xfrm>
            <a:prstGeom prst="roundRect">
              <a:avLst>
                <a:gd name="adj" fmla="val 5455"/>
              </a:avLst>
            </a:prstGeom>
            <a:solidFill>
              <a:srgbClr val="121C28"/>
            </a:solidFill>
            <a:ln w="9525">
              <a:solidFill>
                <a:srgbClr val="42694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36544" y="2447163"/>
              <a:ext cx="1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QA 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20326" y="2828163"/>
              <a:ext cx="54711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5D5C9"/>
                  </a:solidFill>
                  <a:latin typeface="Arial"/>
                  <a:ea typeface="Microsoft YaHei"/>
                  <a:cs typeface="Arial"/>
                </a:rPr>
                <a:t>核對 #3 AC：單向不配對、雙向才配對、重複不增筆；再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79631" y="3094863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5D5C9"/>
                  </a:solidFill>
                  <a:latin typeface="Arial"/>
                  <a:ea typeface="Microsoft YaHei"/>
                  <a:cs typeface="Arial"/>
                </a:rPr>
                <a:t>對版本與證據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3455" y="3475863"/>
              <a:ext cx="246490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PASS／ FAIL／ NOT RUN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" y="4304538"/>
              <a:ext cx="11430000" cy="476250"/>
            </a:xfrm>
            <a:prstGeom prst="rect">
              <a:avLst/>
            </a:prstGeom>
            <a:solidFill>
              <a:srgbClr val="131E2B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381000" y="4304538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2925" y="4437888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DoD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6890" y="4437888"/>
              <a:ext cx="75742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核對責任與產出分開；可由人依 AC、版本與證據核對，不只接受產出者自述。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6140386"/>
              <a:ext cx="11430000" cy="546164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6140386"/>
              <a:ext cx="9525" cy="546164"/>
            </a:xfrm>
            <a:custGeom>
              <a:avLst/>
              <a:gdLst/>
              <a:ahLst/>
              <a:cxnLst/>
              <a:rect l="l" t="t" r="r" b="b"/>
              <a:pathLst>
                <a:path w="9525" h="546164">
                  <a:moveTo>
                    <a:pt x="0" y="0"/>
                  </a:moveTo>
                  <a:lnTo>
                    <a:pt x="0" y="546164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0542" y="6287548"/>
              <a:ext cx="1174625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另一隻 Agent不代表已獨立驗證：先由原 AC確定預期，再核對特定版本與原始結果；人也可以獨立核驗。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346710" y="299085"/>
            <a:ext cx="11464290" cy="4640485"/>
            <a:chOff x="346710" y="299085"/>
            <a:chExt cx="11464290" cy="464048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每輪交接，都把工作對回共同目標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663095"/>
              <a:ext cx="11430000" cy="609600"/>
            </a:xfrm>
            <a:prstGeom prst="roundRect">
              <a:avLst>
                <a:gd name="adj" fmla="val 12500"/>
              </a:avLst>
            </a:prstGeom>
            <a:solidFill>
              <a:srgbClr val="211D14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2663095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2450" y="2863120"/>
              <a:ext cx="61108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5A6"/>
                  </a:solidFill>
                  <a:latin typeface="Arial"/>
                  <a:ea typeface="Microsoft YaHei"/>
                  <a:cs typeface="Arial"/>
                </a:rPr>
                <a:t>「功能完全符合 AC，但這根本不是我們現在需要的東西。」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519862" y="3463195"/>
              <a:ext cx="5291138" cy="952500"/>
            </a:xfrm>
            <a:prstGeom prst="roundRect">
              <a:avLst>
                <a:gd name="adj" fmla="val 10000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77710" y="3663220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Product / Product Check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74142" y="4006120"/>
              <a:ext cx="15825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不要繼續 patch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86438" y="3929920"/>
              <a:ext cx="457200" cy="19050"/>
            </a:xfrm>
            <a:prstGeom prst="rect">
              <a:avLst/>
            </a:prstGeom>
            <a:solidFill>
              <a:srgbClr val="F2CF7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3463195"/>
              <a:ext cx="5291138" cy="952500"/>
            </a:xfrm>
            <a:prstGeom prst="roundRect">
              <a:avLst>
                <a:gd name="adj" fmla="val 10000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38848" y="3663220"/>
              <a:ext cx="27754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 Refinement / Goal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9196" y="4006120"/>
              <a:ext cx="36747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回到 parent：互相喜歡才算配對成功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5233" y="4634770"/>
              <a:ext cx="84615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1DBE6"/>
                  </a:solidFill>
                  <a:latin typeface="Arial"/>
                  <a:ea typeface="Microsoft YaHei"/>
                  <a:cs typeface="Arial"/>
                </a:rPr>
                <a:t>方向偏離→由人重新確認 Goal，需要時退回 Backlog。 Human Gate只處理發布前放行。</a:t>
              </a: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346710" y="299085"/>
            <a:ext cx="11633097" cy="6387465"/>
            <a:chOff x="346710" y="299085"/>
            <a:chExt cx="11633097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7843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Agent演進｜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02561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197798" y="1252823"/>
              <a:ext cx="909185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能分辨 Agent、 Workflow、 Session、 WIP，判斷何時需要多 Agent。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86662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比較情境：已核准把 WIP上限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57087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調為 2；同一個 Agent開始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882" y="3372326"/>
              <a:ext cx="368917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#1／ #2，均未完成。 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3882" y="3724656"/>
              <a:ext cx="238787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數和 WIP各多少？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2667667"/>
              <a:ext cx="367438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QA不通過退回 Dev，是人事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4651" y="3019996"/>
              <a:ext cx="391098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先約定的流程，還是 Agent可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44651" y="3372326"/>
              <a:ext cx="330469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自行更改？是否需要增加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4651" y="3724656"/>
              <a:ext cx="116050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Agent？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5419" y="2667667"/>
              <a:ext cx="367438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換 Session或 Compact後，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5419" y="3019996"/>
              <a:ext cx="271319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要優先核對哪幾項？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41960" y="979932"/>
            <a:ext cx="11302175" cy="4953952"/>
            <a:chOff x="441960" y="979932"/>
            <a:chExt cx="11302175" cy="4953952"/>
          </a:xfrm>
        </p:grpSpPr>
        <p:sp>
          <p:nvSpPr>
            <p:cNvPr id="3" name="TextBox 3"/>
            <p:cNvSpPr txBox="1"/>
            <p:nvPr/>
          </p:nvSpPr>
          <p:spPr>
            <a:xfrm>
              <a:off x="5558900" y="979932"/>
              <a:ext cx="107420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A9C9E8"/>
                  </a:solidFill>
                  <a:latin typeface="Segoe UI"/>
                  <a:ea typeface="Microsoft YaHei"/>
                  <a:cs typeface="Segoe UI"/>
                </a:rPr>
                <a:t>Agent交付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57364" y="1479042"/>
              <a:ext cx="627727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Agent交件，誰來驗收？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91076" y="5690044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BED9"/>
                  </a:solidFill>
                  <a:latin typeface="Segoe UI"/>
                  <a:ea typeface="Microsoft YaHei"/>
                  <a:cs typeface="Segoe UI"/>
                </a:rPr>
                <a:t>↖全課地圖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23779" y="2216277"/>
              <a:ext cx="35444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 Agent可以接手工作，人仍要驗收。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282921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25837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" y="444846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5720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53851" y="3061621"/>
              <a:ext cx="7753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01交辦 #3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11586" y="2829211"/>
              <a:ext cx="3568732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311586" y="282921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8031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311586" y="444846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11586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70862" y="3061621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02核對版本與結果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66068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166068" y="282921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73461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66068" y="444846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6606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0604" y="3061621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03接受或退回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762786"/>
              <a:ext cx="11277600" cy="6281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4762786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960" y="5014246"/>
              <a:ext cx="35444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學完能依證據要求補驗，不讓 Agent自行放行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5" name="Group 55"/>
          <p:cNvGrpSpPr/>
          <p:nvPr/>
        </p:nvGrpSpPr>
        <p:grpSpPr>
          <a:xfrm>
            <a:off x="346710" y="299085"/>
            <a:ext cx="11544776" cy="6387466"/>
            <a:chOff x="346710" y="299085"/>
            <a:chExt cx="11544776" cy="638746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8320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Agent可接手職能，接受與放行仍由人決定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1127112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人類的責任不會消失：把可交辦的工作交給 Agent，仍由人依 Goal／ AC核對並決定接受或退回。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8BCF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931319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1498" y="2765488"/>
              <a:ext cx="1756886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需求與設計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81025" y="3205162"/>
              <a:ext cx="1654683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8178" y="3298984"/>
              <a:ext cx="15331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PO／ UI／ UX職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8178" y="3534251"/>
              <a:ext cx="2547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0070" y="3738467"/>
              <a:ext cx="23914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Agent可整理需求、草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0070" y="4031837"/>
              <a:ext cx="7648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擬畫面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880" y="4443222"/>
              <a:ext cx="22721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Goal／ AC、設計仍由人確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3880" y="4683252"/>
              <a:ext cx="231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93517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40894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340894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8BCFC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891212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340894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3340894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11391" y="2912078"/>
              <a:ext cx="141732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實作交付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540919" y="3351752"/>
              <a:ext cx="925544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8071" y="3445574"/>
              <a:ext cx="8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Dev職能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19964" y="3885057"/>
              <a:ext cx="239148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Agent可寫程式與自測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3774" y="4296537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交回版本與改動記錄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53411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00788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4202E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6300788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86D6AD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851106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300788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300788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375677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1285" y="2912078"/>
              <a:ext cx="141732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審查驗證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00812" y="3351752"/>
              <a:ext cx="1823847" cy="368522"/>
            </a:xfrm>
            <a:prstGeom prst="roundRect">
              <a:avLst>
                <a:gd name="adj" fmla="val 20677"/>
              </a:avLst>
            </a:prstGeom>
            <a:solidFill>
              <a:srgbClr val="20344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77965" y="3445574"/>
              <a:ext cx="199201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BADAFF"/>
                  </a:solidFill>
                  <a:latin typeface="Segoe UI"/>
                  <a:ea typeface="Microsoft YaHei"/>
                  <a:cs typeface="Segoe UI"/>
                </a:rPr>
                <a:t>Reviewer／ QA職能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9858" y="3885057"/>
              <a:ext cx="20059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Agent可依 AC核對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3668" y="4296537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要獨立證據，不信自述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13304" y="3588353"/>
              <a:ext cx="2140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91C8FF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60681" y="2284381"/>
              <a:ext cx="2550319" cy="2781300"/>
            </a:xfrm>
            <a:prstGeom prst="roundRect">
              <a:avLst>
                <a:gd name="adj" fmla="val 5229"/>
              </a:avLst>
            </a:prstGeom>
            <a:solidFill>
              <a:srgbClr val="1B211D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9260681" y="22843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38100">
              <a:solidFill>
                <a:srgbClr val="F0D27B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11811000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9260681" y="5065681"/>
              <a:ext cx="2550319" cy="9525"/>
            </a:xfrm>
            <a:custGeom>
              <a:avLst/>
              <a:gdLst/>
              <a:ahLst/>
              <a:cxnLst/>
              <a:rect l="l" t="t" r="r" b="b"/>
              <a:pathLst>
                <a:path w="2550319" h="9525">
                  <a:moveTo>
                    <a:pt x="0" y="0"/>
                  </a:moveTo>
                  <a:lnTo>
                    <a:pt x="2550319" y="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9260681" y="2284381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9525">
              <a:solidFill>
                <a:srgbClr val="4D776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31179" y="2765488"/>
              <a:ext cx="141732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4F8FC"/>
                  </a:solidFill>
                  <a:latin typeface="Segoe UI"/>
                  <a:ea typeface="Microsoft YaHei"/>
                  <a:cs typeface="Segoe UI"/>
                </a:rPr>
                <a:t>接受放行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460706" y="3205162"/>
              <a:ext cx="1276350" cy="368522"/>
            </a:xfrm>
            <a:prstGeom prst="roundRect">
              <a:avLst>
                <a:gd name="adj" fmla="val 20677"/>
              </a:avLst>
            </a:prstGeom>
            <a:solidFill>
              <a:srgbClr val="31302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37859" y="3298984"/>
              <a:ext cx="13473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9DF99"/>
                  </a:solidFill>
                  <a:latin typeface="Segoe UI"/>
                  <a:ea typeface="Microsoft YaHei"/>
                  <a:cs typeface="Segoe UI"/>
                </a:rPr>
                <a:t>需求方（人）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39751" y="3738467"/>
              <a:ext cx="24517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對照條件決定接受或退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39751" y="4031837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F6FC"/>
                  </a:solidFill>
                  <a:latin typeface="Segoe UI"/>
                  <a:ea typeface="Microsoft YaHei"/>
                  <a:cs typeface="Segoe UI"/>
                </a:rPr>
                <a:t>回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43561" y="4443222"/>
              <a:ext cx="20946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C0D4"/>
                  </a:solidFill>
                  <a:latin typeface="Segoe UI"/>
                  <a:ea typeface="Microsoft YaHei"/>
                  <a:cs typeface="Segoe UI"/>
                </a:rPr>
                <a:t>Human Gate仍由人決定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81000" y="6188012"/>
              <a:ext cx="11430000" cy="498539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381000" y="6188012"/>
              <a:ext cx="9525" cy="498539"/>
            </a:xfrm>
            <a:custGeom>
              <a:avLst/>
              <a:gdLst/>
              <a:ahLst/>
              <a:cxnLst/>
              <a:rect l="l" t="t" r="r" b="b"/>
              <a:pathLst>
                <a:path w="9525" h="498539">
                  <a:moveTo>
                    <a:pt x="0" y="0"/>
                  </a:moveTo>
                  <a:lnTo>
                    <a:pt x="0" y="498539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32448" y="6332315"/>
              <a:ext cx="81140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職能是責任，不等於 Agent數量；委託工作不等於把接受與放行權交給 Agent。</a:t>
              </a: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73625" cy="6430899"/>
            <a:chOff x="346710" y="299085"/>
            <a:chExt cx="1147362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95626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人先釐清方向， Agent再整理需求與工作票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439513"/>
              <a:ext cx="11430000" cy="72761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2167128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rgbClr val="7BAA9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769042" y="1660493"/>
              <a:ext cx="465391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0F5E7"/>
                  </a:solidFill>
                  <a:latin typeface="Segoe UI"/>
                  <a:ea typeface="Microsoft YaHei"/>
                  <a:cs typeface="Segoe UI"/>
                </a:rPr>
                <a:t>要解決的事｜互相喜歡才建立配對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" y="2490978"/>
              <a:ext cx="3473387" cy="2381250"/>
            </a:xfrm>
            <a:prstGeom prst="roundRect">
              <a:avLst>
                <a:gd name="adj" fmla="val 4400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490978"/>
              <a:ext cx="3473387" cy="9525"/>
            </a:xfrm>
            <a:custGeom>
              <a:avLst/>
              <a:gdLst/>
              <a:ahLst/>
              <a:cxnLst/>
              <a:rect l="l" t="t" r="r" b="b"/>
              <a:pathLst>
                <a:path w="3473387" h="9525">
                  <a:moveTo>
                    <a:pt x="0" y="0"/>
                  </a:moveTo>
                  <a:lnTo>
                    <a:pt x="3473387" y="0"/>
                  </a:lnTo>
                </a:path>
              </a:pathLst>
            </a:custGeom>
            <a:noFill/>
            <a:ln w="47625">
              <a:solidFill>
                <a:srgbClr val="82B6ED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54387" y="2490978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4872228"/>
              <a:ext cx="3473387" cy="9525"/>
            </a:xfrm>
            <a:custGeom>
              <a:avLst/>
              <a:gdLst/>
              <a:ahLst/>
              <a:cxnLst/>
              <a:rect l="l" t="t" r="r" b="b"/>
              <a:pathLst>
                <a:path w="3473387" h="9525">
                  <a:moveTo>
                    <a:pt x="0" y="0"/>
                  </a:moveTo>
                  <a:lnTo>
                    <a:pt x="3473387" y="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490978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1972" y="3117723"/>
              <a:ext cx="9601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ECFE8"/>
                  </a:solidFill>
                  <a:latin typeface="Segoe UI"/>
                  <a:ea typeface="Microsoft YaHei"/>
                  <a:cs typeface="Segoe UI"/>
                </a:rPr>
                <a:t>人定方向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4352" y="3559588"/>
              <a:ext cx="259651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說清楚要解決什麼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972" y="4075557"/>
              <a:ext cx="280035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D2E4F2"/>
                  </a:solidFill>
                  <a:latin typeface="Segoe UI"/>
                  <a:ea typeface="Microsoft YaHei"/>
                  <a:cs typeface="Segoe UI"/>
                </a:rPr>
                <a:t>誰遇到問題？怎樣算成功？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8032" y="3564922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2C9ED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59212" y="2490978"/>
              <a:ext cx="3473482" cy="2381250"/>
            </a:xfrm>
            <a:prstGeom prst="roundRect">
              <a:avLst>
                <a:gd name="adj" fmla="val 4400"/>
              </a:avLst>
            </a:prstGeom>
            <a:solidFill>
              <a:srgbClr val="28271D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359212" y="2490978"/>
              <a:ext cx="3473482" cy="9525"/>
            </a:xfrm>
            <a:custGeom>
              <a:avLst/>
              <a:gdLst/>
              <a:ahLst/>
              <a:cxnLst/>
              <a:rect l="l" t="t" r="r" b="b"/>
              <a:pathLst>
                <a:path w="3473482" h="9525">
                  <a:moveTo>
                    <a:pt x="0" y="0"/>
                  </a:moveTo>
                  <a:lnTo>
                    <a:pt x="3473482" y="0"/>
                  </a:lnTo>
                </a:path>
              </a:pathLst>
            </a:custGeom>
            <a:noFill/>
            <a:ln w="47625">
              <a:solidFill>
                <a:srgbClr val="E5CB88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832693" y="2490978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59212" y="4872228"/>
              <a:ext cx="3473482" cy="9525"/>
            </a:xfrm>
            <a:custGeom>
              <a:avLst/>
              <a:gdLst/>
              <a:ahLst/>
              <a:cxnLst/>
              <a:rect l="l" t="t" r="r" b="b"/>
              <a:pathLst>
                <a:path w="3473482" h="9525">
                  <a:moveTo>
                    <a:pt x="0" y="0"/>
                  </a:moveTo>
                  <a:lnTo>
                    <a:pt x="3473482" y="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359212" y="2490978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20184" y="3117723"/>
              <a:ext cx="11326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ECFE8"/>
                  </a:solidFill>
                  <a:latin typeface="Segoe UI"/>
                  <a:ea typeface="Microsoft YaHei"/>
                  <a:cs typeface="Segoe UI"/>
                </a:rPr>
                <a:t>Agent整理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2564" y="3559588"/>
              <a:ext cx="208826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寫出 #3工作票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0184" y="4075557"/>
              <a:ext cx="177672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D2E4F2"/>
                  </a:solidFill>
                  <a:latin typeface="Segoe UI"/>
                  <a:ea typeface="Microsoft YaHei"/>
                  <a:cs typeface="Segoe UI"/>
                </a:rPr>
                <a:t>Scope／ AC／ 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46338" y="3564922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2C9ED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37518" y="2490978"/>
              <a:ext cx="3473387" cy="2381250"/>
            </a:xfrm>
            <a:prstGeom prst="roundRect">
              <a:avLst>
                <a:gd name="adj" fmla="val 4400"/>
              </a:avLst>
            </a:prstGeom>
            <a:solidFill>
              <a:srgbClr val="182E25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37518" y="2490978"/>
              <a:ext cx="3473291" cy="9525"/>
            </a:xfrm>
            <a:custGeom>
              <a:avLst/>
              <a:gdLst/>
              <a:ahLst/>
              <a:cxnLst/>
              <a:rect l="l" t="t" r="r" b="b"/>
              <a:pathLst>
                <a:path w="3473291" h="9525">
                  <a:moveTo>
                    <a:pt x="0" y="0"/>
                  </a:moveTo>
                  <a:lnTo>
                    <a:pt x="3473291" y="0"/>
                  </a:lnTo>
                </a:path>
              </a:pathLst>
            </a:custGeom>
            <a:noFill/>
            <a:ln w="47625">
              <a:solidFill>
                <a:srgbClr val="91D4A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810810" y="2490978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7518" y="4872228"/>
              <a:ext cx="3473291" cy="9525"/>
            </a:xfrm>
            <a:custGeom>
              <a:avLst/>
              <a:gdLst/>
              <a:ahLst/>
              <a:cxnLst/>
              <a:rect l="l" t="t" r="r" b="b"/>
              <a:pathLst>
                <a:path w="3473291" h="9525">
                  <a:moveTo>
                    <a:pt x="0" y="0"/>
                  </a:moveTo>
                  <a:lnTo>
                    <a:pt x="3473291" y="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337518" y="2490978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52729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98491" y="3117723"/>
              <a:ext cx="9601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ECFE8"/>
                  </a:solidFill>
                  <a:latin typeface="Segoe UI"/>
                  <a:ea typeface="Microsoft YaHei"/>
                  <a:cs typeface="Segoe UI"/>
                </a:rPr>
                <a:t>人再確認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90871" y="3559588"/>
              <a:ext cx="258063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符合目標才交 Dev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98491" y="4075557"/>
              <a:ext cx="18802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D2E4F2"/>
                  </a:solidFill>
                  <a:latin typeface="Segoe UI"/>
                  <a:ea typeface="Microsoft YaHei"/>
                  <a:cs typeface="Segoe UI"/>
                </a:rPr>
                <a:t>不清楚就退回補問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1000" y="5196078"/>
              <a:ext cx="11430000" cy="536638"/>
            </a:xfrm>
            <a:prstGeom prst="roundRect">
              <a:avLst>
                <a:gd name="adj" fmla="val 10650"/>
              </a:avLst>
            </a:prstGeom>
            <a:solidFill>
              <a:srgbClr val="142638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381000" y="5196078"/>
              <a:ext cx="9525" cy="536639"/>
            </a:xfrm>
            <a:custGeom>
              <a:avLst/>
              <a:gdLst/>
              <a:ahLst/>
              <a:cxnLst/>
              <a:rect l="l" t="t" r="r" b="b"/>
              <a:pathLst>
                <a:path w="9525" h="536639">
                  <a:moveTo>
                    <a:pt x="0" y="0"/>
                  </a:moveTo>
                  <a:lnTo>
                    <a:pt x="0" y="536639"/>
                  </a:lnTo>
                </a:path>
              </a:pathLst>
            </a:custGeom>
            <a:noFill/>
            <a:ln w="38100">
              <a:solidFill>
                <a:srgbClr val="8ABD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2922" y="5359432"/>
              <a:ext cx="619327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C3DCEE"/>
                  </a:solidFill>
                  <a:latin typeface="Segoe UI"/>
                  <a:ea typeface="Microsoft YaHei"/>
                  <a:cs typeface="Segoe UI"/>
                </a:rPr>
                <a:t>Agent可以協助整理規格，需求方向與優先順序仍由人決定。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8618" y="6531864"/>
              <a:ext cx="5001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李宏毅 2024第 5講， 20:31– 21:41； Stanford CS329T第 4講， PDF第 11– 12頁</a:t>
              </a:r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346710" y="299085"/>
            <a:ext cx="11582305" cy="6387465"/>
            <a:chOff x="346710" y="299085"/>
            <a:chExt cx="1158230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49453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同一場 Example Mapping， AI可以幫在哪裡？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66179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已確認的規則用例子核對；新問題先留下，交由人決定。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585055"/>
              <a:ext cx="11430000" cy="6267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211705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19050">
              <a:solidFill>
                <a:srgbClr val="719C8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51419" y="1765078"/>
              <a:ext cx="54891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D0EEDA"/>
                  </a:solidFill>
                  <a:latin typeface="Segoe UI"/>
                  <a:ea typeface="Microsoft YaHei"/>
                  <a:cs typeface="Segoe UI"/>
                </a:rPr>
                <a:t>#3已確認：雙向才配對、同一對不重複配對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2478405"/>
              <a:ext cx="3479768" cy="2238375"/>
            </a:xfrm>
            <a:prstGeom prst="roundRect">
              <a:avLst>
                <a:gd name="adj" fmla="val 3830"/>
              </a:avLst>
            </a:prstGeom>
            <a:solidFill>
              <a:srgbClr val="14273B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478405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47625">
              <a:solidFill>
                <a:srgbClr val="81B9ED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60768" y="247840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4716780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" y="247840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9122" y="3266408"/>
              <a:ext cx="9256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DD2EF"/>
                  </a:solidFill>
                  <a:latin typeface="Segoe UI"/>
                  <a:ea typeface="Microsoft YaHei"/>
                  <a:cs typeface="Segoe UI"/>
                </a:rPr>
                <a:t>AI提例子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2455" y="3703415"/>
              <a:ext cx="23881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F8FF"/>
                  </a:solidFill>
                  <a:latin typeface="Segoe UI"/>
                  <a:ea typeface="Microsoft YaHei"/>
                  <a:cs typeface="Segoe UI"/>
                </a:rPr>
                <a:t>只有一方 Like？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8495" y="3484245"/>
              <a:ext cx="27984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A2CBEA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356068" y="2478405"/>
              <a:ext cx="3479768" cy="2238375"/>
            </a:xfrm>
            <a:prstGeom prst="roundRect">
              <a:avLst>
                <a:gd name="adj" fmla="val 3830"/>
              </a:avLst>
            </a:prstGeom>
            <a:solidFill>
              <a:srgbClr val="182E24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356068" y="2478405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47625">
              <a:solidFill>
                <a:srgbClr val="92DBA9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835836" y="247840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56068" y="4716780"/>
              <a:ext cx="3479768" cy="9525"/>
            </a:xfrm>
            <a:custGeom>
              <a:avLst/>
              <a:gdLst/>
              <a:ahLst/>
              <a:cxnLst/>
              <a:rect l="l" t="t" r="r" b="b"/>
              <a:pathLst>
                <a:path w="3479768" h="9525">
                  <a:moveTo>
                    <a:pt x="0" y="0"/>
                  </a:moveTo>
                  <a:lnTo>
                    <a:pt x="3479768" y="0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356068" y="247840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74191" y="3266408"/>
              <a:ext cx="9601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DD2EF"/>
                  </a:solidFill>
                  <a:latin typeface="Segoe UI"/>
                  <a:ea typeface="Microsoft YaHei"/>
                  <a:cs typeface="Segoe UI"/>
                </a:rPr>
                <a:t>人做決定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7523" y="370341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F8FF"/>
                  </a:solidFill>
                  <a:latin typeface="Segoe UI"/>
                  <a:ea typeface="Microsoft YaHei"/>
                  <a:cs typeface="Segoe UI"/>
                </a:rPr>
                <a:t>預期： 0筆配對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563" y="3484245"/>
              <a:ext cx="27984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A2CBEA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31136" y="2478405"/>
              <a:ext cx="3479863" cy="2238375"/>
            </a:xfrm>
            <a:prstGeom prst="roundRect">
              <a:avLst>
                <a:gd name="adj" fmla="val 3830"/>
              </a:avLst>
            </a:prstGeom>
            <a:solidFill>
              <a:srgbClr val="14273B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8331136" y="2478405"/>
              <a:ext cx="3479864" cy="9525"/>
            </a:xfrm>
            <a:custGeom>
              <a:avLst/>
              <a:gdLst/>
              <a:ahLst/>
              <a:cxnLst/>
              <a:rect l="l" t="t" r="r" b="b"/>
              <a:pathLst>
                <a:path w="3479864" h="9525">
                  <a:moveTo>
                    <a:pt x="0" y="0"/>
                  </a:moveTo>
                  <a:lnTo>
                    <a:pt x="3479864" y="0"/>
                  </a:lnTo>
                </a:path>
              </a:pathLst>
            </a:custGeom>
            <a:noFill/>
            <a:ln w="47625">
              <a:solidFill>
                <a:srgbClr val="81B9ED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811000" y="247840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31136" y="4716780"/>
              <a:ext cx="3479864" cy="9525"/>
            </a:xfrm>
            <a:custGeom>
              <a:avLst/>
              <a:gdLst/>
              <a:ahLst/>
              <a:cxnLst/>
              <a:rect l="l" t="t" r="r" b="b"/>
              <a:pathLst>
                <a:path w="3479864" h="9525">
                  <a:moveTo>
                    <a:pt x="0" y="0"/>
                  </a:moveTo>
                  <a:lnTo>
                    <a:pt x="3479864" y="0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331136" y="2478405"/>
              <a:ext cx="9525" cy="2238375"/>
            </a:xfrm>
            <a:custGeom>
              <a:avLst/>
              <a:gdLst/>
              <a:ahLst/>
              <a:cxnLst/>
              <a:rect l="l" t="t" r="r" b="b"/>
              <a:pathLst>
                <a:path w="9525" h="2238375">
                  <a:moveTo>
                    <a:pt x="0" y="0"/>
                  </a:moveTo>
                  <a:lnTo>
                    <a:pt x="0" y="2238375"/>
                  </a:lnTo>
                </a:path>
              </a:pathLst>
            </a:custGeom>
            <a:noFill/>
            <a:ln w="9525">
              <a:solidFill>
                <a:srgbClr val="4B6B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49259" y="3099721"/>
              <a:ext cx="101762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ADD2EF"/>
                  </a:solidFill>
                  <a:latin typeface="Segoe UI"/>
                  <a:ea typeface="Microsoft YaHei"/>
                  <a:cs typeface="Segoe UI"/>
                </a:rPr>
                <a:t>AI記成 AT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2592" y="3536728"/>
              <a:ext cx="32093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F8FF"/>
                  </a:solidFill>
                  <a:latin typeface="Segoe UI"/>
                  <a:ea typeface="Microsoft YaHei"/>
                  <a:cs typeface="Segoe UI"/>
                </a:rPr>
                <a:t>Given– When– Then（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42592" y="3870103"/>
              <a:ext cx="9711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0F8FF"/>
                  </a:solidFill>
                  <a:latin typeface="Segoe UI"/>
                  <a:ea typeface="Microsoft YaHei"/>
                  <a:cs typeface="Segoe UI"/>
                </a:rPr>
                <a:t>GWT）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4983480"/>
              <a:ext cx="11430000" cy="598932"/>
            </a:xfrm>
            <a:prstGeom prst="roundRect">
              <a:avLst>
                <a:gd name="adj" fmla="val 11132"/>
              </a:avLst>
            </a:prstGeom>
            <a:solidFill>
              <a:srgbClr val="282519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381000" y="4983480"/>
              <a:ext cx="9525" cy="598932"/>
            </a:xfrm>
            <a:custGeom>
              <a:avLst/>
              <a:gdLst/>
              <a:ahLst/>
              <a:cxnLst/>
              <a:rect l="l" t="t" r="r" b="b"/>
              <a:pathLst>
                <a:path w="9525" h="598932">
                  <a:moveTo>
                    <a:pt x="0" y="0"/>
                  </a:moveTo>
                  <a:lnTo>
                    <a:pt x="0" y="598932"/>
                  </a:lnTo>
                </a:path>
              </a:pathLst>
            </a:custGeom>
            <a:noFill/>
            <a:ln w="38100">
              <a:solidFill>
                <a:srgbClr val="EDD19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0548" y="5184934"/>
              <a:ext cx="344558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0DDBB"/>
                  </a:solidFill>
                  <a:latin typeface="Segoe UI"/>
                  <a:ea typeface="Microsoft YaHei"/>
                  <a:cs typeface="Segoe UI"/>
                </a:rPr>
                <a:t>AI提出的新問題：取消 Like呢？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96711" y="5184934"/>
              <a:ext cx="243230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5E1AC"/>
                  </a:solidFill>
                  <a:latin typeface="Segoe UI"/>
                  <a:ea typeface="Microsoft YaHei"/>
                  <a:cs typeface="Segoe UI"/>
                </a:rPr>
                <a:t>待釐清，不自行加進 AC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5986462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5986462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6738" y="6193631"/>
              <a:ext cx="79890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AI可準備情境、記錄共識；規則怎樣改仍由 PO／ Dev／ QA確認。</a:t>
              </a:r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346710" y="299085"/>
            <a:ext cx="12835414" cy="6544437"/>
            <a:chOff x="346710" y="299085"/>
            <a:chExt cx="12835414" cy="654443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實際交辦：第一段話要怎麼交代？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726948"/>
              <a:ext cx="89839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非工程師也能交辦：說明目標、 AC、證據與停止條件； Python是進階選項。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271778"/>
              <a:ext cx="11430000" cy="788480"/>
            </a:xfrm>
            <a:prstGeom prst="roundRect">
              <a:avLst>
                <a:gd name="adj" fmla="val 8456"/>
              </a:avLst>
            </a:prstGeom>
            <a:solidFill>
              <a:srgbClr val="162B3C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271778"/>
              <a:ext cx="9525" cy="788480"/>
            </a:xfrm>
            <a:custGeom>
              <a:avLst/>
              <a:gdLst/>
              <a:ahLst/>
              <a:cxnLst/>
              <a:rect l="l" t="t" r="r" b="b"/>
              <a:pathLst>
                <a:path w="9525" h="788480">
                  <a:moveTo>
                    <a:pt x="0" y="0"/>
                  </a:moveTo>
                  <a:lnTo>
                    <a:pt x="0" y="788480"/>
                  </a:lnTo>
                </a:path>
              </a:pathLst>
            </a:custGeom>
            <a:noFill/>
            <a:ln w="38100">
              <a:solidFill>
                <a:srgbClr val="82BA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14350" y="1424178"/>
              <a:ext cx="126677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CF4FB"/>
                  </a:solidFill>
                  <a:latin typeface="Segoe UI"/>
                  <a:ea typeface="Microsoft YaHei"/>
                  <a:cs typeface="Segoe UI"/>
                </a:rPr>
                <a:t>交辦示例：請依 #3的 AC驗證 B候選規則，交回預期／實際結果與未測事項；若材料不足或超出範圍，先停止詢問，不能自行發布。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2422208"/>
              <a:ext cx="5600700" cy="3473672"/>
            </a:xfrm>
            <a:prstGeom prst="roundRect">
              <a:avLst>
                <a:gd name="adj" fmla="val 329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422208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981700" y="2422208"/>
              <a:ext cx="9525" cy="3473577"/>
            </a:xfrm>
            <a:custGeom>
              <a:avLst/>
              <a:gdLst/>
              <a:ahLst/>
              <a:cxnLst/>
              <a:rect l="l" t="t" r="r" b="b"/>
              <a:pathLst>
                <a:path w="9525" h="3473577">
                  <a:moveTo>
                    <a:pt x="0" y="0"/>
                  </a:moveTo>
                  <a:lnTo>
                    <a:pt x="0" y="347357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5895784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" y="2422208"/>
              <a:ext cx="9525" cy="3473577"/>
            </a:xfrm>
            <a:custGeom>
              <a:avLst/>
              <a:gdLst/>
              <a:ahLst/>
              <a:cxnLst/>
              <a:rect l="l" t="t" r="r" b="b"/>
              <a:pathLst>
                <a:path w="9525" h="3473577">
                  <a:moveTo>
                    <a:pt x="0" y="0"/>
                  </a:moveTo>
                  <a:lnTo>
                    <a:pt x="0" y="347357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9602" y="2739866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指定材料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316510"/>
              <a:ext cx="57983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交辦時要附上工作票、候選版本、測試資料、驗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3697510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證入口；不用背檔案路徑。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7225" y="4176141"/>
              <a:ext cx="5048250" cy="510064"/>
            </a:xfrm>
            <a:prstGeom prst="roundRect">
              <a:avLst>
                <a:gd name="adj" fmla="val 16807"/>
              </a:avLst>
            </a:prstGeom>
            <a:solidFill>
              <a:srgbClr val="152A40"/>
            </a:solidFill>
            <a:ln w="9525">
              <a:solidFill>
                <a:srgbClr val="4B719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1528" y="4327112"/>
              <a:ext cx="287705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BE8FF"/>
                  </a:solidFill>
                  <a:latin typeface="Segoe UI"/>
                  <a:ea typeface="Microsoft YaHei"/>
                  <a:cs typeface="Segoe UI"/>
                </a:rPr>
                <a:t>進階：查看本次實際檔案路徑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10300" y="2422208"/>
              <a:ext cx="5600700" cy="3473672"/>
            </a:xfrm>
            <a:prstGeom prst="roundRect">
              <a:avLst>
                <a:gd name="adj" fmla="val 3290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6210300" y="2422208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1811000" y="2422208"/>
              <a:ext cx="9525" cy="3473577"/>
            </a:xfrm>
            <a:custGeom>
              <a:avLst/>
              <a:gdLst/>
              <a:ahLst/>
              <a:cxnLst/>
              <a:rect l="l" t="t" r="r" b="b"/>
              <a:pathLst>
                <a:path w="9525" h="3473577">
                  <a:moveTo>
                    <a:pt x="0" y="0"/>
                  </a:moveTo>
                  <a:lnTo>
                    <a:pt x="0" y="347357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210300" y="5895784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10300" y="2422208"/>
              <a:ext cx="9525" cy="3473577"/>
            </a:xfrm>
            <a:custGeom>
              <a:avLst/>
              <a:gdLst/>
              <a:ahLst/>
              <a:cxnLst/>
              <a:rect l="l" t="t" r="r" b="b"/>
              <a:pathLst>
                <a:path w="9525" h="3473577">
                  <a:moveTo>
                    <a:pt x="0" y="0"/>
                  </a:moveTo>
                  <a:lnTo>
                    <a:pt x="0" y="347357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8902" y="2739866"/>
              <a:ext cx="272357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從專案根目錄執行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2712" y="3316510"/>
              <a:ext cx="57983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非工程師先看：預期什麼、實際什麼、還有哪些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2712" y="3697510"/>
              <a:ext cx="493573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NOT RUN；命令可由講師或 Agent執行。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2712" y="4173760"/>
              <a:ext cx="44291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回報預期／實際紀錄、筆數與結果。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2712" y="4650010"/>
              <a:ext cx="512742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只驗 #3規則； UI／產品串接不在此範圍。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86525" y="5128641"/>
              <a:ext cx="5048250" cy="510064"/>
            </a:xfrm>
            <a:prstGeom prst="roundRect">
              <a:avLst>
                <a:gd name="adj" fmla="val 16807"/>
              </a:avLst>
            </a:prstGeom>
            <a:solidFill>
              <a:srgbClr val="152A40"/>
            </a:solidFill>
            <a:ln w="9525">
              <a:solidFill>
                <a:srgbClr val="4B719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20828" y="5279612"/>
              <a:ext cx="265852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BE8FF"/>
                  </a:solidFill>
                  <a:latin typeface="Segoe UI"/>
                  <a:ea typeface="Microsoft YaHei"/>
                  <a:cs typeface="Segoe UI"/>
                </a:rPr>
                <a:t>進階：展開並複製實測命令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6143434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81000" y="6143434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6738" y="6350603"/>
              <a:ext cx="104126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若票、 B程式、假資料或 runner不可取得，停止並回報；不要改 AC或宣稱產品驗收。</a:t>
              </a:r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7617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Agent說做完，人拿什麼決定？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883825"/>
              <a:ext cx="75249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人拿原 AC、候選版本與測試證據，檢查 Agent的「完成」宣稱。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019014"/>
              <a:ext cx="11430000" cy="783431"/>
            </a:xfrm>
            <a:prstGeom prst="roundRect">
              <a:avLst>
                <a:gd name="adj" fmla="val 10942"/>
              </a:avLst>
            </a:prstGeom>
            <a:solidFill>
              <a:srgbClr val="142A40"/>
            </a:solidFill>
            <a:ln w="9525">
              <a:solidFill>
                <a:srgbClr val="456B8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5312" y="2245233"/>
              <a:ext cx="107453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9E4F8"/>
                  </a:solidFill>
                  <a:latin typeface="Segoe UI"/>
                  <a:ea typeface="Microsoft YaHei"/>
                  <a:cs typeface="Segoe UI"/>
                </a:rPr>
                <a:t>Agent：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08760" y="2266188"/>
              <a:ext cx="5718122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75" b="1" dirty="0">
                  <a:solidFill>
                    <a:srgbClr val="F5FAFF"/>
                  </a:solidFill>
                  <a:latin typeface="Segoe UI"/>
                  <a:ea typeface="Microsoft YaHei"/>
                  <a:cs typeface="Segoe UI"/>
                </a:rPr>
                <a:t>「 #3做完了，單向／雙向 PASS」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3069146"/>
              <a:ext cx="2778919" cy="1095375"/>
            </a:xfrm>
            <a:prstGeom prst="roundRect">
              <a:avLst>
                <a:gd name="adj" fmla="val 6087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3069146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38100">
              <a:solidFill>
                <a:srgbClr val="89B8E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159919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4164521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15302" y="3277267"/>
              <a:ext cx="1836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EE2F5"/>
                  </a:solidFill>
                  <a:latin typeface="Segoe UI"/>
                  <a:ea typeface="Microsoft YaHei"/>
                  <a:cs typeface="Segoe UI"/>
                </a:rPr>
                <a:t>工作票原 Goal／ AC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64694" y="3069146"/>
              <a:ext cx="2778919" cy="1095375"/>
            </a:xfrm>
            <a:prstGeom prst="roundRect">
              <a:avLst>
                <a:gd name="adj" fmla="val 6087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264694" y="3069146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38100">
              <a:solidFill>
                <a:srgbClr val="89B8E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43612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64694" y="4164521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264694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8996" y="3277267"/>
              <a:ext cx="1940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EE2F5"/>
                  </a:solidFill>
                  <a:latin typeface="Segoe UI"/>
                  <a:ea typeface="Microsoft YaHei"/>
                  <a:cs typeface="Segoe UI"/>
                </a:rPr>
                <a:t>候選 Version B／ PR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48388" y="3069146"/>
              <a:ext cx="2778919" cy="1095375"/>
            </a:xfrm>
            <a:prstGeom prst="roundRect">
              <a:avLst>
                <a:gd name="adj" fmla="val 6087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6148388" y="3069146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38100">
              <a:solidFill>
                <a:srgbClr val="89B8E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927306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148388" y="4164521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148388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2690" y="3277267"/>
              <a:ext cx="14930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EE2F5"/>
                  </a:solidFill>
                  <a:latin typeface="Segoe UI"/>
                  <a:ea typeface="Microsoft YaHei"/>
                  <a:cs typeface="Segoe UI"/>
                </a:rPr>
                <a:t>證據預期／實際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032081" y="3069146"/>
              <a:ext cx="2778919" cy="1095375"/>
            </a:xfrm>
            <a:prstGeom prst="roundRect">
              <a:avLst>
                <a:gd name="adj" fmla="val 6087"/>
              </a:avLst>
            </a:prstGeom>
            <a:solidFill>
              <a:srgbClr val="15263A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9032081" y="3069146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38100">
              <a:solidFill>
                <a:srgbClr val="89B8EF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811000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032081" y="4164521"/>
              <a:ext cx="2778919" cy="9525"/>
            </a:xfrm>
            <a:custGeom>
              <a:avLst/>
              <a:gdLst/>
              <a:ahLst/>
              <a:cxnLst/>
              <a:rect l="l" t="t" r="r" b="b"/>
              <a:pathLst>
                <a:path w="2778919" h="9525">
                  <a:moveTo>
                    <a:pt x="0" y="0"/>
                  </a:moveTo>
                  <a:lnTo>
                    <a:pt x="2778919" y="0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032081" y="3069146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9525">
              <a:solidFill>
                <a:srgbClr val="49698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66384" y="3277267"/>
              <a:ext cx="13057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EE2F5"/>
                  </a:solidFill>
                  <a:latin typeface="Segoe UI"/>
                  <a:ea typeface="Microsoft YaHei"/>
                  <a:cs typeface="Segoe UI"/>
                </a:rPr>
                <a:t>缺口 NOT RUN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4431220"/>
              <a:ext cx="11430000" cy="802958"/>
            </a:xfrm>
            <a:prstGeom prst="roundRect">
              <a:avLst>
                <a:gd name="adj" fmla="val 11862"/>
              </a:avLst>
            </a:prstGeom>
            <a:solidFill>
              <a:srgbClr val="31261F"/>
            </a:solidFill>
            <a:ln w="9525">
              <a:solidFill>
                <a:srgbClr val="B68A6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6742" y="4723162"/>
              <a:ext cx="427634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F7E5D1"/>
                  </a:solidFill>
                  <a:latin typeface="Segoe UI"/>
                  <a:ea typeface="Microsoft YaHei"/>
                  <a:cs typeface="Segoe UI"/>
                </a:rPr>
                <a:t>Version B補驗前：重複 Like NOT RUN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21474" y="4725924"/>
              <a:ext cx="2537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2C59A"/>
                  </a:solidFill>
                  <a:latin typeface="Segoe UI"/>
                  <a:ea typeface="Microsoft YaHei"/>
                  <a:cs typeface="Segoe UI"/>
                </a:rPr>
                <a:t>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52722" y="4685062"/>
              <a:ext cx="141732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dirty="0">
                  <a:solidFill>
                    <a:srgbClr val="FFE2BD"/>
                  </a:solidFill>
                  <a:latin typeface="Segoe UI"/>
                  <a:ea typeface="Microsoft YaHei"/>
                  <a:cs typeface="Segoe UI"/>
                </a:rPr>
                <a:t>退回補驗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6072188"/>
              <a:ext cx="11430000" cy="614362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6072188"/>
              <a:ext cx="9525" cy="614362"/>
            </a:xfrm>
            <a:custGeom>
              <a:avLst/>
              <a:gdLst/>
              <a:ahLst/>
              <a:cxnLst/>
              <a:rect l="l" t="t" r="r" b="b"/>
              <a:pathLst>
                <a:path w="9525" h="614362">
                  <a:moveTo>
                    <a:pt x="0" y="0"/>
                  </a:moveTo>
                  <a:lnTo>
                    <a:pt x="0" y="614362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2452" y="6270784"/>
              <a:ext cx="816333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僅晴→安、雙方未 Like、 UI／整合仍 NOT RUN；這些缺口未補齊前不能說整個產品完成。</a:t>
              </a: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346710" y="299085"/>
            <a:ext cx="11473815" cy="6387465"/>
            <a:chOff x="346710" y="299085"/>
            <a:chExt cx="11473815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93556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退回一次：證據不足時，要怎麼要求補驗？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272254"/>
              <a:ext cx="8050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Version B補驗前有一個缺口：重複情境尚未跑；你會怎麼要求補驗？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817084"/>
              <a:ext cx="11430000" cy="2925508"/>
            </a:xfrm>
            <a:prstGeom prst="roundRect">
              <a:avLst>
                <a:gd name="adj" fmla="val 390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817084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811000" y="1817084"/>
              <a:ext cx="9525" cy="2925508"/>
            </a:xfrm>
            <a:custGeom>
              <a:avLst/>
              <a:gdLst/>
              <a:ahLst/>
              <a:cxnLst/>
              <a:rect l="l" t="t" r="r" b="b"/>
              <a:pathLst>
                <a:path w="9525" h="2925508">
                  <a:moveTo>
                    <a:pt x="0" y="0"/>
                  </a:moveTo>
                  <a:lnTo>
                    <a:pt x="0" y="2925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742593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817084"/>
              <a:ext cx="9525" cy="2925508"/>
            </a:xfrm>
            <a:custGeom>
              <a:avLst/>
              <a:gdLst/>
              <a:ahLst/>
              <a:cxnLst/>
              <a:rect l="l" t="t" r="r" b="b"/>
              <a:pathLst>
                <a:path w="9525" h="2925508">
                  <a:moveTo>
                    <a:pt x="0" y="0"/>
                  </a:moveTo>
                  <a:lnTo>
                    <a:pt x="0" y="2925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134743"/>
              <a:ext cx="397436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補驗前｜ Version B補驗前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711387"/>
              <a:ext cx="397728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單向： PASS，預期／實際 0筆。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187637"/>
              <a:ext cx="44291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雙向： PASS，預期／實際 1筆 M01。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663887"/>
              <a:ext cx="288190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重複 Like： NOT RUN。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4140137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先寫下一句補驗指令。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4990243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381000" y="4990243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6738" y="5197412"/>
              <a:ext cx="990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請先用白話寫下補驗要求，再按下方按鈕核對參考答案；缺證據前不能宣布完成。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1000" y="6269355"/>
              <a:ext cx="11430000" cy="417195"/>
            </a:xfrm>
            <a:prstGeom prst="roundRect">
              <a:avLst>
                <a:gd name="adj" fmla="val 18265"/>
              </a:avLst>
            </a:prstGeom>
            <a:solidFill>
              <a:srgbClr val="172A3D"/>
            </a:solidFill>
            <a:ln w="9525">
              <a:solidFill>
                <a:srgbClr val="4764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88521" y="6379369"/>
              <a:ext cx="34149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D8EAFF"/>
                  </a:solidFill>
                  <a:latin typeface="Segoe UI"/>
                  <a:ea typeface="Microsoft YaHei"/>
                  <a:cs typeface="Segoe UI"/>
                </a:rPr>
                <a:t>顯示補驗要求與 Version B補驗後結果→</a:t>
              </a: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346710" y="299085"/>
            <a:ext cx="12544425" cy="6784086"/>
            <a:chOff x="346710" y="299085"/>
            <a:chExt cx="12544425" cy="678408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7222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換一個 session，如何接續同一張未完成的票？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530162"/>
              <a:ext cx="1253299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時間倒回 Version B補驗前：先根據交接卡自己寫補驗指令，再逐項揭露參考答案及 Version B補驗後證據。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074992"/>
              <a:ext cx="3657600" cy="4155567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07499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1074992"/>
              <a:ext cx="9525" cy="4155567"/>
            </a:xfrm>
            <a:custGeom>
              <a:avLst/>
              <a:gdLst/>
              <a:ahLst/>
              <a:cxnLst/>
              <a:rect l="l" t="t" r="r" b="b"/>
              <a:pathLst>
                <a:path w="9525" h="4155567">
                  <a:moveTo>
                    <a:pt x="0" y="0"/>
                  </a:moveTo>
                  <a:lnTo>
                    <a:pt x="0" y="415556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23055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074992"/>
              <a:ext cx="9525" cy="4155567"/>
            </a:xfrm>
            <a:custGeom>
              <a:avLst/>
              <a:gdLst/>
              <a:ahLst/>
              <a:cxnLst/>
              <a:rect l="l" t="t" r="r" b="b"/>
              <a:pathLst>
                <a:path w="9525" h="4155567">
                  <a:moveTo>
                    <a:pt x="0" y="0"/>
                  </a:moveTo>
                  <a:lnTo>
                    <a:pt x="0" y="415556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1392650"/>
              <a:ext cx="364081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交接卡｜ Version B補驗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602" y="1765554"/>
              <a:ext cx="38878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342102"/>
              <a:ext cx="318313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Ticket： #3雙向才配對。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818352"/>
              <a:ext cx="32242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版本： B· 0415bddc4602…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294602"/>
              <a:ext cx="319682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已驗：單向、雙向 PASS。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3770852"/>
              <a:ext cx="321052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未驗：重複 Like； UI NOT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412" y="4151852"/>
              <a:ext cx="7733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RUN。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3412" y="4628102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停點：不合併、不發布。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67200" y="1074992"/>
              <a:ext cx="3657600" cy="4155567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67200" y="107499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24800" y="1074992"/>
              <a:ext cx="9525" cy="4155567"/>
            </a:xfrm>
            <a:custGeom>
              <a:avLst/>
              <a:gdLst/>
              <a:ahLst/>
              <a:cxnLst/>
              <a:rect l="l" t="t" r="r" b="b"/>
              <a:pathLst>
                <a:path w="9525" h="4155567">
                  <a:moveTo>
                    <a:pt x="0" y="0"/>
                  </a:moveTo>
                  <a:lnTo>
                    <a:pt x="0" y="4155567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67200" y="523055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67200" y="1074992"/>
              <a:ext cx="9525" cy="4155567"/>
            </a:xfrm>
            <a:custGeom>
              <a:avLst/>
              <a:gdLst/>
              <a:ahLst/>
              <a:cxnLst/>
              <a:rect l="l" t="t" r="r" b="b"/>
              <a:pathLst>
                <a:path w="9525" h="4155567">
                  <a:moveTo>
                    <a:pt x="0" y="0"/>
                  </a:moveTo>
                  <a:lnTo>
                    <a:pt x="0" y="4155567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15802" y="1392650"/>
              <a:ext cx="3724204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參考補驗指令（先作答）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43425" y="1933575"/>
              <a:ext cx="3105150" cy="510064"/>
            </a:xfrm>
            <a:prstGeom prst="roundRect">
              <a:avLst>
                <a:gd name="adj" fmla="val 16807"/>
              </a:avLst>
            </a:prstGeom>
            <a:solidFill>
              <a:srgbClr val="152A40"/>
            </a:solidFill>
            <a:ln w="9525">
              <a:solidFill>
                <a:srgbClr val="4B719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77728" y="2084546"/>
              <a:ext cx="287705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BE8FF"/>
                  </a:solidFill>
                  <a:latin typeface="Segoe UI"/>
                  <a:ea typeface="Microsoft YaHei"/>
                  <a:cs typeface="Segoe UI"/>
                </a:rPr>
                <a:t>完成自己的回答後，點此揭露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53400" y="1074992"/>
              <a:ext cx="3657600" cy="4155567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1074992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811000" y="1074992"/>
              <a:ext cx="9525" cy="4155567"/>
            </a:xfrm>
            <a:custGeom>
              <a:avLst/>
              <a:gdLst/>
              <a:ahLst/>
              <a:cxnLst/>
              <a:rect l="l" t="t" r="r" b="b"/>
              <a:pathLst>
                <a:path w="9525" h="4155567">
                  <a:moveTo>
                    <a:pt x="0" y="0"/>
                  </a:moveTo>
                  <a:lnTo>
                    <a:pt x="0" y="415556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153400" y="523055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153400" y="1074992"/>
              <a:ext cx="9525" cy="4155567"/>
            </a:xfrm>
            <a:custGeom>
              <a:avLst/>
              <a:gdLst/>
              <a:ahLst/>
              <a:cxnLst/>
              <a:rect l="l" t="t" r="r" b="b"/>
              <a:pathLst>
                <a:path w="9525" h="4155567">
                  <a:moveTo>
                    <a:pt x="0" y="0"/>
                  </a:moveTo>
                  <a:lnTo>
                    <a:pt x="0" y="4155567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2002" y="1392650"/>
              <a:ext cx="354075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Version B補驗後結果（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2002" y="1765554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先核對）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29625" y="2306384"/>
              <a:ext cx="3105150" cy="510064"/>
            </a:xfrm>
            <a:prstGeom prst="roundRect">
              <a:avLst>
                <a:gd name="adj" fmla="val 16807"/>
              </a:avLst>
            </a:prstGeom>
            <a:solidFill>
              <a:srgbClr val="152A40"/>
            </a:solidFill>
            <a:ln w="9525">
              <a:solidFill>
                <a:srgbClr val="4B719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3928" y="2457355"/>
              <a:ext cx="287705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CBE8FF"/>
                  </a:solidFill>
                  <a:latin typeface="Segoe UI"/>
                  <a:ea typeface="Microsoft YaHei"/>
                  <a:cs typeface="Segoe UI"/>
                </a:rPr>
                <a:t>完成自己的回答後，點此揭露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" y="5478208"/>
              <a:ext cx="11430000" cy="105727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81000" y="5478208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6738" y="5685377"/>
              <a:ext cx="1230213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Version B補驗後只補驗了重複 Like；僅晴→安、雙方未 Like、 UI／整合仍 NOT RUN。不能宣稱全部通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6738" y="6042565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過、不能自行接受或發布。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3855" y="6808851"/>
              <a:ext cx="34058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開啟補驗前交接材料↗開啟補驗後證據↗</a:t>
              </a:r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9" name="Group 59"/>
          <p:cNvGrpSpPr/>
          <p:nvPr/>
        </p:nvGrpSpPr>
        <p:grpSpPr>
          <a:xfrm>
            <a:off x="346710" y="299085"/>
            <a:ext cx="11473815" cy="6430899"/>
            <a:chOff x="346710" y="299085"/>
            <a:chExt cx="11473815" cy="6430899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512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審查可分工，放行仍由人決定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849535"/>
              <a:ext cx="11430000" cy="514350"/>
            </a:xfrm>
            <a:prstGeom prst="roundRect">
              <a:avLst>
                <a:gd name="adj" fmla="val 16667"/>
              </a:avLst>
            </a:prstGeom>
            <a:solidFill>
              <a:srgbClr val="142235"/>
            </a:solidFill>
            <a:ln w="9525">
              <a:solidFill>
                <a:srgbClr val="3B5D7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8394" y="1028128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共同起點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59946" y="1001935"/>
              <a:ext cx="4291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Pull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12665" y="1268635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Request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36876" y="1022795"/>
              <a:ext cx="93718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教學示意｜僅晴→安、雙方未 Like、 UI仍 NOT RUN；人需核對未測與授權，必要時補驗／暫停；尚未放行，暫不 Merge。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210397" y="1392460"/>
              <a:ext cx="5771206" cy="228600"/>
              <a:chOff x="3210397" y="1392460"/>
              <a:chExt cx="5771206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238500" y="1392460"/>
                <a:ext cx="2857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228600">
                    <a:moveTo>
                      <a:pt x="2857500" y="0"/>
                    </a:moveTo>
                    <a:cubicBezTo>
                      <a:pt x="2857500" y="106680"/>
                      <a:pt x="0" y="106680"/>
                      <a:pt x="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0" y="1392460"/>
                <a:ext cx="2857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228600">
                    <a:moveTo>
                      <a:pt x="0" y="0"/>
                    </a:moveTo>
                    <a:cubicBezTo>
                      <a:pt x="0" y="106680"/>
                      <a:pt x="2857500" y="106680"/>
                      <a:pt x="285750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210397" y="1601723"/>
                <a:ext cx="9487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94870" h="19337">
                    <a:moveTo>
                      <a:pt x="0" y="0"/>
                    </a:moveTo>
                    <a:lnTo>
                      <a:pt x="28103" y="19337"/>
                    </a:lnTo>
                    <a:lnTo>
                      <a:pt x="94870" y="5453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86733" y="1601723"/>
                <a:ext cx="9487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94870" h="19337">
                    <a:moveTo>
                      <a:pt x="0" y="5453"/>
                    </a:moveTo>
                    <a:lnTo>
                      <a:pt x="66767" y="19337"/>
                    </a:lnTo>
                    <a:lnTo>
                      <a:pt x="94870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</p:grpSp>
        <p:sp>
          <p:nvSpPr>
            <p:cNvPr id="14" name="Rectangle 14"/>
            <p:cNvSpPr/>
            <p:nvPr/>
          </p:nvSpPr>
          <p:spPr>
            <a:xfrm>
              <a:off x="381000" y="1649635"/>
              <a:ext cx="5648325" cy="2476310"/>
            </a:xfrm>
            <a:prstGeom prst="roundRect">
              <a:avLst>
                <a:gd name="adj" fmla="val 4616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381000" y="1649635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29325" y="1649635"/>
              <a:ext cx="9525" cy="2476310"/>
            </a:xfrm>
            <a:custGeom>
              <a:avLst/>
              <a:gdLst/>
              <a:ahLst/>
              <a:cxnLst/>
              <a:rect l="l" t="t" r="r" b="b"/>
              <a:pathLst>
                <a:path w="9525" h="2476310">
                  <a:moveTo>
                    <a:pt x="0" y="0"/>
                  </a:moveTo>
                  <a:lnTo>
                    <a:pt x="0" y="247631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81000" y="4125944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81000" y="1649635"/>
              <a:ext cx="9525" cy="2476310"/>
            </a:xfrm>
            <a:custGeom>
              <a:avLst/>
              <a:gdLst/>
              <a:ahLst/>
              <a:cxnLst/>
              <a:rect l="l" t="t" r="r" b="b"/>
              <a:pathLst>
                <a:path w="9525" h="2476310">
                  <a:moveTo>
                    <a:pt x="0" y="0"/>
                  </a:moveTo>
                  <a:lnTo>
                    <a:pt x="0" y="247631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6738" y="191871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配置 A｜人主導 Review／ QA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7212" y="2228278"/>
              <a:ext cx="102524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人看 PR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975" y="2606897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0394" y="26068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8994" y="2606897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Reviewer（人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8994" y="2873597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2510" y="26068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81110" y="2606897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QA（人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81110" y="2873597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62675" y="1649635"/>
              <a:ext cx="5648325" cy="2476310"/>
            </a:xfrm>
            <a:prstGeom prst="roundRect">
              <a:avLst>
                <a:gd name="adj" fmla="val 4616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62675" y="1649635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1811000" y="1649635"/>
              <a:ext cx="9525" cy="2476310"/>
            </a:xfrm>
            <a:custGeom>
              <a:avLst/>
              <a:gdLst/>
              <a:ahLst/>
              <a:cxnLst/>
              <a:rect l="l" t="t" r="r" b="b"/>
              <a:pathLst>
                <a:path w="9525" h="2476310">
                  <a:moveTo>
                    <a:pt x="0" y="0"/>
                  </a:moveTo>
                  <a:lnTo>
                    <a:pt x="0" y="247631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162675" y="4125944"/>
              <a:ext cx="5648325" cy="9525"/>
            </a:xfrm>
            <a:custGeom>
              <a:avLst/>
              <a:gdLst/>
              <a:ahLst/>
              <a:cxnLst/>
              <a:rect l="l" t="t" r="r" b="b"/>
              <a:pathLst>
                <a:path w="5648325" h="9525">
                  <a:moveTo>
                    <a:pt x="0" y="0"/>
                  </a:moveTo>
                  <a:lnTo>
                    <a:pt x="5648325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162675" y="1649635"/>
              <a:ext cx="9525" cy="2476310"/>
            </a:xfrm>
            <a:custGeom>
              <a:avLst/>
              <a:gdLst/>
              <a:ahLst/>
              <a:cxnLst/>
              <a:rect l="l" t="t" r="r" b="b"/>
              <a:pathLst>
                <a:path w="9525" h="2476310">
                  <a:moveTo>
                    <a:pt x="0" y="0"/>
                  </a:moveTo>
                  <a:lnTo>
                    <a:pt x="0" y="247631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8412" y="1918716"/>
              <a:ext cx="25013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配置 B｜ Agent協助 Review／ QA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8888" y="2228278"/>
              <a:ext cx="37999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Reviewer Agent＋ QA Agent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43650" y="2606897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2070" y="26068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80670" y="2606897"/>
              <a:ext cx="1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Reviewer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0670" y="2873597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7902" y="2606897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86502" y="2606897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86502" y="2873597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3238500" y="4154519"/>
              <a:ext cx="5715000" cy="229575"/>
              <a:chOff x="3238500" y="4154519"/>
              <a:chExt cx="5715000" cy="2295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3238500" y="4154519"/>
                <a:ext cx="2628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28600">
                    <a:moveTo>
                      <a:pt x="0" y="0"/>
                    </a:moveTo>
                    <a:cubicBezTo>
                      <a:pt x="0" y="111211"/>
                      <a:pt x="1943100" y="111211"/>
                      <a:pt x="262890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324600" y="4154519"/>
                <a:ext cx="2628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28600">
                    <a:moveTo>
                      <a:pt x="2628900" y="0"/>
                    </a:moveTo>
                    <a:cubicBezTo>
                      <a:pt x="2628900" y="111211"/>
                      <a:pt x="685800" y="111211"/>
                      <a:pt x="0" y="228600"/>
                    </a:cubicBezTo>
                  </a:path>
                </a:pathLst>
              </a:custGeom>
              <a:noFill/>
              <a:ln w="23812" cap="flat">
                <a:solidFill>
                  <a:srgbClr val="83BCFF"/>
                </a:solidFill>
                <a:miter lim="800000"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776031" y="4361190"/>
                <a:ext cx="91369" cy="22904"/>
              </a:xfrm>
              <a:custGeom>
                <a:avLst/>
                <a:gdLst/>
                <a:ahLst/>
                <a:cxnLst/>
                <a:rect l="l" t="t" r="r" b="b"/>
                <a:pathLst>
                  <a:path w="91369" h="22904">
                    <a:moveTo>
                      <a:pt x="0" y="22904"/>
                    </a:moveTo>
                    <a:lnTo>
                      <a:pt x="91369" y="21929"/>
                    </a:lnTo>
                    <a:lnTo>
                      <a:pt x="49203" y="0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4600" y="4361190"/>
                <a:ext cx="91369" cy="22904"/>
              </a:xfrm>
              <a:custGeom>
                <a:avLst/>
                <a:gdLst/>
                <a:ahLst/>
                <a:cxnLst/>
                <a:rect l="l" t="t" r="r" b="b"/>
                <a:pathLst>
                  <a:path w="91369" h="22904">
                    <a:moveTo>
                      <a:pt x="42166" y="0"/>
                    </a:moveTo>
                    <a:lnTo>
                      <a:pt x="0" y="21929"/>
                    </a:lnTo>
                    <a:lnTo>
                      <a:pt x="91369" y="22904"/>
                    </a:lnTo>
                  </a:path>
                </a:pathLst>
              </a:custGeom>
              <a:noFill/>
              <a:ln w="19050" cap="rnd">
                <a:solidFill>
                  <a:srgbClr val="83BCFF"/>
                </a:solidFill>
              </a:ln>
            </p:spPr>
          </p:sp>
        </p:grpSp>
        <p:sp>
          <p:nvSpPr>
            <p:cNvPr id="47" name="Rectangle 47"/>
            <p:cNvSpPr/>
            <p:nvPr/>
          </p:nvSpPr>
          <p:spPr>
            <a:xfrm>
              <a:off x="3905250" y="4411694"/>
              <a:ext cx="4381500" cy="438150"/>
            </a:xfrm>
            <a:prstGeom prst="roundRect">
              <a:avLst>
                <a:gd name="adj" fmla="val 17391"/>
              </a:avLst>
            </a:prstGeom>
            <a:solidFill>
              <a:srgbClr val="172B40"/>
            </a:solidFill>
            <a:ln w="9525">
              <a:solidFill>
                <a:srgbClr val="4C719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38600" y="4516469"/>
              <a:ext cx="15497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9EAFF"/>
                  </a:solidFill>
                  <a:latin typeface="Arial"/>
                  <a:ea typeface="Microsoft YaHei"/>
                  <a:cs typeface="Arial"/>
                </a:rPr>
                <a:t>Product Check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81700" y="4906994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↓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143250" y="5097494"/>
              <a:ext cx="5905500" cy="552450"/>
            </a:xfrm>
            <a:prstGeom prst="roundRect">
              <a:avLst>
                <a:gd name="adj" fmla="val 15517"/>
              </a:avLst>
            </a:prstGeom>
            <a:solidFill>
              <a:srgbClr val="211E15"/>
            </a:solidFill>
            <a:ln w="9525">
              <a:solidFill>
                <a:srgbClr val="806A3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18755" y="5164169"/>
              <a:ext cx="1399318" cy="419100"/>
            </a:xfrm>
            <a:prstGeom prst="roundRect">
              <a:avLst>
                <a:gd name="adj" fmla="val 15909"/>
              </a:avLst>
            </a:prstGeom>
            <a:solidFill>
              <a:srgbClr val="302814"/>
            </a:solidFill>
            <a:ln w="9525">
              <a:solidFill>
                <a:srgbClr val="C59B4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23530" y="5259419"/>
              <a:ext cx="12917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E39A"/>
                  </a:solidFill>
                  <a:latin typeface="Arial"/>
                  <a:ea typeface="Microsoft YaHei"/>
                  <a:cs typeface="Arial"/>
                </a:rPr>
                <a:t>Human Gate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08478" y="5268944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08528" y="5268944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Merge／上線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81000" y="5849969"/>
              <a:ext cx="11430000" cy="472821"/>
            </a:xfrm>
            <a:prstGeom prst="rect">
              <a:avLst/>
            </a:prstGeom>
            <a:solidFill>
              <a:srgbClr val="241F17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381000" y="5849969"/>
              <a:ext cx="9525" cy="472821"/>
            </a:xfrm>
            <a:custGeom>
              <a:avLst/>
              <a:gdLst/>
              <a:ahLst/>
              <a:cxnLst/>
              <a:rect l="l" t="t" r="r" b="b"/>
              <a:pathLst>
                <a:path w="9525" h="472821">
                  <a:moveTo>
                    <a:pt x="0" y="0"/>
                  </a:moveTo>
                  <a:lnTo>
                    <a:pt x="0" y="472821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780199" y="5991416"/>
              <a:ext cx="863160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D9E9F4"/>
                  </a:solidFill>
                  <a:latin typeface="Segoe UI"/>
                  <a:ea typeface="Microsoft YaHei"/>
                  <a:cs typeface="Segoe UI"/>
                </a:rPr>
                <a:t>審查可由人或 Agent協助；人仍須依風險、授權與證據作放行決定。上線後再評估 Goal成效。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8618" y="6531864"/>
              <a:ext cx="67815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EBDCD"/>
                  </a:solidFill>
                  <a:latin typeface="Arial"/>
                  <a:ea typeface="Microsoft YaHei"/>
                  <a:cs typeface="Arial"/>
                </a:rPr>
                <a:t>Stanford CS329T第 4講， PDF第 11– 12頁； Notion看板指南，步驟 3– 5（Human Gate位置依本簡報定案）</a:t>
              </a: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346710" y="299085"/>
            <a:ext cx="12686467" cy="6159436"/>
            <a:chOff x="346710" y="299085"/>
            <a:chExt cx="12686467" cy="615943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44497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如果略過人類放行，就讓 #3上線？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111853"/>
              <a:ext cx="101406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教學假設｜ Version B補驗後只補驗重複 Like；反向、雙方未 Like與 UI／整合仍未驗。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656588"/>
              <a:ext cx="3409950" cy="3497008"/>
            </a:xfrm>
            <a:prstGeom prst="roundRect">
              <a:avLst>
                <a:gd name="adj" fmla="val 335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65658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1656588"/>
              <a:ext cx="9525" cy="3497008"/>
            </a:xfrm>
            <a:custGeom>
              <a:avLst/>
              <a:gdLst/>
              <a:ahLst/>
              <a:cxnLst/>
              <a:rect l="l" t="t" r="r" b="b"/>
              <a:pathLst>
                <a:path w="9525" h="3497008">
                  <a:moveTo>
                    <a:pt x="0" y="0"/>
                  </a:moveTo>
                  <a:lnTo>
                    <a:pt x="0" y="3497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15359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656588"/>
              <a:ext cx="9525" cy="3497008"/>
            </a:xfrm>
            <a:custGeom>
              <a:avLst/>
              <a:gdLst/>
              <a:ahLst/>
              <a:cxnLst/>
              <a:rect l="l" t="t" r="r" b="b"/>
              <a:pathLst>
                <a:path w="9525" h="3497008">
                  <a:moveTo>
                    <a:pt x="0" y="0"/>
                  </a:moveTo>
                  <a:lnTo>
                    <a:pt x="0" y="3497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1974247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目前能證明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550890"/>
              <a:ext cx="30872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B：小安→小晴單向、雙向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931890"/>
              <a:ext cx="31283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、重複 Like有規則層結果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312890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3789140"/>
              <a:ext cx="300513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小晴→小安、雙方未 Like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4170140"/>
              <a:ext cx="285452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、 UI／整合仍 NOT RUN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412" y="4551140"/>
              <a:ext cx="3214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52220" y="3221641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91025" y="1656588"/>
              <a:ext cx="3409950" cy="3497008"/>
            </a:xfrm>
            <a:prstGeom prst="roundRect">
              <a:avLst>
                <a:gd name="adj" fmla="val 335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391025" y="165658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800975" y="1656588"/>
              <a:ext cx="9525" cy="3497008"/>
            </a:xfrm>
            <a:custGeom>
              <a:avLst/>
              <a:gdLst/>
              <a:ahLst/>
              <a:cxnLst/>
              <a:rect l="l" t="t" r="r" b="b"/>
              <a:pathLst>
                <a:path w="9525" h="3497008">
                  <a:moveTo>
                    <a:pt x="0" y="0"/>
                  </a:moveTo>
                  <a:lnTo>
                    <a:pt x="0" y="3497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391025" y="515359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391025" y="1656588"/>
              <a:ext cx="9525" cy="3497008"/>
            </a:xfrm>
            <a:custGeom>
              <a:avLst/>
              <a:gdLst/>
              <a:ahLst/>
              <a:cxnLst/>
              <a:rect l="l" t="t" r="r" b="b"/>
              <a:pathLst>
                <a:path w="9525" h="3497008">
                  <a:moveTo>
                    <a:pt x="0" y="0"/>
                  </a:moveTo>
                  <a:lnTo>
                    <a:pt x="0" y="3497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39628" y="1974247"/>
              <a:ext cx="30571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若直接發布（假設）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3438" y="2550890"/>
              <a:ext cx="30872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使用者是否能完成 #1→ #3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3438" y="2931890"/>
              <a:ext cx="85546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→ #2？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3438" y="3408140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目前沒有整合證據能回答。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62245" y="3221641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401050" y="1656588"/>
              <a:ext cx="3409950" cy="3497008"/>
            </a:xfrm>
            <a:prstGeom prst="roundRect">
              <a:avLst>
                <a:gd name="adj" fmla="val 3352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8401050" y="1656588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1811000" y="1656588"/>
              <a:ext cx="9525" cy="3497008"/>
            </a:xfrm>
            <a:custGeom>
              <a:avLst/>
              <a:gdLst/>
              <a:ahLst/>
              <a:cxnLst/>
              <a:rect l="l" t="t" r="r" b="b"/>
              <a:pathLst>
                <a:path w="9525" h="3497008">
                  <a:moveTo>
                    <a:pt x="0" y="0"/>
                  </a:moveTo>
                  <a:lnTo>
                    <a:pt x="0" y="3497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401050" y="5153596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401050" y="1656588"/>
              <a:ext cx="9525" cy="3497008"/>
            </a:xfrm>
            <a:custGeom>
              <a:avLst/>
              <a:gdLst/>
              <a:ahLst/>
              <a:cxnLst/>
              <a:rect l="l" t="t" r="r" b="b"/>
              <a:pathLst>
                <a:path w="9525" h="3497008">
                  <a:moveTo>
                    <a:pt x="0" y="0"/>
                  </a:moveTo>
                  <a:lnTo>
                    <a:pt x="0" y="34970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49652" y="1974247"/>
              <a:ext cx="205649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人應先做什麼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3462" y="2550890"/>
              <a:ext cx="296406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核對 Goal／ AC、版本及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3462" y="2931890"/>
              <a:ext cx="14168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未測事項。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3462" y="3408140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先補驗未測項或暫停；證據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3462" y="3789140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足夠再由人判斷放行。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1000" y="5401246"/>
              <a:ext cx="11430000" cy="105727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381000" y="5401246"/>
              <a:ext cx="9525" cy="1057275"/>
            </a:xfrm>
            <a:custGeom>
              <a:avLst/>
              <a:gdLst/>
              <a:ahLst/>
              <a:cxnLst/>
              <a:rect l="l" t="t" r="r" b="b"/>
              <a:pathLst>
                <a:path w="9525" h="1057275">
                  <a:moveTo>
                    <a:pt x="0" y="0"/>
                  </a:moveTo>
                  <a:lnTo>
                    <a:pt x="0" y="105727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6738" y="5608415"/>
              <a:ext cx="1246643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這是依現有證據推演的發布風險，沒有聲稱 Matching App已真實上線； Human Gate也不保證能抓出所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6738" y="5965603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有問題。</a:t>
              </a:r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346710" y="299085"/>
            <a:ext cx="11464290" cy="5712047"/>
            <a:chOff x="346710" y="299085"/>
            <a:chExt cx="11464290" cy="5712047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同一張工作票，如何走過七個看板狀態？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381982"/>
              <a:ext cx="11430000" cy="514350"/>
            </a:xfrm>
            <a:prstGeom prst="roundRect">
              <a:avLst>
                <a:gd name="adj" fmla="val 16667"/>
              </a:avLst>
            </a:prstGeom>
            <a:solidFill>
              <a:srgbClr val="14231B"/>
            </a:solidFill>
            <a:ln w="9525">
              <a:solidFill>
                <a:srgbClr val="53775C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396520" y="1534382"/>
              <a:ext cx="16137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Brainstorming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24412" y="1534382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DDA7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67312" y="1534382"/>
              <a:ext cx="17403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開 parent issue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5789" y="1560576"/>
              <a:ext cx="2369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共同 Goal｜互相喜歡才建立配對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86832"/>
              <a:ext cx="1469517" cy="1885950"/>
            </a:xfrm>
            <a:prstGeom prst="roundRect">
              <a:avLst>
                <a:gd name="adj" fmla="val 6482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657" y="2725007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4640" y="3125057"/>
              <a:ext cx="1142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建立 Issue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41017" y="2086832"/>
              <a:ext cx="1469517" cy="1885950"/>
            </a:xfrm>
            <a:prstGeom prst="roundRect">
              <a:avLst>
                <a:gd name="adj" fmla="val 6482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40436" y="2725007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1654" y="3125057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指派負責人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701034" y="2086832"/>
              <a:ext cx="1469517" cy="1885950"/>
            </a:xfrm>
            <a:prstGeom prst="roundRect">
              <a:avLst>
                <a:gd name="adj" fmla="val 6482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26969" y="2591657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49659" y="2991707"/>
              <a:ext cx="13722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Push branch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25694" y="3258407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／開 PR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61051" y="2086832"/>
              <a:ext cx="1469708" cy="1885950"/>
            </a:xfrm>
            <a:prstGeom prst="roundRect">
              <a:avLst>
                <a:gd name="adj" fmla="val 6481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03058" y="2591657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86768" y="2991707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審查差異與意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61840" y="3258407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21258" y="2086832"/>
              <a:ext cx="1469517" cy="1885950"/>
            </a:xfrm>
            <a:prstGeom prst="roundRect">
              <a:avLst>
                <a:gd name="adj" fmla="val 6482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87448" y="2591657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00875" y="2991707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依 AC驗行為、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91924" y="3258407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留證據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681276" y="2086832"/>
              <a:ext cx="1469517" cy="1885950"/>
            </a:xfrm>
            <a:prstGeom prst="roundRect">
              <a:avLst>
                <a:gd name="adj" fmla="val 6482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54179" y="2601182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Product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0694" y="2848832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Check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6898" y="3248882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記錄驗收結果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341292" y="2086832"/>
              <a:ext cx="1469708" cy="1885950"/>
            </a:xfrm>
            <a:prstGeom prst="roundRect">
              <a:avLst>
                <a:gd name="adj" fmla="val 6481"/>
              </a:avLst>
            </a:prstGeom>
            <a:solidFill>
              <a:srgbClr val="121C28"/>
            </a:solidFill>
            <a:ln w="9525">
              <a:solidFill>
                <a:srgbClr val="2B3A4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804065" y="2458307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72761" y="2858357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Merge＋上線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72761" y="3125057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檢查＋ DoD後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27067" y="3391757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關票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1000" y="4020407"/>
              <a:ext cx="11430000" cy="419100"/>
            </a:xfrm>
            <a:prstGeom prst="roundRect">
              <a:avLst>
                <a:gd name="adj" fmla="val 11364"/>
              </a:avLst>
            </a:prstGeom>
            <a:solidFill>
              <a:srgbClr val="241F17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4020407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rgbClr val="F2CF7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58716" y="4125182"/>
              <a:ext cx="987456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6DBB9"/>
                  </a:solidFill>
                  <a:latin typeface="Segoe UI"/>
                  <a:ea typeface="Microsoft YaHei"/>
                  <a:cs typeface="Segoe UI"/>
                </a:rPr>
                <a:t>Human Gate在 Product Check→ Done間由人決定放行；等待時仍留 Product Check（欄外決策點）。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001318" y="4439507"/>
              <a:ext cx="8436430" cy="1089211"/>
              <a:chOff x="1001318" y="4439507"/>
              <a:chExt cx="8436430" cy="108921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096000" y="4439507"/>
                <a:ext cx="1671458" cy="363070"/>
              </a:xfrm>
              <a:custGeom>
                <a:avLst/>
                <a:gdLst/>
                <a:ahLst/>
                <a:cxnLst/>
                <a:rect l="l" t="t" r="r" b="b"/>
                <a:pathLst>
                  <a:path w="1671458" h="363070">
                    <a:moveTo>
                      <a:pt x="0" y="0"/>
                    </a:moveTo>
                    <a:lnTo>
                      <a:pt x="0" y="282388"/>
                    </a:lnTo>
                    <a:cubicBezTo>
                      <a:pt x="0" y="336176"/>
                      <a:pt x="46787" y="363070"/>
                      <a:pt x="140360" y="363070"/>
                    </a:cubicBezTo>
                    <a:lnTo>
                      <a:pt x="830466" y="363070"/>
                    </a:lnTo>
                    <a:moveTo>
                      <a:pt x="1671458" y="0"/>
                    </a:moveTo>
                    <a:lnTo>
                      <a:pt x="1671458" y="282388"/>
                    </a:lnTo>
                    <a:cubicBezTo>
                      <a:pt x="1671458" y="336176"/>
                      <a:pt x="1625062" y="363070"/>
                      <a:pt x="1532268" y="363070"/>
                    </a:cubicBezTo>
                    <a:lnTo>
                      <a:pt x="830466" y="363070"/>
                    </a:lnTo>
                  </a:path>
                </a:pathLst>
              </a:custGeom>
              <a:noFill/>
              <a:ln w="38100" cap="flat">
                <a:solidFill>
                  <a:srgbClr val="FF9289"/>
                </a:solidFill>
                <a:round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424542" y="4439507"/>
                <a:ext cx="2501924" cy="363070"/>
              </a:xfrm>
              <a:custGeom>
                <a:avLst/>
                <a:gdLst/>
                <a:ahLst/>
                <a:cxnLst/>
                <a:rect l="l" t="t" r="r" b="b"/>
                <a:pathLst>
                  <a:path w="2501924" h="363070">
                    <a:moveTo>
                      <a:pt x="2501924" y="363070"/>
                    </a:moveTo>
                    <a:lnTo>
                      <a:pt x="139191" y="363070"/>
                    </a:lnTo>
                    <a:cubicBezTo>
                      <a:pt x="46397" y="363070"/>
                      <a:pt x="0" y="338417"/>
                      <a:pt x="0" y="289112"/>
                    </a:cubicBez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FF9289"/>
                </a:solidFill>
                <a:round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82794" y="4439507"/>
                <a:ext cx="8354953" cy="1089211"/>
              </a:xfrm>
              <a:custGeom>
                <a:avLst/>
                <a:gdLst/>
                <a:ahLst/>
                <a:cxnLst/>
                <a:rect l="l" t="t" r="r" b="b"/>
                <a:pathLst>
                  <a:path w="8354953" h="1089211">
                    <a:moveTo>
                      <a:pt x="8354953" y="0"/>
                    </a:moveTo>
                    <a:lnTo>
                      <a:pt x="8354953" y="1008529"/>
                    </a:lnTo>
                    <a:cubicBezTo>
                      <a:pt x="8354953" y="1062317"/>
                      <a:pt x="8308166" y="1089211"/>
                      <a:pt x="8214592" y="1089211"/>
                    </a:cubicBezTo>
                    <a:lnTo>
                      <a:pt x="140360" y="1089211"/>
                    </a:lnTo>
                    <a:cubicBezTo>
                      <a:pt x="46787" y="1089211"/>
                      <a:pt x="0" y="1062317"/>
                      <a:pt x="0" y="1008529"/>
                    </a:cubicBezTo>
                    <a:lnTo>
                      <a:pt x="0" y="0"/>
                    </a:lnTo>
                  </a:path>
                </a:pathLst>
              </a:custGeom>
              <a:noFill/>
              <a:ln w="38100" cap="flat">
                <a:solidFill>
                  <a:srgbClr val="F2CF76"/>
                </a:solidFill>
                <a:round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424542" y="4439507"/>
                <a:ext cx="5013206" cy="773205"/>
              </a:xfrm>
              <a:custGeom>
                <a:avLst/>
                <a:gdLst/>
                <a:ahLst/>
                <a:cxnLst/>
                <a:rect l="l" t="t" r="r" b="b"/>
                <a:pathLst>
                  <a:path w="5013206" h="773205">
                    <a:moveTo>
                      <a:pt x="5013206" y="0"/>
                    </a:moveTo>
                    <a:lnTo>
                      <a:pt x="5013206" y="692523"/>
                    </a:lnTo>
                    <a:cubicBezTo>
                      <a:pt x="5013206" y="746311"/>
                      <a:pt x="4959791" y="773205"/>
                      <a:pt x="4852961" y="773205"/>
                    </a:cubicBezTo>
                    <a:lnTo>
                      <a:pt x="162584" y="773205"/>
                    </a:lnTo>
                    <a:cubicBezTo>
                      <a:pt x="54195" y="773205"/>
                      <a:pt x="0" y="746311"/>
                      <a:pt x="0" y="692523"/>
                    </a:cubicBezTo>
                    <a:lnTo>
                      <a:pt x="0" y="0"/>
                    </a:lnTo>
                  </a:path>
                </a:pathLst>
              </a:custGeom>
              <a:noFill/>
              <a:ln w="32385" cap="flat">
                <a:solidFill>
                  <a:srgbClr val="F2CF76"/>
                </a:solidFill>
                <a:prstDash val="sysDash"/>
                <a:round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343065" y="4439507"/>
                <a:ext cx="162953" cy="73799"/>
              </a:xfrm>
              <a:custGeom>
                <a:avLst/>
                <a:gdLst/>
                <a:ahLst/>
                <a:cxnLst/>
                <a:rect l="l" t="t" r="r" b="b"/>
                <a:pathLst>
                  <a:path w="162953" h="73799">
                    <a:moveTo>
                      <a:pt x="162953" y="73799"/>
                    </a:moveTo>
                    <a:lnTo>
                      <a:pt x="81476" y="0"/>
                    </a:lnTo>
                    <a:lnTo>
                      <a:pt x="0" y="73799"/>
                    </a:lnTo>
                  </a:path>
                </a:pathLst>
              </a:custGeom>
              <a:noFill/>
              <a:ln w="19050" cap="rnd">
                <a:solidFill>
                  <a:srgbClr val="FF9289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01318" y="4439507"/>
                <a:ext cx="162953" cy="73799"/>
              </a:xfrm>
              <a:custGeom>
                <a:avLst/>
                <a:gdLst/>
                <a:ahLst/>
                <a:cxnLst/>
                <a:rect l="l" t="t" r="r" b="b"/>
                <a:pathLst>
                  <a:path w="162953" h="73799">
                    <a:moveTo>
                      <a:pt x="162953" y="73799"/>
                    </a:moveTo>
                    <a:lnTo>
                      <a:pt x="81476" y="0"/>
                    </a:lnTo>
                    <a:lnTo>
                      <a:pt x="0" y="73799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343065" y="4439507"/>
                <a:ext cx="162953" cy="73799"/>
              </a:xfrm>
              <a:custGeom>
                <a:avLst/>
                <a:gdLst/>
                <a:ahLst/>
                <a:cxnLst/>
                <a:rect l="l" t="t" r="r" b="b"/>
                <a:pathLst>
                  <a:path w="162953" h="73799">
                    <a:moveTo>
                      <a:pt x="162953" y="73799"/>
                    </a:moveTo>
                    <a:lnTo>
                      <a:pt x="81476" y="0"/>
                    </a:lnTo>
                    <a:lnTo>
                      <a:pt x="0" y="73799"/>
                    </a:lnTo>
                  </a:path>
                </a:pathLst>
              </a:custGeom>
              <a:noFill/>
              <a:ln w="19050" cap="rnd">
                <a:solidFill>
                  <a:srgbClr val="F2CF76"/>
                </a:solidFill>
              </a:ln>
            </p:spPr>
          </p:sp>
        </p:grpSp>
        <p:sp>
          <p:nvSpPr>
            <p:cNvPr id="47" name="Rectangle 47"/>
            <p:cNvSpPr/>
            <p:nvPr/>
          </p:nvSpPr>
          <p:spPr>
            <a:xfrm>
              <a:off x="4314634" y="4915757"/>
              <a:ext cx="2134076" cy="342900"/>
            </a:xfrm>
            <a:prstGeom prst="roundRect">
              <a:avLst>
                <a:gd name="adj" fmla="val 13889"/>
              </a:avLst>
            </a:prstGeom>
            <a:solidFill>
              <a:srgbClr val="0B111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381310" y="4982432"/>
              <a:ext cx="1843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Review／ QA退回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81310" y="5249132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0CB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763774" y="5639657"/>
              <a:ext cx="5064157" cy="342900"/>
            </a:xfrm>
            <a:prstGeom prst="roundRect">
              <a:avLst>
                <a:gd name="adj" fmla="val 13889"/>
              </a:avLst>
            </a:prstGeom>
            <a:solidFill>
              <a:srgbClr val="0B111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830449" y="5706332"/>
              <a:ext cx="57313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DFA0"/>
                  </a:solidFill>
                  <a:latin typeface="Arial"/>
                  <a:ea typeface="Microsoft YaHei"/>
                  <a:cs typeface="Arial"/>
                </a:rPr>
                <a:t>Product Check需求問題退回 Backlog；實作問題回 Dev</a:t>
              </a: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64290" cy="6061044"/>
            <a:chOff x="346710" y="299085"/>
            <a:chExt cx="11464290" cy="6061044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換成你的工作：寫出第一張可以交辦的票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210056"/>
              <a:ext cx="100355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從活動報名、課程作業、行銷素材審核、行政申請或小工具，選一件真正熟悉的工作。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754791"/>
              <a:ext cx="11430000" cy="3657600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1754791"/>
              <a:ext cx="5715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7690" y="1960531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票上要有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0" y="1754791"/>
              <a:ext cx="5715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82690" y="1960531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請寫清楚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2440591"/>
              <a:ext cx="5715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317877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5785" y="2658713"/>
              <a:ext cx="175831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使用者與問題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2440591"/>
              <a:ext cx="5715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17877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80785" y="2658713"/>
              <a:ext cx="346710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誰需要它？要改善哪件事？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" y="3178778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81000" y="392172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785" y="3396901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第一個交付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3178778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392172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5" y="3396901"/>
              <a:ext cx="346710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這一輪只做哪個最小結果？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1000" y="3921728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81000" y="466467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5785" y="4139851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成功與禁止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0" y="3921728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466467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5" y="4139851"/>
              <a:ext cx="54606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一個應成功的情況、一個不應發生的情況。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1000" y="4664678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81000" y="540762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785" y="4882801"/>
              <a:ext cx="14735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核對與停止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4664678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096000" y="5407628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5" y="4882801"/>
              <a:ext cx="546068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怎麼看結果與版本？什麼情況先停下回報？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660041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5660041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6738" y="5867210"/>
              <a:ext cx="63460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練習只寫一張票，不要求學員再做第二個完整產品。</a:t>
              </a:r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346710" y="299085"/>
            <a:ext cx="11958423" cy="6387465"/>
            <a:chOff x="346710" y="299085"/>
            <a:chExt cx="11958423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87843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Agent交付｜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475672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70910" y="1252823"/>
              <a:ext cx="60302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能交辦一張票、辨認缺證據並要求補驗與接續。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99971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拿上一頁自己寫的 Ticket，寫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91098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一段可交給 Agent的交辦與停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882" y="3372326"/>
              <a:ext cx="12344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止條件。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4651" y="2667667"/>
              <a:ext cx="323076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回到 Version B補驗前：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3019996"/>
              <a:ext cx="348214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Agent說 B版完成，但重複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4651" y="3372326"/>
              <a:ext cx="36152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Like仍 NOT RUN，怎麼回覆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44651" y="3724656"/>
              <a:ext cx="34718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5419" y="2667667"/>
              <a:ext cx="399971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上一頁的 Ticket還沒執行。交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5419" y="3019996"/>
              <a:ext cx="391098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給新 Agent時，版本、進度、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5419" y="337232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未測、下一步與停止條件怎麼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05419" y="3724656"/>
              <a:ext cx="64293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寫？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441960" y="979932"/>
            <a:ext cx="11302175" cy="4953952"/>
            <a:chOff x="441960" y="979932"/>
            <a:chExt cx="11302175" cy="4953952"/>
          </a:xfrm>
        </p:grpSpPr>
        <p:sp>
          <p:nvSpPr>
            <p:cNvPr id="3" name="TextBox 3"/>
            <p:cNvSpPr txBox="1"/>
            <p:nvPr/>
          </p:nvSpPr>
          <p:spPr>
            <a:xfrm>
              <a:off x="5859375" y="979932"/>
              <a:ext cx="47325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A9C9E8"/>
                  </a:solidFill>
                  <a:latin typeface="Segoe UI"/>
                  <a:ea typeface="Microsoft YaHei"/>
                  <a:cs typeface="Segoe UI"/>
                </a:rPr>
                <a:t>附錄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885480" y="1479042"/>
              <a:ext cx="64210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附錄｜需要什麼再查什麼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91076" y="5690044"/>
              <a:ext cx="8279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BED9"/>
                  </a:solidFill>
                  <a:latin typeface="Segoe UI"/>
                  <a:ea typeface="Microsoft YaHei"/>
                  <a:cs typeface="Segoe UI"/>
                </a:rPr>
                <a:t>↖全課地圖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40530" y="2216277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目前位置主線已走完，以下是按需查閱的方法。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457200" y="282921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25837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" y="4448461"/>
              <a:ext cx="3568637" cy="9525"/>
            </a:xfrm>
            <a:custGeom>
              <a:avLst/>
              <a:gdLst/>
              <a:ahLst/>
              <a:cxnLst/>
              <a:rect l="l" t="t" r="r" b="b"/>
              <a:pathLst>
                <a:path w="3568637" h="9525">
                  <a:moveTo>
                    <a:pt x="0" y="0"/>
                  </a:moveTo>
                  <a:lnTo>
                    <a:pt x="3568637" y="0"/>
                  </a:lnTo>
                </a:path>
              </a:pathLst>
            </a:custGeom>
            <a:noFill/>
            <a:ln w="38100">
              <a:solidFill>
                <a:srgbClr val="87BCE9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5720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13643" y="3061621"/>
              <a:ext cx="1055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01測試與練習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11586" y="2829211"/>
              <a:ext cx="3568732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4311586" y="282921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8031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311586" y="4448461"/>
              <a:ext cx="3568732" cy="9525"/>
            </a:xfrm>
            <a:custGeom>
              <a:avLst/>
              <a:gdLst/>
              <a:ahLst/>
              <a:cxnLst/>
              <a:rect l="l" t="t" r="r" b="b"/>
              <a:pathLst>
                <a:path w="3568732" h="9525">
                  <a:moveTo>
                    <a:pt x="0" y="0"/>
                  </a:moveTo>
                  <a:lnTo>
                    <a:pt x="3568732" y="0"/>
                  </a:lnTo>
                </a:path>
              </a:pathLst>
            </a:custGeom>
            <a:noFill/>
            <a:ln w="38100">
              <a:solidFill>
                <a:srgbClr val="9DD9B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311586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70862" y="3061621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02工作卡住與錯配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66068" y="2829211"/>
              <a:ext cx="3568637" cy="1619250"/>
            </a:xfrm>
            <a:prstGeom prst="roundRect">
              <a:avLst>
                <a:gd name="adj" fmla="val 5294"/>
              </a:avLst>
            </a:prstGeom>
            <a:solidFill>
              <a:srgbClr val="14263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166068" y="282921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734610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66068" y="4448461"/>
              <a:ext cx="3568541" cy="9525"/>
            </a:xfrm>
            <a:custGeom>
              <a:avLst/>
              <a:gdLst/>
              <a:ahLst/>
              <a:cxnLst/>
              <a:rect l="l" t="t" r="r" b="b"/>
              <a:pathLst>
                <a:path w="3568541" h="9525">
                  <a:moveTo>
                    <a:pt x="0" y="0"/>
                  </a:moveTo>
                  <a:lnTo>
                    <a:pt x="3568541" y="0"/>
                  </a:lnTo>
                </a:path>
              </a:pathLst>
            </a:custGeom>
            <a:noFill/>
            <a:ln w="38100">
              <a:solidFill>
                <a:srgbClr val="EAD08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66068" y="2829211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40628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0604" y="3061621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03架構與看板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762786"/>
              <a:ext cx="11277600" cy="628174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4762786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35587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1960" y="5014246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學完能需要時找到方法，不必一次背完</a:t>
              </a:r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346710" y="299085"/>
            <a:ext cx="11666696" cy="6071331"/>
            <a:chOff x="346710" y="299085"/>
            <a:chExt cx="11666696" cy="6071331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836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同一條規則：條列、 GWT、表格怎麼選？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199960"/>
              <a:ext cx="45148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同一條規則：同一對使用者不重複配對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744694"/>
              <a:ext cx="3657600" cy="3677984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744694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1744694"/>
              <a:ext cx="9525" cy="3677984"/>
            </a:xfrm>
            <a:custGeom>
              <a:avLst/>
              <a:gdLst/>
              <a:ahLst/>
              <a:cxnLst/>
              <a:rect l="l" t="t" r="r" b="b"/>
              <a:pathLst>
                <a:path w="9525" h="3677984">
                  <a:moveTo>
                    <a:pt x="0" y="0"/>
                  </a:moveTo>
                  <a:lnTo>
                    <a:pt x="0" y="367798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42267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744694"/>
              <a:ext cx="9525" cy="3677984"/>
            </a:xfrm>
            <a:custGeom>
              <a:avLst/>
              <a:gdLst/>
              <a:ahLst/>
              <a:cxnLst/>
              <a:rect l="l" t="t" r="r" b="b"/>
              <a:pathLst>
                <a:path w="9525" h="3677984">
                  <a:moveTo>
                    <a:pt x="0" y="0"/>
                  </a:moveTo>
                  <a:lnTo>
                    <a:pt x="0" y="367798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062353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Rule based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638996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「同一對只配對一次。」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115246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適合：簡潔表達要求。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591496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要補：適用前提與具體例子。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67200" y="1744694"/>
              <a:ext cx="3657600" cy="3677984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67200" y="1744694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1744694"/>
              <a:ext cx="9525" cy="3677984"/>
            </a:xfrm>
            <a:custGeom>
              <a:avLst/>
              <a:gdLst/>
              <a:ahLst/>
              <a:cxnLst/>
              <a:rect l="l" t="t" r="r" b="b"/>
              <a:pathLst>
                <a:path w="9525" h="3677984">
                  <a:moveTo>
                    <a:pt x="0" y="0"/>
                  </a:moveTo>
                  <a:lnTo>
                    <a:pt x="0" y="367798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542267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267200" y="1744694"/>
              <a:ext cx="9525" cy="3677984"/>
            </a:xfrm>
            <a:custGeom>
              <a:avLst/>
              <a:gdLst/>
              <a:ahLst/>
              <a:cxnLst/>
              <a:rect l="l" t="t" r="r" b="b"/>
              <a:pathLst>
                <a:path w="9525" h="3677984">
                  <a:moveTo>
                    <a:pt x="0" y="0"/>
                  </a:moveTo>
                  <a:lnTo>
                    <a:pt x="0" y="367798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5802" y="2062353"/>
              <a:ext cx="3323954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Given– When– Then｜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5802" y="2435257"/>
              <a:ext cx="242339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前提・操作・預期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3011805"/>
              <a:ext cx="288190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已配對→再 Like→原一筆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612" y="3488055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適合：行為與前提。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612" y="3964305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要留意：大量組合可能重複。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53400" y="1744694"/>
              <a:ext cx="3657600" cy="3677984"/>
            </a:xfrm>
            <a:prstGeom prst="roundRect">
              <a:avLst>
                <a:gd name="adj" fmla="val 3125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8153400" y="1744694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811000" y="1744694"/>
              <a:ext cx="9525" cy="3677984"/>
            </a:xfrm>
            <a:custGeom>
              <a:avLst/>
              <a:gdLst/>
              <a:ahLst/>
              <a:cxnLst/>
              <a:rect l="l" t="t" r="r" b="b"/>
              <a:pathLst>
                <a:path w="9525" h="3677984">
                  <a:moveTo>
                    <a:pt x="0" y="0"/>
                  </a:moveTo>
                  <a:lnTo>
                    <a:pt x="0" y="367798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5422678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153400" y="1744694"/>
              <a:ext cx="9525" cy="3677984"/>
            </a:xfrm>
            <a:custGeom>
              <a:avLst/>
              <a:gdLst/>
              <a:ahLst/>
              <a:cxnLst/>
              <a:rect l="l" t="t" r="r" b="b"/>
              <a:pathLst>
                <a:path w="9525" h="3677984">
                  <a:moveTo>
                    <a:pt x="0" y="0"/>
                  </a:moveTo>
                  <a:lnTo>
                    <a:pt x="0" y="3677984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02002" y="2062353"/>
              <a:ext cx="88909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Table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429625" y="2603278"/>
              <a:ext cx="3105150" cy="2009775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429625" y="2603278"/>
              <a:ext cx="1034986" cy="51435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24875" y="2746153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原狀態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464612" y="2603278"/>
              <a:ext cx="1034986" cy="51435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59862" y="2746153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事件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499503" y="2603278"/>
              <a:ext cx="1035272" cy="51435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94753" y="2746153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結果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29625" y="3117628"/>
              <a:ext cx="1034986" cy="9001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8429625" y="4017740"/>
              <a:ext cx="1034986" cy="9525"/>
            </a:xfrm>
            <a:custGeom>
              <a:avLst/>
              <a:gdLst/>
              <a:ahLst/>
              <a:cxnLst/>
              <a:rect l="l" t="t" r="r" b="b"/>
              <a:pathLst>
                <a:path w="1034986" h="9525">
                  <a:moveTo>
                    <a:pt x="0" y="0"/>
                  </a:moveTo>
                  <a:lnTo>
                    <a:pt x="1034986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22970" y="3282410"/>
              <a:ext cx="7648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未配對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464612" y="3117628"/>
              <a:ext cx="1034986" cy="9001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9464612" y="4017740"/>
              <a:ext cx="1034891" cy="9525"/>
            </a:xfrm>
            <a:custGeom>
              <a:avLst/>
              <a:gdLst/>
              <a:ahLst/>
              <a:cxnLst/>
              <a:rect l="l" t="t" r="r" b="b"/>
              <a:pathLst>
                <a:path w="1034891" h="9525">
                  <a:moveTo>
                    <a:pt x="0" y="0"/>
                  </a:moveTo>
                  <a:lnTo>
                    <a:pt x="1034891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57956" y="3282410"/>
              <a:ext cx="523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57956" y="3596735"/>
              <a:ext cx="5118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99503" y="3117628"/>
              <a:ext cx="1035272" cy="9001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10499503" y="4017740"/>
              <a:ext cx="1035272" cy="9525"/>
            </a:xfrm>
            <a:custGeom>
              <a:avLst/>
              <a:gdLst/>
              <a:ahLst/>
              <a:cxnLst/>
              <a:rect l="l" t="t" r="r" b="b"/>
              <a:pathLst>
                <a:path w="1035272" h="9525">
                  <a:moveTo>
                    <a:pt x="0" y="0"/>
                  </a:moveTo>
                  <a:lnTo>
                    <a:pt x="1035272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592848" y="3282410"/>
              <a:ext cx="5238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一筆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29625" y="4017740"/>
              <a:ext cx="1034986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8429625" y="4608290"/>
              <a:ext cx="1034986" cy="9525"/>
            </a:xfrm>
            <a:custGeom>
              <a:avLst/>
              <a:gdLst/>
              <a:ahLst/>
              <a:cxnLst/>
              <a:rect l="l" t="t" r="r" b="b"/>
              <a:pathLst>
                <a:path w="1034986" h="9525">
                  <a:moveTo>
                    <a:pt x="0" y="0"/>
                  </a:moveTo>
                  <a:lnTo>
                    <a:pt x="1034986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22970" y="4182523"/>
              <a:ext cx="7648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464612" y="4017740"/>
              <a:ext cx="1034986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9464612" y="4608290"/>
              <a:ext cx="1034891" cy="9525"/>
            </a:xfrm>
            <a:custGeom>
              <a:avLst/>
              <a:gdLst/>
              <a:ahLst/>
              <a:cxnLst/>
              <a:rect l="l" t="t" r="r" b="b"/>
              <a:pathLst>
                <a:path w="1034891" h="9525">
                  <a:moveTo>
                    <a:pt x="0" y="0"/>
                  </a:moveTo>
                  <a:lnTo>
                    <a:pt x="1034891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57956" y="4182523"/>
              <a:ext cx="825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再 Like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99503" y="4017740"/>
              <a:ext cx="1035272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10499503" y="4608290"/>
              <a:ext cx="1035272" cy="9525"/>
            </a:xfrm>
            <a:custGeom>
              <a:avLst/>
              <a:gdLst/>
              <a:ahLst/>
              <a:cxnLst/>
              <a:rect l="l" t="t" r="r" b="b"/>
              <a:pathLst>
                <a:path w="1035272" h="9525">
                  <a:moveTo>
                    <a:pt x="0" y="0"/>
                  </a:moveTo>
                  <a:lnTo>
                    <a:pt x="1035272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592848" y="4182523"/>
              <a:ext cx="7648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原一筆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05812" y="4820221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適合：並排比較條件與結果。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81000" y="567032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381000" y="5670328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6738" y="5877496"/>
              <a:ext cx="66198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選最能看清這條規則的格式；不必為同一規則寫三份。</a:t>
              </a: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346710" y="299085"/>
            <a:ext cx="11473815" cy="5878926"/>
            <a:chOff x="346710" y="299085"/>
            <a:chExt cx="11473815" cy="5878926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8653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測試全綠，也可能什麼都沒驗到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392364"/>
              <a:ext cx="58950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教學偽碼｜假設錯誤實作在單向 Like時也產生配對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937194"/>
              <a:ext cx="5600700" cy="3293078"/>
            </a:xfrm>
            <a:prstGeom prst="roundRect">
              <a:avLst>
                <a:gd name="adj" fmla="val 347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937194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81700" y="1937194"/>
              <a:ext cx="9525" cy="3293078"/>
            </a:xfrm>
            <a:custGeom>
              <a:avLst/>
              <a:gdLst/>
              <a:ahLst/>
              <a:cxnLst/>
              <a:rect l="l" t="t" r="r" b="b"/>
              <a:pathLst>
                <a:path w="9525" h="3293078">
                  <a:moveTo>
                    <a:pt x="0" y="0"/>
                  </a:moveTo>
                  <a:lnTo>
                    <a:pt x="0" y="329307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230273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937194"/>
              <a:ext cx="9525" cy="3293078"/>
            </a:xfrm>
            <a:custGeom>
              <a:avLst/>
              <a:gdLst/>
              <a:ahLst/>
              <a:cxnLst/>
              <a:rect l="l" t="t" r="r" b="b"/>
              <a:pathLst>
                <a:path w="9525" h="3293078">
                  <a:moveTo>
                    <a:pt x="0" y="0"/>
                  </a:moveTo>
                  <a:lnTo>
                    <a:pt x="0" y="329307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254853"/>
              <a:ext cx="239003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無效測試也會綠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57225" y="2795778"/>
              <a:ext cx="5048250" cy="1129570"/>
            </a:xfrm>
            <a:prstGeom prst="roundRect">
              <a:avLst>
                <a:gd name="adj" fmla="val 6746"/>
              </a:avLst>
            </a:prstGeom>
            <a:solidFill>
              <a:srgbClr val="0B1119"/>
            </a:solidFill>
            <a:ln w="9525">
              <a:solidFill>
                <a:srgbClr val="34475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7720" y="3036760"/>
              <a:ext cx="38494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ui-monospace"/>
                  <a:ea typeface="Microsoft YaHei"/>
                  <a:cs typeface="ui-monospace"/>
                </a:rPr>
                <a:t>actual= match(單向 Like) assert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7720" y="3382518"/>
              <a:ext cx="18492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ui-monospace"/>
                  <a:ea typeface="Microsoft YaHei"/>
                  <a:cs typeface="ui-monospace"/>
                </a:rPr>
                <a:t>actual== actual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4151566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拿結果和自己比，當然相同。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412" y="4627816"/>
              <a:ext cx="470296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複製實作邏輯算預期，也可能一起錯。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10300" y="1937194"/>
              <a:ext cx="5600700" cy="3293078"/>
            </a:xfrm>
            <a:prstGeom prst="roundRect">
              <a:avLst>
                <a:gd name="adj" fmla="val 3471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6210300" y="1937194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1811000" y="1937194"/>
              <a:ext cx="9525" cy="3293078"/>
            </a:xfrm>
            <a:custGeom>
              <a:avLst/>
              <a:gdLst/>
              <a:ahLst/>
              <a:cxnLst/>
              <a:rect l="l" t="t" r="r" b="b"/>
              <a:pathLst>
                <a:path w="9525" h="3293078">
                  <a:moveTo>
                    <a:pt x="0" y="0"/>
                  </a:moveTo>
                  <a:lnTo>
                    <a:pt x="0" y="329307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10300" y="5230273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210300" y="1937194"/>
              <a:ext cx="9525" cy="3293078"/>
            </a:xfrm>
            <a:custGeom>
              <a:avLst/>
              <a:gdLst/>
              <a:ahLst/>
              <a:cxnLst/>
              <a:rect l="l" t="t" r="r" b="b"/>
              <a:pathLst>
                <a:path w="9525" h="3293078">
                  <a:moveTo>
                    <a:pt x="0" y="0"/>
                  </a:moveTo>
                  <a:lnTo>
                    <a:pt x="0" y="329307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8902" y="2254853"/>
              <a:ext cx="305712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獨立預期會抓到錯誤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86525" y="2795778"/>
              <a:ext cx="5048250" cy="1129570"/>
            </a:xfrm>
            <a:prstGeom prst="roundRect">
              <a:avLst>
                <a:gd name="adj" fmla="val 6746"/>
              </a:avLst>
            </a:prstGeom>
            <a:solidFill>
              <a:srgbClr val="0B1119"/>
            </a:solidFill>
            <a:ln w="9525">
              <a:solidFill>
                <a:srgbClr val="34475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37020" y="3036760"/>
              <a:ext cx="38494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ui-monospace"/>
                  <a:ea typeface="Microsoft YaHei"/>
                  <a:cs typeface="ui-monospace"/>
                </a:rPr>
                <a:t>actual= match(單向 Like) assert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37020" y="3382518"/>
              <a:ext cx="17649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3F6FA"/>
                  </a:solidFill>
                  <a:latin typeface="ui-monospace"/>
                  <a:ea typeface="Microsoft YaHei"/>
                  <a:cs typeface="ui-monospace"/>
                </a:rPr>
                <a:t>actual==不配對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2712" y="4151566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預期來自已確認的規則。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2712" y="4627816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錯誤行為應讓測試失敗。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5477923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381000" y="5477923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738" y="5685092"/>
              <a:ext cx="79890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修正無效測試，確認它能抓到錯誤；不能刪掉失敗測試來換綠燈。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73815" cy="5456968"/>
            <a:chOff x="346710" y="299085"/>
            <a:chExt cx="11473815" cy="54569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5008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先看測試紅，再讓它綠： TDD的一次循環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814322"/>
              <a:ext cx="6000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教學示意｜已確認的 AC：只有單向 Like，不得配對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359057"/>
              <a:ext cx="340995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3590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083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676716"/>
              <a:ext cx="605589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Red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2533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先寫單向情境的測試。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72960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錯誤配對行為使它失敗。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4205859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不是因為環境或語法壞掉。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52220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91025" y="2359057"/>
              <a:ext cx="340995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391025" y="23590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DDA7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800975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48083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91025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39628" y="2676716"/>
              <a:ext cx="97248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AEE7C2"/>
                  </a:solidFill>
                  <a:latin typeface="Arial"/>
                  <a:ea typeface="Microsoft YaHei"/>
                  <a:cs typeface="Arial"/>
                </a:rPr>
                <a:t>Green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3438" y="325335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實作雙向判斷。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438" y="3729609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讓這條測試通過。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42058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保留其他已確認規則。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2245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401050" y="2359057"/>
              <a:ext cx="340995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23590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81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401050" y="48083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40105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49652" y="2676716"/>
              <a:ext cx="1522828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Refactor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53462" y="3253359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整理程式結構。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3462" y="372960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行為不改，測試仍通過。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53462" y="4205859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再進下一個小循環。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0559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50559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6738" y="5263134"/>
              <a:ext cx="826293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叫 Agent用 TDD，要核對有意義的紅燈，以及實作和整理後仍通過。</a:t>
              </a:r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473815" cy="5647468"/>
            <a:chOff x="346710" y="299085"/>
            <a:chExt cx="11473815" cy="56474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69625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BDD：共同探索、精確描述、接上驗證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623822"/>
              <a:ext cx="50406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同一個重複配對範例，從共識到可重複驗證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168557"/>
              <a:ext cx="340995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168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998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486216"/>
              <a:ext cx="1622891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Discovery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062859"/>
              <a:ext cx="274498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PO／ Dev／ QA討論：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539109"/>
              <a:ext cx="312836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已配對再 Like，應怎樣？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401535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找出假設、規則與疑問。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52220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91025" y="2168557"/>
              <a:ext cx="340995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391025" y="2168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800975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4998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91025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39628" y="2486216"/>
              <a:ext cx="197311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Formulation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3438" y="30628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寫成精確的共同描述：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438" y="3539109"/>
              <a:ext cx="288190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已配對→再 Like→原一筆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4396359"/>
              <a:ext cx="282713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用 GWT或合適的格式。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2245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401050" y="2168557"/>
              <a:ext cx="340995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2168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81100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401050" y="4998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40105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49652" y="2486216"/>
              <a:ext cx="187304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Automation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53462" y="30628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把情境接上測試執行。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3462" y="3539109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改動後重複驗證。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53462" y="40153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規格與測試一起維護。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2464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52464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6738" y="5453634"/>
              <a:ext cx="106864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發現新的疑問就回頭討論； BDD是可迭代的合作流程， Gherkin文字本身不會自動執行。</a:t>
              </a:r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346710" y="299085"/>
            <a:ext cx="11473815" cy="5695093"/>
            <a:chOff x="346710" y="299085"/>
            <a:chExt cx="11473815" cy="5695093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1074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演練：先各自理解，再一起用範例釐清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576197"/>
              <a:ext cx="66179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演練題：「兩位使用者互相喜歡，就能確認配對成功。」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120932"/>
              <a:ext cx="5600700" cy="2925508"/>
            </a:xfrm>
            <a:prstGeom prst="roundRect">
              <a:avLst>
                <a:gd name="adj" fmla="val 390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120932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981700" y="2120932"/>
              <a:ext cx="9525" cy="2925508"/>
            </a:xfrm>
            <a:custGeom>
              <a:avLst/>
              <a:gdLst/>
              <a:ahLst/>
              <a:cxnLst/>
              <a:rect l="l" t="t" r="r" b="b"/>
              <a:pathLst>
                <a:path w="9525" h="2925508">
                  <a:moveTo>
                    <a:pt x="0" y="0"/>
                  </a:moveTo>
                  <a:lnTo>
                    <a:pt x="0" y="2925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504644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120932"/>
              <a:ext cx="9525" cy="2925508"/>
            </a:xfrm>
            <a:custGeom>
              <a:avLst/>
              <a:gdLst/>
              <a:ahLst/>
              <a:cxnLst/>
              <a:rect l="l" t="t" r="r" b="b"/>
              <a:pathLst>
                <a:path w="9525" h="2925508">
                  <a:moveTo>
                    <a:pt x="0" y="0"/>
                  </a:moveTo>
                  <a:lnTo>
                    <a:pt x="0" y="2925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438591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先各自判斷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015234"/>
              <a:ext cx="40183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小安 Like小晴，小晴尚未 Like。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491484"/>
              <a:ext cx="285452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後來小晴也 Like小安。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3967734"/>
              <a:ext cx="340221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已配對後，小安再次 Like。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4443984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每一步應該看到什麼？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10300" y="2120932"/>
              <a:ext cx="5600700" cy="2925508"/>
            </a:xfrm>
            <a:prstGeom prst="roundRect">
              <a:avLst>
                <a:gd name="adj" fmla="val 390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6210300" y="2120932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811000" y="2120932"/>
              <a:ext cx="9525" cy="2925508"/>
            </a:xfrm>
            <a:custGeom>
              <a:avLst/>
              <a:gdLst/>
              <a:ahLst/>
              <a:cxnLst/>
              <a:rect l="l" t="t" r="r" b="b"/>
              <a:pathLst>
                <a:path w="9525" h="2925508">
                  <a:moveTo>
                    <a:pt x="0" y="0"/>
                  </a:moveTo>
                  <a:lnTo>
                    <a:pt x="0" y="2925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210300" y="504644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10300" y="2120932"/>
              <a:ext cx="9525" cy="2925508"/>
            </a:xfrm>
            <a:custGeom>
              <a:avLst/>
              <a:gdLst/>
              <a:ahLst/>
              <a:cxnLst/>
              <a:rect l="l" t="t" r="r" b="b"/>
              <a:pathLst>
                <a:path w="9525" h="2925508">
                  <a:moveTo>
                    <a:pt x="0" y="0"/>
                  </a:moveTo>
                  <a:lnTo>
                    <a:pt x="0" y="292550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58902" y="2438591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再一起整理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2712" y="3015234"/>
              <a:ext cx="196453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黃卡：本次工作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712" y="3491484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藍卡：大家確認的規則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2712" y="3967734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綠卡：可判斷的具體例子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2712" y="4443984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紅卡：仍有分歧的問題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5294090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81000" y="5294090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6738" y="5501259"/>
              <a:ext cx="935831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比較討論前後：哪些假設被修正？哪些疑問仍要處理？不比誰寫的例子最多。</a:t>
              </a:r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346710" y="299085"/>
            <a:ext cx="11640502" cy="5647468"/>
            <a:chOff x="346710" y="299085"/>
            <a:chExt cx="11640502" cy="56474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45125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用範例把共識留在票與測試裡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623822"/>
              <a:ext cx="65916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Specification by Example｜讓共同理解跨過人員與版本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168557"/>
              <a:ext cx="340995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168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79095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998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486216"/>
              <a:ext cx="105587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討論時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062859"/>
              <a:ext cx="141684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共同確認：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539109"/>
              <a:ext cx="251221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同一對不重複配對。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40153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用具體範例找出歧義。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52220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91025" y="2168557"/>
              <a:ext cx="340995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391025" y="2168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800975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391025" y="4998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391025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39628" y="2486216"/>
              <a:ext cx="138941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票與規格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3438" y="3062859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保存規則與例子：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3438" y="3539109"/>
              <a:ext cx="288190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已配對→再 Like→原一筆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3438" y="439635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讓下一位接手者讀得到。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2245" y="3400234"/>
              <a:ext cx="277535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401050" y="2168557"/>
              <a:ext cx="3409950" cy="2830258"/>
            </a:xfrm>
            <a:prstGeom prst="roundRect">
              <a:avLst>
                <a:gd name="adj" fmla="val 4039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01050" y="2168557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81100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401050" y="4998815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401050" y="2168557"/>
              <a:ext cx="9525" cy="2830258"/>
            </a:xfrm>
            <a:custGeom>
              <a:avLst/>
              <a:gdLst/>
              <a:ahLst/>
              <a:cxnLst/>
              <a:rect l="l" t="t" r="r" b="b"/>
              <a:pathLst>
                <a:path w="9525" h="2830258">
                  <a:moveTo>
                    <a:pt x="0" y="0"/>
                  </a:moveTo>
                  <a:lnTo>
                    <a:pt x="0" y="2830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49652" y="2486216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驗證與維護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53462" y="306285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用同一例子核對行為。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3462" y="3539109"/>
              <a:ext cx="278606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規則變動時一起更新。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53462" y="4015359"/>
              <a:ext cx="3333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避免文件與測試各自漂移。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52464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381000" y="52464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6738" y="5453634"/>
              <a:ext cx="938569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共同探索→用可核對範例保存共同理解→持續驗證與維護；不只留下會議紀錄。</a:t>
              </a:r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346710" y="299085"/>
            <a:ext cx="11964353" cy="6246781"/>
            <a:chOff x="346710" y="299085"/>
            <a:chExt cx="11964353" cy="6246781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58653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票面完整，為什麼還是推不動？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024318"/>
              <a:ext cx="50406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票填滿了，仍可能沒有人知道下一步怎麼做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569053"/>
              <a:ext cx="11430000" cy="4029075"/>
            </a:xfrm>
            <a:prstGeom prst="rect">
              <a:avLst/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81000" y="1569053"/>
              <a:ext cx="5715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7690" y="1774793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欄位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0" y="1569053"/>
              <a:ext cx="5715000" cy="685800"/>
            </a:xfrm>
            <a:prstGeom prst="rect">
              <a:avLst/>
            </a:prstGeom>
            <a:solidFill>
              <a:srgbClr val="1B2A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82690" y="1774793"/>
              <a:ext cx="2640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同一張 #3的處置示意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2254853"/>
              <a:ext cx="5715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381000" y="2993041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5785" y="2472976"/>
              <a:ext cx="12314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Assignee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0" y="2254853"/>
              <a:ext cx="5715000" cy="73818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2993041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80785" y="2472976"/>
              <a:ext cx="55603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目前接手 #3的 Dev：負責推進與更新狀態。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" y="2993041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81000" y="3735991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785" y="3211163"/>
              <a:ext cx="164439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Blocked原因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2993041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3735991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5" y="3211163"/>
              <a:ext cx="60302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缺少重測環境的存取，無法重跑已確認的情境。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1000" y="3735991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81000" y="4478941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5785" y="3954113"/>
              <a:ext cx="23279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解除負責人／條件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0" y="3735991"/>
              <a:ext cx="5715000" cy="742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4478941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5" y="3954113"/>
              <a:ext cx="601603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環境負責人協助恢復存取； Dev確認可以執行。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1000" y="4478941"/>
              <a:ext cx="5715000" cy="1114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381000" y="5593366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785" y="4697063"/>
              <a:ext cx="90392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4478941"/>
              <a:ext cx="5715000" cy="1114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096000" y="5593366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5" y="4697063"/>
              <a:ext cx="585939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沿原 AC重跑、連結結果，解除阻礙標記並更新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0785" y="5068538"/>
              <a:ext cx="61912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票。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" y="5845778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81000" y="5845778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6738" y="6052947"/>
              <a:ext cx="1031676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Blocked仍是已開始、未完成的票；它持續計入目前 WIP。阻礙解除後沿原工作接續。</a:t>
              </a:r>
            </a:p>
          </p:txBody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346710" y="299085"/>
            <a:ext cx="11666696" cy="5456968"/>
            <a:chOff x="346710" y="299085"/>
            <a:chExt cx="11666696" cy="545696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1074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上線後才發現錯配，怎樣停止與處理？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58140" y="1814322"/>
              <a:ext cx="84450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情境假設｜先前阻礙已解除、後續發布後發現錯配；本 App尚未真實部署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2359057"/>
              <a:ext cx="36576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23590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F9289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0386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48083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9602" y="2676716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FAAA3"/>
                  </a:solidFill>
                  <a:latin typeface="Arial"/>
                  <a:ea typeface="Microsoft YaHei"/>
                  <a:cs typeface="Arial"/>
                </a:rPr>
                <a:t>發現與停止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3253359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偵測到錯配，確認影響範圍。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3729609"/>
              <a:ext cx="22383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先停止擴大影響。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4205859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依現有能力關閉或限制功能。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67200" y="2359057"/>
              <a:ext cx="36576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67200" y="23590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267200" y="48083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2672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34475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15802" y="2676716"/>
              <a:ext cx="2390037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C8E2FF"/>
                  </a:solidFill>
                  <a:latin typeface="Arial"/>
                  <a:ea typeface="Microsoft YaHei"/>
                  <a:cs typeface="Arial"/>
                </a:rPr>
                <a:t>回復與資料處理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9612" y="325335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確認版本，按能力回復。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9612" y="372960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找出受影響的配對資料。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9612" y="420585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另行處理已發生的後果。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53400" y="2359057"/>
              <a:ext cx="3657600" cy="2449258"/>
            </a:xfrm>
            <a:prstGeom prst="roundRect">
              <a:avLst>
                <a:gd name="adj" fmla="val 4667"/>
              </a:avLst>
            </a:prstGeom>
            <a:solidFill>
              <a:srgbClr val="121C2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153400" y="2359057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28575">
              <a:solidFill>
                <a:srgbClr val="F2CF7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8110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153400" y="480831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153400" y="2359057"/>
              <a:ext cx="9525" cy="2449258"/>
            </a:xfrm>
            <a:custGeom>
              <a:avLst/>
              <a:gdLst/>
              <a:ahLst/>
              <a:cxnLst/>
              <a:rect l="l" t="t" r="r" b="b"/>
              <a:pathLst>
                <a:path w="9525" h="2449258">
                  <a:moveTo>
                    <a:pt x="0" y="0"/>
                  </a:moveTo>
                  <a:lnTo>
                    <a:pt x="0" y="2449258"/>
                  </a:lnTo>
                </a:path>
              </a:pathLst>
            </a:custGeom>
            <a:noFill/>
            <a:ln w="9525">
              <a:solidFill>
                <a:srgbClr val="806A3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02002" y="2676716"/>
              <a:ext cx="172295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修正與重驗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05812" y="3253359"/>
              <a:ext cx="36075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修正錯誤、補齊漏掉的情境。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5812" y="3729609"/>
              <a:ext cx="2621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重跑 AC與整體路徑。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5812" y="4205859"/>
              <a:ext cx="305990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由人重新判斷是否放行。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5055965"/>
              <a:ext cx="11430000" cy="700088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381000" y="5055965"/>
              <a:ext cx="9525" cy="700088"/>
            </a:xfrm>
            <a:custGeom>
              <a:avLst/>
              <a:gdLst/>
              <a:ahLst/>
              <a:cxnLst/>
              <a:rect l="l" t="t" r="r" b="b"/>
              <a:pathLst>
                <a:path w="9525" h="700088">
                  <a:moveTo>
                    <a:pt x="0" y="0"/>
                  </a:moveTo>
                  <a:lnTo>
                    <a:pt x="0" y="700088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6738" y="5263134"/>
              <a:ext cx="66198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回復程式版本，不會自動回復所有資料與使用者影響。</a:t>
              </a:r>
            </a:p>
          </p:txBody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8" name="Group 48"/>
          <p:cNvGrpSpPr/>
          <p:nvPr/>
        </p:nvGrpSpPr>
        <p:grpSpPr>
          <a:xfrm>
            <a:off x="346710" y="299085"/>
            <a:ext cx="11718512" cy="6116860"/>
            <a:chOff x="346710" y="299085"/>
            <a:chExt cx="11718512" cy="6116860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93556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六層如何接力，讓工作票走到驗收與放行？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950" y="878110"/>
              <a:ext cx="64789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2CF76"/>
                  </a:solidFill>
                  <a:latin typeface="Arial"/>
                  <a:ea typeface="Microsoft YaHei"/>
                  <a:cs typeface="Arial"/>
                </a:rPr>
                <a:t>同一張票由目標拆解，經看板派工與執行，再由證據和人核准。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381000" y="1586770"/>
              <a:ext cx="11430000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158677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811000" y="15867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1000" y="225352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15867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48617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0550" y="1815370"/>
              <a:ext cx="37645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1｜ Goal / Governance（目標決策）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2445" y="1815370"/>
              <a:ext cx="44962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人定 parent Goal； PO/PM Agent記錄目標。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2386870"/>
              <a:ext cx="11430000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13" name="Line 13"/>
            <p:cNvSpPr/>
            <p:nvPr/>
          </p:nvSpPr>
          <p:spPr>
            <a:xfrm>
              <a:off x="381000" y="238687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811000" y="23868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" y="305362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81000" y="23868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6B75B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550" y="2615470"/>
              <a:ext cx="33735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2｜ Planning / Backlog（拆票）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2445" y="2615470"/>
              <a:ext cx="35104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PO/PM Agent把 Goal拆成 #3子票。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3186970"/>
              <a:ext cx="11430000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81000" y="318697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1811000" y="31869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81000" y="385372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381000" y="31869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8071B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0550" y="3415570"/>
              <a:ext cx="36150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3｜ Task Graph / Kanban（看板）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82445" y="3415570"/>
              <a:ext cx="38609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看板記錄 #3的狀態；從 Ready欄取票。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3987070"/>
              <a:ext cx="11430000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81000" y="398707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1811000" y="39870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81000" y="465382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39870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9169A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550" y="4215670"/>
              <a:ext cx="34080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4｜ Orchestrator（安排接手）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82445" y="4215670"/>
              <a:ext cx="4299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依目前狀態，把 #3交給 Developer Agent。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1000" y="4787170"/>
              <a:ext cx="11430000" cy="666750"/>
            </a:xfrm>
            <a:prstGeom prst="roundRect">
              <a:avLst>
                <a:gd name="adj" fmla="val 11429"/>
              </a:avLst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381000" y="478717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811000" y="47871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381000" y="545392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81000" y="478717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38100">
              <a:solidFill>
                <a:srgbClr val="4F8C7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550" y="5015770"/>
              <a:ext cx="38680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5｜ Execution Runtime（實際執行）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82445" y="5015770"/>
              <a:ext cx="49234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Developer Agent實作 #3，提交 commit並開 PR。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" y="5587270"/>
              <a:ext cx="11430000" cy="819150"/>
            </a:xfrm>
            <a:prstGeom prst="roundRect">
              <a:avLst>
                <a:gd name="adj" fmla="val 9302"/>
              </a:avLst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381000" y="558727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1811000" y="558727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381000" y="640642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2B3A4C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381000" y="5587270"/>
              <a:ext cx="9525" cy="819150"/>
            </a:xfrm>
            <a:custGeom>
              <a:avLst/>
              <a:gdLst/>
              <a:ahLst/>
              <a:cxnLst/>
              <a:rect l="l" t="t" r="r" b="b"/>
              <a:pathLst>
                <a:path w="9525" h="819150">
                  <a:moveTo>
                    <a:pt x="0" y="0"/>
                  </a:moveTo>
                  <a:lnTo>
                    <a:pt x="0" y="819150"/>
                  </a:lnTo>
                </a:path>
              </a:pathLst>
            </a:custGeom>
            <a:noFill/>
            <a:ln w="38100">
              <a:solidFill>
                <a:srgbClr val="70A77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0550" y="5892070"/>
              <a:ext cx="45581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6｜ Review / QA / Human（審查與人放行）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2445" y="5758720"/>
              <a:ext cx="698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Review／ QA留證據；人放行後，仍須 Release／上線檢查及 DoD，才能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82445" y="6025420"/>
              <a:ext cx="7391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2DBE5"/>
                  </a:solidFill>
                  <a:latin typeface="Arial"/>
                  <a:ea typeface="Microsoft YaHei"/>
                  <a:cs typeface="Arial"/>
                </a:rPr>
                <a:t>Done。</a:t>
              </a:r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-418624" y="282892"/>
            <a:ext cx="13388244" cy="6403658"/>
            <a:chOff x="-418624" y="282892"/>
            <a:chExt cx="13388244" cy="6403658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2523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Kanban回顧： Agent依序拉取同一張票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282892"/>
              <a:ext cx="11430000" cy="371475"/>
            </a:xfrm>
            <a:prstGeom prst="roundRect">
              <a:avLst>
                <a:gd name="adj" fmla="val 23077"/>
              </a:avLst>
            </a:prstGeom>
            <a:solidFill>
              <a:srgbClr val="15251B"/>
            </a:solidFill>
            <a:ln w="9525">
              <a:solidFill>
                <a:srgbClr val="52705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85775" y="425768"/>
              <a:ext cx="37300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CF5E3"/>
                  </a:solidFill>
                  <a:latin typeface="Arial"/>
                  <a:ea typeface="Microsoft YaHei"/>
                  <a:cs typeface="Arial"/>
                </a:rPr>
                <a:t>Goal / Epic｜互相喜歡才算配對成功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12506" y="425768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7C9BD"/>
                  </a:solidFill>
                  <a:latin typeface="Arial"/>
                  <a:ea typeface="Microsoft YaHei"/>
                  <a:cs typeface="Arial"/>
                </a:rPr>
                <a:t>泳道標題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790563" y="359092"/>
              <a:ext cx="4896612" cy="304800"/>
            </a:xfrm>
            <a:prstGeom prst="roundRect">
              <a:avLst>
                <a:gd name="adj" fmla="val 21875"/>
              </a:avLst>
            </a:prstGeom>
            <a:solidFill>
              <a:srgbClr val="192D22"/>
            </a:solidFill>
            <a:ln w="9525">
              <a:solidFill>
                <a:srgbClr val="598E6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59498" y="437674"/>
              <a:ext cx="5146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B8E6C7"/>
                  </a:solidFill>
                  <a:latin typeface="Arial"/>
                  <a:ea typeface="Microsoft YaHei"/>
                  <a:cs typeface="Arial"/>
                </a:rPr>
                <a:t>Product Check／ Done間的欄外決策｜ Human Gate：人決定放行／暫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13331" y="609124"/>
              <a:ext cx="1928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B8E6C7"/>
                  </a:solidFill>
                  <a:latin typeface="Arial"/>
                  <a:ea typeface="Microsoft YaHei"/>
                  <a:cs typeface="Arial"/>
                </a:rPr>
                <a:t>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81000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8834" y="1664018"/>
              <a:ext cx="8662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Backlog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33562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29254" y="959168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19288" y="1502092"/>
              <a:ext cx="1090612" cy="561975"/>
            </a:xfrm>
            <a:prstGeom prst="roundRect">
              <a:avLst>
                <a:gd name="adj" fmla="val 11864"/>
              </a:avLst>
            </a:prstGeom>
            <a:solidFill>
              <a:srgbClr val="151F2C"/>
            </a:solidFill>
            <a:ln w="9525">
              <a:solidFill>
                <a:srgbClr val="394C6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71675" y="1590199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73224" y="1590199"/>
              <a:ext cx="5375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Like／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73224" y="1790224"/>
              <a:ext cx="4081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Pass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1675" y="1818799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19288" y="2121218"/>
              <a:ext cx="1090612" cy="561975"/>
            </a:xfrm>
            <a:prstGeom prst="roundRect">
              <a:avLst>
                <a:gd name="adj" fmla="val 11864"/>
              </a:avLst>
            </a:prstGeom>
            <a:solidFill>
              <a:srgbClr val="151F2C"/>
            </a:solidFill>
            <a:ln w="9525">
              <a:solidFill>
                <a:srgbClr val="394C6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71675" y="2209324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00275" y="2209324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配對列表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1675" y="2437924"/>
              <a:ext cx="10390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Ready｜等 #3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86125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08333" y="1664018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Dev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38688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76872" y="1664018"/>
              <a:ext cx="7856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3713" y="1664018"/>
              <a:ext cx="3371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QA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43812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72B3E"/>
            </a:solidFill>
            <a:ln w="9525">
              <a:solidFill>
                <a:srgbClr val="83BC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12988" y="1664018"/>
              <a:ext cx="923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Product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9504" y="1902142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Check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96375" y="844868"/>
              <a:ext cx="1262062" cy="2095500"/>
            </a:xfrm>
            <a:prstGeom prst="roundRect">
              <a:avLst>
                <a:gd name="adj" fmla="val 6792"/>
              </a:avLst>
            </a:prstGeom>
            <a:solidFill>
              <a:srgbClr val="101923"/>
            </a:solidFill>
            <a:ln w="9525">
              <a:solidFill>
                <a:srgbClr val="2B3A4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55325" y="1664018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Done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43812" y="3130868"/>
              <a:ext cx="1262062" cy="1333500"/>
            </a:xfrm>
            <a:prstGeom prst="roundRect">
              <a:avLst>
                <a:gd name="adj" fmla="val 6792"/>
              </a:avLst>
            </a:prstGeom>
            <a:solidFill>
              <a:srgbClr val="1B3550"/>
            </a:solidFill>
            <a:ln w="19050">
              <a:solidFill>
                <a:srgbClr val="83BC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29538" y="3283268"/>
              <a:ext cx="2790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3BCFF"/>
                  </a:solidFill>
                  <a:latin typeface="Arial"/>
                  <a:ea typeface="Microsoft YaHei"/>
                  <a:cs typeface="Arial"/>
                </a:rPr>
                <a:t>#3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29538" y="3578542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雙向喜歡才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29538" y="3845242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配對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5252" y="4131945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WIP 1/1｜待人放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35252" y="4298632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5D4E2"/>
                  </a:solidFill>
                  <a:latin typeface="Arial"/>
                  <a:ea typeface="Microsoft YaHei"/>
                  <a:cs typeface="Arial"/>
                </a:rPr>
                <a:t>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" y="4088321"/>
              <a:ext cx="11430000" cy="553307"/>
            </a:xfrm>
            <a:prstGeom prst="roundRect">
              <a:avLst>
                <a:gd name="adj" fmla="val 13772"/>
              </a:avLst>
            </a:prstGeom>
            <a:solidFill>
              <a:srgbClr val="132436"/>
            </a:solidFill>
            <a:ln w="9525">
              <a:solidFill>
                <a:srgbClr val="385C77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6728" y="4274534"/>
              <a:ext cx="546816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D9EAF8"/>
                  </a:solidFill>
                  <a:latin typeface="Segoe UI"/>
                  <a:ea typeface="Microsoft YaHei"/>
                  <a:cs typeface="Segoe UI"/>
                </a:rPr>
                <a:t>1／ 3｜ #3在 Product Check， WIP 1/1；等待人的放行決定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624697" y="4174046"/>
              <a:ext cx="2052828" cy="381857"/>
            </a:xfrm>
            <a:prstGeom prst="roundRect">
              <a:avLst>
                <a:gd name="adj" fmla="val 14966"/>
              </a:avLst>
            </a:prstGeom>
            <a:solidFill>
              <a:srgbClr val="19344E"/>
            </a:solidFill>
            <a:ln w="9525">
              <a:solidFill>
                <a:srgbClr val="6392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52641" y="4274534"/>
              <a:ext cx="19969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7F6FF"/>
                  </a:solidFill>
                  <a:latin typeface="Segoe UI"/>
                  <a:ea typeface="Microsoft YaHei"/>
                  <a:cs typeface="Segoe UI"/>
                </a:rPr>
                <a:t>下一步：由人決定放行→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791825" y="4174046"/>
              <a:ext cx="895350" cy="381857"/>
            </a:xfrm>
            <a:prstGeom prst="roundRect">
              <a:avLst>
                <a:gd name="adj" fmla="val 14966"/>
              </a:avLst>
            </a:prstGeom>
            <a:solidFill>
              <a:srgbClr val="19344E"/>
            </a:solidFill>
            <a:ln w="9525">
              <a:solidFill>
                <a:srgbClr val="6392B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50880" y="427453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7F6FF"/>
                  </a:solidFill>
                  <a:latin typeface="Segoe UI"/>
                  <a:ea typeface="Microsoft YaHei"/>
                  <a:cs typeface="Segoe UI"/>
                </a:rPr>
                <a:t>重頭回顧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-418624" y="4860703"/>
              <a:ext cx="13029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Human Gate是 Product Check與 Done間的人類決策點，不另增看板狀態。本課的條件式回顧：人放行並完成 Merge／ Release／上線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-183118" y="5127403"/>
              <a:ext cx="12558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AAB7C6"/>
                  </a:solidFill>
                  <a:latin typeface="Arial"/>
                  <a:ea typeface="Microsoft YaHei"/>
                  <a:cs typeface="Arial"/>
                </a:rPr>
                <a:t>檢查及共用 DoD後， #3才進 Done、 WIP 0/1； #1／ #2仍在 Ready，整體 Goal未達成。本次規則層 demo不代表 UI／部署已完成。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81000" y="5822728"/>
              <a:ext cx="11430000" cy="863822"/>
            </a:xfrm>
            <a:prstGeom prst="rect">
              <a:avLst/>
            </a:prstGeom>
            <a:solidFill>
              <a:srgbClr val="152334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381000" y="5822728"/>
              <a:ext cx="9525" cy="863822"/>
            </a:xfrm>
            <a:custGeom>
              <a:avLst/>
              <a:gdLst/>
              <a:ahLst/>
              <a:cxnLst/>
              <a:rect l="l" t="t" r="r" b="b"/>
              <a:pathLst>
                <a:path w="9525" h="863822">
                  <a:moveTo>
                    <a:pt x="0" y="0"/>
                  </a:moveTo>
                  <a:lnTo>
                    <a:pt x="0" y="863822"/>
                  </a:lnTo>
                </a:path>
              </a:pathLst>
            </a:custGeom>
            <a:noFill/>
            <a:ln w="28575">
              <a:solidFill>
                <a:srgbClr val="83BC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0542" y="5969889"/>
              <a:ext cx="1243907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所有欄位只代表本課定義的七個看板狀態； Product Check判斷是否推進 Goal， Human Gate是欄外決策；圖中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0542" y="6287548"/>
              <a:ext cx="680830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D6E8FC"/>
                  </a:solidFill>
                  <a:latin typeface="Arial"/>
                  <a:ea typeface="Microsoft YaHei"/>
                  <a:cs typeface="Arial"/>
                </a:rPr>
                <a:t>Done為教學推演，不能拿規則層 PASS宣稱 UI／部署已完成。</a:t>
              </a:r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19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346710" y="299085"/>
            <a:ext cx="11854910" cy="6387465"/>
            <a:chOff x="346710" y="299085"/>
            <a:chExt cx="11854910" cy="6387465"/>
          </a:xfrm>
        </p:grpSpPr>
        <p:sp>
          <p:nvSpPr>
            <p:cNvPr id="3" name="TextBox 3"/>
            <p:cNvSpPr txBox="1"/>
            <p:nvPr/>
          </p:nvSpPr>
          <p:spPr>
            <a:xfrm>
              <a:off x="346710" y="299085"/>
              <a:ext cx="764572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3F6FA"/>
                  </a:solidFill>
                  <a:latin typeface="Arial"/>
                  <a:ea typeface="Microsoft YaHei"/>
                  <a:cs typeface="Arial"/>
                </a:rPr>
                <a:t>附錄｜ Exit Check：你能回答這三題嗎？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80372" y="879538"/>
              <a:ext cx="51351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B7CEE5"/>
                  </a:solidFill>
                  <a:latin typeface="Arial"/>
                  <a:ea typeface="Microsoft YaHei"/>
                  <a:cs typeface="Arial"/>
                </a:rPr>
                <a:t>Chapter Exit Check｜本章學完，你應該能做到：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75610" y="1252823"/>
              <a:ext cx="71694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3F6FA"/>
                  </a:solidFill>
                  <a:latin typeface="Segoe UI"/>
                  <a:ea typeface="Microsoft YaHei"/>
                  <a:cs typeface="Segoe UI"/>
                </a:rPr>
                <a:t>能按需要查找方法，分辨教學示意與真正驗證過的結果。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381000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893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111883"/>
              <a:ext cx="499491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3422" y="2189512"/>
              <a:ext cx="2936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3882" y="2667667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需求理解分歧、條件組合多、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3882" y="301999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想先看失敗測試：請在附錄找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3882" y="3372326"/>
              <a:ext cx="241744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三種方法與頁碼。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5805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41768" y="1854708"/>
              <a:ext cx="3708368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4241768" y="1854708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9501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241768" y="5856065"/>
              <a:ext cx="3708368" cy="9525"/>
            </a:xfrm>
            <a:custGeom>
              <a:avLst/>
              <a:gdLst/>
              <a:ahLst/>
              <a:cxnLst/>
              <a:rect l="l" t="t" r="r" b="b"/>
              <a:pathLst>
                <a:path w="3708368" h="9525">
                  <a:moveTo>
                    <a:pt x="0" y="0"/>
                  </a:moveTo>
                  <a:lnTo>
                    <a:pt x="3708368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241768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0368" y="2111883"/>
              <a:ext cx="52473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74191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44651" y="2667667"/>
              <a:ext cx="170764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TDD、 BDD、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4651" y="3019996"/>
              <a:ext cx="3570875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Specification by Example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4651" y="3372326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是同一件事嗎？能如何配合？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0368" y="5159026"/>
              <a:ext cx="3251168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6573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02536" y="1854708"/>
              <a:ext cx="3708463" cy="4001357"/>
            </a:xfrm>
            <a:prstGeom prst="roundRect">
              <a:avLst>
                <a:gd name="adj" fmla="val 3082"/>
              </a:avLst>
            </a:prstGeom>
            <a:solidFill>
              <a:srgbClr val="111D2B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102536" y="1854708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38100">
              <a:solidFill>
                <a:srgbClr val="83BCFF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1811000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102536" y="5856065"/>
              <a:ext cx="3708464" cy="9525"/>
            </a:xfrm>
            <a:custGeom>
              <a:avLst/>
              <a:gdLst/>
              <a:ahLst/>
              <a:cxnLst/>
              <a:rect l="l" t="t" r="r" b="b"/>
              <a:pathLst>
                <a:path w="3708464" h="9525">
                  <a:moveTo>
                    <a:pt x="0" y="0"/>
                  </a:moveTo>
                  <a:lnTo>
                    <a:pt x="3708464" y="0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102536" y="1854708"/>
              <a:ext cx="9525" cy="4001357"/>
            </a:xfrm>
            <a:custGeom>
              <a:avLst/>
              <a:gdLst/>
              <a:ahLst/>
              <a:cxnLst/>
              <a:rect l="l" t="t" r="r" b="b"/>
              <a:pathLst>
                <a:path w="9525" h="4001357">
                  <a:moveTo>
                    <a:pt x="0" y="0"/>
                  </a:moveTo>
                  <a:lnTo>
                    <a:pt x="0" y="4001357"/>
                  </a:lnTo>
                </a:path>
              </a:pathLst>
            </a:custGeom>
            <a:noFill/>
            <a:ln w="9525">
              <a:solidFill>
                <a:srgbClr val="3F608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31136" y="2111883"/>
              <a:ext cx="530162" cy="355282"/>
            </a:xfrm>
            <a:prstGeom prst="roundRect">
              <a:avLst>
                <a:gd name="adj" fmla="val 18767"/>
              </a:avLst>
            </a:prstGeom>
            <a:solidFill>
              <a:srgbClr val="223B5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34959" y="2189512"/>
              <a:ext cx="3539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BEDEF9"/>
                  </a:solidFill>
                  <a:latin typeface="Segoe UI"/>
                  <a:ea typeface="Microsoft YaHei"/>
                  <a:cs typeface="Segoe UI"/>
                </a:rPr>
                <a:t>Q3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5419" y="2667667"/>
              <a:ext cx="389620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看到六層架構圖或全綠畫面，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5419" y="3019996"/>
              <a:ext cx="358566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4F7FB"/>
                  </a:solidFill>
                  <a:latin typeface="Segoe UI"/>
                  <a:ea typeface="Microsoft YaHei"/>
                  <a:cs typeface="Segoe UI"/>
                </a:rPr>
                <a:t>就代表整個 App已驗收嗎？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31136" y="5159026"/>
              <a:ext cx="3251263" cy="487585"/>
            </a:xfrm>
            <a:prstGeom prst="roundRect">
              <a:avLst>
                <a:gd name="adj" fmla="val 17582"/>
              </a:avLst>
            </a:prstGeom>
            <a:solidFill>
              <a:srgbClr val="172C3E"/>
            </a:solidFill>
            <a:ln w="9525">
              <a:solidFill>
                <a:srgbClr val="4164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7342" y="530856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E6FF"/>
                  </a:solidFill>
                  <a:latin typeface="Segoe UI"/>
                  <a:ea typeface="Microsoft YaHei"/>
                  <a:cs typeface="Segoe UI"/>
                </a:rPr>
                <a:t>自己先回答，再揭露參考答案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" y="6103715"/>
              <a:ext cx="11430000" cy="582835"/>
            </a:xfrm>
            <a:prstGeom prst="rect">
              <a:avLst/>
            </a:prstGeom>
            <a:solidFill>
              <a:srgbClr val="15251E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381000" y="6103715"/>
              <a:ext cx="9525" cy="582835"/>
            </a:xfrm>
            <a:custGeom>
              <a:avLst/>
              <a:gdLst/>
              <a:ahLst/>
              <a:cxnLst/>
              <a:rect l="l" t="t" r="r" b="b"/>
              <a:pathLst>
                <a:path w="9525" h="582835">
                  <a:moveTo>
                    <a:pt x="0" y="0"/>
                  </a:moveTo>
                  <a:lnTo>
                    <a:pt x="0" y="582835"/>
                  </a:lnTo>
                </a:path>
              </a:pathLst>
            </a:custGeom>
            <a:noFill/>
            <a:ln w="38100">
              <a:solidFill>
                <a:srgbClr val="83DDA7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3405" y="6300883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5E7D2"/>
                  </a:solidFill>
                  <a:latin typeface="Arial"/>
                  <a:ea typeface="Microsoft YaHei"/>
                  <a:cs typeface="Arial"/>
                </a:rPr>
                <a:t>先口頭／筆記作答，再逐題展開必要要點；未決條件不自行補成 AC，答不出就回到本章練習。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